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79" r:id="rId3"/>
    <p:sldId id="257" r:id="rId4"/>
    <p:sldId id="258" r:id="rId5"/>
    <p:sldId id="259" r:id="rId6"/>
    <p:sldId id="280" r:id="rId7"/>
    <p:sldId id="281" r:id="rId8"/>
    <p:sldId id="282" r:id="rId9"/>
    <p:sldId id="263" r:id="rId10"/>
    <p:sldId id="283" r:id="rId11"/>
    <p:sldId id="285" r:id="rId12"/>
    <p:sldId id="264" r:id="rId13"/>
    <p:sldId id="286" r:id="rId14"/>
    <p:sldId id="262" r:id="rId15"/>
    <p:sldId id="265" r:id="rId16"/>
    <p:sldId id="266" r:id="rId17"/>
    <p:sldId id="268" r:id="rId18"/>
    <p:sldId id="267" r:id="rId19"/>
    <p:sldId id="287" r:id="rId20"/>
    <p:sldId id="271" r:id="rId21"/>
    <p:sldId id="275" r:id="rId22"/>
    <p:sldId id="289" r:id="rId23"/>
    <p:sldId id="290" r:id="rId2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iGo/GdDue+rWIz4n4NbKNbaZVA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4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556" autoAdjust="0"/>
    <p:restoredTop sz="83713" autoAdjust="0"/>
  </p:normalViewPr>
  <p:slideViewPr>
    <p:cSldViewPr snapToGrid="0">
      <p:cViewPr varScale="1">
        <p:scale>
          <a:sx n="108" d="100"/>
          <a:sy n="108" d="100"/>
        </p:scale>
        <p:origin x="2119" y="65"/>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SzPts val="1400"/>
              <a:buFont typeface="Arial"/>
              <a:buChar char="•"/>
            </a:pPr>
            <a:r>
              <a:rPr lang="en-US"/>
              <a:t>Welcoming (“Good afternoon everyone…”)</a:t>
            </a:r>
            <a:endParaRPr/>
          </a:p>
          <a:p>
            <a:pPr marL="171450" lvl="0" indent="-171450" algn="l" rtl="0">
              <a:lnSpc>
                <a:spcPct val="100000"/>
              </a:lnSpc>
              <a:spcBef>
                <a:spcPts val="0"/>
              </a:spcBef>
              <a:spcAft>
                <a:spcPts val="0"/>
              </a:spcAft>
              <a:buSzPts val="1400"/>
              <a:buFont typeface="Arial"/>
              <a:buChar char="•"/>
            </a:pPr>
            <a:r>
              <a:rPr lang="en-US"/>
              <a:t>Introduction</a:t>
            </a:r>
            <a:endParaRPr/>
          </a:p>
          <a:p>
            <a:pPr marL="628650" lvl="1" indent="-171450" algn="l" rtl="0">
              <a:lnSpc>
                <a:spcPct val="100000"/>
              </a:lnSpc>
              <a:spcBef>
                <a:spcPts val="0"/>
              </a:spcBef>
              <a:spcAft>
                <a:spcPts val="0"/>
              </a:spcAft>
              <a:buSzPts val="1400"/>
              <a:buFont typeface="Arial"/>
              <a:buChar char="•"/>
            </a:pPr>
            <a:r>
              <a:rPr lang="en-US"/>
              <a:t>School Status (i.e., Major, Minor, Career Path, etc.)</a:t>
            </a:r>
            <a:endParaRPr/>
          </a:p>
          <a:p>
            <a:pPr marL="628650" lvl="1" indent="-171450" algn="l" rtl="0">
              <a:lnSpc>
                <a:spcPct val="100000"/>
              </a:lnSpc>
              <a:spcBef>
                <a:spcPts val="0"/>
              </a:spcBef>
              <a:spcAft>
                <a:spcPts val="0"/>
              </a:spcAft>
              <a:buSzPts val="1400"/>
              <a:buFont typeface="Arial"/>
              <a:buChar char="•"/>
            </a:pPr>
            <a:r>
              <a:rPr lang="en-US"/>
              <a:t>Background (I.e., where you from, why cybersecurity, etc.)</a:t>
            </a:r>
            <a:endParaRPr/>
          </a:p>
          <a:p>
            <a:pPr marL="628650" lvl="1" indent="-171450" algn="l" rtl="0">
              <a:lnSpc>
                <a:spcPct val="100000"/>
              </a:lnSpc>
              <a:spcBef>
                <a:spcPts val="0"/>
              </a:spcBef>
              <a:spcAft>
                <a:spcPts val="0"/>
              </a:spcAft>
              <a:buSzPts val="1400"/>
              <a:buFont typeface="Arial"/>
              <a:buChar char="•"/>
            </a:pPr>
            <a:r>
              <a:rPr lang="en-US"/>
              <a:t>Interesting Fact About Yourself (i.e., I like cats, and I taught my cat how to fetch)</a:t>
            </a:r>
            <a:endParaRPr/>
          </a:p>
          <a:p>
            <a:pPr marL="0" lvl="0" indent="0" algn="l" rtl="0">
              <a:lnSpc>
                <a:spcPct val="100000"/>
              </a:lnSpc>
              <a:spcBef>
                <a:spcPts val="0"/>
              </a:spcBef>
              <a:spcAft>
                <a:spcPts val="0"/>
              </a:spcAft>
              <a:buSzPts val="1400"/>
              <a:buFont typeface="Arial"/>
              <a:buNone/>
            </a:pPr>
            <a:endParaRPr/>
          </a:p>
          <a:p>
            <a:pPr marL="0" lvl="0" indent="0" algn="l" rtl="0">
              <a:lnSpc>
                <a:spcPct val="100000"/>
              </a:lnSpc>
              <a:spcBef>
                <a:spcPts val="0"/>
              </a:spcBef>
              <a:spcAft>
                <a:spcPts val="0"/>
              </a:spcAft>
              <a:buSzPts val="1400"/>
              <a:buFont typeface="Arial"/>
              <a:buNone/>
            </a:pPr>
            <a:r>
              <a:rPr lang="en-US"/>
              <a:t>Script:</a:t>
            </a:r>
            <a:br>
              <a:rPr lang="en-US"/>
            </a:br>
            <a:endParaRPr/>
          </a:p>
          <a:p>
            <a:pPr marL="0" lvl="0" indent="0" algn="l" rtl="0">
              <a:lnSpc>
                <a:spcPct val="100000"/>
              </a:lnSpc>
              <a:spcBef>
                <a:spcPts val="0"/>
              </a:spcBef>
              <a:spcAft>
                <a:spcPts val="0"/>
              </a:spcAft>
              <a:buSzPts val="1400"/>
              <a:buFont typeface="Arial"/>
              <a:buNone/>
            </a:pPr>
            <a:r>
              <a:rPr lang="en-US"/>
              <a:t>So today, I will be giving an overview of digital forensics and its importance in the cyber sphere. I will be covering things such as the procedure of gathering evidence, different types of forensic techniques, and at the end we will be using a software package to look at hidden data within files (i.e., jpg, png, pdf, etc.)</a:t>
            </a: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sz="1200" b="1" dirty="0"/>
              <a:t>Script:</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0" lvl="0" indent="0" algn="l" rtl="0">
              <a:lnSpc>
                <a:spcPct val="100000"/>
              </a:lnSpc>
              <a:spcBef>
                <a:spcPts val="0"/>
              </a:spcBef>
              <a:spcAft>
                <a:spcPts val="0"/>
              </a:spcAft>
              <a:buClr>
                <a:schemeClr val="dk1"/>
              </a:buClr>
              <a:buSzPts val="1200"/>
              <a:buFont typeface="Calibri"/>
              <a:buNone/>
            </a:pPr>
            <a:r>
              <a:rPr lang="en-US" sz="1200" dirty="0"/>
              <a:t>Throughout the session, we typically start our lectures with quotes, just to get brains in the proper investigative mindset.</a:t>
            </a:r>
            <a:endParaRPr dirty="0"/>
          </a:p>
          <a:p>
            <a:pPr marL="0" lvl="0" indent="0" algn="l" rtl="0">
              <a:lnSpc>
                <a:spcPct val="100000"/>
              </a:lnSpc>
              <a:spcBef>
                <a:spcPts val="0"/>
              </a:spcBef>
              <a:spcAft>
                <a:spcPts val="0"/>
              </a:spcAft>
              <a:buClr>
                <a:schemeClr val="dk1"/>
              </a:buClr>
              <a:buSzPts val="1200"/>
              <a:buFont typeface="Calibri"/>
              <a:buNone/>
            </a:pPr>
            <a:endParaRPr sz="1200" dirty="0"/>
          </a:p>
          <a:p>
            <a:pPr marL="0" lvl="0" indent="0" algn="l" rtl="0">
              <a:lnSpc>
                <a:spcPct val="100000"/>
              </a:lnSpc>
              <a:spcBef>
                <a:spcPts val="0"/>
              </a:spcBef>
              <a:spcAft>
                <a:spcPts val="0"/>
              </a:spcAft>
              <a:buClr>
                <a:schemeClr val="dk1"/>
              </a:buClr>
              <a:buSzPts val="1200"/>
              <a:buFont typeface="Calibri"/>
              <a:buNone/>
            </a:pPr>
            <a:r>
              <a:rPr lang="en-US" sz="1200" dirty="0"/>
              <a:t>Digital Forensics is very</a:t>
            </a:r>
            <a:r>
              <a:rPr lang="en-US" dirty="0"/>
              <a:t> similar to</a:t>
            </a:r>
            <a:r>
              <a:rPr lang="en-US" sz="1200" dirty="0"/>
              <a:t> regular (physical) forensics where you have to gather physical evidence, worry about chain of custody, and essentially anything that will provide a solid backing to your investigation so that your findings can be used professionally in a court of law. (i.e., drafting a investigation report, making compelling arguments).</a:t>
            </a:r>
            <a:endParaRPr dirty="0"/>
          </a:p>
          <a:p>
            <a:pPr marL="0" lvl="0" indent="0" algn="l" rtl="0">
              <a:lnSpc>
                <a:spcPct val="100000"/>
              </a:lnSpc>
              <a:spcBef>
                <a:spcPts val="0"/>
              </a:spcBef>
              <a:spcAft>
                <a:spcPts val="0"/>
              </a:spcAft>
              <a:buClr>
                <a:schemeClr val="dk1"/>
              </a:buClr>
              <a:buSzPts val="1200"/>
              <a:buFont typeface="Calibri"/>
              <a:buNone/>
            </a:pPr>
            <a:endParaRPr sz="1200" dirty="0"/>
          </a:p>
          <a:p>
            <a:pPr marL="0" lvl="0" indent="0" algn="l" rtl="0">
              <a:lnSpc>
                <a:spcPct val="100000"/>
              </a:lnSpc>
              <a:spcBef>
                <a:spcPts val="0"/>
              </a:spcBef>
              <a:spcAft>
                <a:spcPts val="0"/>
              </a:spcAft>
              <a:buClr>
                <a:schemeClr val="dk1"/>
              </a:buClr>
              <a:buSzPts val="1200"/>
              <a:buFont typeface="Calibri"/>
              <a:buNone/>
            </a:pPr>
            <a:r>
              <a:rPr lang="en-US" sz="1200" dirty="0"/>
              <a:t>Sometimes digital forensics is art, just as much as a science, just because you might not always find the “smoking gun” right away; so, you have to piece things together like a puzzle.</a:t>
            </a:r>
            <a:endParaRPr dirty="0"/>
          </a:p>
          <a:p>
            <a:pPr marL="0" lvl="0" indent="0" algn="l" rtl="0">
              <a:lnSpc>
                <a:spcPct val="100000"/>
              </a:lnSpc>
              <a:spcBef>
                <a:spcPts val="0"/>
              </a:spcBef>
              <a:spcAft>
                <a:spcPts val="0"/>
              </a:spcAft>
              <a:buClr>
                <a:schemeClr val="dk1"/>
              </a:buClr>
              <a:buSzPts val="1200"/>
              <a:buFont typeface="Calibri"/>
              <a:buNone/>
            </a:pPr>
            <a:endParaRPr sz="1200" dirty="0"/>
          </a:p>
          <a:p>
            <a:pPr marL="0" lvl="0" indent="0" algn="l" rtl="0">
              <a:lnSpc>
                <a:spcPct val="100000"/>
              </a:lnSpc>
              <a:spcBef>
                <a:spcPts val="0"/>
              </a:spcBef>
              <a:spcAft>
                <a:spcPts val="0"/>
              </a:spcAft>
              <a:buClr>
                <a:schemeClr val="dk1"/>
              </a:buClr>
              <a:buSzPts val="1200"/>
              <a:buFont typeface="Calibri"/>
              <a:buNone/>
            </a:pPr>
            <a:r>
              <a:rPr lang="en-US" sz="1200" dirty="0"/>
              <a:t>* Ask about NIST (National Institute of Standards and Technology). </a:t>
            </a:r>
            <a:br>
              <a:rPr lang="en-US" sz="1200" dirty="0"/>
            </a:br>
            <a:br>
              <a:rPr lang="en-US" sz="1200" dirty="0"/>
            </a:br>
            <a:r>
              <a:rPr lang="en-US" sz="1200" dirty="0"/>
              <a:t>Explain what NIST is. (i.e., establish regulations and standards for public agencies to reference (security vs. privacy)). They have background in digital forensics and post materials for people to use/test to familiarize themselves with the process.</a:t>
            </a:r>
            <a:br>
              <a:rPr lang="en-US" sz="1200" dirty="0"/>
            </a:br>
            <a:endParaRPr sz="1200" dirty="0"/>
          </a:p>
          <a:p>
            <a:pPr marL="0" lvl="0" indent="0" algn="l" rtl="0">
              <a:lnSpc>
                <a:spcPct val="100000"/>
              </a:lnSpc>
              <a:spcBef>
                <a:spcPts val="0"/>
              </a:spcBef>
              <a:spcAft>
                <a:spcPts val="0"/>
              </a:spcAft>
              <a:buClr>
                <a:schemeClr val="dk1"/>
              </a:buClr>
              <a:buSzPts val="1200"/>
              <a:buFont typeface="Calibri"/>
              <a:buNone/>
            </a:pPr>
            <a:r>
              <a:rPr lang="en-US" sz="1200" dirty="0"/>
              <a:t>----------</a:t>
            </a:r>
            <a:br>
              <a:rPr lang="en-US" sz="1200" dirty="0"/>
            </a:br>
            <a:endParaRPr sz="1200" dirty="0"/>
          </a:p>
          <a:p>
            <a:pPr marL="0" lvl="0" indent="0" algn="l" rtl="0">
              <a:lnSpc>
                <a:spcPct val="100000"/>
              </a:lnSpc>
              <a:spcBef>
                <a:spcPts val="0"/>
              </a:spcBef>
              <a:spcAft>
                <a:spcPts val="0"/>
              </a:spcAft>
              <a:buClr>
                <a:schemeClr val="dk1"/>
              </a:buClr>
              <a:buSzPts val="1200"/>
              <a:buFont typeface="Calibri"/>
              <a:buNone/>
            </a:pPr>
            <a:r>
              <a:rPr lang="en-US" sz="1200" b="1" dirty="0"/>
              <a:t>Additional Notes:</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Digital Forensics, Computer Forensics, Cyber Forensics, and Network Forensics are all considered the same science.</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It is important to note that Digital Forensics is a multi-step procedure that involves collection, preservation, and analysis. </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NIST – National Institute of Standards and Technology</a:t>
            </a:r>
            <a:endParaRPr dirty="0"/>
          </a:p>
          <a:p>
            <a:pPr marL="0" lvl="0" indent="0" algn="l" rtl="0">
              <a:lnSpc>
                <a:spcPct val="100000"/>
              </a:lnSpc>
              <a:spcBef>
                <a:spcPts val="0"/>
              </a:spcBef>
              <a:spcAft>
                <a:spcPts val="0"/>
              </a:spcAft>
              <a:buClr>
                <a:schemeClr val="dk1"/>
              </a:buClr>
              <a:buSzPts val="1200"/>
              <a:buFont typeface="Calibri"/>
              <a:buNone/>
            </a:pPr>
            <a:endParaRPr sz="1200" dirty="0"/>
          </a:p>
        </p:txBody>
      </p:sp>
      <p:sp>
        <p:nvSpPr>
          <p:cNvPr id="97" name="Google Shape;97;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extLst>
      <p:ext uri="{BB962C8B-B14F-4D97-AF65-F5344CB8AC3E}">
        <p14:creationId xmlns:p14="http://schemas.microsoft.com/office/powerpoint/2010/main" val="1038426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sz="1200" b="1" dirty="0"/>
              <a:t>Script:</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0" lvl="0" indent="0" algn="l" rtl="0">
              <a:lnSpc>
                <a:spcPct val="100000"/>
              </a:lnSpc>
              <a:spcBef>
                <a:spcPts val="0"/>
              </a:spcBef>
              <a:spcAft>
                <a:spcPts val="0"/>
              </a:spcAft>
              <a:buClr>
                <a:schemeClr val="dk1"/>
              </a:buClr>
              <a:buSzPts val="1200"/>
              <a:buFont typeface="Calibri"/>
              <a:buNone/>
            </a:pPr>
            <a:r>
              <a:rPr lang="en-US" sz="1200" dirty="0"/>
              <a:t>Throughout the session, we typically start our lectures with quotes, just to get brains in the proper investigative mindset.</a:t>
            </a:r>
            <a:endParaRPr dirty="0"/>
          </a:p>
          <a:p>
            <a:pPr marL="0" lvl="0" indent="0" algn="l" rtl="0">
              <a:lnSpc>
                <a:spcPct val="100000"/>
              </a:lnSpc>
              <a:spcBef>
                <a:spcPts val="0"/>
              </a:spcBef>
              <a:spcAft>
                <a:spcPts val="0"/>
              </a:spcAft>
              <a:buClr>
                <a:schemeClr val="dk1"/>
              </a:buClr>
              <a:buSzPts val="1200"/>
              <a:buFont typeface="Calibri"/>
              <a:buNone/>
            </a:pPr>
            <a:endParaRPr sz="1200" dirty="0"/>
          </a:p>
          <a:p>
            <a:pPr marL="0" lvl="0" indent="0" algn="l" rtl="0">
              <a:lnSpc>
                <a:spcPct val="100000"/>
              </a:lnSpc>
              <a:spcBef>
                <a:spcPts val="0"/>
              </a:spcBef>
              <a:spcAft>
                <a:spcPts val="0"/>
              </a:spcAft>
              <a:buClr>
                <a:schemeClr val="dk1"/>
              </a:buClr>
              <a:buSzPts val="1200"/>
              <a:buFont typeface="Calibri"/>
              <a:buNone/>
            </a:pPr>
            <a:r>
              <a:rPr lang="en-US" sz="1200" dirty="0"/>
              <a:t>Digital Forensics is very</a:t>
            </a:r>
            <a:r>
              <a:rPr lang="en-US" dirty="0"/>
              <a:t> similar to</a:t>
            </a:r>
            <a:r>
              <a:rPr lang="en-US" sz="1200" dirty="0"/>
              <a:t> regular (physical) forensics where you have to gather physical evidence, worry about chain of custody, and essentially anything that will provide a solid backing to your investigation so that your findings can be used professionally in a court of law. (i.e., drafting a investigation report, making compelling arguments).</a:t>
            </a:r>
            <a:endParaRPr dirty="0"/>
          </a:p>
          <a:p>
            <a:pPr marL="0" lvl="0" indent="0" algn="l" rtl="0">
              <a:lnSpc>
                <a:spcPct val="100000"/>
              </a:lnSpc>
              <a:spcBef>
                <a:spcPts val="0"/>
              </a:spcBef>
              <a:spcAft>
                <a:spcPts val="0"/>
              </a:spcAft>
              <a:buClr>
                <a:schemeClr val="dk1"/>
              </a:buClr>
              <a:buSzPts val="1200"/>
              <a:buFont typeface="Calibri"/>
              <a:buNone/>
            </a:pPr>
            <a:endParaRPr sz="1200" dirty="0"/>
          </a:p>
          <a:p>
            <a:pPr marL="0" lvl="0" indent="0" algn="l" rtl="0">
              <a:lnSpc>
                <a:spcPct val="100000"/>
              </a:lnSpc>
              <a:spcBef>
                <a:spcPts val="0"/>
              </a:spcBef>
              <a:spcAft>
                <a:spcPts val="0"/>
              </a:spcAft>
              <a:buClr>
                <a:schemeClr val="dk1"/>
              </a:buClr>
              <a:buSzPts val="1200"/>
              <a:buFont typeface="Calibri"/>
              <a:buNone/>
            </a:pPr>
            <a:r>
              <a:rPr lang="en-US" sz="1200" dirty="0"/>
              <a:t>Sometimes digital forensics is art, just as much as a science, just because you might not always find the “smoking gun” right away; so, you have to piece things together like a puzzle.</a:t>
            </a:r>
            <a:endParaRPr dirty="0"/>
          </a:p>
          <a:p>
            <a:pPr marL="0" lvl="0" indent="0" algn="l" rtl="0">
              <a:lnSpc>
                <a:spcPct val="100000"/>
              </a:lnSpc>
              <a:spcBef>
                <a:spcPts val="0"/>
              </a:spcBef>
              <a:spcAft>
                <a:spcPts val="0"/>
              </a:spcAft>
              <a:buClr>
                <a:schemeClr val="dk1"/>
              </a:buClr>
              <a:buSzPts val="1200"/>
              <a:buFont typeface="Calibri"/>
              <a:buNone/>
            </a:pPr>
            <a:endParaRPr sz="1200" dirty="0"/>
          </a:p>
          <a:p>
            <a:pPr marL="0" lvl="0" indent="0" algn="l" rtl="0">
              <a:lnSpc>
                <a:spcPct val="100000"/>
              </a:lnSpc>
              <a:spcBef>
                <a:spcPts val="0"/>
              </a:spcBef>
              <a:spcAft>
                <a:spcPts val="0"/>
              </a:spcAft>
              <a:buClr>
                <a:schemeClr val="dk1"/>
              </a:buClr>
              <a:buSzPts val="1200"/>
              <a:buFont typeface="Calibri"/>
              <a:buNone/>
            </a:pPr>
            <a:r>
              <a:rPr lang="en-US" sz="1200" dirty="0"/>
              <a:t>* Ask about NIST (National Institute of Standards and Technology). </a:t>
            </a:r>
            <a:br>
              <a:rPr lang="en-US" sz="1200" dirty="0"/>
            </a:br>
            <a:br>
              <a:rPr lang="en-US" sz="1200" dirty="0"/>
            </a:br>
            <a:r>
              <a:rPr lang="en-US" sz="1200" dirty="0"/>
              <a:t>Explain what NIST is. (i.e., establish regulations and standards for public agencies to reference (security vs. privacy)). They have background in digital forensics and post materials for people to use/test to familiarize themselves with the process.</a:t>
            </a:r>
            <a:br>
              <a:rPr lang="en-US" sz="1200" dirty="0"/>
            </a:br>
            <a:endParaRPr sz="1200" dirty="0"/>
          </a:p>
          <a:p>
            <a:pPr marL="0" lvl="0" indent="0" algn="l" rtl="0">
              <a:lnSpc>
                <a:spcPct val="100000"/>
              </a:lnSpc>
              <a:spcBef>
                <a:spcPts val="0"/>
              </a:spcBef>
              <a:spcAft>
                <a:spcPts val="0"/>
              </a:spcAft>
              <a:buClr>
                <a:schemeClr val="dk1"/>
              </a:buClr>
              <a:buSzPts val="1200"/>
              <a:buFont typeface="Calibri"/>
              <a:buNone/>
            </a:pPr>
            <a:r>
              <a:rPr lang="en-US" sz="1200" dirty="0"/>
              <a:t>----------</a:t>
            </a:r>
            <a:br>
              <a:rPr lang="en-US" sz="1200" dirty="0"/>
            </a:br>
            <a:endParaRPr sz="1200" dirty="0"/>
          </a:p>
          <a:p>
            <a:pPr marL="0" lvl="0" indent="0" algn="l" rtl="0">
              <a:lnSpc>
                <a:spcPct val="100000"/>
              </a:lnSpc>
              <a:spcBef>
                <a:spcPts val="0"/>
              </a:spcBef>
              <a:spcAft>
                <a:spcPts val="0"/>
              </a:spcAft>
              <a:buClr>
                <a:schemeClr val="dk1"/>
              </a:buClr>
              <a:buSzPts val="1200"/>
              <a:buFont typeface="Calibri"/>
              <a:buNone/>
            </a:pPr>
            <a:r>
              <a:rPr lang="en-US" sz="1200" b="1" dirty="0"/>
              <a:t>Additional Notes:</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Digital Forensics, Computer Forensics, Cyber Forensics, and Network Forensics are all considered the same science.</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It is important to note that Digital Forensics is a multi-step procedure that involves collection, preservation, and analysis. </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NIST – National Institute of Standards and Technology</a:t>
            </a:r>
            <a:endParaRPr dirty="0"/>
          </a:p>
          <a:p>
            <a:pPr marL="0" lvl="0" indent="0" algn="l" rtl="0">
              <a:lnSpc>
                <a:spcPct val="100000"/>
              </a:lnSpc>
              <a:spcBef>
                <a:spcPts val="0"/>
              </a:spcBef>
              <a:spcAft>
                <a:spcPts val="0"/>
              </a:spcAft>
              <a:buClr>
                <a:schemeClr val="dk1"/>
              </a:buClr>
              <a:buSzPts val="1200"/>
              <a:buFont typeface="Calibri"/>
              <a:buNone/>
            </a:pPr>
            <a:endParaRPr sz="1200" dirty="0"/>
          </a:p>
        </p:txBody>
      </p:sp>
      <p:sp>
        <p:nvSpPr>
          <p:cNvPr id="97" name="Google Shape;97;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sz="1200" b="1" dirty="0"/>
              <a:t>Additional Notes:</a:t>
            </a:r>
            <a:endParaRPr dirty="0"/>
          </a:p>
          <a:p>
            <a:pPr marL="0" lvl="0" indent="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There are several models for Forensics Procedures (some of them have 5 stages, some of them have 7, in this case we have narrowed down into 4 stages).  In all cases the data must be identified, acquired, examined, verified, analyzed, documented and presented.</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It’s important for students to be able to communicate their findings and understanding to other people (not just finding the evidence without a formal report)</a:t>
            </a:r>
            <a:endParaRPr sz="1200" dirty="0"/>
          </a:p>
          <a:p>
            <a:pPr marL="0" lvl="0" indent="0" algn="l" rtl="0">
              <a:lnSpc>
                <a:spcPct val="100000"/>
              </a:lnSpc>
              <a:spcBef>
                <a:spcPts val="0"/>
              </a:spcBef>
              <a:spcAft>
                <a:spcPts val="0"/>
              </a:spcAft>
              <a:buClr>
                <a:schemeClr val="dk1"/>
              </a:buClr>
              <a:buSzPts val="1400"/>
              <a:buFont typeface="Calibri"/>
              <a:buNone/>
            </a:pPr>
            <a:endParaRPr sz="1200" dirty="0"/>
          </a:p>
          <a:p>
            <a:pPr marL="0" lvl="0" indent="0" algn="l" rtl="0">
              <a:lnSpc>
                <a:spcPct val="100000"/>
              </a:lnSpc>
              <a:spcBef>
                <a:spcPts val="0"/>
              </a:spcBef>
              <a:spcAft>
                <a:spcPts val="0"/>
              </a:spcAft>
              <a:buClr>
                <a:schemeClr val="dk1"/>
              </a:buClr>
              <a:buSzPts val="1400"/>
              <a:buFont typeface="Calibri"/>
              <a:buNone/>
            </a:pPr>
            <a:endParaRPr sz="1200" dirty="0"/>
          </a:p>
        </p:txBody>
      </p:sp>
      <p:sp>
        <p:nvSpPr>
          <p:cNvPr id="106" name="Google Shape;106;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t>Script:</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r>
              <a:rPr lang="en-US" dirty="0"/>
              <a:t>The first stage is Collection.</a:t>
            </a:r>
            <a:r>
              <a:rPr lang="en-US" sz="1200" dirty="0"/>
              <a:t> Students often overlook this step because they want to get straight into the tools and techniques right away, when they should really be looking at the bigger picture. Knowing how to handle tools is important; however, knowing how it all started (i.e., logistics, policies, precedents, etc.) is arguably more important as it establishes professional credibility. You can find a lot </a:t>
            </a:r>
            <a:r>
              <a:rPr lang="en-US" dirty="0"/>
              <a:t>of</a:t>
            </a:r>
            <a:r>
              <a:rPr lang="en-US" sz="1200" dirty="0"/>
              <a:t> incriminating evidence, but at the end of the day, if you’re standing in a </a:t>
            </a:r>
            <a:r>
              <a:rPr lang="en-US" dirty="0"/>
              <a:t>courtroom</a:t>
            </a:r>
            <a:r>
              <a:rPr lang="en-US" sz="1200" dirty="0"/>
              <a:t> and you are unable to tell the judge the owner of the device, then all of your work becomes voided. There’s a lot there that needs to be thought about, so it’s important to not just teach the kids how to handle technology, but as mentioned before, how to communicate their findings as a fellow professional.</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r>
              <a:rPr lang="en-US" sz="1200" dirty="0"/>
              <a:t>* Talk about the Collection Process.</a:t>
            </a:r>
            <a:br>
              <a:rPr lang="en-US" sz="1200" dirty="0"/>
            </a:br>
            <a:endParaRPr sz="1200" dirty="0"/>
          </a:p>
          <a:p>
            <a:pPr marL="0" marR="0" lvl="0" indent="0" algn="l" rtl="0">
              <a:lnSpc>
                <a:spcPct val="100000"/>
              </a:lnSpc>
              <a:spcBef>
                <a:spcPts val="0"/>
              </a:spcBef>
              <a:spcAft>
                <a:spcPts val="0"/>
              </a:spcAft>
              <a:buClr>
                <a:schemeClr val="dk1"/>
              </a:buClr>
              <a:buSzPts val="1200"/>
              <a:buFont typeface="Calibri"/>
              <a:buNone/>
            </a:pPr>
            <a:r>
              <a:rPr lang="en-US" sz="1200" dirty="0"/>
              <a:t>Effort vs. Value: “Not everything is in black and white, lots of gray area.”, “You can’t find everything… focus on concrete evidence”</a:t>
            </a:r>
            <a:endParaRPr dirty="0"/>
          </a:p>
          <a:p>
            <a:pPr marL="0" marR="0" lvl="0" indent="0" algn="l" rtl="0">
              <a:lnSpc>
                <a:spcPct val="100000"/>
              </a:lnSpc>
              <a:spcBef>
                <a:spcPts val="0"/>
              </a:spcBef>
              <a:spcAft>
                <a:spcPts val="0"/>
              </a:spcAft>
              <a:buClr>
                <a:schemeClr val="dk1"/>
              </a:buClr>
              <a:buSzPts val="1200"/>
              <a:buFont typeface="Calibri"/>
              <a:buNone/>
            </a:pPr>
            <a:br>
              <a:rPr lang="en-US" sz="1200" dirty="0"/>
            </a:br>
            <a:r>
              <a:rPr lang="en-US" sz="1200" dirty="0"/>
              <a:t>----------</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r>
              <a:rPr lang="en-US" sz="1200" b="1" dirty="0"/>
              <a:t>Additional Notes:</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Data acquisition must adhere to civil, criminal, international laws, etc.</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Volatile memory must be analyzed first.</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Bytes and bytes of data available – decisions need to be made on time and money spent, where efforts are focused.</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Many places evidence can be found: mobile devices, external drives, social media</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endParaRPr sz="1200" dirty="0"/>
          </a:p>
        </p:txBody>
      </p:sp>
      <p:sp>
        <p:nvSpPr>
          <p:cNvPr id="118" name="Google Shape;11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t>Script:</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r>
              <a:rPr lang="en-US" dirty="0"/>
              <a:t>The first stage is Collection.</a:t>
            </a:r>
            <a:r>
              <a:rPr lang="en-US" sz="1200" dirty="0"/>
              <a:t> Students often overlook this step because they want to get straight into the tools and techniques right away, when they should really be looking at the bigger picture. Knowing how to handle tools is important; however, knowing how it all started (i.e., logistics, policies, precedents, etc.) is arguably more important as it establishes professional credibility. You can find a lot </a:t>
            </a:r>
            <a:r>
              <a:rPr lang="en-US" dirty="0"/>
              <a:t>of</a:t>
            </a:r>
            <a:r>
              <a:rPr lang="en-US" sz="1200" dirty="0"/>
              <a:t> incriminating evidence, but at the end of the day, if you’re standing in a </a:t>
            </a:r>
            <a:r>
              <a:rPr lang="en-US" dirty="0"/>
              <a:t>courtroom</a:t>
            </a:r>
            <a:r>
              <a:rPr lang="en-US" sz="1200" dirty="0"/>
              <a:t> and you are unable to tell the judge the owner of the device, then all of your work becomes voided. There’s a lot there that needs to be thought about, so it’s important to not just teach the kids how to handle technology, but as mentioned before, how to communicate their findings as a fellow professional.</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r>
              <a:rPr lang="en-US" sz="1200" dirty="0"/>
              <a:t>* Talk about the Collection Process.</a:t>
            </a:r>
            <a:br>
              <a:rPr lang="en-US" sz="1200" dirty="0"/>
            </a:br>
            <a:endParaRPr sz="1200" dirty="0"/>
          </a:p>
          <a:p>
            <a:pPr marL="0" marR="0" lvl="0" indent="0" algn="l" rtl="0">
              <a:lnSpc>
                <a:spcPct val="100000"/>
              </a:lnSpc>
              <a:spcBef>
                <a:spcPts val="0"/>
              </a:spcBef>
              <a:spcAft>
                <a:spcPts val="0"/>
              </a:spcAft>
              <a:buClr>
                <a:schemeClr val="dk1"/>
              </a:buClr>
              <a:buSzPts val="1200"/>
              <a:buFont typeface="Calibri"/>
              <a:buNone/>
            </a:pPr>
            <a:r>
              <a:rPr lang="en-US" sz="1200" dirty="0"/>
              <a:t>Effort vs. Value: “Not everything is in black and white, lots of gray area.”, “You can’t find everything… focus on concrete evidence”</a:t>
            </a:r>
            <a:endParaRPr dirty="0"/>
          </a:p>
          <a:p>
            <a:pPr marL="0" marR="0" lvl="0" indent="0" algn="l" rtl="0">
              <a:lnSpc>
                <a:spcPct val="100000"/>
              </a:lnSpc>
              <a:spcBef>
                <a:spcPts val="0"/>
              </a:spcBef>
              <a:spcAft>
                <a:spcPts val="0"/>
              </a:spcAft>
              <a:buClr>
                <a:schemeClr val="dk1"/>
              </a:buClr>
              <a:buSzPts val="1200"/>
              <a:buFont typeface="Calibri"/>
              <a:buNone/>
            </a:pPr>
            <a:br>
              <a:rPr lang="en-US" sz="1200" dirty="0"/>
            </a:br>
            <a:r>
              <a:rPr lang="en-US" sz="1200" dirty="0"/>
              <a:t>----------</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r>
              <a:rPr lang="en-US" sz="1200" b="1" dirty="0"/>
              <a:t>Additional Notes:</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Data acquisition must adhere to civil, criminal, international laws, etc.</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Volatile memory must be analyzed first.</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Bytes and bytes of data available – decisions need to be made on time and money spent, where efforts are focused.</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Many places evidence can be found: mobile devices, external drives, social media</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endParaRPr sz="1200" dirty="0"/>
          </a:p>
        </p:txBody>
      </p:sp>
      <p:sp>
        <p:nvSpPr>
          <p:cNvPr id="118" name="Google Shape;11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1077729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t>Script:</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r>
              <a:rPr lang="en-US" dirty="0"/>
              <a:t>The first stage is Collection.</a:t>
            </a:r>
            <a:r>
              <a:rPr lang="en-US" sz="1200" dirty="0"/>
              <a:t> Students often overlook this step because they want to get straight into the tools and techniques right away, when they should really be looking at the bigger picture. Knowing how to handle tools is important; however, knowing how it all started (i.e., logistics, policies, precedents, etc.) is arguably more important as it establishes professional credibility. You can find a lot </a:t>
            </a:r>
            <a:r>
              <a:rPr lang="en-US" dirty="0"/>
              <a:t>of</a:t>
            </a:r>
            <a:r>
              <a:rPr lang="en-US" sz="1200" dirty="0"/>
              <a:t> incriminating evidence, but at the end of the day, if you’re standing in a </a:t>
            </a:r>
            <a:r>
              <a:rPr lang="en-US" dirty="0"/>
              <a:t>courtroom</a:t>
            </a:r>
            <a:r>
              <a:rPr lang="en-US" sz="1200" dirty="0"/>
              <a:t> and you are unable to tell the judge the owner of the device, then all of your work becomes voided. There’s a lot there that needs to be thought about, so it’s important to not just teach the kids how to handle technology, but as mentioned before, how to communicate their findings as a fellow professional.</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r>
              <a:rPr lang="en-US" sz="1200" dirty="0"/>
              <a:t>* Talk about the Collection Process.</a:t>
            </a:r>
            <a:br>
              <a:rPr lang="en-US" sz="1200" dirty="0"/>
            </a:br>
            <a:endParaRPr sz="1200" dirty="0"/>
          </a:p>
          <a:p>
            <a:pPr marL="0" marR="0" lvl="0" indent="0" algn="l" rtl="0">
              <a:lnSpc>
                <a:spcPct val="100000"/>
              </a:lnSpc>
              <a:spcBef>
                <a:spcPts val="0"/>
              </a:spcBef>
              <a:spcAft>
                <a:spcPts val="0"/>
              </a:spcAft>
              <a:buClr>
                <a:schemeClr val="dk1"/>
              </a:buClr>
              <a:buSzPts val="1200"/>
              <a:buFont typeface="Calibri"/>
              <a:buNone/>
            </a:pPr>
            <a:r>
              <a:rPr lang="en-US" sz="1200" dirty="0"/>
              <a:t>Effort vs. Value: “Not everything is in black and white, lots of gray area.”, “You can’t find everything… focus on concrete evidence”</a:t>
            </a:r>
            <a:endParaRPr dirty="0"/>
          </a:p>
          <a:p>
            <a:pPr marL="0" marR="0" lvl="0" indent="0" algn="l" rtl="0">
              <a:lnSpc>
                <a:spcPct val="100000"/>
              </a:lnSpc>
              <a:spcBef>
                <a:spcPts val="0"/>
              </a:spcBef>
              <a:spcAft>
                <a:spcPts val="0"/>
              </a:spcAft>
              <a:buClr>
                <a:schemeClr val="dk1"/>
              </a:buClr>
              <a:buSzPts val="1200"/>
              <a:buFont typeface="Calibri"/>
              <a:buNone/>
            </a:pPr>
            <a:br>
              <a:rPr lang="en-US" sz="1200" dirty="0"/>
            </a:br>
            <a:r>
              <a:rPr lang="en-US" sz="1200" dirty="0"/>
              <a:t>----------</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r>
              <a:rPr lang="en-US" sz="1200" b="1" dirty="0"/>
              <a:t>Additional Notes:</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Data acquisition must adhere to civil, criminal, international laws, etc.</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Volatile memory must be analyzed first.</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Bytes and bytes of data available – decisions need to be made on time and money spent, where efforts are focused.</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Many places evidence can be found: mobile devices, external drives, social media</a:t>
            </a:r>
            <a:endParaRPr dirty="0"/>
          </a:p>
          <a:p>
            <a:pPr marL="0" marR="0" lvl="0" indent="0" algn="l" rtl="0">
              <a:lnSpc>
                <a:spcPct val="100000"/>
              </a:lnSpc>
              <a:spcBef>
                <a:spcPts val="0"/>
              </a:spcBef>
              <a:spcAft>
                <a:spcPts val="0"/>
              </a:spcAft>
              <a:buClr>
                <a:schemeClr val="dk1"/>
              </a:buClr>
              <a:buSzPts val="1200"/>
              <a:buFont typeface="Calibri"/>
              <a:buNone/>
            </a:pPr>
            <a:endParaRPr sz="1200" dirty="0"/>
          </a:p>
          <a:p>
            <a:pPr marL="0" marR="0" lvl="0" indent="0" algn="l" rtl="0">
              <a:lnSpc>
                <a:spcPct val="100000"/>
              </a:lnSpc>
              <a:spcBef>
                <a:spcPts val="0"/>
              </a:spcBef>
              <a:spcAft>
                <a:spcPts val="0"/>
              </a:spcAft>
              <a:buClr>
                <a:schemeClr val="dk1"/>
              </a:buClr>
              <a:buSzPts val="1200"/>
              <a:buFont typeface="Calibri"/>
              <a:buNone/>
            </a:pPr>
            <a:endParaRPr sz="1200" dirty="0"/>
          </a:p>
        </p:txBody>
      </p:sp>
      <p:sp>
        <p:nvSpPr>
          <p:cNvPr id="118" name="Google Shape;11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1850238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sz="1200" b="1" dirty="0"/>
              <a:t>Additional Notes:</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Evidence must be copied and the copied data examined so as to preserve original data.</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Several types of tools available</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Tools need to be validated to be sure the analysis is correct.</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0" lvl="0" indent="0" algn="l" rtl="0">
              <a:lnSpc>
                <a:spcPct val="100000"/>
              </a:lnSpc>
              <a:spcBef>
                <a:spcPts val="0"/>
              </a:spcBef>
              <a:spcAft>
                <a:spcPts val="0"/>
              </a:spcAft>
              <a:buClr>
                <a:schemeClr val="dk1"/>
              </a:buClr>
              <a:buSzPts val="1200"/>
              <a:buFont typeface="Calibri"/>
              <a:buNone/>
            </a:pPr>
            <a:endParaRPr sz="1200" dirty="0"/>
          </a:p>
        </p:txBody>
      </p:sp>
      <p:sp>
        <p:nvSpPr>
          <p:cNvPr id="130" name="Google Shape;130;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extLst>
      <p:ext uri="{BB962C8B-B14F-4D97-AF65-F5344CB8AC3E}">
        <p14:creationId xmlns:p14="http://schemas.microsoft.com/office/powerpoint/2010/main" val="3034532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Additional Notes:</a:t>
            </a:r>
            <a:endParaRPr sz="1200" b="1">
              <a:latin typeface="Calibri"/>
              <a:ea typeface="Calibri"/>
              <a:cs typeface="Calibri"/>
              <a:sym typeface="Calibri"/>
            </a:endParaRPr>
          </a:p>
          <a:p>
            <a:pPr marL="342900" lvl="0" indent="-266700" algn="l" rtl="0">
              <a:lnSpc>
                <a:spcPct val="100000"/>
              </a:lnSpc>
              <a:spcBef>
                <a:spcPts val="0"/>
              </a:spcBef>
              <a:spcAft>
                <a:spcPts val="0"/>
              </a:spcAft>
              <a:buClr>
                <a:schemeClr val="dk1"/>
              </a:buClr>
              <a:buSzPts val="1200"/>
              <a:buFont typeface="Calibri"/>
              <a:buNone/>
            </a:pPr>
            <a:endParaRPr sz="1200">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a:latin typeface="Calibri"/>
                <a:ea typeface="Calibri"/>
                <a:cs typeface="Calibri"/>
                <a:sym typeface="Calibri"/>
              </a:rPr>
              <a:t>All digital artifacts are analyzed on the forensic image so as to neither introduce nor delete digital evidence.</a:t>
            </a:r>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a:latin typeface="Calibri"/>
                <a:ea typeface="Calibri"/>
                <a:cs typeface="Calibri"/>
                <a:sym typeface="Calibri"/>
              </a:rPr>
              <a:t>Write blockers stop changes being made to the original device when making a forensic image. There are software and hardware write blockers.</a:t>
            </a:r>
            <a:endParaRPr sz="1200">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a:latin typeface="Calibri"/>
                <a:ea typeface="Calibri"/>
                <a:cs typeface="Calibri"/>
                <a:sym typeface="Calibri"/>
              </a:rPr>
              <a:t>Hashing is applied to the original device and the image to ensure no changes have been made.</a:t>
            </a:r>
            <a:endParaRPr/>
          </a:p>
        </p:txBody>
      </p:sp>
      <p:sp>
        <p:nvSpPr>
          <p:cNvPr id="163" name="Google Shape;163;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sz="1200" b="1" dirty="0"/>
              <a:t>Additional Notes:</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Evidence must be copied and the copied data examined so as to preserve original data.</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Several types of tools available</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Tools need to be validated to be sure the analysis is correct.</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0" lvl="0" indent="0" algn="l" rtl="0">
              <a:lnSpc>
                <a:spcPct val="100000"/>
              </a:lnSpc>
              <a:spcBef>
                <a:spcPts val="0"/>
              </a:spcBef>
              <a:spcAft>
                <a:spcPts val="0"/>
              </a:spcAft>
              <a:buClr>
                <a:schemeClr val="dk1"/>
              </a:buClr>
              <a:buSzPts val="1200"/>
              <a:buFont typeface="Calibri"/>
              <a:buNone/>
            </a:pPr>
            <a:endParaRPr sz="1200" dirty="0"/>
          </a:p>
        </p:txBody>
      </p:sp>
      <p:sp>
        <p:nvSpPr>
          <p:cNvPr id="130" name="Google Shape;130;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extLst>
      <p:ext uri="{BB962C8B-B14F-4D97-AF65-F5344CB8AC3E}">
        <p14:creationId xmlns:p14="http://schemas.microsoft.com/office/powerpoint/2010/main" val="3645618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dirty="0">
                <a:solidFill>
                  <a:srgbClr val="000000"/>
                </a:solidFill>
                <a:latin typeface="Calibri"/>
                <a:ea typeface="Calibri"/>
                <a:cs typeface="Calibri"/>
                <a:sym typeface="Calibri"/>
              </a:rPr>
              <a:t>Additional Notes:</a:t>
            </a:r>
            <a:endParaRPr sz="1200" b="1" dirty="0">
              <a:latin typeface="Calibri"/>
              <a:ea typeface="Calibri"/>
              <a:cs typeface="Calibri"/>
              <a:sym typeface="Calibri"/>
            </a:endParaRPr>
          </a:p>
          <a:p>
            <a:pPr marL="342900" lvl="0" indent="-266700" algn="l" rtl="0">
              <a:lnSpc>
                <a:spcPct val="100000"/>
              </a:lnSpc>
              <a:spcBef>
                <a:spcPts val="0"/>
              </a:spcBef>
              <a:spcAft>
                <a:spcPts val="0"/>
              </a:spcAft>
              <a:buClr>
                <a:schemeClr val="dk1"/>
              </a:buClr>
              <a:buSzPts val="1200"/>
              <a:buFont typeface="Calibri"/>
              <a:buNone/>
            </a:pPr>
            <a:endParaRPr sz="1200" dirty="0">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dirty="0">
                <a:latin typeface="Calibri"/>
                <a:ea typeface="Calibri"/>
                <a:cs typeface="Calibri"/>
                <a:sym typeface="Calibri"/>
              </a:rPr>
              <a:t>All digital artifacts are analyzed on the forensic image so as to neither introduce nor delete digital evidence.</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latin typeface="Calibri"/>
                <a:ea typeface="Calibri"/>
                <a:cs typeface="Calibri"/>
                <a:sym typeface="Calibri"/>
              </a:rPr>
              <a:t>Write blockers stop changes being made to the original device when making a forensic image. There are software and hardware write blockers.</a:t>
            </a:r>
            <a:endParaRPr sz="1200" dirty="0">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dirty="0">
                <a:latin typeface="Calibri"/>
                <a:ea typeface="Calibri"/>
                <a:cs typeface="Calibri"/>
                <a:sym typeface="Calibri"/>
              </a:rPr>
              <a:t>Hashing is applied to the original device and the image to ensure no changes have been made.</a:t>
            </a:r>
            <a:endParaRPr dirty="0"/>
          </a:p>
        </p:txBody>
      </p:sp>
      <p:sp>
        <p:nvSpPr>
          <p:cNvPr id="163" name="Google Shape;163;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extLst>
      <p:ext uri="{BB962C8B-B14F-4D97-AF65-F5344CB8AC3E}">
        <p14:creationId xmlns:p14="http://schemas.microsoft.com/office/powerpoint/2010/main" val="716958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sz="1400"/>
          </a:p>
        </p:txBody>
      </p:sp>
      <p:sp>
        <p:nvSpPr>
          <p:cNvPr id="172" name="Google Shape;172;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dirty="0">
                <a:solidFill>
                  <a:srgbClr val="000000"/>
                </a:solidFill>
                <a:latin typeface="Calibri"/>
                <a:ea typeface="Calibri"/>
                <a:cs typeface="Calibri"/>
                <a:sym typeface="Calibri"/>
              </a:rPr>
              <a:t>Additional Notes:</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Process needs to be legally justifiable method and techniques</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Relevance is based on the scope and objective of the investigation</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Integrity of data includes imaging and chain of custody</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Conclusions may include recommendations</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Technical Writing vs. Creative Writing: no need for fancy words</a:t>
            </a:r>
            <a:endParaRPr sz="1200" dirty="0"/>
          </a:p>
        </p:txBody>
      </p:sp>
      <p:sp>
        <p:nvSpPr>
          <p:cNvPr id="142" name="Google Shape;142;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extLst>
      <p:ext uri="{BB962C8B-B14F-4D97-AF65-F5344CB8AC3E}">
        <p14:creationId xmlns:p14="http://schemas.microsoft.com/office/powerpoint/2010/main" val="1927645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dirty="0">
                <a:solidFill>
                  <a:srgbClr val="000000"/>
                </a:solidFill>
                <a:latin typeface="Calibri"/>
                <a:ea typeface="Calibri"/>
                <a:cs typeface="Calibri"/>
                <a:sym typeface="Calibri"/>
              </a:rPr>
              <a:t>Additional Notes:</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There are several types of forensics artifacts. Not all cases are able to acquire all types or even analyze all types. </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Different operating systems store artifacts in different places</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Mobile Devices and Virtual Machines are not artifacts in and of themselves but rather important locations where artifacts can be found</a:t>
            </a:r>
            <a:endParaRPr sz="1200" dirty="0"/>
          </a:p>
        </p:txBody>
      </p:sp>
      <p:sp>
        <p:nvSpPr>
          <p:cNvPr id="154" name="Google Shape;154;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Additional Notes:</a:t>
            </a:r>
            <a:endParaRPr sz="1200" b="1">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Font typeface="Calibri"/>
              <a:buNone/>
            </a:pPr>
            <a:endParaRPr sz="120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a:solidFill>
                  <a:schemeClr val="dk1"/>
                </a:solidFill>
                <a:latin typeface="Calibri"/>
                <a:ea typeface="Calibri"/>
                <a:cs typeface="Calibri"/>
                <a:sym typeface="Calibri"/>
              </a:rPr>
              <a:t>The Registry contains information that Windows continually references during operation, such as profiles for each user, the applications installed on the computer and the types of documents that each can create, property sheet settings for folders and application icons, what hardware exists on the system, and the ports that are being used. </a:t>
            </a:r>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a:solidFill>
                  <a:schemeClr val="dk1"/>
                </a:solidFill>
                <a:latin typeface="Calibri"/>
                <a:ea typeface="Calibri"/>
                <a:cs typeface="Calibri"/>
                <a:sym typeface="Calibri"/>
              </a:rPr>
              <a:t>A registry hive is a group of keys, subkeys, and values in the registry that has a set of supporting files that contain backups of its data, e.g. HKEY_CURRENT_USER</a:t>
            </a:r>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a:solidFill>
                  <a:schemeClr val="dk1"/>
                </a:solidFill>
                <a:latin typeface="Calibri"/>
                <a:ea typeface="Calibri"/>
                <a:cs typeface="Calibri"/>
                <a:sym typeface="Calibri"/>
              </a:rPr>
              <a:t>Ask if they are familiar with RegEdit</a:t>
            </a:r>
            <a:endParaRPr sz="1400"/>
          </a:p>
        </p:txBody>
      </p:sp>
      <p:sp>
        <p:nvSpPr>
          <p:cNvPr id="181" name="Google Shape;181;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Additional Notes:</a:t>
            </a:r>
            <a:endParaRPr/>
          </a:p>
          <a:p>
            <a:pPr marL="342900" lvl="0" indent="-266700" algn="l" rtl="0">
              <a:lnSpc>
                <a:spcPct val="100000"/>
              </a:lnSpc>
              <a:spcBef>
                <a:spcPts val="0"/>
              </a:spcBef>
              <a:spcAft>
                <a:spcPts val="0"/>
              </a:spcAft>
              <a:buClr>
                <a:schemeClr val="dk1"/>
              </a:buClr>
              <a:buSzPts val="1200"/>
              <a:buFont typeface="Calibri"/>
              <a:buNone/>
            </a:pPr>
            <a:endParaRPr sz="1200"/>
          </a:p>
          <a:p>
            <a:pPr marL="228600" lvl="0" indent="-228600" algn="l" rtl="0">
              <a:lnSpc>
                <a:spcPct val="100000"/>
              </a:lnSpc>
              <a:spcBef>
                <a:spcPts val="0"/>
              </a:spcBef>
              <a:spcAft>
                <a:spcPts val="0"/>
              </a:spcAft>
              <a:buClr>
                <a:schemeClr val="dk1"/>
              </a:buClr>
              <a:buSzPts val="1200"/>
              <a:buFont typeface="Arial"/>
              <a:buAutoNum type="arabicPeriod"/>
            </a:pPr>
            <a:r>
              <a:rPr lang="en-US" sz="1200"/>
              <a:t>Windows log shown and discussed, but all operating systems have them</a:t>
            </a:r>
            <a:endParaRPr sz="1200"/>
          </a:p>
          <a:p>
            <a:pPr marL="228600" lvl="0" indent="-228600" algn="l" rtl="0">
              <a:lnSpc>
                <a:spcPct val="100000"/>
              </a:lnSpc>
              <a:spcBef>
                <a:spcPts val="0"/>
              </a:spcBef>
              <a:spcAft>
                <a:spcPts val="0"/>
              </a:spcAft>
              <a:buClr>
                <a:schemeClr val="dk1"/>
              </a:buClr>
              <a:buSzPts val="1200"/>
              <a:buFont typeface="Arial"/>
              <a:buAutoNum type="arabicPeriod"/>
            </a:pPr>
            <a:r>
              <a:rPr lang="en-US" sz="1200"/>
              <a:t>Error, warning, information, success/failure audit</a:t>
            </a:r>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a:t>Can be viewed with Event Viewer</a:t>
            </a:r>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a:t>Logs roll over!</a:t>
            </a:r>
            <a:endParaRPr sz="1200"/>
          </a:p>
        </p:txBody>
      </p:sp>
      <p:sp>
        <p:nvSpPr>
          <p:cNvPr id="191" name="Google Shape;191;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t>Additional Notes:</a:t>
            </a:r>
            <a:endParaRPr sz="1200" b="1"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Font typeface="Calibri"/>
              <a:buNone/>
            </a:pP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200"/>
              <a:buFont typeface="Arial"/>
              <a:buAutoNum type="arabicPeriod"/>
            </a:pPr>
            <a:r>
              <a:rPr lang="en-US" sz="1200" dirty="0">
                <a:solidFill>
                  <a:schemeClr val="dk1"/>
                </a:solidFill>
                <a:latin typeface="Calibri"/>
                <a:ea typeface="Calibri"/>
                <a:cs typeface="Calibri"/>
                <a:sym typeface="Calibri"/>
              </a:rPr>
              <a:t>Program that allows for manipulation of the fundamental binary data that constitutes a computer file. </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solidFill>
                  <a:schemeClr val="dk1"/>
                </a:solidFill>
                <a:latin typeface="Calibri"/>
                <a:ea typeface="Calibri"/>
                <a:cs typeface="Calibri"/>
                <a:sym typeface="Calibri"/>
              </a:rPr>
              <a:t>“Hex” </a:t>
            </a:r>
            <a:r>
              <a:rPr lang="en-US" sz="1200" b="0" dirty="0">
                <a:solidFill>
                  <a:schemeClr val="dk1"/>
                </a:solidFill>
                <a:latin typeface="Calibri"/>
                <a:ea typeface="Calibri"/>
                <a:cs typeface="Calibri"/>
                <a:sym typeface="Calibri"/>
              </a:rPr>
              <a:t>stands for 'hexadecimal’ a base 16 number system with 0-9 and A-F.</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Calibri"/>
                <a:ea typeface="Calibri"/>
                <a:cs typeface="Calibri"/>
                <a:sym typeface="Calibri"/>
              </a:rPr>
              <a:t>Hexadecimal is a standard numerical format for representing binary data.</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Calibri"/>
                <a:ea typeface="Calibri"/>
                <a:cs typeface="Calibri"/>
                <a:sym typeface="Calibri"/>
              </a:rPr>
              <a:t>The hex data for a file can be manipulated to help recover deleted files.</a:t>
            </a:r>
            <a:endParaRPr sz="1400" dirty="0"/>
          </a:p>
        </p:txBody>
      </p:sp>
      <p:sp>
        <p:nvSpPr>
          <p:cNvPr id="210" name="Google Shape;210;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dirty="0">
                <a:solidFill>
                  <a:srgbClr val="000000"/>
                </a:solidFill>
                <a:latin typeface="Calibri"/>
                <a:ea typeface="Calibri"/>
                <a:cs typeface="Calibri"/>
                <a:sym typeface="Calibri"/>
              </a:rPr>
              <a:t>Additional Notes:</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Not all data can be carved</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File carving is done in the slack and free space</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Headers and footers help with the file carving process and can be used even if file extension has been renamed</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Overwriting with zeros.</a:t>
            </a:r>
            <a:endParaRPr sz="1200" dirty="0"/>
          </a:p>
        </p:txBody>
      </p:sp>
      <p:sp>
        <p:nvSpPr>
          <p:cNvPr id="201" name="Google Shape;201;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dirty="0">
                <a:solidFill>
                  <a:srgbClr val="000000"/>
                </a:solidFill>
                <a:latin typeface="Calibri"/>
                <a:ea typeface="Calibri"/>
                <a:cs typeface="Calibri"/>
                <a:sym typeface="Calibri"/>
              </a:rPr>
              <a:t>Additional Notes:</a:t>
            </a:r>
            <a:endParaRPr dirty="0"/>
          </a:p>
          <a:p>
            <a:pPr marL="342900" lvl="0" indent="-266700" algn="l" rtl="0">
              <a:lnSpc>
                <a:spcPct val="100000"/>
              </a:lnSpc>
              <a:spcBef>
                <a:spcPts val="0"/>
              </a:spcBef>
              <a:spcAft>
                <a:spcPts val="0"/>
              </a:spcAft>
              <a:buClr>
                <a:schemeClr val="dk1"/>
              </a:buClr>
              <a:buSzPts val="1200"/>
              <a:buFont typeface="Calibri"/>
              <a:buNone/>
            </a:pPr>
            <a:endParaRPr sz="1200"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Process needs to be legally justifiable method and techniques</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Relevance is based on the scope and objective of the investigation</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Integrity of data includes imaging and chain of custody</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Conclusions may include recommendations</a:t>
            </a:r>
            <a:endParaRPr dirty="0"/>
          </a:p>
          <a:p>
            <a:pPr marL="228600" lvl="0" indent="-228600" algn="l" rtl="0">
              <a:lnSpc>
                <a:spcPct val="100000"/>
              </a:lnSpc>
              <a:spcBef>
                <a:spcPts val="0"/>
              </a:spcBef>
              <a:spcAft>
                <a:spcPts val="0"/>
              </a:spcAft>
              <a:buClr>
                <a:schemeClr val="dk1"/>
              </a:buClr>
              <a:buSzPts val="1200"/>
              <a:buFont typeface="Arial"/>
              <a:buAutoNum type="arabicPeriod"/>
            </a:pPr>
            <a:r>
              <a:rPr lang="en-US" sz="1200" dirty="0"/>
              <a:t>Technical Writing vs. Creative Writing: no need for fancy words</a:t>
            </a:r>
            <a:endParaRPr sz="1200" dirty="0"/>
          </a:p>
        </p:txBody>
      </p:sp>
      <p:sp>
        <p:nvSpPr>
          <p:cNvPr id="142" name="Google Shape;142;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extLst>
      <p:ext uri="{BB962C8B-B14F-4D97-AF65-F5344CB8AC3E}">
        <p14:creationId xmlns:p14="http://schemas.microsoft.com/office/powerpoint/2010/main" val="4032661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de69dcc2c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5" name="Google Shape;235;gde69dcc2c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36" name="Google Shape;236;gde69dcc2ca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20</a:t>
            </a:fld>
            <a:endParaRPr sz="12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0" name="Google Shape;27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r>
              <a:rPr lang="en-US" sz="1400" b="1" dirty="0"/>
              <a:t>Additional Notes:</a:t>
            </a:r>
            <a:endParaRPr dirty="0"/>
          </a:p>
          <a:p>
            <a:pPr marL="0" lvl="0" indent="0" algn="l" rtl="0">
              <a:lnSpc>
                <a:spcPct val="100000"/>
              </a:lnSpc>
              <a:spcBef>
                <a:spcPts val="0"/>
              </a:spcBef>
              <a:spcAft>
                <a:spcPts val="0"/>
              </a:spcAft>
              <a:buClr>
                <a:schemeClr val="dk1"/>
              </a:buClr>
              <a:buSzPts val="1400"/>
              <a:buFont typeface="Arial"/>
              <a:buNone/>
            </a:pPr>
            <a:endParaRPr sz="1400" dirty="0"/>
          </a:p>
          <a:p>
            <a:pPr marL="342900" lvl="0" indent="-342900" algn="l" rtl="0">
              <a:lnSpc>
                <a:spcPct val="100000"/>
              </a:lnSpc>
              <a:spcBef>
                <a:spcPts val="0"/>
              </a:spcBef>
              <a:spcAft>
                <a:spcPts val="0"/>
              </a:spcAft>
              <a:buClr>
                <a:schemeClr val="dk1"/>
              </a:buClr>
              <a:buSzPts val="1400"/>
              <a:buFont typeface="Arial"/>
              <a:buAutoNum type="arabicPeriod"/>
            </a:pPr>
            <a:r>
              <a:rPr lang="en-US" sz="1400" dirty="0"/>
              <a:t>It is very difficult to determine, but one can set a 3rd party timestamp to avoid people seeing alteration of the data</a:t>
            </a:r>
            <a:endParaRPr dirty="0"/>
          </a:p>
          <a:p>
            <a:pPr marL="342900" lvl="0" indent="-342900" algn="l" rtl="0">
              <a:lnSpc>
                <a:spcPct val="100000"/>
              </a:lnSpc>
              <a:spcBef>
                <a:spcPts val="0"/>
              </a:spcBef>
              <a:spcAft>
                <a:spcPts val="0"/>
              </a:spcAft>
              <a:buClr>
                <a:schemeClr val="dk1"/>
              </a:buClr>
              <a:buSzPts val="1400"/>
              <a:buFont typeface="Arial"/>
              <a:buAutoNum type="arabicPeriod"/>
            </a:pPr>
            <a:r>
              <a:rPr lang="en-US" sz="1400" dirty="0"/>
              <a:t>Yes, because it stores PII, phone model, </a:t>
            </a:r>
            <a:r>
              <a:rPr lang="en-US" sz="1400" b="1" dirty="0"/>
              <a:t>geolocation</a:t>
            </a:r>
            <a:endParaRPr dirty="0"/>
          </a:p>
          <a:p>
            <a:pPr marL="342900" lvl="0" indent="-342900" algn="l" rtl="0">
              <a:lnSpc>
                <a:spcPct val="100000"/>
              </a:lnSpc>
              <a:spcBef>
                <a:spcPts val="0"/>
              </a:spcBef>
              <a:spcAft>
                <a:spcPts val="0"/>
              </a:spcAft>
              <a:buClr>
                <a:schemeClr val="dk1"/>
              </a:buClr>
              <a:buSzPts val="1400"/>
              <a:buFont typeface="Arial"/>
              <a:buAutoNum type="arabicPeriod"/>
            </a:pPr>
            <a:r>
              <a:rPr lang="en-US" sz="1400" dirty="0"/>
              <a:t>Mention that Facebook strips away important Metadata</a:t>
            </a:r>
            <a:endParaRPr sz="1400" dirty="0"/>
          </a:p>
          <a:p>
            <a:pPr marL="342900" lvl="0" indent="-342900" algn="l" rtl="0">
              <a:lnSpc>
                <a:spcPct val="100000"/>
              </a:lnSpc>
              <a:spcBef>
                <a:spcPts val="0"/>
              </a:spcBef>
              <a:spcAft>
                <a:spcPts val="0"/>
              </a:spcAft>
              <a:buClr>
                <a:schemeClr val="dk1"/>
              </a:buClr>
              <a:buSzPts val="1400"/>
              <a:buFont typeface="Arial"/>
              <a:buAutoNum type="arabicPeriod"/>
            </a:pPr>
            <a:r>
              <a:rPr lang="en-US" sz="1400" dirty="0"/>
              <a:t>Phone tracks everything. Be careful with the things you take pics of...Digital footprints trace everything you do</a:t>
            </a:r>
            <a:endParaRPr sz="1400" dirty="0"/>
          </a:p>
          <a:p>
            <a:pPr marL="800100" lvl="1" indent="-342900" algn="l" rtl="0">
              <a:lnSpc>
                <a:spcPct val="100000"/>
              </a:lnSpc>
              <a:spcBef>
                <a:spcPts val="0"/>
              </a:spcBef>
              <a:spcAft>
                <a:spcPts val="0"/>
              </a:spcAft>
              <a:buClr>
                <a:schemeClr val="dk1"/>
              </a:buClr>
              <a:buSzPts val="1400"/>
              <a:buFont typeface="Arial"/>
              <a:buAutoNum type="arabicPeriod"/>
            </a:pPr>
            <a:r>
              <a:rPr lang="en-US" sz="1400" dirty="0" err="1"/>
              <a:t>ExifTool</a:t>
            </a:r>
            <a:r>
              <a:rPr lang="en-US" sz="1400" dirty="0"/>
              <a:t> is freeware...student can take pictures and analyze </a:t>
            </a:r>
            <a:r>
              <a:rPr lang="en-US" sz="1400" dirty="0" err="1"/>
              <a:t>exiftool</a:t>
            </a:r>
            <a:r>
              <a:rPr lang="en-US" sz="1400" dirty="0"/>
              <a:t> data.</a:t>
            </a:r>
            <a:endParaRPr sz="1400" dirty="0"/>
          </a:p>
        </p:txBody>
      </p:sp>
      <p:sp>
        <p:nvSpPr>
          <p:cNvPr id="271" name="Google Shape;27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21</a:t>
            </a:fld>
            <a:endParaRPr sz="12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0" name="Google Shape;27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sz="1400" b="1" dirty="0">
                <a:latin typeface="Calibri"/>
                <a:ea typeface="Calibri"/>
                <a:cs typeface="Calibri"/>
                <a:sym typeface="Calibri"/>
              </a:rPr>
              <a:t>Additional Notes:</a:t>
            </a:r>
            <a:endParaRPr lang="en-US" sz="1400" dirty="0"/>
          </a:p>
          <a:p>
            <a:pPr marL="0" lvl="0" indent="0" algn="l" rtl="0">
              <a:lnSpc>
                <a:spcPct val="100000"/>
              </a:lnSpc>
              <a:spcBef>
                <a:spcPts val="0"/>
              </a:spcBef>
              <a:spcAft>
                <a:spcPts val="0"/>
              </a:spcAft>
              <a:buClr>
                <a:schemeClr val="dk1"/>
              </a:buClr>
              <a:buSzPts val="1200"/>
              <a:buFont typeface="Calibri"/>
              <a:buNone/>
            </a:pPr>
            <a:endParaRPr lang="en-US" sz="1400" dirty="0">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200"/>
              <a:buFont typeface="Arial"/>
              <a:buAutoNum type="arabicPeriod"/>
            </a:pPr>
            <a:r>
              <a:rPr lang="en-US" sz="1400" dirty="0">
                <a:latin typeface="Calibri"/>
                <a:ea typeface="Calibri"/>
                <a:cs typeface="Calibri"/>
                <a:sym typeface="Calibri"/>
              </a:rPr>
              <a:t>Hashing = mapping </a:t>
            </a:r>
            <a:r>
              <a:rPr lang="en-US" sz="1400" dirty="0"/>
              <a:t>algorithm functions. NOTE IT IS ONLY ONE WAY</a:t>
            </a:r>
          </a:p>
          <a:p>
            <a:pPr marL="228600" lvl="0" indent="-228600" algn="l" rtl="0">
              <a:lnSpc>
                <a:spcPct val="100000"/>
              </a:lnSpc>
              <a:spcBef>
                <a:spcPts val="0"/>
              </a:spcBef>
              <a:spcAft>
                <a:spcPts val="0"/>
              </a:spcAft>
              <a:buClr>
                <a:schemeClr val="dk1"/>
              </a:buClr>
              <a:buSzPts val="1200"/>
              <a:buFont typeface="Arial"/>
              <a:buAutoNum type="arabicPeriod"/>
            </a:pPr>
            <a:r>
              <a:rPr lang="en-US" sz="1400" dirty="0">
                <a:latin typeface="Calibri"/>
                <a:ea typeface="Calibri"/>
                <a:cs typeface="Calibri"/>
                <a:sym typeface="Calibri"/>
              </a:rPr>
              <a:t>Hex editor = number systems</a:t>
            </a:r>
            <a:endParaRPr lang="en-US" sz="1400" dirty="0"/>
          </a:p>
          <a:p>
            <a:pPr marL="228600" lvl="0" indent="-228600" algn="l" rtl="0">
              <a:lnSpc>
                <a:spcPct val="100000"/>
              </a:lnSpc>
              <a:spcBef>
                <a:spcPts val="0"/>
              </a:spcBef>
              <a:spcAft>
                <a:spcPts val="0"/>
              </a:spcAft>
              <a:buClr>
                <a:schemeClr val="dk1"/>
              </a:buClr>
              <a:buSzPts val="1200"/>
              <a:buFont typeface="Arial"/>
              <a:buAutoNum type="arabicPeriod"/>
            </a:pPr>
            <a:r>
              <a:rPr lang="en-US" sz="1400" dirty="0">
                <a:latin typeface="Calibri"/>
                <a:ea typeface="Calibri"/>
                <a:cs typeface="Calibri"/>
                <a:sym typeface="Calibri"/>
              </a:rPr>
              <a:t>Geolocation = coordinates</a:t>
            </a:r>
            <a:endParaRPr lang="en-US" sz="1400" dirty="0"/>
          </a:p>
          <a:p>
            <a:pPr marL="228600" lvl="0" indent="-228600" algn="l" rtl="0">
              <a:lnSpc>
                <a:spcPct val="100000"/>
              </a:lnSpc>
              <a:spcBef>
                <a:spcPts val="0"/>
              </a:spcBef>
              <a:spcAft>
                <a:spcPts val="0"/>
              </a:spcAft>
              <a:buClr>
                <a:schemeClr val="dk1"/>
              </a:buClr>
              <a:buSzPts val="1200"/>
              <a:buFont typeface="Arial"/>
              <a:buAutoNum type="arabicPeriod"/>
            </a:pPr>
            <a:r>
              <a:rPr lang="en-US" sz="1400" dirty="0" err="1">
                <a:latin typeface="Calibri"/>
                <a:ea typeface="Calibri"/>
                <a:cs typeface="Calibri"/>
                <a:sym typeface="Calibri"/>
              </a:rPr>
              <a:t>Exiftools</a:t>
            </a:r>
            <a:r>
              <a:rPr lang="en-US" sz="1400" dirty="0">
                <a:latin typeface="Calibri"/>
                <a:ea typeface="Calibri"/>
                <a:cs typeface="Calibri"/>
                <a:sym typeface="Calibri"/>
              </a:rPr>
              <a:t> = privacy</a:t>
            </a:r>
          </a:p>
          <a:p>
            <a:pPr marL="228600" lvl="0" indent="-228600" algn="l" rtl="0">
              <a:lnSpc>
                <a:spcPct val="100000"/>
              </a:lnSpc>
              <a:spcBef>
                <a:spcPts val="0"/>
              </a:spcBef>
              <a:spcAft>
                <a:spcPts val="0"/>
              </a:spcAft>
              <a:buSzPts val="1400"/>
              <a:buFont typeface="Arial"/>
              <a:buAutoNum type="arabicPeriod"/>
            </a:pPr>
            <a:r>
              <a:rPr lang="en-US" sz="1400" dirty="0"/>
              <a:t>Verification = credibility (cite sources) - Truthful with things you find and you didn’t change it in any way</a:t>
            </a:r>
          </a:p>
          <a:p>
            <a:pPr marL="228600" lvl="0" indent="-228600" algn="l" rtl="0">
              <a:lnSpc>
                <a:spcPct val="100000"/>
              </a:lnSpc>
              <a:spcBef>
                <a:spcPts val="0"/>
              </a:spcBef>
              <a:spcAft>
                <a:spcPts val="0"/>
              </a:spcAft>
              <a:buClr>
                <a:schemeClr val="dk1"/>
              </a:buClr>
              <a:buSzPts val="1200"/>
              <a:buFont typeface="Arial"/>
              <a:buAutoNum type="arabicPeriod"/>
            </a:pPr>
            <a:r>
              <a:rPr lang="en-US" sz="1400" dirty="0">
                <a:latin typeface="Calibri"/>
                <a:ea typeface="Calibri"/>
                <a:cs typeface="Calibri"/>
                <a:sym typeface="Calibri"/>
              </a:rPr>
              <a:t>Reports = written communication</a:t>
            </a:r>
          </a:p>
        </p:txBody>
      </p:sp>
      <p:sp>
        <p:nvSpPr>
          <p:cNvPr id="271" name="Google Shape;27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22</a:t>
            </a:fld>
            <a:endParaRPr sz="1200">
              <a:solidFill>
                <a:schemeClr val="dk1"/>
              </a:solidFill>
              <a:latin typeface="Arial"/>
              <a:ea typeface="Arial"/>
              <a:cs typeface="Arial"/>
              <a:sym typeface="Arial"/>
            </a:endParaRPr>
          </a:p>
        </p:txBody>
      </p:sp>
    </p:spTree>
    <p:extLst>
      <p:ext uri="{BB962C8B-B14F-4D97-AF65-F5344CB8AC3E}">
        <p14:creationId xmlns:p14="http://schemas.microsoft.com/office/powerpoint/2010/main" val="2123897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0" name="Google Shape;27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lang="en-US" sz="1400" dirty="0">
              <a:latin typeface="Calibri"/>
              <a:ea typeface="Calibri"/>
              <a:cs typeface="Calibri"/>
              <a:sym typeface="Calibri"/>
            </a:endParaRPr>
          </a:p>
        </p:txBody>
      </p:sp>
      <p:sp>
        <p:nvSpPr>
          <p:cNvPr id="271" name="Google Shape;27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23</a:t>
            </a:fld>
            <a:endParaRPr sz="1200">
              <a:solidFill>
                <a:schemeClr val="dk1"/>
              </a:solidFill>
              <a:latin typeface="Arial"/>
              <a:ea typeface="Arial"/>
              <a:cs typeface="Arial"/>
              <a:sym typeface="Arial"/>
            </a:endParaRPr>
          </a:p>
        </p:txBody>
      </p:sp>
    </p:spTree>
    <p:extLst>
      <p:ext uri="{BB962C8B-B14F-4D97-AF65-F5344CB8AC3E}">
        <p14:creationId xmlns:p14="http://schemas.microsoft.com/office/powerpoint/2010/main" val="3022310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3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3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3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3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4"/>
          <p:cNvSpPr>
            <a:spLocks noGrp="1"/>
          </p:cNvSpPr>
          <p:nvPr>
            <p:ph type="pic" idx="2"/>
          </p:nvPr>
        </p:nvSpPr>
        <p:spPr>
          <a:xfrm>
            <a:off x="1792288" y="612775"/>
            <a:ext cx="5486400" cy="4114800"/>
          </a:xfrm>
          <a:prstGeom prst="rect">
            <a:avLst/>
          </a:prstGeom>
          <a:noFill/>
          <a:ln>
            <a:noFill/>
          </a:ln>
        </p:spPr>
      </p:sp>
      <p:sp>
        <p:nvSpPr>
          <p:cNvPr id="68" name="Google Shape;68;p3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5"/>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6"/>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6"/>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8D8D8"/>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logicube.com/shop/writeprotect-desktop/"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ww.ncjrs.gov/pdffiles1/nij/199408.pdf"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about:blank" TargetMode="External"/><Relationship Id="rId5" Type="http://schemas.openxmlformats.org/officeDocument/2006/relationships/hyperlink" Target="http://www.cftt.nist.gov/CFTT-Booklet-08112015.pdf" TargetMode="External"/><Relationship Id="rId4" Type="http://schemas.openxmlformats.org/officeDocument/2006/relationships/hyperlink" Target="http://csrc.nist.gov/publications/nistpubs/800-86/SP800-86.pdf"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E62"/>
        </a:solidFill>
        <a:effectLst/>
      </p:bgPr>
    </p:bg>
    <p:spTree>
      <p:nvGrpSpPr>
        <p:cNvPr id="1" name="Shape 88"/>
        <p:cNvGrpSpPr/>
        <p:nvPr/>
      </p:nvGrpSpPr>
      <p:grpSpPr>
        <a:xfrm>
          <a:off x="0" y="0"/>
          <a:ext cx="0" cy="0"/>
          <a:chOff x="0" y="0"/>
          <a:chExt cx="0" cy="0"/>
        </a:xfrm>
      </p:grpSpPr>
      <p:sp>
        <p:nvSpPr>
          <p:cNvPr id="89" name="Google Shape;89;p1"/>
          <p:cNvSpPr txBox="1">
            <a:spLocks noGrp="1"/>
          </p:cNvSpPr>
          <p:nvPr>
            <p:ph type="title"/>
          </p:nvPr>
        </p:nvSpPr>
        <p:spPr>
          <a:xfrm>
            <a:off x="0" y="361307"/>
            <a:ext cx="9144000" cy="1288271"/>
          </a:xfrm>
          <a:prstGeom prst="rect">
            <a:avLst/>
          </a:prstGeom>
          <a:solidFill>
            <a:srgbClr val="D8D8D8"/>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2E62"/>
              </a:buClr>
              <a:buSzPts val="4000"/>
              <a:buFont typeface="Verdana"/>
              <a:buNone/>
            </a:pPr>
            <a:r>
              <a:rPr lang="en-US" sz="4000">
                <a:solidFill>
                  <a:srgbClr val="002E62"/>
                </a:solidFill>
                <a:latin typeface="Verdana"/>
                <a:ea typeface="Verdana"/>
                <a:cs typeface="Verdana"/>
                <a:sym typeface="Verdana"/>
              </a:rPr>
              <a:t>Introduction to Digital Forensics</a:t>
            </a:r>
            <a:endParaRPr/>
          </a:p>
        </p:txBody>
      </p:sp>
      <p:sp>
        <p:nvSpPr>
          <p:cNvPr id="90" name="Google Shape;90;p1"/>
          <p:cNvSpPr/>
          <p:nvPr/>
        </p:nvSpPr>
        <p:spPr>
          <a:xfrm>
            <a:off x="0" y="6295510"/>
            <a:ext cx="9144000" cy="328462"/>
          </a:xfrm>
          <a:prstGeom prst="rect">
            <a:avLst/>
          </a:prstGeom>
          <a:solidFill>
            <a:srgbClr val="D8D8D8"/>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2E62"/>
                </a:solidFill>
                <a:latin typeface="Calibri"/>
                <a:ea typeface="Calibri"/>
                <a:cs typeface="Calibri"/>
                <a:sym typeface="Calibri"/>
              </a:rPr>
              <a:t>     </a:t>
            </a:r>
            <a:r>
              <a:rPr lang="en-US" sz="1800" b="0" i="0" u="none" strike="noStrike" cap="none">
                <a:solidFill>
                  <a:schemeClr val="dk1"/>
                </a:solidFill>
                <a:latin typeface="Verdana"/>
                <a:ea typeface="Verdana"/>
                <a:cs typeface="Verdana"/>
                <a:sym typeface="Verdana"/>
              </a:rPr>
              <a:t>CYBER SECURITY INITIATIVE FOR NEVADA TEACHERS (CSINT)</a:t>
            </a:r>
            <a:endParaRPr sz="1400" b="0" i="0" u="none" strike="noStrike" cap="none">
              <a:solidFill>
                <a:srgbClr val="000000"/>
              </a:solidFill>
              <a:latin typeface="Arial"/>
              <a:ea typeface="Arial"/>
              <a:cs typeface="Arial"/>
              <a:sym typeface="Arial"/>
            </a:endParaRPr>
          </a:p>
        </p:txBody>
      </p:sp>
      <p:pic>
        <p:nvPicPr>
          <p:cNvPr id="91" name="Google Shape;91;p1" descr="Nevada_N_blue_reverse.jpg"/>
          <p:cNvPicPr preferRelativeResize="0"/>
          <p:nvPr/>
        </p:nvPicPr>
        <p:blipFill rotWithShape="1">
          <a:blip r:embed="rId3">
            <a:alphaModFix/>
          </a:blip>
          <a:srcRect/>
          <a:stretch/>
        </p:blipFill>
        <p:spPr>
          <a:xfrm>
            <a:off x="3486593" y="2198654"/>
            <a:ext cx="2060377" cy="2060377"/>
          </a:xfrm>
          <a:prstGeom prst="rect">
            <a:avLst/>
          </a:prstGeom>
          <a:noFill/>
          <a:ln>
            <a:noFill/>
          </a:ln>
        </p:spPr>
      </p:pic>
      <p:sp>
        <p:nvSpPr>
          <p:cNvPr id="92" name="Google Shape;92;p1"/>
          <p:cNvSpPr txBox="1"/>
          <p:nvPr/>
        </p:nvSpPr>
        <p:spPr>
          <a:xfrm>
            <a:off x="1659429" y="4615448"/>
            <a:ext cx="5714700" cy="1015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dirty="0">
                <a:solidFill>
                  <a:srgbClr val="D8D8D8"/>
                </a:solidFill>
                <a:latin typeface="Verdana"/>
                <a:ea typeface="Verdana"/>
                <a:cs typeface="Verdana"/>
                <a:sym typeface="Verdana"/>
              </a:rPr>
              <a:t>Presented By: Stephanie Du</a:t>
            </a:r>
            <a:endParaRPr sz="2000" b="0" i="0" u="none" strike="noStrike" cap="none" dirty="0">
              <a:solidFill>
                <a:srgbClr val="D8D8D8"/>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D8D8D8"/>
                </a:solidFill>
                <a:latin typeface="Verdana"/>
                <a:ea typeface="Verdana"/>
                <a:cs typeface="Verdana"/>
                <a:sym typeface="Verdana"/>
              </a:rPr>
              <a:t>Computer Science &amp;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D8D8D8"/>
                </a:solidFill>
                <a:latin typeface="Verdana"/>
                <a:ea typeface="Verdana"/>
                <a:cs typeface="Verdana"/>
                <a:sym typeface="Verdana"/>
              </a:rPr>
              <a:t>September 23</a:t>
            </a:r>
            <a:r>
              <a:rPr lang="en-US" sz="2000" b="0" i="0" u="none" strike="noStrike" cap="none" baseline="30000" dirty="0">
                <a:solidFill>
                  <a:srgbClr val="D8D8D8"/>
                </a:solidFill>
                <a:latin typeface="Verdana"/>
                <a:ea typeface="Verdana"/>
                <a:cs typeface="Verdana"/>
                <a:sym typeface="Verdana"/>
              </a:rPr>
              <a:t>rd</a:t>
            </a:r>
            <a:r>
              <a:rPr lang="en-US" sz="2000" b="0" i="0" u="none" strike="noStrike" cap="none" dirty="0">
                <a:solidFill>
                  <a:srgbClr val="D8D8D8"/>
                </a:solidFill>
                <a:latin typeface="Verdana"/>
                <a:ea typeface="Verdana"/>
                <a:cs typeface="Verdana"/>
                <a:sym typeface="Verdana"/>
              </a:rPr>
              <a:t>, 2025</a:t>
            </a:r>
            <a:endParaRPr sz="1400" b="0" i="0" u="none" strike="noStrike" cap="none" dirty="0">
              <a:solidFill>
                <a:srgbClr val="000000"/>
              </a:solidFill>
              <a:latin typeface="Arial"/>
              <a:ea typeface="Arial"/>
              <a:cs typeface="Arial"/>
              <a:sym typeface="Arial"/>
            </a:endParaRPr>
          </a:p>
        </p:txBody>
      </p:sp>
      <p:sp>
        <p:nvSpPr>
          <p:cNvPr id="93" name="Google Shape;93;p1"/>
          <p:cNvSpPr/>
          <p:nvPr/>
        </p:nvSpPr>
        <p:spPr>
          <a:xfrm>
            <a:off x="0" y="6296025"/>
            <a:ext cx="9144000" cy="328613"/>
          </a:xfrm>
          <a:prstGeom prst="rect">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dirty="0">
                <a:solidFill>
                  <a:srgbClr val="002E62"/>
                </a:solidFill>
                <a:latin typeface="Calibri"/>
                <a:ea typeface="Calibri"/>
                <a:cs typeface="Calibri"/>
                <a:sym typeface="Calibri"/>
              </a:rPr>
              <a:t>CS 151.1001 – Fall 2025</a:t>
            </a:r>
            <a:endParaRPr sz="1400" b="0" i="0" u="none" strike="noStrike" cap="small" dirty="0">
              <a:solidFill>
                <a:srgbClr val="002E62"/>
              </a:solidFill>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Digital Forensics</a:t>
            </a:r>
            <a:endParaRPr/>
          </a:p>
        </p:txBody>
      </p:sp>
      <p:sp>
        <p:nvSpPr>
          <p:cNvPr id="100" name="Google Shape;100;p2"/>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01" name="Google Shape;101;p2"/>
          <p:cNvSpPr txBox="1"/>
          <p:nvPr/>
        </p:nvSpPr>
        <p:spPr>
          <a:xfrm>
            <a:off x="242216" y="2551857"/>
            <a:ext cx="8659567"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en-US" sz="5400" b="0" i="0" u="none" strike="noStrike" cap="none" dirty="0">
                <a:solidFill>
                  <a:schemeClr val="dk1"/>
                </a:solidFill>
                <a:latin typeface="Calibri"/>
                <a:ea typeface="Calibri"/>
                <a:cs typeface="Calibri"/>
                <a:sym typeface="Calibri"/>
              </a:rPr>
              <a:t>How would you define </a:t>
            </a:r>
          </a:p>
          <a:p>
            <a:pPr marL="0" marR="0" lvl="0" indent="0" algn="ctr" rtl="0">
              <a:lnSpc>
                <a:spcPct val="100000"/>
              </a:lnSpc>
              <a:spcBef>
                <a:spcPts val="0"/>
              </a:spcBef>
              <a:spcAft>
                <a:spcPts val="0"/>
              </a:spcAft>
              <a:buClr>
                <a:srgbClr val="000000"/>
              </a:buClr>
              <a:buSzPts val="2500"/>
              <a:buFont typeface="Arial"/>
              <a:buNone/>
            </a:pPr>
            <a:r>
              <a:rPr lang="en-US" sz="5400" b="0" i="0" u="none" strike="noStrike" cap="none" dirty="0">
                <a:solidFill>
                  <a:schemeClr val="dk1"/>
                </a:solidFill>
                <a:latin typeface="Calibri"/>
                <a:ea typeface="Calibri"/>
                <a:cs typeface="Calibri"/>
                <a:sym typeface="Calibri"/>
              </a:rPr>
              <a:t>Digital Forensics?</a:t>
            </a:r>
            <a:endParaRPr sz="5400" b="0" i="0" u="none" strike="noStrike" cap="none" dirty="0">
              <a:solidFill>
                <a:schemeClr val="dk1"/>
              </a:solidFill>
              <a:latin typeface="Calibri"/>
              <a:ea typeface="Calibri"/>
              <a:cs typeface="Calibri"/>
              <a:sym typeface="Calibri"/>
            </a:endParaRPr>
          </a:p>
        </p:txBody>
      </p:sp>
      <p:sp>
        <p:nvSpPr>
          <p:cNvPr id="102" name="Google Shape;102;p2"/>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extLst>
      <p:ext uri="{BB962C8B-B14F-4D97-AF65-F5344CB8AC3E}">
        <p14:creationId xmlns:p14="http://schemas.microsoft.com/office/powerpoint/2010/main" val="4088016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Digital Forensics</a:t>
            </a:r>
            <a:endParaRPr/>
          </a:p>
        </p:txBody>
      </p:sp>
      <p:sp>
        <p:nvSpPr>
          <p:cNvPr id="100" name="Google Shape;100;p2"/>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01" name="Google Shape;101;p2"/>
          <p:cNvSpPr txBox="1"/>
          <p:nvPr/>
        </p:nvSpPr>
        <p:spPr>
          <a:xfrm>
            <a:off x="240848" y="1368589"/>
            <a:ext cx="8659567" cy="45704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endParaRPr sz="2500" b="0" i="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en-US" sz="2200" b="0" i="1" u="none" strike="noStrike" cap="none">
                <a:solidFill>
                  <a:schemeClr val="dk1"/>
                </a:solidFill>
                <a:latin typeface="Verdana"/>
                <a:ea typeface="Verdana"/>
                <a:cs typeface="Verdana"/>
                <a:sym typeface="Verdana"/>
              </a:rPr>
              <a:t>“Cyber Forensics is the acquisition, preservation and analysis of Electronically Stored Information (ESI) in such a way that ensures its admissibility for use as either evidence, exhibits, or demonstratives in a </a:t>
            </a:r>
            <a:r>
              <a:rPr lang="en-US" sz="2200" b="0" i="1" u="none" strike="noStrike" cap="none">
                <a:solidFill>
                  <a:srgbClr val="FF0000"/>
                </a:solidFill>
                <a:latin typeface="Verdana"/>
                <a:ea typeface="Verdana"/>
                <a:cs typeface="Verdana"/>
                <a:sym typeface="Verdana"/>
              </a:rPr>
              <a:t>court of law</a:t>
            </a:r>
            <a:r>
              <a:rPr lang="en-US" sz="2200" b="0" i="1" u="none" strike="noStrike" cap="none">
                <a:solidFill>
                  <a:schemeClr val="dk1"/>
                </a:solidFill>
                <a:latin typeface="Verdana"/>
                <a:ea typeface="Verdana"/>
                <a:cs typeface="Verdana"/>
                <a:sym typeface="Verdana"/>
              </a:rPr>
              <a:t>.”</a:t>
            </a:r>
            <a:r>
              <a:rPr lang="en-US" sz="2200" b="0" i="0" u="none" strike="noStrike" cap="none">
                <a:solidFill>
                  <a:schemeClr val="dk1"/>
                </a:solidFill>
                <a:latin typeface="Verdana"/>
                <a:ea typeface="Verdana"/>
                <a:cs typeface="Verdana"/>
                <a:sym typeface="Verdana"/>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Verdana"/>
                <a:ea typeface="Verdana"/>
                <a:cs typeface="Verdana"/>
                <a:sym typeface="Verdana"/>
              </a:rPr>
              <a:t>-- Scott Ellis, Kcura Corporation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200"/>
              <a:buFont typeface="Arial"/>
              <a:buNone/>
            </a:pPr>
            <a:r>
              <a:rPr lang="en-US" sz="2200" b="0" i="1" u="none" strike="noStrike" cap="none">
                <a:solidFill>
                  <a:schemeClr val="dk1"/>
                </a:solidFill>
                <a:latin typeface="Verdana"/>
                <a:ea typeface="Verdana"/>
                <a:cs typeface="Verdana"/>
                <a:sym typeface="Verdana"/>
              </a:rPr>
              <a:t>“[Digital Forensics] is considered the application of science to the identification, collection, examination, and analysis of data while preserving the </a:t>
            </a:r>
            <a:r>
              <a:rPr lang="en-US" sz="2200" b="0" i="1" u="none" strike="noStrike" cap="none">
                <a:solidFill>
                  <a:srgbClr val="FF0000"/>
                </a:solidFill>
                <a:latin typeface="Verdana"/>
                <a:ea typeface="Verdana"/>
                <a:cs typeface="Verdana"/>
                <a:sym typeface="Verdana"/>
              </a:rPr>
              <a:t>integrity of the information</a:t>
            </a:r>
            <a:r>
              <a:rPr lang="en-US" sz="2200" b="0" i="1" u="none" strike="noStrike" cap="none">
                <a:solidFill>
                  <a:schemeClr val="dk1"/>
                </a:solidFill>
                <a:latin typeface="Verdana"/>
                <a:ea typeface="Verdana"/>
                <a:cs typeface="Verdana"/>
                <a:sym typeface="Verdana"/>
              </a:rPr>
              <a:t> and maintaining a </a:t>
            </a:r>
            <a:r>
              <a:rPr lang="en-US" sz="2200" b="0" i="1" u="none" strike="noStrike" cap="none">
                <a:solidFill>
                  <a:srgbClr val="FF0000"/>
                </a:solidFill>
                <a:latin typeface="Verdana"/>
                <a:ea typeface="Verdana"/>
                <a:cs typeface="Verdana"/>
                <a:sym typeface="Verdana"/>
              </a:rPr>
              <a:t>strict chain of custody</a:t>
            </a:r>
            <a:r>
              <a:rPr lang="en-US" sz="2200" b="0" i="1" u="none" strike="noStrike" cap="none">
                <a:solidFill>
                  <a:schemeClr val="dk1"/>
                </a:solidFill>
                <a:latin typeface="Verdana"/>
                <a:ea typeface="Verdana"/>
                <a:cs typeface="Verdana"/>
                <a:sym typeface="Verdana"/>
              </a:rPr>
              <a:t> for the data.“</a:t>
            </a:r>
            <a:r>
              <a:rPr lang="en-US" sz="2200" b="0" i="0" u="none" strike="noStrike" cap="none">
                <a:solidFill>
                  <a:schemeClr val="dk1"/>
                </a:solidFill>
                <a:latin typeface="Verdana"/>
                <a:ea typeface="Verdana"/>
                <a:cs typeface="Verdana"/>
                <a:sym typeface="Verdana"/>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Verdana"/>
                <a:ea typeface="Verdana"/>
                <a:cs typeface="Verdana"/>
                <a:sym typeface="Verdana"/>
              </a:rPr>
              <a:t>-- </a:t>
            </a:r>
            <a:r>
              <a:rPr lang="en-US" sz="2000" b="0" i="0" u="none" strike="noStrike" cap="none">
                <a:solidFill>
                  <a:schemeClr val="dk1"/>
                </a:solidFill>
                <a:latin typeface="Verdana"/>
                <a:ea typeface="Verdana"/>
                <a:cs typeface="Verdana"/>
                <a:sym typeface="Verdana"/>
              </a:rPr>
              <a:t>NIST, Integrating Forensic Techniques into Incident Response</a:t>
            </a:r>
            <a:endParaRPr sz="2000" b="0" i="0" u="none" strike="noStrike" cap="none">
              <a:solidFill>
                <a:schemeClr val="dk1"/>
              </a:solidFill>
              <a:latin typeface="Calibri"/>
              <a:ea typeface="Calibri"/>
              <a:cs typeface="Calibri"/>
              <a:sym typeface="Calibri"/>
            </a:endParaRPr>
          </a:p>
        </p:txBody>
      </p:sp>
      <p:sp>
        <p:nvSpPr>
          <p:cNvPr id="102" name="Google Shape;102;p2"/>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Forensic Procedures</a:t>
            </a:r>
            <a:endParaRPr/>
          </a:p>
        </p:txBody>
      </p:sp>
      <p:sp>
        <p:nvSpPr>
          <p:cNvPr id="109" name="Google Shape;109;p3"/>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10" name="Google Shape;110;p3"/>
          <p:cNvSpPr txBox="1"/>
          <p:nvPr/>
        </p:nvSpPr>
        <p:spPr>
          <a:xfrm>
            <a:off x="240848" y="1368589"/>
            <a:ext cx="8659567" cy="481670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2800"/>
              <a:buFont typeface="Arial"/>
              <a:buNone/>
            </a:pPr>
            <a:r>
              <a:rPr lang="en-US" sz="2800" b="0" i="1" u="none" strike="noStrike" cap="none">
                <a:solidFill>
                  <a:schemeClr val="dk1"/>
                </a:solidFill>
                <a:latin typeface="Verdana"/>
                <a:ea typeface="Verdana"/>
                <a:cs typeface="Verdana"/>
                <a:sym typeface="Verdana"/>
              </a:rPr>
              <a:t>Collection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Verdana"/>
                <a:ea typeface="Verdana"/>
                <a:cs typeface="Verdana"/>
                <a:sym typeface="Verdana"/>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1" u="none" strike="noStrike" cap="none">
                <a:solidFill>
                  <a:schemeClr val="dk1"/>
                </a:solidFill>
                <a:latin typeface="Verdana"/>
                <a:ea typeface="Verdana"/>
                <a:cs typeface="Verdana"/>
                <a:sym typeface="Verdana"/>
              </a:rPr>
              <a:t>Examination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Verdana"/>
                <a:ea typeface="Verdana"/>
                <a:cs typeface="Verdana"/>
                <a:sym typeface="Verdana"/>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1" u="none" strike="noStrike" cap="none">
                <a:solidFill>
                  <a:schemeClr val="dk1"/>
                </a:solidFill>
                <a:latin typeface="Verdana"/>
                <a:ea typeface="Verdana"/>
                <a:cs typeface="Verdana"/>
                <a:sym typeface="Verdana"/>
              </a:rPr>
              <a:t>Analysis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Verdana"/>
                <a:ea typeface="Verdana"/>
                <a:cs typeface="Verdana"/>
                <a:sym typeface="Verdana"/>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1" u="none" strike="noStrike" cap="none">
                <a:solidFill>
                  <a:schemeClr val="dk1"/>
                </a:solidFill>
                <a:latin typeface="Verdana"/>
                <a:ea typeface="Verdana"/>
                <a:cs typeface="Verdana"/>
                <a:sym typeface="Verdana"/>
              </a:rPr>
              <a:t>Reporting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Verdana"/>
              <a:ea typeface="Verdana"/>
              <a:cs typeface="Verdana"/>
              <a:sym typeface="Verdana"/>
            </a:endParaRPr>
          </a:p>
          <a:p>
            <a:pPr marL="342900" marR="0" lvl="0" indent="-22225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Verdana"/>
              <a:ea typeface="Verdana"/>
              <a:cs typeface="Verdana"/>
              <a:sym typeface="Verdana"/>
            </a:endParaRPr>
          </a:p>
        </p:txBody>
      </p:sp>
      <p:cxnSp>
        <p:nvCxnSpPr>
          <p:cNvPr id="111" name="Google Shape;111;p3"/>
          <p:cNvCxnSpPr/>
          <p:nvPr/>
        </p:nvCxnSpPr>
        <p:spPr>
          <a:xfrm>
            <a:off x="4528545" y="2346680"/>
            <a:ext cx="0" cy="303688"/>
          </a:xfrm>
          <a:prstGeom prst="straightConnector1">
            <a:avLst/>
          </a:prstGeom>
          <a:noFill/>
          <a:ln w="25400" cap="flat" cmpd="sng">
            <a:solidFill>
              <a:srgbClr val="002E62"/>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12" name="Google Shape;112;p3"/>
          <p:cNvCxnSpPr/>
          <p:nvPr/>
        </p:nvCxnSpPr>
        <p:spPr>
          <a:xfrm>
            <a:off x="4531281" y="3196182"/>
            <a:ext cx="0" cy="303688"/>
          </a:xfrm>
          <a:prstGeom prst="straightConnector1">
            <a:avLst/>
          </a:prstGeom>
          <a:noFill/>
          <a:ln w="25400" cap="flat" cmpd="sng">
            <a:solidFill>
              <a:srgbClr val="002E62"/>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13" name="Google Shape;113;p3"/>
          <p:cNvCxnSpPr/>
          <p:nvPr/>
        </p:nvCxnSpPr>
        <p:spPr>
          <a:xfrm>
            <a:off x="4539825" y="4107246"/>
            <a:ext cx="0" cy="303688"/>
          </a:xfrm>
          <a:prstGeom prst="straightConnector1">
            <a:avLst/>
          </a:prstGeom>
          <a:noFill/>
          <a:ln w="25400" cap="flat" cmpd="sng">
            <a:solidFill>
              <a:srgbClr val="002E62"/>
            </a:solidFill>
            <a:prstDash val="solid"/>
            <a:round/>
            <a:headEnd type="none" w="sm" len="sm"/>
            <a:tailEnd type="stealth" w="med" len="med"/>
          </a:ln>
          <a:effectLst>
            <a:outerShdw blurRad="40000" dist="20000" dir="5400000" rotWithShape="0">
              <a:srgbClr val="000000">
                <a:alpha val="37254"/>
              </a:srgbClr>
            </a:outerShdw>
          </a:effectLst>
        </p:spPr>
      </p:cxnSp>
      <p:sp>
        <p:nvSpPr>
          <p:cNvPr id="114" name="Google Shape;114;p3"/>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Forensic Procedures</a:t>
            </a:r>
            <a:endParaRPr/>
          </a:p>
        </p:txBody>
      </p:sp>
      <p:sp>
        <p:nvSpPr>
          <p:cNvPr id="121" name="Google Shape;121;p4"/>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22" name="Google Shape;122;p4"/>
          <p:cNvSpPr txBox="1"/>
          <p:nvPr/>
        </p:nvSpPr>
        <p:spPr>
          <a:xfrm>
            <a:off x="240848" y="1368589"/>
            <a:ext cx="8659567" cy="36778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rgbClr val="366092"/>
                </a:solidFill>
                <a:latin typeface="Verdana"/>
                <a:ea typeface="Verdana"/>
                <a:cs typeface="Verdana"/>
                <a:sym typeface="Verdana"/>
              </a:rPr>
              <a:t>Collection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Examination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Analysis</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Reporting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lang="en-US" sz="16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2000"/>
              <a:buFont typeface="Arial"/>
              <a:buNone/>
            </a:pPr>
            <a:r>
              <a:rPr lang="en-US" sz="2700" i="1" strike="noStrike" cap="none" dirty="0">
                <a:solidFill>
                  <a:schemeClr val="dk1"/>
                </a:solidFill>
                <a:latin typeface="Verdana"/>
                <a:ea typeface="Verdana"/>
                <a:cs typeface="Verdana"/>
                <a:sym typeface="Verdana"/>
              </a:rPr>
              <a:t>Notification and Authorization</a:t>
            </a:r>
          </a:p>
          <a:p>
            <a:pPr marL="0" marR="0" lvl="0" indent="0" algn="ctr" rtl="0">
              <a:lnSpc>
                <a:spcPct val="100000"/>
              </a:lnSpc>
              <a:spcBef>
                <a:spcPts val="0"/>
              </a:spcBef>
              <a:spcAft>
                <a:spcPts val="0"/>
              </a:spcAft>
              <a:buClr>
                <a:srgbClr val="000000"/>
              </a:buClr>
              <a:buSzPts val="2000"/>
              <a:buFont typeface="Arial"/>
              <a:buNone/>
            </a:pPr>
            <a:endParaRPr sz="16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ct val="100000"/>
              <a:buFont typeface="Noto Sans Symbols"/>
              <a:buChar char="▪"/>
            </a:pPr>
            <a:r>
              <a:rPr lang="en-US" sz="2200" b="0" i="0" u="none" strike="noStrike" cap="none" dirty="0">
                <a:solidFill>
                  <a:schemeClr val="dk1"/>
                </a:solidFill>
                <a:latin typeface="Verdana"/>
                <a:ea typeface="Verdana"/>
                <a:cs typeface="Verdana"/>
                <a:sym typeface="Verdana"/>
              </a:rPr>
              <a:t>Data Owner</a:t>
            </a:r>
          </a:p>
          <a:p>
            <a:pPr marL="457200" marR="0" lvl="1" algn="l" rtl="0">
              <a:lnSpc>
                <a:spcPct val="100000"/>
              </a:lnSpc>
              <a:spcBef>
                <a:spcPts val="0"/>
              </a:spcBef>
              <a:spcAft>
                <a:spcPts val="0"/>
              </a:spcAft>
              <a:buClr>
                <a:schemeClr val="dk1"/>
              </a:buClr>
              <a:buSzPts val="1330"/>
            </a:pPr>
            <a:endParaRPr sz="22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ct val="100000"/>
              <a:buFont typeface="Noto Sans Symbols"/>
              <a:buChar char="▪"/>
            </a:pPr>
            <a:r>
              <a:rPr lang="en-US" sz="2200" b="0" i="0" u="none" strike="noStrike" cap="none" dirty="0">
                <a:solidFill>
                  <a:schemeClr val="dk1"/>
                </a:solidFill>
                <a:latin typeface="Verdana"/>
                <a:ea typeface="Verdana"/>
                <a:cs typeface="Verdana"/>
                <a:sym typeface="Verdana"/>
              </a:rPr>
              <a:t>Legal Issues</a:t>
            </a:r>
          </a:p>
          <a:p>
            <a:pPr marL="457200" marR="0" lvl="1" algn="l" rtl="0">
              <a:lnSpc>
                <a:spcPct val="100000"/>
              </a:lnSpc>
              <a:spcBef>
                <a:spcPts val="0"/>
              </a:spcBef>
              <a:spcAft>
                <a:spcPts val="0"/>
              </a:spcAft>
              <a:buClr>
                <a:schemeClr val="dk1"/>
              </a:buClr>
              <a:buSzPts val="1330"/>
            </a:pPr>
            <a:endParaRPr sz="22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rgbClr val="FF0000"/>
              </a:buClr>
              <a:buSzPct val="100000"/>
              <a:buFont typeface="Noto Sans Symbols"/>
              <a:buChar char="▪"/>
            </a:pPr>
            <a:r>
              <a:rPr lang="en-US" sz="2200" b="0" i="0" u="none" strike="noStrike" cap="none" dirty="0">
                <a:solidFill>
                  <a:srgbClr val="FF0000"/>
                </a:solidFill>
                <a:latin typeface="Verdana"/>
                <a:ea typeface="Verdana"/>
                <a:cs typeface="Verdana"/>
                <a:sym typeface="Verdana"/>
              </a:rPr>
              <a:t>Objectives</a:t>
            </a:r>
            <a:endParaRPr sz="22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Verdana"/>
              <a:ea typeface="Verdana"/>
              <a:cs typeface="Verdana"/>
              <a:sym typeface="Verdana"/>
            </a:endParaRPr>
          </a:p>
        </p:txBody>
      </p:sp>
      <p:cxnSp>
        <p:nvCxnSpPr>
          <p:cNvPr id="123" name="Google Shape;123;p4"/>
          <p:cNvCxnSpPr/>
          <p:nvPr/>
        </p:nvCxnSpPr>
        <p:spPr>
          <a:xfrm>
            <a:off x="2305414"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24" name="Google Shape;124;p4"/>
          <p:cNvCxnSpPr/>
          <p:nvPr/>
        </p:nvCxnSpPr>
        <p:spPr>
          <a:xfrm>
            <a:off x="4721813"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25" name="Google Shape;125;p4"/>
          <p:cNvCxnSpPr/>
          <p:nvPr/>
        </p:nvCxnSpPr>
        <p:spPr>
          <a:xfrm>
            <a:off x="6537697"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sp>
        <p:nvSpPr>
          <p:cNvPr id="126" name="Google Shape;126;p4"/>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pic>
        <p:nvPicPr>
          <p:cNvPr id="7" name="Picture 6" descr="A gold scale with a black background&#10;&#10;Description automatically generated">
            <a:extLst>
              <a:ext uri="{FF2B5EF4-FFF2-40B4-BE49-F238E27FC236}">
                <a16:creationId xmlns:a16="http://schemas.microsoft.com/office/drawing/2014/main" id="{2B1E51CC-DDB6-F6D4-AFCA-1F264C5339C0}"/>
              </a:ext>
            </a:extLst>
          </p:cNvPr>
          <p:cNvPicPr>
            <a:picLocks noChangeAspect="1"/>
          </p:cNvPicPr>
          <p:nvPr/>
        </p:nvPicPr>
        <p:blipFill>
          <a:blip r:embed="rId3"/>
          <a:stretch>
            <a:fillRect/>
          </a:stretch>
        </p:blipFill>
        <p:spPr>
          <a:xfrm>
            <a:off x="4727146" y="2773543"/>
            <a:ext cx="3356785" cy="33567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Forensic Procedures</a:t>
            </a:r>
            <a:endParaRPr/>
          </a:p>
        </p:txBody>
      </p:sp>
      <p:sp>
        <p:nvSpPr>
          <p:cNvPr id="121" name="Google Shape;121;p4"/>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22" name="Google Shape;122;p4"/>
          <p:cNvSpPr txBox="1"/>
          <p:nvPr/>
        </p:nvSpPr>
        <p:spPr>
          <a:xfrm>
            <a:off x="240848" y="1368589"/>
            <a:ext cx="8659567" cy="330855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rgbClr val="366092"/>
                </a:solidFill>
                <a:latin typeface="Verdana"/>
                <a:ea typeface="Verdana"/>
                <a:cs typeface="Verdana"/>
                <a:sym typeface="Verdana"/>
              </a:rPr>
              <a:t>Collection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Examination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Analysis</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Reporting</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200"/>
              <a:buFont typeface="Arial"/>
              <a:buNone/>
            </a:pPr>
            <a:endParaRPr sz="16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600"/>
              <a:buFont typeface="Arial"/>
              <a:buNone/>
            </a:pPr>
            <a:endParaRPr lang="en-US" sz="1600" b="0" i="0" u="none" strike="noStrike" cap="none" dirty="0">
              <a:solidFill>
                <a:schemeClr val="dk1"/>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2000"/>
              <a:buFont typeface="Arial"/>
              <a:buNone/>
            </a:pPr>
            <a:r>
              <a:rPr lang="en-US" sz="2700" i="1" strike="noStrike" cap="none" dirty="0">
                <a:solidFill>
                  <a:schemeClr val="dk1"/>
                </a:solidFill>
                <a:latin typeface="Verdana"/>
                <a:ea typeface="Verdana"/>
                <a:cs typeface="Verdana"/>
                <a:sym typeface="Verdana"/>
              </a:rPr>
              <a:t>Identifying Data Sources</a:t>
            </a:r>
          </a:p>
          <a:p>
            <a:pPr marL="0" marR="0" lvl="0" indent="0" algn="ctr" rtl="0">
              <a:lnSpc>
                <a:spcPct val="100000"/>
              </a:lnSpc>
              <a:spcBef>
                <a:spcPts val="0"/>
              </a:spcBef>
              <a:spcAft>
                <a:spcPts val="0"/>
              </a:spcAft>
              <a:buClr>
                <a:srgbClr val="000000"/>
              </a:buClr>
              <a:buSzPts val="2000"/>
              <a:buFont typeface="Arial"/>
              <a:buNone/>
            </a:pPr>
            <a:endParaRPr lang="en-US" sz="16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ct val="100000"/>
              <a:buFont typeface="Noto Sans Symbols"/>
              <a:buChar char="▪"/>
            </a:pPr>
            <a:r>
              <a:rPr lang="en-US" sz="2200" b="0" i="0" u="none" strike="noStrike" cap="none" dirty="0">
                <a:solidFill>
                  <a:schemeClr val="dk1"/>
                </a:solidFill>
                <a:latin typeface="Verdana"/>
                <a:ea typeface="Verdana"/>
                <a:cs typeface="Verdana"/>
                <a:sym typeface="Verdana"/>
              </a:rPr>
              <a:t>Hard Drives / Memory</a:t>
            </a:r>
          </a:p>
          <a:p>
            <a:pPr marL="457200" marR="0" lvl="1" algn="l" rtl="0">
              <a:lnSpc>
                <a:spcPct val="100000"/>
              </a:lnSpc>
              <a:spcBef>
                <a:spcPts val="0"/>
              </a:spcBef>
              <a:spcAft>
                <a:spcPts val="0"/>
              </a:spcAft>
              <a:buClr>
                <a:schemeClr val="dk1"/>
              </a:buClr>
              <a:buSzPts val="1330"/>
            </a:pPr>
            <a:endParaRPr lang="en-US" sz="22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ct val="100000"/>
              <a:buFont typeface="Noto Sans Symbols"/>
              <a:buChar char="▪"/>
            </a:pPr>
            <a:r>
              <a:rPr lang="en-US" sz="2200" dirty="0">
                <a:solidFill>
                  <a:schemeClr val="dk1"/>
                </a:solidFill>
                <a:latin typeface="Verdana"/>
                <a:ea typeface="Verdana"/>
                <a:cs typeface="Verdana"/>
                <a:sym typeface="Verdana"/>
              </a:rPr>
              <a:t>External Devices</a:t>
            </a:r>
          </a:p>
          <a:p>
            <a:pPr marL="800100" marR="0" lvl="1" indent="-342900" algn="l" rtl="0">
              <a:lnSpc>
                <a:spcPct val="100000"/>
              </a:lnSpc>
              <a:spcBef>
                <a:spcPts val="0"/>
              </a:spcBef>
              <a:spcAft>
                <a:spcPts val="0"/>
              </a:spcAft>
              <a:buClr>
                <a:schemeClr val="dk1"/>
              </a:buClr>
              <a:buSzPct val="100000"/>
              <a:buFont typeface="Noto Sans Symbols"/>
              <a:buChar char="▪"/>
            </a:pPr>
            <a:endParaRPr lang="en-US" sz="2200" b="0" i="0" u="none" strike="noStrike" cap="none" dirty="0">
              <a:solidFill>
                <a:schemeClr val="dk1"/>
              </a:solidFill>
              <a:latin typeface="Verdana"/>
              <a:ea typeface="Verdana"/>
              <a:cs typeface="Verdana"/>
              <a:sym typeface="Verdana"/>
            </a:endParaRPr>
          </a:p>
          <a:p>
            <a:pPr marL="800100" marR="0" lvl="1" indent="-342900" algn="l" rtl="0">
              <a:lnSpc>
                <a:spcPct val="100000"/>
              </a:lnSpc>
              <a:spcBef>
                <a:spcPts val="0"/>
              </a:spcBef>
              <a:spcAft>
                <a:spcPts val="0"/>
              </a:spcAft>
              <a:buClr>
                <a:schemeClr val="dk1"/>
              </a:buClr>
              <a:buSzPct val="100000"/>
              <a:buFont typeface="Noto Sans Symbols"/>
              <a:buChar char="▪"/>
            </a:pPr>
            <a:r>
              <a:rPr lang="en-US" sz="2200" b="0" i="0" u="none" strike="noStrike" cap="none" dirty="0">
                <a:solidFill>
                  <a:schemeClr val="dk1"/>
                </a:solidFill>
                <a:latin typeface="Verdana"/>
                <a:ea typeface="Verdana"/>
                <a:cs typeface="Verdana"/>
                <a:sym typeface="Verdana"/>
              </a:rPr>
              <a:t>Cloud Data</a:t>
            </a:r>
          </a:p>
        </p:txBody>
      </p:sp>
      <p:cxnSp>
        <p:nvCxnSpPr>
          <p:cNvPr id="123" name="Google Shape;123;p4"/>
          <p:cNvCxnSpPr/>
          <p:nvPr/>
        </p:nvCxnSpPr>
        <p:spPr>
          <a:xfrm>
            <a:off x="2305414"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24" name="Google Shape;124;p4"/>
          <p:cNvCxnSpPr/>
          <p:nvPr/>
        </p:nvCxnSpPr>
        <p:spPr>
          <a:xfrm>
            <a:off x="4721813"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25" name="Google Shape;125;p4"/>
          <p:cNvCxnSpPr/>
          <p:nvPr/>
        </p:nvCxnSpPr>
        <p:spPr>
          <a:xfrm>
            <a:off x="6537697"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sp>
        <p:nvSpPr>
          <p:cNvPr id="126" name="Google Shape;126;p4"/>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pic>
        <p:nvPicPr>
          <p:cNvPr id="4" name="Picture 3" descr="A black printer with a white sheet of paper&#10;&#10;Description automatically generated">
            <a:extLst>
              <a:ext uri="{FF2B5EF4-FFF2-40B4-BE49-F238E27FC236}">
                <a16:creationId xmlns:a16="http://schemas.microsoft.com/office/drawing/2014/main" id="{DE064090-F401-6DB2-7627-589A98449399}"/>
              </a:ext>
            </a:extLst>
          </p:cNvPr>
          <p:cNvPicPr>
            <a:picLocks noChangeAspect="1"/>
          </p:cNvPicPr>
          <p:nvPr/>
        </p:nvPicPr>
        <p:blipFill>
          <a:blip r:embed="rId3"/>
          <a:stretch>
            <a:fillRect/>
          </a:stretch>
        </p:blipFill>
        <p:spPr>
          <a:xfrm>
            <a:off x="5447166" y="3209478"/>
            <a:ext cx="3105150" cy="2935338"/>
          </a:xfrm>
          <a:prstGeom prst="rect">
            <a:avLst/>
          </a:prstGeom>
        </p:spPr>
      </p:pic>
    </p:spTree>
    <p:extLst>
      <p:ext uri="{BB962C8B-B14F-4D97-AF65-F5344CB8AC3E}">
        <p14:creationId xmlns:p14="http://schemas.microsoft.com/office/powerpoint/2010/main" val="1145590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Forensic Procedures</a:t>
            </a:r>
            <a:endParaRPr/>
          </a:p>
        </p:txBody>
      </p:sp>
      <p:sp>
        <p:nvSpPr>
          <p:cNvPr id="121" name="Google Shape;121;p4"/>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22" name="Google Shape;122;p4"/>
          <p:cNvSpPr txBox="1"/>
          <p:nvPr/>
        </p:nvSpPr>
        <p:spPr>
          <a:xfrm>
            <a:off x="240848" y="1368589"/>
            <a:ext cx="8659567" cy="4816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rgbClr val="366092"/>
                </a:solidFill>
                <a:latin typeface="Verdana"/>
                <a:ea typeface="Verdana"/>
                <a:cs typeface="Verdana"/>
                <a:sym typeface="Verdana"/>
              </a:rPr>
              <a:t>Collection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Examination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Analysis</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Reporting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lang="en-US" sz="1600" b="0" i="1"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endParaRPr lang="en-US" sz="1600" b="0" i="1" u="none" strike="noStrike" cap="none" dirty="0">
              <a:solidFill>
                <a:schemeClr val="dk1"/>
              </a:solidFill>
              <a:latin typeface="Verdana"/>
              <a:ea typeface="Verdana"/>
              <a:cs typeface="Verdana"/>
              <a:sym typeface="Verdana"/>
            </a:endParaRPr>
          </a:p>
          <a:p>
            <a:pPr marL="0" marR="0" lvl="0" indent="0" algn="ctr"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700" b="0" i="1" u="none" strike="noStrike" kern="0" cap="none" spc="0" normalizeH="0" baseline="0" noProof="0" dirty="0">
                <a:ln>
                  <a:noFill/>
                </a:ln>
                <a:solidFill>
                  <a:srgbClr val="000000"/>
                </a:solidFill>
                <a:effectLst/>
                <a:uLnTx/>
                <a:uFillTx/>
                <a:latin typeface="Verdana"/>
                <a:ea typeface="Verdana"/>
                <a:cs typeface="Verdana"/>
                <a:sym typeface="Verdana"/>
              </a:rPr>
              <a:t>Order of Acquisition</a:t>
            </a:r>
          </a:p>
          <a:p>
            <a:pPr marL="457200" marR="0" lvl="1" indent="0" algn="l" rtl="0">
              <a:lnSpc>
                <a:spcPct val="100000"/>
              </a:lnSpc>
              <a:spcBef>
                <a:spcPts val="0"/>
              </a:spcBef>
              <a:spcAft>
                <a:spcPts val="0"/>
              </a:spcAft>
              <a:buClr>
                <a:srgbClr val="000000"/>
              </a:buClr>
              <a:buSzPts val="1200"/>
              <a:buFont typeface="Arial"/>
              <a:buNone/>
            </a:pPr>
            <a:endParaRPr lang="en-US" sz="1200" b="0" i="0" u="none" strike="noStrike" cap="none"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b="0" i="0" u="none" strike="noStrike" cap="none"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b="0" i="0" u="none" strike="noStrike" cap="none"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b="0" i="0" u="none" strike="noStrike" cap="none"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b="0" i="0" u="none" strike="noStrike" cap="none"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b="0" i="0" u="none" strike="noStrike" cap="none"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b="0" i="0" u="none" strike="noStrike" cap="none"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b="0" i="0" u="none" strike="noStrike" cap="none"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lang="en-US" sz="1200" dirty="0">
              <a:solidFill>
                <a:schemeClr val="dk1"/>
              </a:solidFill>
              <a:latin typeface="Verdana"/>
              <a:ea typeface="Verdana"/>
              <a:cs typeface="Verdana"/>
              <a:sym typeface="Verdana"/>
            </a:endParaRPr>
          </a:p>
          <a:p>
            <a:pPr marL="457200" marR="0" lvl="1"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r>
              <a:rPr lang="en-US" sz="2200" b="0" i="1" u="none" strike="noStrike" cap="none" dirty="0">
                <a:solidFill>
                  <a:srgbClr val="FF0000"/>
                </a:solidFill>
                <a:latin typeface="Verdana"/>
                <a:ea typeface="Verdana"/>
                <a:cs typeface="Verdana"/>
                <a:sym typeface="Verdana"/>
              </a:rPr>
              <a:t>Effort vs. Value</a:t>
            </a:r>
            <a:endParaRPr sz="2200" b="0" i="0" u="none" strike="noStrike" cap="none" dirty="0">
              <a:solidFill>
                <a:srgbClr val="000000"/>
              </a:solidFill>
              <a:latin typeface="Arial"/>
              <a:ea typeface="Arial"/>
              <a:cs typeface="Arial"/>
              <a:sym typeface="Arial"/>
            </a:endParaRPr>
          </a:p>
        </p:txBody>
      </p:sp>
      <p:cxnSp>
        <p:nvCxnSpPr>
          <p:cNvPr id="123" name="Google Shape;123;p4"/>
          <p:cNvCxnSpPr/>
          <p:nvPr/>
        </p:nvCxnSpPr>
        <p:spPr>
          <a:xfrm>
            <a:off x="2305414"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24" name="Google Shape;124;p4"/>
          <p:cNvCxnSpPr/>
          <p:nvPr/>
        </p:nvCxnSpPr>
        <p:spPr>
          <a:xfrm>
            <a:off x="4721813"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25" name="Google Shape;125;p4"/>
          <p:cNvCxnSpPr/>
          <p:nvPr/>
        </p:nvCxnSpPr>
        <p:spPr>
          <a:xfrm>
            <a:off x="6537697"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sp>
        <p:nvSpPr>
          <p:cNvPr id="126" name="Google Shape;126;p4"/>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pic>
        <p:nvPicPr>
          <p:cNvPr id="3" name="Picture 2" descr="A computer tower with a button and lights&#10;&#10;Description automatically generated">
            <a:extLst>
              <a:ext uri="{FF2B5EF4-FFF2-40B4-BE49-F238E27FC236}">
                <a16:creationId xmlns:a16="http://schemas.microsoft.com/office/drawing/2014/main" id="{05E93D1C-EF1C-1661-7F74-7308A10239E3}"/>
              </a:ext>
            </a:extLst>
          </p:cNvPr>
          <p:cNvPicPr>
            <a:picLocks noChangeAspect="1"/>
          </p:cNvPicPr>
          <p:nvPr/>
        </p:nvPicPr>
        <p:blipFill>
          <a:blip r:embed="rId3"/>
          <a:stretch>
            <a:fillRect/>
          </a:stretch>
        </p:blipFill>
        <p:spPr>
          <a:xfrm>
            <a:off x="3605600" y="3013642"/>
            <a:ext cx="1930062" cy="2886074"/>
          </a:xfrm>
          <a:prstGeom prst="rect">
            <a:avLst/>
          </a:prstGeom>
        </p:spPr>
      </p:pic>
      <p:sp>
        <p:nvSpPr>
          <p:cNvPr id="4" name="RAM">
            <a:extLst>
              <a:ext uri="{FF2B5EF4-FFF2-40B4-BE49-F238E27FC236}">
                <a16:creationId xmlns:a16="http://schemas.microsoft.com/office/drawing/2014/main" id="{80264C6E-7DA4-30F9-57DF-F5DF4F20F151}"/>
              </a:ext>
            </a:extLst>
          </p:cNvPr>
          <p:cNvSpPr txBox="1"/>
          <p:nvPr/>
        </p:nvSpPr>
        <p:spPr>
          <a:xfrm>
            <a:off x="886732" y="3018499"/>
            <a:ext cx="2470548" cy="461665"/>
          </a:xfrm>
          <a:prstGeom prst="rect">
            <a:avLst/>
          </a:prstGeom>
          <a:noFill/>
        </p:spPr>
        <p:txBody>
          <a:bodyPr wrap="none" rtlCol="0">
            <a:spAutoFit/>
          </a:bodyPr>
          <a:lstStyle/>
          <a:p>
            <a:pPr algn="ctr"/>
            <a:r>
              <a:rPr lang="en-US" sz="2400" dirty="0">
                <a:latin typeface="Verdana" panose="020B0604030504040204" pitchFamily="34" charset="0"/>
                <a:ea typeface="Verdana" panose="020B0604030504040204" pitchFamily="34" charset="0"/>
              </a:rPr>
              <a:t>RAM / Memory</a:t>
            </a:r>
          </a:p>
        </p:txBody>
      </p:sp>
      <p:sp>
        <p:nvSpPr>
          <p:cNvPr id="5" name="HDD">
            <a:extLst>
              <a:ext uri="{FF2B5EF4-FFF2-40B4-BE49-F238E27FC236}">
                <a16:creationId xmlns:a16="http://schemas.microsoft.com/office/drawing/2014/main" id="{FE051759-D0CA-474D-7271-6D5812D59047}"/>
              </a:ext>
            </a:extLst>
          </p:cNvPr>
          <p:cNvSpPr txBox="1"/>
          <p:nvPr/>
        </p:nvSpPr>
        <p:spPr>
          <a:xfrm>
            <a:off x="6706806" y="4574462"/>
            <a:ext cx="1851789" cy="461665"/>
          </a:xfrm>
          <a:prstGeom prst="rect">
            <a:avLst/>
          </a:prstGeom>
          <a:noFill/>
        </p:spPr>
        <p:txBody>
          <a:bodyPr wrap="none" rtlCol="0">
            <a:spAutoFit/>
          </a:bodyPr>
          <a:lstStyle/>
          <a:p>
            <a:r>
              <a:rPr lang="en-US" sz="2400" dirty="0">
                <a:latin typeface="Verdana" panose="020B0604030504040204" pitchFamily="34" charset="0"/>
                <a:ea typeface="Verdana" panose="020B0604030504040204" pitchFamily="34" charset="0"/>
              </a:rPr>
              <a:t>Hard Drive</a:t>
            </a:r>
          </a:p>
        </p:txBody>
      </p:sp>
      <p:sp>
        <p:nvSpPr>
          <p:cNvPr id="6" name="CPU">
            <a:extLst>
              <a:ext uri="{FF2B5EF4-FFF2-40B4-BE49-F238E27FC236}">
                <a16:creationId xmlns:a16="http://schemas.microsoft.com/office/drawing/2014/main" id="{E34A232F-F26E-7EE7-B476-F5C559711A3D}"/>
              </a:ext>
            </a:extLst>
          </p:cNvPr>
          <p:cNvSpPr txBox="1"/>
          <p:nvPr/>
        </p:nvSpPr>
        <p:spPr>
          <a:xfrm>
            <a:off x="5503467" y="3064665"/>
            <a:ext cx="3429144" cy="830997"/>
          </a:xfrm>
          <a:prstGeom prst="rect">
            <a:avLst/>
          </a:prstGeom>
          <a:noFill/>
        </p:spPr>
        <p:txBody>
          <a:bodyPr wrap="square" rtlCol="0">
            <a:spAutoFit/>
          </a:bodyPr>
          <a:lstStyle/>
          <a:p>
            <a:pPr algn="ctr"/>
            <a:r>
              <a:rPr lang="en-US" sz="2400" dirty="0">
                <a:latin typeface="Verdana" panose="020B0604030504040204" pitchFamily="34" charset="0"/>
                <a:ea typeface="Verdana" panose="020B0604030504040204" pitchFamily="34" charset="0"/>
              </a:rPr>
              <a:t>CPU Registers / Cache</a:t>
            </a:r>
          </a:p>
        </p:txBody>
      </p:sp>
      <p:sp>
        <p:nvSpPr>
          <p:cNvPr id="7" name="EXTERNAL">
            <a:extLst>
              <a:ext uri="{FF2B5EF4-FFF2-40B4-BE49-F238E27FC236}">
                <a16:creationId xmlns:a16="http://schemas.microsoft.com/office/drawing/2014/main" id="{CA92CA2C-EC42-40B6-F069-CE0B3BA3F35D}"/>
              </a:ext>
            </a:extLst>
          </p:cNvPr>
          <p:cNvSpPr txBox="1"/>
          <p:nvPr/>
        </p:nvSpPr>
        <p:spPr>
          <a:xfrm>
            <a:off x="50028" y="4439101"/>
            <a:ext cx="3058932" cy="830997"/>
          </a:xfrm>
          <a:prstGeom prst="rect">
            <a:avLst/>
          </a:prstGeom>
          <a:noFill/>
        </p:spPr>
        <p:txBody>
          <a:bodyPr wrap="square" rtlCol="0">
            <a:spAutoFit/>
          </a:bodyPr>
          <a:lstStyle/>
          <a:p>
            <a:pPr algn="ctr"/>
            <a:r>
              <a:rPr lang="en-US" sz="2400" dirty="0">
                <a:latin typeface="Verdana" panose="020B0604030504040204" pitchFamily="34" charset="0"/>
                <a:ea typeface="Verdana" panose="020B0604030504040204" pitchFamily="34" charset="0"/>
              </a:rPr>
              <a:t>External Storage Devices</a:t>
            </a:r>
          </a:p>
        </p:txBody>
      </p:sp>
      <p:sp>
        <p:nvSpPr>
          <p:cNvPr id="17" name="Oval 16">
            <a:extLst>
              <a:ext uri="{FF2B5EF4-FFF2-40B4-BE49-F238E27FC236}">
                <a16:creationId xmlns:a16="http://schemas.microsoft.com/office/drawing/2014/main" id="{A9807E66-A94E-8BE3-2AC6-63CC749A882C}"/>
              </a:ext>
            </a:extLst>
          </p:cNvPr>
          <p:cNvSpPr/>
          <p:nvPr/>
        </p:nvSpPr>
        <p:spPr>
          <a:xfrm>
            <a:off x="7056918" y="2744098"/>
            <a:ext cx="322241" cy="322241"/>
          </a:xfrm>
          <a:prstGeom prst="ellipse">
            <a:avLst/>
          </a:prstGeom>
          <a:solidFill>
            <a:srgbClr val="1D344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Verdana" panose="020B0604030504040204" pitchFamily="34" charset="0"/>
                <a:ea typeface="Verdana" panose="020B0604030504040204" pitchFamily="34" charset="0"/>
              </a:rPr>
              <a:t>1</a:t>
            </a:r>
          </a:p>
        </p:txBody>
      </p:sp>
      <p:sp>
        <p:nvSpPr>
          <p:cNvPr id="18" name="Oval 17">
            <a:extLst>
              <a:ext uri="{FF2B5EF4-FFF2-40B4-BE49-F238E27FC236}">
                <a16:creationId xmlns:a16="http://schemas.microsoft.com/office/drawing/2014/main" id="{93F71E35-7187-2DAE-03E9-A78DB83F314C}"/>
              </a:ext>
            </a:extLst>
          </p:cNvPr>
          <p:cNvSpPr/>
          <p:nvPr/>
        </p:nvSpPr>
        <p:spPr>
          <a:xfrm>
            <a:off x="1823791" y="2694107"/>
            <a:ext cx="322241" cy="322241"/>
          </a:xfrm>
          <a:prstGeom prst="ellipse">
            <a:avLst/>
          </a:prstGeom>
          <a:solidFill>
            <a:srgbClr val="1D344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Verdana" panose="020B0604030504040204" pitchFamily="34" charset="0"/>
                <a:ea typeface="Verdana" panose="020B0604030504040204" pitchFamily="34" charset="0"/>
              </a:rPr>
              <a:t>2</a:t>
            </a:r>
          </a:p>
        </p:txBody>
      </p:sp>
      <p:sp>
        <p:nvSpPr>
          <p:cNvPr id="19" name="Oval 18">
            <a:extLst>
              <a:ext uri="{FF2B5EF4-FFF2-40B4-BE49-F238E27FC236}">
                <a16:creationId xmlns:a16="http://schemas.microsoft.com/office/drawing/2014/main" id="{0DBCE1B8-4274-6214-0F75-3D74B1554FCB}"/>
              </a:ext>
            </a:extLst>
          </p:cNvPr>
          <p:cNvSpPr/>
          <p:nvPr/>
        </p:nvSpPr>
        <p:spPr>
          <a:xfrm>
            <a:off x="7471579" y="4264948"/>
            <a:ext cx="322241" cy="322241"/>
          </a:xfrm>
          <a:prstGeom prst="ellipse">
            <a:avLst/>
          </a:prstGeom>
          <a:solidFill>
            <a:srgbClr val="1D344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Verdana" panose="020B0604030504040204" pitchFamily="34" charset="0"/>
                <a:ea typeface="Verdana" panose="020B0604030504040204" pitchFamily="34" charset="0"/>
              </a:rPr>
              <a:t>3</a:t>
            </a:r>
          </a:p>
        </p:txBody>
      </p:sp>
      <p:sp>
        <p:nvSpPr>
          <p:cNvPr id="20" name="Oval 19">
            <a:extLst>
              <a:ext uri="{FF2B5EF4-FFF2-40B4-BE49-F238E27FC236}">
                <a16:creationId xmlns:a16="http://schemas.microsoft.com/office/drawing/2014/main" id="{FCC1A2AA-76D6-CDEB-2A23-C93AC9228517}"/>
              </a:ext>
            </a:extLst>
          </p:cNvPr>
          <p:cNvSpPr/>
          <p:nvPr/>
        </p:nvSpPr>
        <p:spPr>
          <a:xfrm>
            <a:off x="1418373" y="4137089"/>
            <a:ext cx="322241" cy="322241"/>
          </a:xfrm>
          <a:prstGeom prst="ellipse">
            <a:avLst/>
          </a:prstGeom>
          <a:solidFill>
            <a:srgbClr val="1D344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Verdana" panose="020B0604030504040204" pitchFamily="34" charset="0"/>
                <a:ea typeface="Verdana" panose="020B0604030504040204" pitchFamily="34" charset="0"/>
              </a:rPr>
              <a:t>4</a:t>
            </a:r>
          </a:p>
        </p:txBody>
      </p:sp>
    </p:spTree>
    <p:extLst>
      <p:ext uri="{BB962C8B-B14F-4D97-AF65-F5344CB8AC3E}">
        <p14:creationId xmlns:p14="http://schemas.microsoft.com/office/powerpoint/2010/main" val="1533054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nextCondLst>
                <p:cond evt="onClick" delay="0">
                  <p:tgtEl>
                    <p:spTgt spid="4"/>
                  </p:tgtEl>
                </p:cond>
              </p:nextCondLst>
            </p:seq>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nextCondLst>
                <p:cond evt="onClick" delay="0">
                  <p:tgtEl>
                    <p:spTgt spid="6"/>
                  </p:tgtEl>
                </p:cond>
              </p:nextCondLst>
            </p:seq>
            <p:seq concurrent="1" nextAc="seek">
              <p:cTn id="14" restart="whenNotActive" fill="hold" evtFilter="cancelBubble" nodeType="interactiveSeq">
                <p:stCondLst>
                  <p:cond evt="onClick" delay="0">
                    <p:tgtEl>
                      <p:spTgt spid="5"/>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childTnLst>
              </p:cTn>
              <p:nextCondLst>
                <p:cond evt="onClick" delay="0">
                  <p:tgtEl>
                    <p:spTgt spid="5"/>
                  </p:tgtEl>
                </p:cond>
              </p:nextCondLst>
            </p:seq>
            <p:seq concurrent="1" nextAc="seek">
              <p:cTn id="20" restart="whenNotActive" fill="hold" evtFilter="cancelBubble" nodeType="interactiveSeq">
                <p:stCondLst>
                  <p:cond evt="onClick" delay="0">
                    <p:tgtEl>
                      <p:spTgt spid="7"/>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childTnLst>
                    </p:cTn>
                  </p:par>
                </p:childTnLst>
              </p:cTn>
              <p:nextCondLst>
                <p:cond evt="onClick" delay="0">
                  <p:tgtEl>
                    <p:spTgt spid="7"/>
                  </p:tgtEl>
                </p:cond>
              </p:nextCondLst>
            </p:seq>
          </p:childTnLst>
        </p:cTn>
      </p:par>
    </p:tnLst>
    <p:bldLst>
      <p:bldP spid="17" grpId="0" animBg="1"/>
      <p:bldP spid="18"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Forensic Procedures</a:t>
            </a:r>
            <a:endParaRPr/>
          </a:p>
        </p:txBody>
      </p:sp>
      <p:sp>
        <p:nvSpPr>
          <p:cNvPr id="133" name="Google Shape;133;p5"/>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34" name="Google Shape;134;p5"/>
          <p:cNvSpPr txBox="1"/>
          <p:nvPr/>
        </p:nvSpPr>
        <p:spPr>
          <a:xfrm>
            <a:off x="240848" y="1368589"/>
            <a:ext cx="8659567" cy="32316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rgbClr val="000000"/>
                </a:solidFill>
                <a:latin typeface="Verdana"/>
                <a:ea typeface="Verdana"/>
                <a:cs typeface="Verdana"/>
                <a:sym typeface="Verdana"/>
              </a:rPr>
              <a:t>Collection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rgbClr val="366092"/>
                </a:solidFill>
                <a:latin typeface="Verdana"/>
                <a:ea typeface="Verdana"/>
                <a:cs typeface="Verdana"/>
                <a:sym typeface="Verdana"/>
              </a:rPr>
              <a:t>Examination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Analysis</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Reporting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16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600"/>
              <a:buFont typeface="Arial"/>
              <a:buNone/>
            </a:pPr>
            <a:endParaRPr lang="en-US" sz="1600" b="0" i="0" u="none" strike="noStrike" cap="none" dirty="0">
              <a:solidFill>
                <a:schemeClr val="dk1"/>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2000"/>
              <a:buFont typeface="Arial"/>
              <a:buNone/>
            </a:pPr>
            <a:r>
              <a:rPr lang="en-US" sz="2700" i="1" strike="noStrike" cap="none" dirty="0">
                <a:solidFill>
                  <a:schemeClr val="dk1"/>
                </a:solidFill>
                <a:latin typeface="Verdana"/>
                <a:ea typeface="Verdana"/>
                <a:cs typeface="Verdana"/>
                <a:sym typeface="Verdana"/>
              </a:rPr>
              <a:t>Extracting Evidence</a:t>
            </a:r>
          </a:p>
          <a:p>
            <a:pPr marL="0" marR="0" lvl="0" indent="0" algn="ctr" rtl="0">
              <a:lnSpc>
                <a:spcPct val="100000"/>
              </a:lnSpc>
              <a:spcBef>
                <a:spcPts val="0"/>
              </a:spcBef>
              <a:spcAft>
                <a:spcPts val="0"/>
              </a:spcAft>
              <a:buClr>
                <a:srgbClr val="000000"/>
              </a:buClr>
              <a:buSzPts val="2000"/>
              <a:buFont typeface="Arial"/>
              <a:buNone/>
            </a:pPr>
            <a:endParaRPr lang="en-US" sz="1600" b="0" i="0" u="none" strike="noStrike" cap="none" dirty="0">
              <a:solidFill>
                <a:srgbClr val="000000"/>
              </a:solidFill>
              <a:latin typeface="Arial"/>
              <a:ea typeface="Arial"/>
              <a:cs typeface="Arial"/>
              <a:sym typeface="Arial"/>
            </a:endParaRPr>
          </a:p>
          <a:p>
            <a:pPr marL="800100" indent="-342900">
              <a:buClr>
                <a:srgbClr val="FF0000"/>
              </a:buClr>
              <a:buSzPct val="100000"/>
              <a:buFont typeface="Noto Sans Symbols"/>
              <a:buChar char="▪"/>
            </a:pPr>
            <a:r>
              <a:rPr lang="en-US" sz="2200" dirty="0">
                <a:solidFill>
                  <a:srgbClr val="FF0000"/>
                </a:solidFill>
                <a:latin typeface="Verdana"/>
                <a:ea typeface="Verdana"/>
                <a:cs typeface="Verdana"/>
                <a:sym typeface="Verdana"/>
              </a:rPr>
              <a:t>“Image” Device</a:t>
            </a:r>
            <a:endParaRPr lang="en-US" sz="2200" b="0" i="0" u="none" strike="noStrike" cap="none" dirty="0">
              <a:solidFill>
                <a:srgbClr val="FF0000"/>
              </a:solidFill>
              <a:latin typeface="Verdana"/>
              <a:ea typeface="Verdana"/>
              <a:cs typeface="Verdana"/>
              <a:sym typeface="Verdana"/>
            </a:endParaRPr>
          </a:p>
          <a:p>
            <a:pPr marL="457200" marR="0" lvl="1" algn="l" rtl="0">
              <a:lnSpc>
                <a:spcPct val="100000"/>
              </a:lnSpc>
              <a:spcBef>
                <a:spcPts val="0"/>
              </a:spcBef>
              <a:spcAft>
                <a:spcPts val="0"/>
              </a:spcAft>
              <a:buClr>
                <a:schemeClr val="dk1"/>
              </a:buClr>
              <a:buSzPts val="1330"/>
            </a:pPr>
            <a:endParaRPr lang="en-US" sz="22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ct val="100000"/>
              <a:buFont typeface="Noto Sans Symbols"/>
              <a:buChar char="▪"/>
            </a:pPr>
            <a:r>
              <a:rPr lang="en-US" sz="2200" i="1" u="sng" dirty="0">
                <a:solidFill>
                  <a:schemeClr val="dk1"/>
                </a:solidFill>
                <a:latin typeface="Verdana"/>
                <a:ea typeface="Verdana"/>
                <a:cs typeface="Verdana"/>
                <a:sym typeface="Verdana"/>
              </a:rPr>
              <a:t>Always</a:t>
            </a:r>
            <a:r>
              <a:rPr lang="en-US" sz="2200" dirty="0">
                <a:solidFill>
                  <a:schemeClr val="dk1"/>
                </a:solidFill>
                <a:latin typeface="Verdana"/>
                <a:ea typeface="Verdana"/>
                <a:cs typeface="Verdana"/>
                <a:sym typeface="Verdana"/>
              </a:rPr>
              <a:t> work on a copy</a:t>
            </a:r>
            <a:endParaRPr lang="en-US" sz="2200" i="1" u="sng"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Verdana"/>
              <a:ea typeface="Verdana"/>
              <a:cs typeface="Verdana"/>
              <a:sym typeface="Verdana"/>
            </a:endParaRPr>
          </a:p>
        </p:txBody>
      </p:sp>
      <p:cxnSp>
        <p:nvCxnSpPr>
          <p:cNvPr id="135" name="Google Shape;135;p5"/>
          <p:cNvCxnSpPr/>
          <p:nvPr/>
        </p:nvCxnSpPr>
        <p:spPr>
          <a:xfrm>
            <a:off x="2305414"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36" name="Google Shape;136;p5"/>
          <p:cNvCxnSpPr/>
          <p:nvPr/>
        </p:nvCxnSpPr>
        <p:spPr>
          <a:xfrm>
            <a:off x="4721813"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37" name="Google Shape;137;p5"/>
          <p:cNvCxnSpPr/>
          <p:nvPr/>
        </p:nvCxnSpPr>
        <p:spPr>
          <a:xfrm>
            <a:off x="6537697"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sp>
        <p:nvSpPr>
          <p:cNvPr id="138" name="Google Shape;138;p5"/>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pic>
        <p:nvPicPr>
          <p:cNvPr id="8" name="Picture 7" descr="A blue and white logo&#10;&#10;Description automatically generated">
            <a:extLst>
              <a:ext uri="{FF2B5EF4-FFF2-40B4-BE49-F238E27FC236}">
                <a16:creationId xmlns:a16="http://schemas.microsoft.com/office/drawing/2014/main" id="{10B5633A-A0EF-0666-FF4F-8BA0C0697529}"/>
              </a:ext>
            </a:extLst>
          </p:cNvPr>
          <p:cNvPicPr>
            <a:picLocks noChangeAspect="1"/>
          </p:cNvPicPr>
          <p:nvPr/>
        </p:nvPicPr>
        <p:blipFill>
          <a:blip r:embed="rId3"/>
          <a:stretch>
            <a:fillRect/>
          </a:stretch>
        </p:blipFill>
        <p:spPr>
          <a:xfrm>
            <a:off x="6062319" y="3429000"/>
            <a:ext cx="2234391" cy="2234391"/>
          </a:xfrm>
          <a:prstGeom prst="rect">
            <a:avLst/>
          </a:prstGeom>
        </p:spPr>
      </p:pic>
    </p:spTree>
    <p:extLst>
      <p:ext uri="{BB962C8B-B14F-4D97-AF65-F5344CB8AC3E}">
        <p14:creationId xmlns:p14="http://schemas.microsoft.com/office/powerpoint/2010/main" val="4254904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8"/>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Forensic Images</a:t>
            </a:r>
            <a:endParaRPr/>
          </a:p>
        </p:txBody>
      </p:sp>
      <p:sp>
        <p:nvSpPr>
          <p:cNvPr id="166" name="Google Shape;166;p8"/>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67" name="Google Shape;167;p8"/>
          <p:cNvSpPr txBox="1"/>
          <p:nvPr/>
        </p:nvSpPr>
        <p:spPr>
          <a:xfrm>
            <a:off x="240848" y="1368589"/>
            <a:ext cx="8659567" cy="36625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endParaRPr sz="1600" b="0" i="1"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r>
              <a:rPr lang="en-US" sz="2400" b="0" i="1" u="none" strike="noStrike" cap="none" dirty="0">
                <a:solidFill>
                  <a:srgbClr val="366092"/>
                </a:solidFill>
                <a:latin typeface="Verdana"/>
                <a:ea typeface="Verdana"/>
                <a:cs typeface="Verdana"/>
                <a:sym typeface="Verdana"/>
              </a:rPr>
              <a:t>Forensic Images</a:t>
            </a:r>
            <a:r>
              <a:rPr lang="en-US" sz="2400" b="0" i="0" u="none" strike="noStrike" cap="none" dirty="0">
                <a:solidFill>
                  <a:srgbClr val="366092"/>
                </a:solidFill>
                <a:latin typeface="Verdana"/>
                <a:ea typeface="Verdana"/>
                <a:cs typeface="Verdana"/>
                <a:sym typeface="Verdana"/>
              </a:rPr>
              <a:t> </a:t>
            </a:r>
            <a:r>
              <a:rPr lang="en-US" sz="2400" b="0" i="0" u="none" strike="noStrike" cap="none" dirty="0">
                <a:solidFill>
                  <a:schemeClr val="dk1"/>
                </a:solidFill>
                <a:latin typeface="Verdana"/>
                <a:ea typeface="Verdana"/>
                <a:cs typeface="Verdana"/>
                <a:sym typeface="Verdana"/>
              </a:rPr>
              <a:t>- a </a:t>
            </a:r>
            <a:r>
              <a:rPr lang="en-US" sz="2400" b="0" i="0" u="none" strike="noStrike" cap="none" dirty="0">
                <a:solidFill>
                  <a:srgbClr val="FF0000"/>
                </a:solidFill>
                <a:latin typeface="Verdana"/>
                <a:ea typeface="Verdana"/>
                <a:cs typeface="Verdana"/>
                <a:sym typeface="Verdana"/>
              </a:rPr>
              <a:t>bit-by-bit exact </a:t>
            </a:r>
            <a:r>
              <a:rPr lang="en-US" sz="2400" b="0" i="0" u="none" strike="noStrike" cap="none" dirty="0">
                <a:solidFill>
                  <a:schemeClr val="dk1"/>
                </a:solidFill>
                <a:latin typeface="Verdana"/>
                <a:ea typeface="Verdana"/>
                <a:cs typeface="Verdana"/>
                <a:sym typeface="Verdana"/>
              </a:rPr>
              <a:t>copy of the memory space of the device to be examined. </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lang="en-US" sz="24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endParaRPr sz="24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r>
              <a:rPr lang="en-US" sz="2400" b="0" i="1" u="none" strike="noStrike" cap="none" dirty="0">
                <a:solidFill>
                  <a:srgbClr val="376092"/>
                </a:solidFill>
                <a:latin typeface="Verdana"/>
                <a:ea typeface="Verdana"/>
                <a:cs typeface="Verdana"/>
                <a:sym typeface="Verdana"/>
              </a:rPr>
              <a:t>Hash Values</a:t>
            </a:r>
            <a:r>
              <a:rPr lang="en-US" sz="2400" b="0" i="0" u="none" strike="noStrike" cap="none" dirty="0">
                <a:solidFill>
                  <a:srgbClr val="376092"/>
                </a:solidFill>
                <a:latin typeface="Verdana"/>
                <a:ea typeface="Verdana"/>
                <a:cs typeface="Verdana"/>
                <a:sym typeface="Verdana"/>
              </a:rPr>
              <a:t> </a:t>
            </a:r>
            <a:r>
              <a:rPr lang="en-US" sz="2400" b="0" i="0" u="none" strike="noStrike" cap="none" dirty="0">
                <a:solidFill>
                  <a:schemeClr val="dk1"/>
                </a:solidFill>
                <a:latin typeface="Verdana"/>
                <a:ea typeface="Verdana"/>
                <a:cs typeface="Verdana"/>
                <a:sym typeface="Verdana"/>
              </a:rPr>
              <a:t>- a unique numeric value of fixed length acquired through the application of a mathematical algorithm on digital data, used for ensuring data integrity. </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400" b="0" i="0" u="none" strike="noStrike" cap="none" dirty="0">
              <a:solidFill>
                <a:schemeClr val="dk1"/>
              </a:solidFill>
              <a:latin typeface="Verdana"/>
              <a:ea typeface="Verdana"/>
              <a:cs typeface="Verdana"/>
              <a:sym typeface="Verdana"/>
            </a:endParaRPr>
          </a:p>
        </p:txBody>
      </p:sp>
      <p:sp>
        <p:nvSpPr>
          <p:cNvPr id="168" name="Google Shape;168;p8"/>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Forensic Procedures</a:t>
            </a:r>
            <a:endParaRPr/>
          </a:p>
        </p:txBody>
      </p:sp>
      <p:sp>
        <p:nvSpPr>
          <p:cNvPr id="133" name="Google Shape;133;p5"/>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34" name="Google Shape;134;p5"/>
          <p:cNvSpPr txBox="1"/>
          <p:nvPr/>
        </p:nvSpPr>
        <p:spPr>
          <a:xfrm>
            <a:off x="240848" y="1368589"/>
            <a:ext cx="8659567" cy="4231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rgbClr val="000000"/>
                </a:solidFill>
                <a:latin typeface="Verdana"/>
                <a:ea typeface="Verdana"/>
                <a:cs typeface="Verdana"/>
                <a:sym typeface="Verdana"/>
              </a:rPr>
              <a:t>Collection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rgbClr val="366092"/>
                </a:solidFill>
                <a:latin typeface="Verdana"/>
                <a:ea typeface="Verdana"/>
                <a:cs typeface="Verdana"/>
                <a:sym typeface="Verdana"/>
              </a:rPr>
              <a:t>Examination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Analysis</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Reporting</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lang="en-US" sz="16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600"/>
              <a:buFont typeface="Arial"/>
              <a:buNone/>
            </a:pPr>
            <a:endParaRPr lang="en-US" sz="1600" b="0" i="0" u="none" strike="noStrike" cap="none" dirty="0">
              <a:solidFill>
                <a:schemeClr val="dk1"/>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2000"/>
              <a:buFont typeface="Arial"/>
              <a:buNone/>
            </a:pPr>
            <a:r>
              <a:rPr lang="en-US" sz="2700" i="1" strike="noStrike" cap="none" dirty="0">
                <a:solidFill>
                  <a:schemeClr val="dk1"/>
                </a:solidFill>
                <a:latin typeface="Verdana"/>
                <a:ea typeface="Verdana"/>
                <a:cs typeface="Verdana"/>
                <a:sym typeface="Verdana"/>
              </a:rPr>
              <a:t>Tools Needed</a:t>
            </a:r>
          </a:p>
          <a:p>
            <a:pPr marL="0" marR="0" lvl="0" indent="0" algn="ctr" rtl="0">
              <a:lnSpc>
                <a:spcPct val="100000"/>
              </a:lnSpc>
              <a:spcBef>
                <a:spcPts val="0"/>
              </a:spcBef>
              <a:spcAft>
                <a:spcPts val="0"/>
              </a:spcAft>
              <a:buClr>
                <a:srgbClr val="000000"/>
              </a:buClr>
              <a:buSzPts val="2000"/>
              <a:buFont typeface="Arial"/>
              <a:buNone/>
            </a:pPr>
            <a:endParaRPr lang="en-US" sz="16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ct val="100000"/>
              <a:buFont typeface="Noto Sans Symbols"/>
              <a:buChar char="▪"/>
            </a:pPr>
            <a:r>
              <a:rPr lang="en-US" sz="2200" dirty="0">
                <a:solidFill>
                  <a:schemeClr val="dk1"/>
                </a:solidFill>
                <a:latin typeface="Verdana"/>
                <a:ea typeface="Verdana"/>
                <a:cs typeface="Verdana"/>
                <a:sym typeface="Verdana"/>
              </a:rPr>
              <a:t>Write Blockers</a:t>
            </a:r>
          </a:p>
          <a:p>
            <a:pPr marL="800100" marR="0" lvl="1" indent="-342900" algn="l" rtl="0">
              <a:lnSpc>
                <a:spcPct val="100000"/>
              </a:lnSpc>
              <a:spcBef>
                <a:spcPts val="0"/>
              </a:spcBef>
              <a:spcAft>
                <a:spcPts val="0"/>
              </a:spcAft>
              <a:buClr>
                <a:schemeClr val="dk1"/>
              </a:buClr>
              <a:buSzPct val="100000"/>
              <a:buFont typeface="Noto Sans Symbols"/>
              <a:buChar char="▪"/>
            </a:pPr>
            <a:endParaRPr lang="en-US" sz="2200" i="1" u="sng" dirty="0">
              <a:solidFill>
                <a:schemeClr val="dk1"/>
              </a:solidFill>
              <a:latin typeface="Verdana"/>
              <a:ea typeface="Verdana"/>
              <a:cs typeface="Verdana"/>
              <a:sym typeface="Verdana"/>
            </a:endParaRPr>
          </a:p>
          <a:p>
            <a:pPr marL="800100" marR="0" lvl="1" indent="-342900" algn="l" rtl="0">
              <a:lnSpc>
                <a:spcPct val="100000"/>
              </a:lnSpc>
              <a:spcBef>
                <a:spcPts val="0"/>
              </a:spcBef>
              <a:spcAft>
                <a:spcPts val="0"/>
              </a:spcAft>
              <a:buClr>
                <a:schemeClr val="dk1"/>
              </a:buClr>
              <a:buSzPct val="100000"/>
              <a:buFont typeface="Noto Sans Symbols"/>
              <a:buChar char="▪"/>
            </a:pPr>
            <a:r>
              <a:rPr lang="en-US" sz="2200" dirty="0">
                <a:solidFill>
                  <a:schemeClr val="dk1"/>
                </a:solidFill>
                <a:latin typeface="Verdana"/>
                <a:ea typeface="Verdana"/>
                <a:cs typeface="Verdana"/>
                <a:sym typeface="Verdana"/>
              </a:rPr>
              <a:t>Image Analyzers</a:t>
            </a:r>
          </a:p>
          <a:p>
            <a:pPr marL="800100" marR="0" lvl="1" indent="-342900" algn="l" rtl="0">
              <a:lnSpc>
                <a:spcPct val="100000"/>
              </a:lnSpc>
              <a:spcBef>
                <a:spcPts val="0"/>
              </a:spcBef>
              <a:spcAft>
                <a:spcPts val="0"/>
              </a:spcAft>
              <a:buClr>
                <a:schemeClr val="dk1"/>
              </a:buClr>
              <a:buSzPct val="100000"/>
              <a:buFont typeface="Noto Sans Symbols"/>
              <a:buChar char="▪"/>
            </a:pPr>
            <a:endParaRPr lang="en-US" sz="2200" dirty="0">
              <a:solidFill>
                <a:schemeClr val="dk1"/>
              </a:solidFill>
              <a:latin typeface="Verdana"/>
              <a:ea typeface="Verdana"/>
              <a:cs typeface="Verdana"/>
              <a:sym typeface="Verdana"/>
            </a:endParaRPr>
          </a:p>
          <a:p>
            <a:pPr marL="800100" marR="0" lvl="1" indent="-342900" algn="l" rtl="0">
              <a:lnSpc>
                <a:spcPct val="100000"/>
              </a:lnSpc>
              <a:spcBef>
                <a:spcPts val="0"/>
              </a:spcBef>
              <a:spcAft>
                <a:spcPts val="0"/>
              </a:spcAft>
              <a:buClr>
                <a:schemeClr val="dk1"/>
              </a:buClr>
              <a:buSzPct val="100000"/>
              <a:buFont typeface="Noto Sans Symbols"/>
              <a:buChar char="▪"/>
            </a:pPr>
            <a:r>
              <a:rPr lang="en-US" sz="2200" dirty="0">
                <a:solidFill>
                  <a:schemeClr val="dk1"/>
                </a:solidFill>
                <a:latin typeface="Verdana"/>
                <a:ea typeface="Verdana"/>
                <a:cs typeface="Verdana"/>
                <a:sym typeface="Verdana"/>
              </a:rPr>
              <a:t>Hex Editors</a:t>
            </a:r>
          </a:p>
          <a:p>
            <a:pPr marL="0" marR="0" lvl="0" indent="0" algn="l" rtl="0">
              <a:lnSpc>
                <a:spcPct val="100000"/>
              </a:lnSpc>
              <a:spcBef>
                <a:spcPts val="0"/>
              </a:spcBef>
              <a:spcAft>
                <a:spcPts val="0"/>
              </a:spcAft>
              <a:buClr>
                <a:srgbClr val="000000"/>
              </a:buClr>
              <a:buSzPts val="1900"/>
              <a:buFont typeface="Arial"/>
              <a:buNone/>
            </a:pPr>
            <a:endParaRPr lang="en-US" sz="19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900"/>
              <a:buFont typeface="Arial"/>
              <a:buNone/>
            </a:pPr>
            <a:endParaRPr lang="en-US" sz="1900" dirty="0">
              <a:solidFill>
                <a:schemeClr val="dk1"/>
              </a:solidFill>
              <a:latin typeface="Verdana"/>
              <a:ea typeface="Verdana"/>
              <a:cs typeface="Verdana"/>
              <a:sym typeface="Verdana"/>
            </a:endParaRPr>
          </a:p>
          <a:p>
            <a:pPr>
              <a:buSzPts val="1900"/>
            </a:pPr>
            <a:r>
              <a:rPr lang="en-US" sz="2200" b="0" i="1" u="none" strike="noStrike" cap="none" dirty="0">
                <a:solidFill>
                  <a:srgbClr val="FF0000"/>
                </a:solidFill>
                <a:latin typeface="Verdana"/>
                <a:ea typeface="Verdana"/>
                <a:cs typeface="Verdana"/>
                <a:sym typeface="Verdana"/>
              </a:rPr>
              <a:t>Tool Validation</a:t>
            </a:r>
            <a:endParaRPr lang="en-US" sz="2200" b="0" i="0" u="none" strike="noStrike" cap="none" dirty="0">
              <a:solidFill>
                <a:schemeClr val="dk1"/>
              </a:solidFill>
              <a:latin typeface="Verdana"/>
              <a:ea typeface="Verdana"/>
              <a:cs typeface="Verdana"/>
              <a:sym typeface="Verdana"/>
            </a:endParaRPr>
          </a:p>
        </p:txBody>
      </p:sp>
      <p:cxnSp>
        <p:nvCxnSpPr>
          <p:cNvPr id="135" name="Google Shape;135;p5"/>
          <p:cNvCxnSpPr/>
          <p:nvPr/>
        </p:nvCxnSpPr>
        <p:spPr>
          <a:xfrm>
            <a:off x="2305414"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36" name="Google Shape;136;p5"/>
          <p:cNvCxnSpPr/>
          <p:nvPr/>
        </p:nvCxnSpPr>
        <p:spPr>
          <a:xfrm>
            <a:off x="4721813"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37" name="Google Shape;137;p5"/>
          <p:cNvCxnSpPr/>
          <p:nvPr/>
        </p:nvCxnSpPr>
        <p:spPr>
          <a:xfrm>
            <a:off x="6537697"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sp>
        <p:nvSpPr>
          <p:cNvPr id="138" name="Google Shape;138;p5"/>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
        <p:nvSpPr>
          <p:cNvPr id="3" name="TextBox 2">
            <a:extLst>
              <a:ext uri="{FF2B5EF4-FFF2-40B4-BE49-F238E27FC236}">
                <a16:creationId xmlns:a16="http://schemas.microsoft.com/office/drawing/2014/main" id="{2DE20D83-E556-FA95-7D3D-627ACD965824}"/>
              </a:ext>
            </a:extLst>
          </p:cNvPr>
          <p:cNvSpPr txBox="1"/>
          <p:nvPr/>
        </p:nvSpPr>
        <p:spPr>
          <a:xfrm>
            <a:off x="5155716" y="5430104"/>
            <a:ext cx="3194361" cy="400110"/>
          </a:xfrm>
          <a:prstGeom prst="rect">
            <a:avLst/>
          </a:prstGeom>
          <a:noFill/>
        </p:spPr>
        <p:txBody>
          <a:bodyPr wrap="square">
            <a:spAutoFit/>
          </a:bodyPr>
          <a:lstStyle/>
          <a:p>
            <a:r>
              <a:rPr lang="en-US" sz="1000" dirty="0">
                <a:latin typeface="Verdana" panose="020B0604030504040204" pitchFamily="34" charset="0"/>
                <a:ea typeface="Verdana" panose="020B0604030504040204" pitchFamily="34" charset="0"/>
                <a:hlinkClick r:id="rId3"/>
              </a:rPr>
              <a:t>https://www.logicube.com/shop/writeprotect-desktop/</a:t>
            </a:r>
            <a:r>
              <a:rPr lang="en-US" sz="1000" dirty="0">
                <a:latin typeface="Verdana" panose="020B0604030504040204" pitchFamily="34" charset="0"/>
                <a:ea typeface="Verdana" panose="020B0604030504040204" pitchFamily="34" charset="0"/>
              </a:rPr>
              <a:t> </a:t>
            </a:r>
          </a:p>
        </p:txBody>
      </p:sp>
      <p:pic>
        <p:nvPicPr>
          <p:cNvPr id="2050" name="Picture 2" descr="WriteProtect™-DESKTOP - Logicube">
            <a:extLst>
              <a:ext uri="{FF2B5EF4-FFF2-40B4-BE49-F238E27FC236}">
                <a16:creationId xmlns:a16="http://schemas.microsoft.com/office/drawing/2014/main" id="{5572FDE3-3893-435B-9AE3-FF880EEECF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5316" y="2847597"/>
            <a:ext cx="3624761" cy="2573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6645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8"/>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dirty="0">
                <a:solidFill>
                  <a:srgbClr val="D8D8D8"/>
                </a:solidFill>
                <a:latin typeface="Verdana"/>
                <a:ea typeface="Verdana"/>
                <a:cs typeface="Verdana"/>
                <a:sym typeface="Verdana"/>
              </a:rPr>
              <a:t>Forensic Tools</a:t>
            </a:r>
            <a:endParaRPr dirty="0"/>
          </a:p>
        </p:txBody>
      </p:sp>
      <p:sp>
        <p:nvSpPr>
          <p:cNvPr id="166" name="Google Shape;166;p8"/>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67" name="Google Shape;167;p8"/>
          <p:cNvSpPr txBox="1"/>
          <p:nvPr/>
        </p:nvSpPr>
        <p:spPr>
          <a:xfrm>
            <a:off x="240848" y="1368589"/>
            <a:ext cx="8659567" cy="37856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endParaRPr lang="en-US" sz="1600" b="0" i="1" u="none" strike="noStrike" cap="none" dirty="0">
              <a:solidFill>
                <a:srgbClr val="376092"/>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r>
              <a:rPr lang="en-US" sz="2400" b="0" i="1" u="none" strike="noStrike" cap="none" dirty="0">
                <a:solidFill>
                  <a:srgbClr val="376092"/>
                </a:solidFill>
                <a:latin typeface="Verdana"/>
                <a:ea typeface="Verdana"/>
                <a:cs typeface="Verdana"/>
                <a:sym typeface="Verdana"/>
              </a:rPr>
              <a:t>Write Blockers </a:t>
            </a:r>
            <a:r>
              <a:rPr lang="en-US" sz="2400" b="0" i="0" u="none" strike="noStrike" cap="none" dirty="0">
                <a:solidFill>
                  <a:schemeClr val="dk1"/>
                </a:solidFill>
                <a:latin typeface="Verdana"/>
                <a:ea typeface="Verdana"/>
                <a:cs typeface="Verdana"/>
                <a:sym typeface="Verdana"/>
              </a:rPr>
              <a:t>- devices that are used to stop any changes being made to the original device when making a forensic image</a:t>
            </a:r>
            <a:r>
              <a:rPr lang="en-US" sz="2400" b="0" i="1" u="none" strike="noStrike" cap="none" dirty="0">
                <a:solidFill>
                  <a:schemeClr val="dk1"/>
                </a:solidFill>
                <a:latin typeface="Verdana"/>
                <a:ea typeface="Verdana"/>
                <a:cs typeface="Verdana"/>
                <a:sym typeface="Verdana"/>
              </a:rPr>
              <a:t>.</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4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endParaRPr sz="24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r>
              <a:rPr lang="en-US" sz="2400" b="0" i="1" u="none" strike="noStrike" cap="none" dirty="0">
                <a:solidFill>
                  <a:srgbClr val="376092"/>
                </a:solidFill>
                <a:latin typeface="Verdana"/>
                <a:ea typeface="Verdana"/>
                <a:cs typeface="Verdana"/>
                <a:sym typeface="Verdana"/>
              </a:rPr>
              <a:t>Image Analyzers</a:t>
            </a:r>
            <a:r>
              <a:rPr lang="en-US" sz="2400" b="0" i="0" u="none" strike="noStrike" cap="none" dirty="0">
                <a:solidFill>
                  <a:srgbClr val="376092"/>
                </a:solidFill>
                <a:latin typeface="Verdana"/>
                <a:ea typeface="Verdana"/>
                <a:cs typeface="Verdana"/>
                <a:sym typeface="Verdana"/>
              </a:rPr>
              <a:t> </a:t>
            </a:r>
            <a:r>
              <a:rPr lang="en-US" sz="2400" b="0" i="0" u="none" strike="noStrike" cap="none" dirty="0">
                <a:solidFill>
                  <a:schemeClr val="dk1"/>
                </a:solidFill>
                <a:latin typeface="Verdana"/>
                <a:ea typeface="Verdana"/>
                <a:cs typeface="Verdana"/>
                <a:sym typeface="Verdana"/>
              </a:rPr>
              <a:t>– software that previews, organizes and/or extracts data to allow for examination of digital artifacts originating from forensic images.</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400" b="0" i="0" u="none" strike="noStrike" cap="none" dirty="0">
              <a:solidFill>
                <a:schemeClr val="dk1"/>
              </a:solidFill>
              <a:latin typeface="Verdana"/>
              <a:ea typeface="Verdana"/>
              <a:cs typeface="Verdana"/>
              <a:sym typeface="Verdana"/>
            </a:endParaRPr>
          </a:p>
        </p:txBody>
      </p:sp>
      <p:sp>
        <p:nvSpPr>
          <p:cNvPr id="168" name="Google Shape;168;p8"/>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extLst>
      <p:ext uri="{BB962C8B-B14F-4D97-AF65-F5344CB8AC3E}">
        <p14:creationId xmlns:p14="http://schemas.microsoft.com/office/powerpoint/2010/main" val="3159895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9"/>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dirty="0">
                <a:solidFill>
                  <a:srgbClr val="D8D8D8"/>
                </a:solidFill>
                <a:latin typeface="Verdana"/>
                <a:ea typeface="Verdana"/>
                <a:cs typeface="Verdana"/>
                <a:sym typeface="Verdana"/>
              </a:rPr>
              <a:t>Forensic Tools</a:t>
            </a:r>
            <a:endParaRPr dirty="0"/>
          </a:p>
        </p:txBody>
      </p:sp>
      <p:sp>
        <p:nvSpPr>
          <p:cNvPr id="175" name="Google Shape;175;p9"/>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76" name="Google Shape;176;p9"/>
          <p:cNvSpPr txBox="1"/>
          <p:nvPr/>
        </p:nvSpPr>
        <p:spPr>
          <a:xfrm>
            <a:off x="240848" y="1368589"/>
            <a:ext cx="8659567" cy="47364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1" u="none" strike="noStrike" cap="none" dirty="0">
                <a:solidFill>
                  <a:srgbClr val="376092"/>
                </a:solidFill>
                <a:latin typeface="Verdana"/>
                <a:ea typeface="Verdana"/>
                <a:cs typeface="Verdana"/>
                <a:sym typeface="Verdana"/>
              </a:rPr>
              <a:t>Forensics Tools </a:t>
            </a:r>
            <a:r>
              <a:rPr lang="en-US" sz="2000" b="0" i="0" u="none" strike="noStrike" cap="none" dirty="0">
                <a:solidFill>
                  <a:schemeClr val="dk1"/>
                </a:solidFill>
                <a:latin typeface="Verdana"/>
                <a:ea typeface="Verdana"/>
                <a:cs typeface="Verdana"/>
                <a:sym typeface="Verdana"/>
              </a:rPr>
              <a:t>– digital forensic tools created by software developers for in-depth investigations.</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lang="en-US" sz="1000" b="0" i="0" u="none" strike="noStrike" cap="none" dirty="0">
              <a:solidFill>
                <a:schemeClr val="dk1"/>
              </a:solidFill>
              <a:latin typeface="Verdana"/>
              <a:ea typeface="Verdana"/>
              <a:cs typeface="Verdana"/>
              <a:sym typeface="Verdana"/>
            </a:endParaRPr>
          </a:p>
          <a:p>
            <a:pPr marL="742950" marR="0" lvl="1" indent="-285750" algn="l" rtl="0">
              <a:lnSpc>
                <a:spcPct val="110000"/>
              </a:lnSpc>
              <a:spcBef>
                <a:spcPts val="0"/>
              </a:spcBef>
              <a:spcAft>
                <a:spcPts val="0"/>
              </a:spcAft>
              <a:buClr>
                <a:schemeClr val="dk1"/>
              </a:buClr>
              <a:buSzPts val="1900"/>
              <a:buFont typeface="Arial"/>
              <a:buChar char="•"/>
            </a:pPr>
            <a:r>
              <a:rPr lang="en-US" sz="1900" b="0" i="0" u="none" strike="noStrike" cap="none" dirty="0">
                <a:solidFill>
                  <a:schemeClr val="dk1"/>
                </a:solidFill>
                <a:latin typeface="Verdana"/>
                <a:ea typeface="Verdana"/>
                <a:cs typeface="Verdana"/>
                <a:sym typeface="Verdana"/>
              </a:rPr>
              <a:t>Disk and Data Capture Tools</a:t>
            </a:r>
            <a:endParaRPr lang="en-US" sz="14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1900"/>
              <a:buFont typeface="Arial"/>
              <a:buChar char="•"/>
            </a:pPr>
            <a:r>
              <a:rPr lang="en-US" sz="1900" b="0" i="0" u="none" strike="noStrike" cap="none" dirty="0">
                <a:solidFill>
                  <a:schemeClr val="dk1"/>
                </a:solidFill>
                <a:latin typeface="Verdana"/>
                <a:ea typeface="Verdana"/>
                <a:cs typeface="Verdana"/>
                <a:sym typeface="Verdana"/>
              </a:rPr>
              <a:t>File Viewers </a:t>
            </a:r>
            <a:endParaRPr lang="en-US" sz="14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1900"/>
              <a:buFont typeface="Arial"/>
              <a:buChar char="•"/>
            </a:pPr>
            <a:r>
              <a:rPr lang="en-US" sz="1900" b="0" i="0" u="none" strike="noStrike" cap="none" dirty="0">
                <a:solidFill>
                  <a:schemeClr val="dk1"/>
                </a:solidFill>
                <a:latin typeface="Verdana"/>
                <a:ea typeface="Verdana"/>
                <a:cs typeface="Verdana"/>
                <a:sym typeface="Verdana"/>
              </a:rPr>
              <a:t>File, Registry, Internet and Email Analysis </a:t>
            </a:r>
            <a:endParaRPr lang="en-US" sz="14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1900"/>
              <a:buFont typeface="Arial"/>
              <a:buChar char="•"/>
            </a:pPr>
            <a:r>
              <a:rPr lang="en-US" sz="1900" b="0" i="0" u="none" strike="noStrike" cap="none" dirty="0">
                <a:solidFill>
                  <a:schemeClr val="dk1"/>
                </a:solidFill>
                <a:latin typeface="Verdana"/>
                <a:ea typeface="Verdana"/>
                <a:cs typeface="Verdana"/>
                <a:sym typeface="Verdana"/>
              </a:rPr>
              <a:t>Mobile Devices Analysis Tools</a:t>
            </a:r>
            <a:endParaRPr lang="en-US" sz="14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1900"/>
              <a:buFont typeface="Arial"/>
              <a:buChar char="•"/>
            </a:pPr>
            <a:r>
              <a:rPr lang="en-US" sz="1900" b="0" i="0" u="none" strike="noStrike" cap="none" dirty="0">
                <a:solidFill>
                  <a:schemeClr val="dk1"/>
                </a:solidFill>
                <a:latin typeface="Verdana"/>
                <a:ea typeface="Verdana"/>
                <a:cs typeface="Verdana"/>
                <a:sym typeface="Verdana"/>
              </a:rPr>
              <a:t>Network Forensics Tools</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lang="en-US" sz="14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2000"/>
              <a:buFont typeface="Arial"/>
              <a:buNone/>
            </a:pPr>
            <a:r>
              <a:rPr lang="en-US" sz="2000" b="0" i="1" u="none" strike="noStrike" cap="none" dirty="0">
                <a:solidFill>
                  <a:srgbClr val="376092"/>
                </a:solidFill>
                <a:latin typeface="Verdana"/>
                <a:ea typeface="Verdana"/>
                <a:cs typeface="Verdana"/>
                <a:sym typeface="Verdana"/>
              </a:rPr>
              <a:t>Tool Validation </a:t>
            </a:r>
            <a:r>
              <a:rPr lang="en-US" sz="2000" b="0" i="0" u="none" strike="noStrike" cap="none" dirty="0">
                <a:solidFill>
                  <a:schemeClr val="dk1"/>
                </a:solidFill>
                <a:latin typeface="Verdana"/>
                <a:ea typeface="Verdana"/>
                <a:cs typeface="Verdana"/>
                <a:sym typeface="Verdana"/>
              </a:rPr>
              <a:t>– the </a:t>
            </a:r>
            <a:r>
              <a:rPr lang="en-US" sz="2000" b="0" i="0" u="none" strike="noStrike" cap="none" dirty="0">
                <a:solidFill>
                  <a:srgbClr val="FF0000"/>
                </a:solidFill>
                <a:latin typeface="Verdana"/>
                <a:ea typeface="Verdana"/>
                <a:cs typeface="Verdana"/>
                <a:sym typeface="Verdana"/>
              </a:rPr>
              <a:t>verification</a:t>
            </a:r>
            <a:r>
              <a:rPr lang="en-US" sz="2000" b="0" i="0" u="none" strike="noStrike" cap="none" dirty="0">
                <a:solidFill>
                  <a:schemeClr val="dk1"/>
                </a:solidFill>
                <a:latin typeface="Verdana"/>
                <a:ea typeface="Verdana"/>
                <a:cs typeface="Verdana"/>
                <a:sym typeface="Verdana"/>
              </a:rPr>
              <a:t> of the software and technology used to perform a digital forensics investigation.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latin typeface="Verdana"/>
              <a:ea typeface="Verdana"/>
              <a:cs typeface="Verdana"/>
              <a:sym typeface="Verdana"/>
            </a:endParaRPr>
          </a:p>
          <a:p>
            <a:pPr marL="800100" marR="0" lvl="1" indent="-342900" algn="l" rtl="0">
              <a:lnSpc>
                <a:spcPct val="110000"/>
              </a:lnSpc>
              <a:spcBef>
                <a:spcPts val="0"/>
              </a:spcBef>
              <a:spcAft>
                <a:spcPts val="0"/>
              </a:spcAft>
              <a:buClr>
                <a:schemeClr val="dk1"/>
              </a:buClr>
              <a:buSzPts val="1900"/>
              <a:buFont typeface="Arial"/>
              <a:buChar char="•"/>
            </a:pPr>
            <a:r>
              <a:rPr lang="en-US" sz="1900" b="0" i="0" u="none" strike="noStrike" cap="none" dirty="0">
                <a:solidFill>
                  <a:schemeClr val="dk1"/>
                </a:solidFill>
                <a:latin typeface="Verdana"/>
                <a:ea typeface="Verdana"/>
                <a:cs typeface="Verdana"/>
                <a:sym typeface="Verdana"/>
              </a:rPr>
              <a:t>Hashing to Validate Results</a:t>
            </a:r>
            <a:endParaRPr sz="14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chemeClr val="dk1"/>
              </a:buClr>
              <a:buSzPts val="1900"/>
              <a:buFont typeface="Arial"/>
              <a:buChar char="•"/>
            </a:pPr>
            <a:r>
              <a:rPr lang="en-US" sz="1900" b="0" i="0" u="none" strike="noStrike" cap="none" dirty="0">
                <a:solidFill>
                  <a:schemeClr val="dk1"/>
                </a:solidFill>
                <a:latin typeface="Verdana"/>
                <a:ea typeface="Verdana"/>
                <a:cs typeface="Verdana"/>
                <a:sym typeface="Verdana"/>
              </a:rPr>
              <a:t>Multiple Tools or Techniques</a:t>
            </a:r>
            <a:endParaRPr sz="14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chemeClr val="dk1"/>
              </a:buClr>
              <a:buSzPts val="1900"/>
              <a:buFont typeface="Arial"/>
              <a:buChar char="•"/>
            </a:pPr>
            <a:r>
              <a:rPr lang="en-US" sz="1900" b="0" i="0" u="none" strike="noStrike" cap="none" dirty="0">
                <a:solidFill>
                  <a:schemeClr val="dk1"/>
                </a:solidFill>
                <a:latin typeface="Verdana"/>
                <a:ea typeface="Verdana"/>
                <a:cs typeface="Verdana"/>
                <a:sym typeface="Verdana"/>
              </a:rPr>
              <a:t>Manual Carving for Control or Validation</a:t>
            </a:r>
            <a:endParaRPr sz="14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chemeClr val="dk1"/>
              </a:buClr>
              <a:buSzPts val="1900"/>
              <a:buFont typeface="Arial"/>
              <a:buChar char="•"/>
            </a:pPr>
            <a:r>
              <a:rPr lang="en-US" sz="1900" b="0" i="0" u="none" strike="noStrike" cap="none" dirty="0">
                <a:solidFill>
                  <a:schemeClr val="dk1"/>
                </a:solidFill>
                <a:latin typeface="Verdana"/>
                <a:ea typeface="Verdana"/>
                <a:cs typeface="Verdana"/>
                <a:sym typeface="Verdana"/>
              </a:rPr>
              <a:t>Forensics Tool Testing Programs </a:t>
            </a:r>
            <a:endParaRPr sz="1400" b="0" i="0" u="none" strike="noStrike" cap="none" dirty="0">
              <a:solidFill>
                <a:srgbClr val="000000"/>
              </a:solidFill>
              <a:latin typeface="Arial"/>
              <a:ea typeface="Arial"/>
              <a:cs typeface="Arial"/>
              <a:sym typeface="Arial"/>
            </a:endParaRPr>
          </a:p>
        </p:txBody>
      </p:sp>
      <p:sp>
        <p:nvSpPr>
          <p:cNvPr id="177" name="Google Shape;177;p9"/>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Forensic Procedures</a:t>
            </a:r>
            <a:endParaRPr/>
          </a:p>
        </p:txBody>
      </p:sp>
      <p:sp>
        <p:nvSpPr>
          <p:cNvPr id="145" name="Google Shape;145;p6"/>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46" name="Google Shape;146;p6"/>
          <p:cNvSpPr txBox="1"/>
          <p:nvPr/>
        </p:nvSpPr>
        <p:spPr>
          <a:xfrm>
            <a:off x="240848" y="1368589"/>
            <a:ext cx="8659567" cy="47212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rgbClr val="000000"/>
                </a:solidFill>
                <a:latin typeface="Verdana"/>
                <a:ea typeface="Verdana"/>
                <a:cs typeface="Verdana"/>
                <a:sym typeface="Verdana"/>
              </a:rPr>
              <a:t>Collection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Examination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rgbClr val="366092"/>
                </a:solidFill>
                <a:latin typeface="Verdana"/>
                <a:ea typeface="Verdana"/>
                <a:cs typeface="Verdana"/>
                <a:sym typeface="Verdana"/>
              </a:rPr>
              <a:t>Analysis</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tx1"/>
                </a:solidFill>
                <a:latin typeface="Verdana"/>
                <a:ea typeface="Verdana"/>
                <a:cs typeface="Verdana"/>
                <a:sym typeface="Verdana"/>
              </a:rPr>
              <a:t>Reporting</a:t>
            </a:r>
            <a:endParaRPr sz="1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600" b="0" i="0" u="none" strike="noStrike" cap="none" dirty="0">
              <a:solidFill>
                <a:schemeClr val="dk1"/>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2000"/>
              <a:buFont typeface="Arial"/>
              <a:buNone/>
            </a:pPr>
            <a:r>
              <a:rPr lang="en-US" sz="2700" b="0" i="1" u="none" strike="noStrike" cap="none" dirty="0">
                <a:solidFill>
                  <a:schemeClr val="dk1"/>
                </a:solidFill>
                <a:latin typeface="Verdana"/>
                <a:ea typeface="Verdana"/>
                <a:cs typeface="Verdana"/>
                <a:sym typeface="Verdana"/>
              </a:rPr>
              <a:t>Analysis</a:t>
            </a:r>
          </a:p>
          <a:p>
            <a:pPr marL="0" marR="0" lvl="0" indent="0" algn="ctr" rtl="0">
              <a:lnSpc>
                <a:spcPct val="100000"/>
              </a:lnSpc>
              <a:spcBef>
                <a:spcPts val="0"/>
              </a:spcBef>
              <a:spcAft>
                <a:spcPts val="0"/>
              </a:spcAft>
              <a:buClr>
                <a:srgbClr val="000000"/>
              </a:buClr>
              <a:buSzPts val="2000"/>
              <a:buFont typeface="Arial"/>
              <a:buNone/>
            </a:pPr>
            <a:endParaRPr sz="16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chemeClr val="dk1"/>
              </a:buClr>
              <a:buSzPts val="1900"/>
              <a:buFont typeface="Arial"/>
              <a:buChar char="•"/>
            </a:pPr>
            <a:r>
              <a:rPr lang="en-US" sz="2200" b="0" i="0" u="none" strike="noStrike" cap="none" dirty="0">
                <a:solidFill>
                  <a:schemeClr val="dk1"/>
                </a:solidFill>
                <a:latin typeface="Verdana"/>
                <a:ea typeface="Verdana"/>
                <a:cs typeface="Verdana"/>
                <a:sym typeface="Verdana"/>
              </a:rPr>
              <a:t>Artifacts and Devices </a:t>
            </a:r>
          </a:p>
          <a:p>
            <a:pPr marL="457200" marR="0" lvl="1" algn="l" rtl="0">
              <a:lnSpc>
                <a:spcPct val="110000"/>
              </a:lnSpc>
              <a:spcBef>
                <a:spcPts val="0"/>
              </a:spcBef>
              <a:spcAft>
                <a:spcPts val="0"/>
              </a:spcAft>
              <a:buClr>
                <a:schemeClr val="dk1"/>
              </a:buClr>
              <a:buSzPts val="1900"/>
            </a:pPr>
            <a:endParaRPr sz="22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chemeClr val="dk1"/>
              </a:buClr>
              <a:buSzPts val="1900"/>
              <a:buFont typeface="Arial"/>
              <a:buChar char="•"/>
            </a:pPr>
            <a:r>
              <a:rPr lang="en-US" sz="2200" b="0" i="0" u="none" strike="noStrike" cap="none" dirty="0">
                <a:solidFill>
                  <a:schemeClr val="dk1"/>
                </a:solidFill>
                <a:latin typeface="Verdana"/>
                <a:ea typeface="Verdana"/>
                <a:cs typeface="Verdana"/>
                <a:sym typeface="Verdana"/>
              </a:rPr>
              <a:t>Relevant Information</a:t>
            </a:r>
          </a:p>
          <a:p>
            <a:pPr marL="800100" marR="0" lvl="1" indent="-342900" algn="l" rtl="0">
              <a:lnSpc>
                <a:spcPct val="110000"/>
              </a:lnSpc>
              <a:spcBef>
                <a:spcPts val="0"/>
              </a:spcBef>
              <a:spcAft>
                <a:spcPts val="0"/>
              </a:spcAft>
              <a:buClr>
                <a:schemeClr val="dk1"/>
              </a:buClr>
              <a:buSzPts val="1900"/>
              <a:buFont typeface="Arial"/>
              <a:buChar char="•"/>
            </a:pPr>
            <a:endParaRPr sz="22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rgbClr val="FF0000"/>
              </a:buClr>
              <a:buSzPts val="1900"/>
              <a:buFont typeface="Arial"/>
              <a:buChar char="•"/>
            </a:pPr>
            <a:r>
              <a:rPr lang="en-US" sz="2200" b="0" i="0" u="none" strike="noStrike" cap="none" dirty="0">
                <a:solidFill>
                  <a:srgbClr val="FF0000"/>
                </a:solidFill>
                <a:latin typeface="Verdana"/>
                <a:ea typeface="Verdana"/>
                <a:cs typeface="Verdana"/>
                <a:sym typeface="Verdana"/>
              </a:rPr>
              <a:t>Timeline</a:t>
            </a:r>
            <a:r>
              <a:rPr lang="en-US" sz="2200" b="0" i="0" u="none" strike="noStrike" cap="none" dirty="0">
                <a:solidFill>
                  <a:schemeClr val="dk1"/>
                </a:solidFill>
                <a:latin typeface="Verdana"/>
                <a:ea typeface="Verdana"/>
                <a:cs typeface="Verdana"/>
                <a:sym typeface="Verdana"/>
              </a:rPr>
              <a:t> </a:t>
            </a:r>
            <a:endParaRPr sz="22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chemeClr val="dk1"/>
              </a:buClr>
              <a:buSzPts val="1900"/>
              <a:buFont typeface="Arial"/>
              <a:buChar char="•"/>
            </a:pPr>
            <a:endParaRPr lang="en-US" sz="2200" b="0" i="0" u="none" strike="noStrike" cap="none" dirty="0">
              <a:solidFill>
                <a:schemeClr val="dk1"/>
              </a:solidFill>
              <a:latin typeface="Verdana"/>
              <a:ea typeface="Verdana"/>
              <a:cs typeface="Verdana"/>
              <a:sym typeface="Verdana"/>
            </a:endParaRPr>
          </a:p>
          <a:p>
            <a:pPr marL="800100" marR="0" lvl="1" indent="-342900" algn="l" rtl="0">
              <a:lnSpc>
                <a:spcPct val="110000"/>
              </a:lnSpc>
              <a:spcBef>
                <a:spcPts val="0"/>
              </a:spcBef>
              <a:spcAft>
                <a:spcPts val="0"/>
              </a:spcAft>
              <a:buClr>
                <a:schemeClr val="dk1"/>
              </a:buClr>
              <a:buSzPts val="1900"/>
              <a:buFont typeface="Arial"/>
              <a:buChar char="•"/>
            </a:pPr>
            <a:r>
              <a:rPr lang="en-US" sz="2200" b="0" i="0" u="none" strike="noStrike" cap="none" dirty="0">
                <a:solidFill>
                  <a:schemeClr val="dk1"/>
                </a:solidFill>
                <a:latin typeface="Verdana"/>
                <a:ea typeface="Verdana"/>
                <a:cs typeface="Verdana"/>
                <a:sym typeface="Verdana"/>
              </a:rPr>
              <a:t>Process and Methods</a:t>
            </a:r>
            <a:endParaRPr sz="22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rgbClr val="FF0000"/>
              </a:buClr>
              <a:buSzPts val="1900"/>
              <a:buFont typeface="Arial"/>
              <a:buChar char="•"/>
            </a:pPr>
            <a:endParaRPr lang="en-US" sz="2200" b="0" i="0" u="none" strike="noStrike" cap="none" dirty="0">
              <a:solidFill>
                <a:srgbClr val="FF0000"/>
              </a:solidFill>
              <a:latin typeface="Verdana"/>
              <a:ea typeface="Verdana"/>
              <a:cs typeface="Verdana"/>
              <a:sym typeface="Verdana"/>
            </a:endParaRPr>
          </a:p>
          <a:p>
            <a:pPr marL="800100" marR="0" lvl="1" indent="-342900" algn="l" rtl="0">
              <a:lnSpc>
                <a:spcPct val="110000"/>
              </a:lnSpc>
              <a:spcBef>
                <a:spcPts val="0"/>
              </a:spcBef>
              <a:spcAft>
                <a:spcPts val="0"/>
              </a:spcAft>
              <a:buClr>
                <a:srgbClr val="FF0000"/>
              </a:buClr>
              <a:buSzPts val="1900"/>
              <a:buFont typeface="Arial"/>
              <a:buChar char="•"/>
            </a:pPr>
            <a:r>
              <a:rPr lang="en-US" sz="2200" b="0" i="0" u="none" strike="noStrike" cap="none" dirty="0">
                <a:solidFill>
                  <a:srgbClr val="FF0000"/>
                </a:solidFill>
                <a:latin typeface="Verdana"/>
                <a:ea typeface="Verdana"/>
                <a:cs typeface="Verdana"/>
                <a:sym typeface="Verdana"/>
              </a:rPr>
              <a:t>Integrity of Data</a:t>
            </a:r>
            <a:endParaRPr sz="2200" b="0" i="0" u="none" strike="noStrike" cap="none" dirty="0">
              <a:solidFill>
                <a:srgbClr val="000000"/>
              </a:solidFill>
              <a:latin typeface="Arial"/>
              <a:ea typeface="Arial"/>
              <a:cs typeface="Arial"/>
              <a:sym typeface="Arial"/>
            </a:endParaRPr>
          </a:p>
        </p:txBody>
      </p:sp>
      <p:cxnSp>
        <p:nvCxnSpPr>
          <p:cNvPr id="147" name="Google Shape;147;p6"/>
          <p:cNvCxnSpPr/>
          <p:nvPr/>
        </p:nvCxnSpPr>
        <p:spPr>
          <a:xfrm>
            <a:off x="2305414"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48" name="Google Shape;148;p6"/>
          <p:cNvCxnSpPr/>
          <p:nvPr/>
        </p:nvCxnSpPr>
        <p:spPr>
          <a:xfrm>
            <a:off x="4721813"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49" name="Google Shape;149;p6"/>
          <p:cNvCxnSpPr/>
          <p:nvPr/>
        </p:nvCxnSpPr>
        <p:spPr>
          <a:xfrm>
            <a:off x="6537697"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sp>
        <p:nvSpPr>
          <p:cNvPr id="150" name="Google Shape;150;p6"/>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
        <p:nvSpPr>
          <p:cNvPr id="5" name="AutoShape 4" descr="Criminal Investigation Timeline Template">
            <a:extLst>
              <a:ext uri="{FF2B5EF4-FFF2-40B4-BE49-F238E27FC236}">
                <a16:creationId xmlns:a16="http://schemas.microsoft.com/office/drawing/2014/main" id="{3E7B0838-1659-459A-BF58-03F886D6D23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Criminal Investigation Timeline Template">
            <a:extLst>
              <a:ext uri="{FF2B5EF4-FFF2-40B4-BE49-F238E27FC236}">
                <a16:creationId xmlns:a16="http://schemas.microsoft.com/office/drawing/2014/main" id="{854D170E-961E-A891-6A4C-6961FC9D44D1}"/>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descr="A black object with a fingerprint&#10;&#10;Description automatically generated">
            <a:extLst>
              <a:ext uri="{FF2B5EF4-FFF2-40B4-BE49-F238E27FC236}">
                <a16:creationId xmlns:a16="http://schemas.microsoft.com/office/drawing/2014/main" id="{293BE5CE-9FDF-D349-5D59-3CFD8D9FCA87}"/>
              </a:ext>
            </a:extLst>
          </p:cNvPr>
          <p:cNvPicPr>
            <a:picLocks noChangeAspect="1"/>
          </p:cNvPicPr>
          <p:nvPr/>
        </p:nvPicPr>
        <p:blipFill>
          <a:blip r:embed="rId3"/>
          <a:stretch>
            <a:fillRect/>
          </a:stretch>
        </p:blipFill>
        <p:spPr>
          <a:xfrm>
            <a:off x="4721813" y="2866666"/>
            <a:ext cx="4688256" cy="3223176"/>
          </a:xfrm>
          <a:prstGeom prst="rect">
            <a:avLst/>
          </a:prstGeom>
        </p:spPr>
      </p:pic>
    </p:spTree>
    <p:extLst>
      <p:ext uri="{BB962C8B-B14F-4D97-AF65-F5344CB8AC3E}">
        <p14:creationId xmlns:p14="http://schemas.microsoft.com/office/powerpoint/2010/main" val="690179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7"/>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Forensic Artifacts</a:t>
            </a:r>
            <a:endParaRPr/>
          </a:p>
        </p:txBody>
      </p:sp>
      <p:sp>
        <p:nvSpPr>
          <p:cNvPr id="157" name="Google Shape;157;p7"/>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58" name="Google Shape;158;p7"/>
          <p:cNvSpPr txBox="1"/>
          <p:nvPr/>
        </p:nvSpPr>
        <p:spPr>
          <a:xfrm>
            <a:off x="240848" y="1368589"/>
            <a:ext cx="8659567" cy="50690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000" b="0" i="1" u="none" strike="noStrike" cap="none" dirty="0">
                <a:solidFill>
                  <a:schemeClr val="dk1"/>
                </a:solidFill>
                <a:latin typeface="Verdana"/>
                <a:ea typeface="Verdana"/>
                <a:cs typeface="Verdana"/>
                <a:sym typeface="Verdana"/>
              </a:rPr>
              <a:t>Forensic Artifacts </a:t>
            </a:r>
            <a:r>
              <a:rPr lang="en-US" sz="2000" b="0" i="0" u="none" strike="noStrike" cap="none" dirty="0">
                <a:solidFill>
                  <a:schemeClr val="dk1"/>
                </a:solidFill>
                <a:latin typeface="Verdana"/>
                <a:ea typeface="Verdana"/>
                <a:cs typeface="Verdana"/>
                <a:sym typeface="Verdana"/>
              </a:rPr>
              <a:t>- </a:t>
            </a:r>
            <a:r>
              <a:rPr lang="en-US" sz="2000" b="0" i="0" u="none" strike="noStrike" cap="none" dirty="0">
                <a:solidFill>
                  <a:srgbClr val="FF0000"/>
                </a:solidFill>
                <a:latin typeface="Verdana"/>
                <a:ea typeface="Verdana"/>
                <a:cs typeface="Verdana"/>
                <a:sym typeface="Verdana"/>
              </a:rPr>
              <a:t>digital evidence</a:t>
            </a:r>
            <a:r>
              <a:rPr lang="en-US" sz="2000" b="0" i="0" u="none" strike="noStrike" cap="none" dirty="0">
                <a:solidFill>
                  <a:schemeClr val="dk1"/>
                </a:solidFill>
                <a:latin typeface="Verdana"/>
                <a:ea typeface="Verdana"/>
                <a:cs typeface="Verdana"/>
                <a:sym typeface="Verdana"/>
              </a:rPr>
              <a:t>, an object of digital archeological interest.</a:t>
            </a:r>
            <a:endParaRPr lang="en-US" sz="2000" dirty="0">
              <a:solidFill>
                <a:schemeClr val="dk1"/>
              </a:solidFill>
              <a:latin typeface="Verdana"/>
              <a:ea typeface="Verdana"/>
              <a:sym typeface="Verdana"/>
            </a:endParaRPr>
          </a:p>
          <a:p>
            <a:pPr marL="742950" marR="0" lvl="1" indent="-285750" algn="l" rtl="0">
              <a:lnSpc>
                <a:spcPct val="11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Documents</a:t>
            </a:r>
            <a:endParaRPr lang="en-US" sz="20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Contact Lists, Emails</a:t>
            </a:r>
            <a:endParaRPr lang="en-US" sz="20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Calendars</a:t>
            </a:r>
            <a:endParaRPr lang="en-US" sz="20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Browser History, Cookies, and Bookmarks</a:t>
            </a:r>
            <a:endParaRPr lang="en-US" sz="20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rgbClr val="FF0000"/>
              </a:buClr>
              <a:buSzPts val="2000"/>
              <a:buFont typeface="Arial"/>
              <a:buChar char="•"/>
            </a:pPr>
            <a:r>
              <a:rPr lang="en-US" sz="2000" b="0" i="0" u="none" strike="noStrike" cap="none" dirty="0">
                <a:solidFill>
                  <a:srgbClr val="FF0000"/>
                </a:solidFill>
                <a:latin typeface="Verdana"/>
                <a:ea typeface="Verdana"/>
                <a:cs typeface="Verdana"/>
                <a:sym typeface="Verdana"/>
              </a:rPr>
              <a:t>Pictures, Images, and Digital Photos</a:t>
            </a:r>
            <a:endParaRPr lang="en-US" sz="2000" b="0" i="0" u="none" strike="noStrike" cap="none" dirty="0">
              <a:solidFill>
                <a:srgbClr val="FF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Audio and Video Files</a:t>
            </a:r>
            <a:endParaRPr lang="en-US" sz="20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Thumbnails</a:t>
            </a:r>
            <a:endParaRPr lang="en-US" sz="20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Hidden, System and Temporary Files</a:t>
            </a:r>
          </a:p>
          <a:p>
            <a:pPr marL="742950" marR="0" lvl="1" indent="-285750" algn="l" rtl="0">
              <a:lnSpc>
                <a:spcPct val="110000"/>
              </a:lnSpc>
              <a:spcBef>
                <a:spcPts val="0"/>
              </a:spcBef>
              <a:spcAft>
                <a:spcPts val="0"/>
              </a:spcAft>
              <a:buClr>
                <a:schemeClr val="dk1"/>
              </a:buClr>
              <a:buSzPts val="2000"/>
              <a:buFont typeface="Arial"/>
              <a:buChar char="•"/>
            </a:pPr>
            <a:endParaRPr lang="en-US" sz="2000" dirty="0">
              <a:ea typeface="Verdana"/>
            </a:endParaRPr>
          </a:p>
          <a:p>
            <a:pPr marL="0" marR="0" lvl="0" indent="0" algn="l" defTabSz="914400" rtl="0" eaLnBrk="1" fontAlgn="auto" latinLnBrk="0" hangingPunct="1">
              <a:lnSpc>
                <a:spcPct val="100000"/>
              </a:lnSpc>
              <a:spcBef>
                <a:spcPts val="0"/>
              </a:spcBef>
              <a:spcAft>
                <a:spcPts val="0"/>
              </a:spcAft>
              <a:buClr>
                <a:srgbClr val="000000"/>
              </a:buClr>
              <a:buSzPts val="2200"/>
              <a:buFont typeface="Arial"/>
              <a:buNone/>
              <a:tabLst/>
              <a:defRPr/>
            </a:pPr>
            <a:r>
              <a:rPr kumimoji="0" lang="en-US" sz="2000" b="0" i="1" u="sng" strike="noStrike" kern="0" cap="none" spc="0" normalizeH="0" baseline="0" noProof="0" dirty="0">
                <a:ln>
                  <a:noFill/>
                </a:ln>
                <a:solidFill>
                  <a:srgbClr val="000000"/>
                </a:solidFill>
                <a:effectLst/>
                <a:uLnTx/>
                <a:uFillTx/>
                <a:latin typeface="Verdana"/>
                <a:ea typeface="Verdana"/>
                <a:cs typeface="Verdana"/>
                <a:sym typeface="Verdana"/>
              </a:rPr>
              <a:t>Other Data Sources</a:t>
            </a:r>
            <a:endParaRPr lang="en-US" sz="2000" dirty="0">
              <a:ea typeface="Verdana"/>
            </a:endParaRPr>
          </a:p>
          <a:p>
            <a:pPr marL="742950" marR="0" lvl="1" indent="-285750" algn="l" rtl="0">
              <a:lnSpc>
                <a:spcPct val="11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[Mobile Devices]</a:t>
            </a:r>
            <a:endParaRPr lang="en-US" sz="2000" b="0" i="0" u="none" strike="noStrike" cap="none" dirty="0">
              <a:solidFill>
                <a:srgbClr val="000000"/>
              </a:solidFill>
              <a:latin typeface="Arial"/>
              <a:ea typeface="Arial"/>
              <a:cs typeface="Arial"/>
              <a:sym typeface="Arial"/>
            </a:endParaRPr>
          </a:p>
          <a:p>
            <a:pPr marL="742950" marR="0" lvl="1" indent="-285750" algn="l" rtl="0">
              <a:lnSpc>
                <a:spcPct val="11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[Virtual Machines]</a:t>
            </a:r>
            <a:endParaRPr lang="en-US"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lang="en-US" sz="800" b="0" i="0" u="none" strike="noStrike" cap="none" dirty="0">
              <a:solidFill>
                <a:schemeClr val="dk1"/>
              </a:solidFill>
              <a:latin typeface="Verdana"/>
              <a:ea typeface="Verdana"/>
              <a:cs typeface="Verdana"/>
              <a:sym typeface="Verdana"/>
            </a:endParaRPr>
          </a:p>
        </p:txBody>
      </p:sp>
      <p:sp>
        <p:nvSpPr>
          <p:cNvPr id="159" name="Google Shape;159;p7"/>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Registry</a:t>
            </a:r>
            <a:endParaRPr/>
          </a:p>
        </p:txBody>
      </p:sp>
      <p:sp>
        <p:nvSpPr>
          <p:cNvPr id="184" name="Google Shape;184;p10"/>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85" name="Google Shape;185;p10"/>
          <p:cNvSpPr txBox="1"/>
          <p:nvPr/>
        </p:nvSpPr>
        <p:spPr>
          <a:xfrm>
            <a:off x="240848" y="1368589"/>
            <a:ext cx="8659567" cy="93871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1" u="none" strike="noStrike" cap="none">
                <a:solidFill>
                  <a:srgbClr val="366092"/>
                </a:solidFill>
                <a:latin typeface="Verdana"/>
                <a:ea typeface="Verdana"/>
                <a:cs typeface="Verdana"/>
                <a:sym typeface="Verdana"/>
              </a:rPr>
              <a:t>Registry</a:t>
            </a:r>
            <a:r>
              <a:rPr lang="en-US" sz="1900" b="0" i="1" u="none" strike="noStrike" cap="none">
                <a:solidFill>
                  <a:schemeClr val="dk1"/>
                </a:solidFill>
                <a:latin typeface="Verdana"/>
                <a:ea typeface="Verdana"/>
                <a:cs typeface="Verdana"/>
                <a:sym typeface="Verdana"/>
              </a:rPr>
              <a:t> -  </a:t>
            </a:r>
            <a:r>
              <a:rPr lang="en-US" sz="1800" b="0" i="0" u="none" strike="noStrike" cap="none">
                <a:solidFill>
                  <a:schemeClr val="dk1"/>
                </a:solidFill>
                <a:latin typeface="Verdana"/>
                <a:ea typeface="Verdana"/>
                <a:cs typeface="Verdana"/>
                <a:sym typeface="Verdana"/>
              </a:rPr>
              <a:t>A central hierarchical </a:t>
            </a:r>
            <a:r>
              <a:rPr lang="en-US" sz="1800" b="0" i="0" u="none" strike="noStrike" cap="none">
                <a:solidFill>
                  <a:srgbClr val="FF0000"/>
                </a:solidFill>
                <a:latin typeface="Verdana"/>
                <a:ea typeface="Verdana"/>
                <a:cs typeface="Verdana"/>
                <a:sym typeface="Verdana"/>
              </a:rPr>
              <a:t>database</a:t>
            </a:r>
            <a:r>
              <a:rPr lang="en-US" sz="1800" b="0" i="0" u="none" strike="noStrike" cap="none">
                <a:solidFill>
                  <a:schemeClr val="dk1"/>
                </a:solidFill>
                <a:latin typeface="Verdana"/>
                <a:ea typeface="Verdana"/>
                <a:cs typeface="Verdana"/>
                <a:sym typeface="Verdana"/>
              </a:rPr>
              <a:t> used in Microsoft Windows to store information that is necessary to configure the system for one or more users, applications and hardware devices. </a:t>
            </a:r>
            <a:endParaRPr sz="1400" b="0" i="0" u="none" strike="noStrike" cap="none">
              <a:solidFill>
                <a:srgbClr val="000000"/>
              </a:solidFill>
              <a:latin typeface="Arial"/>
              <a:ea typeface="Arial"/>
              <a:cs typeface="Arial"/>
              <a:sym typeface="Arial"/>
            </a:endParaRPr>
          </a:p>
        </p:txBody>
      </p:sp>
      <p:pic>
        <p:nvPicPr>
          <p:cNvPr id="186" name="Google Shape;186;p10" descr="registry.jpg"/>
          <p:cNvPicPr preferRelativeResize="0"/>
          <p:nvPr/>
        </p:nvPicPr>
        <p:blipFill rotWithShape="1">
          <a:blip r:embed="rId3">
            <a:alphaModFix/>
          </a:blip>
          <a:srcRect/>
          <a:stretch/>
        </p:blipFill>
        <p:spPr>
          <a:xfrm>
            <a:off x="1249061" y="2590799"/>
            <a:ext cx="5856818" cy="3493008"/>
          </a:xfrm>
          <a:prstGeom prst="rect">
            <a:avLst/>
          </a:prstGeom>
          <a:noFill/>
          <a:ln>
            <a:noFill/>
          </a:ln>
        </p:spPr>
      </p:pic>
      <p:sp>
        <p:nvSpPr>
          <p:cNvPr id="187" name="Google Shape;187;p10"/>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1"/>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Event Logs</a:t>
            </a:r>
            <a:endParaRPr/>
          </a:p>
        </p:txBody>
      </p:sp>
      <p:sp>
        <p:nvSpPr>
          <p:cNvPr id="194" name="Google Shape;194;p11"/>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95" name="Google Shape;195;p11"/>
          <p:cNvSpPr txBox="1"/>
          <p:nvPr/>
        </p:nvSpPr>
        <p:spPr>
          <a:xfrm>
            <a:off x="240848" y="1368589"/>
            <a:ext cx="8659567" cy="6617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1" u="none" strike="noStrike" cap="none" dirty="0">
                <a:solidFill>
                  <a:srgbClr val="376092"/>
                </a:solidFill>
                <a:latin typeface="Verdana"/>
                <a:ea typeface="Verdana"/>
                <a:cs typeface="Verdana"/>
                <a:sym typeface="Verdana"/>
              </a:rPr>
              <a:t>Event Logs</a:t>
            </a:r>
            <a:r>
              <a:rPr lang="en-US" sz="1900" b="0" i="1" u="none" strike="noStrike" cap="none" dirty="0">
                <a:solidFill>
                  <a:schemeClr val="dk1"/>
                </a:solidFill>
                <a:latin typeface="Verdana"/>
                <a:ea typeface="Verdana"/>
                <a:cs typeface="Verdana"/>
                <a:sym typeface="Verdana"/>
              </a:rPr>
              <a:t> - </a:t>
            </a:r>
            <a:r>
              <a:rPr lang="en-US" sz="1800" b="0" i="0" u="none" strike="noStrike" cap="none" dirty="0">
                <a:solidFill>
                  <a:schemeClr val="dk1"/>
                </a:solidFill>
                <a:latin typeface="Verdana"/>
                <a:ea typeface="Verdana"/>
                <a:cs typeface="Verdana"/>
                <a:sym typeface="Verdana"/>
              </a:rPr>
              <a:t>log files are special files that record significant events, e.g. logins or program errors. </a:t>
            </a:r>
            <a:endParaRPr sz="1400" b="0" i="0" u="none" strike="noStrike" cap="none" dirty="0">
              <a:solidFill>
                <a:srgbClr val="000000"/>
              </a:solidFill>
              <a:latin typeface="Arial"/>
              <a:ea typeface="Arial"/>
              <a:cs typeface="Arial"/>
              <a:sym typeface="Arial"/>
            </a:endParaRPr>
          </a:p>
        </p:txBody>
      </p:sp>
      <p:pic>
        <p:nvPicPr>
          <p:cNvPr id="196" name="Google Shape;196;p11" descr="logfile.png"/>
          <p:cNvPicPr preferRelativeResize="0"/>
          <p:nvPr/>
        </p:nvPicPr>
        <p:blipFill rotWithShape="1">
          <a:blip r:embed="rId3">
            <a:alphaModFix/>
          </a:blip>
          <a:srcRect/>
          <a:stretch/>
        </p:blipFill>
        <p:spPr>
          <a:xfrm>
            <a:off x="1521288" y="2282129"/>
            <a:ext cx="6101423" cy="3701606"/>
          </a:xfrm>
          <a:prstGeom prst="rect">
            <a:avLst/>
          </a:prstGeom>
          <a:noFill/>
          <a:ln>
            <a:noFill/>
          </a:ln>
        </p:spPr>
      </p:pic>
      <p:sp>
        <p:nvSpPr>
          <p:cNvPr id="197" name="Google Shape;197;p11"/>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3"/>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dirty="0">
                <a:solidFill>
                  <a:srgbClr val="D8D8D8"/>
                </a:solidFill>
                <a:latin typeface="Verdana"/>
                <a:ea typeface="Verdana"/>
                <a:cs typeface="Verdana"/>
                <a:sym typeface="Verdana"/>
              </a:rPr>
              <a:t>Hex Editor</a:t>
            </a:r>
            <a:endParaRPr dirty="0"/>
          </a:p>
        </p:txBody>
      </p:sp>
      <p:sp>
        <p:nvSpPr>
          <p:cNvPr id="213" name="Google Shape;213;p13"/>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pic>
        <p:nvPicPr>
          <p:cNvPr id="214" name="Google Shape;214;p13" descr="hexEditor.jpg"/>
          <p:cNvPicPr preferRelativeResize="0"/>
          <p:nvPr/>
        </p:nvPicPr>
        <p:blipFill rotWithShape="1">
          <a:blip r:embed="rId3">
            <a:alphaModFix/>
          </a:blip>
          <a:srcRect/>
          <a:stretch/>
        </p:blipFill>
        <p:spPr>
          <a:xfrm>
            <a:off x="1627798" y="2178599"/>
            <a:ext cx="5885665" cy="3968620"/>
          </a:xfrm>
          <a:prstGeom prst="rect">
            <a:avLst/>
          </a:prstGeom>
          <a:noFill/>
          <a:ln>
            <a:noFill/>
          </a:ln>
        </p:spPr>
      </p:pic>
      <p:sp>
        <p:nvSpPr>
          <p:cNvPr id="215" name="Google Shape;215;p13"/>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
        <p:nvSpPr>
          <p:cNvPr id="2" name="Google Shape;195;p11">
            <a:extLst>
              <a:ext uri="{FF2B5EF4-FFF2-40B4-BE49-F238E27FC236}">
                <a16:creationId xmlns:a16="http://schemas.microsoft.com/office/drawing/2014/main" id="{A8557010-AFE7-91DD-9202-0E7AF32C17D7}"/>
              </a:ext>
            </a:extLst>
          </p:cNvPr>
          <p:cNvSpPr txBox="1"/>
          <p:nvPr/>
        </p:nvSpPr>
        <p:spPr>
          <a:xfrm>
            <a:off x="240848" y="1368589"/>
            <a:ext cx="8659567" cy="6616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1" u="none" strike="noStrike" cap="none" dirty="0">
                <a:solidFill>
                  <a:srgbClr val="376092"/>
                </a:solidFill>
                <a:latin typeface="Verdana"/>
                <a:ea typeface="Verdana"/>
                <a:cs typeface="Verdana"/>
                <a:sym typeface="Verdana"/>
              </a:rPr>
              <a:t>Hex Editor </a:t>
            </a:r>
            <a:r>
              <a:rPr lang="en-US" sz="1900" b="0" i="1" u="none" strike="noStrike" cap="none" dirty="0">
                <a:solidFill>
                  <a:schemeClr val="dk1"/>
                </a:solidFill>
                <a:latin typeface="Verdana"/>
                <a:ea typeface="Verdana"/>
                <a:cs typeface="Verdana"/>
                <a:sym typeface="Verdana"/>
              </a:rPr>
              <a:t>- </a:t>
            </a:r>
            <a:r>
              <a:rPr lang="en-US" sz="1800" b="0" i="0" u="none" strike="noStrike" cap="none" dirty="0">
                <a:solidFill>
                  <a:schemeClr val="dk1"/>
                </a:solidFill>
                <a:latin typeface="Verdana"/>
                <a:ea typeface="Verdana"/>
                <a:cs typeface="Verdana"/>
                <a:sym typeface="Verdana"/>
              </a:rPr>
              <a:t>A hex editor is a software tool used to directly view and modify the binary data (shown in hexadecimal format) of files.</a:t>
            </a:r>
            <a:endParaRPr sz="1400" b="0" i="0" u="none" strike="noStrike" cap="none"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2"/>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File Carving</a:t>
            </a:r>
            <a:endParaRPr/>
          </a:p>
        </p:txBody>
      </p:sp>
      <p:sp>
        <p:nvSpPr>
          <p:cNvPr id="204" name="Google Shape;204;p12"/>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B3B3B3"/>
                </a:solidFill>
                <a:latin typeface="Calibri"/>
                <a:ea typeface="Calibri"/>
                <a:cs typeface="Calibri"/>
                <a:sym typeface="Calibri"/>
              </a:rPr>
              <a:t>      </a:t>
            </a: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205" name="Google Shape;205;p12"/>
          <p:cNvSpPr txBox="1"/>
          <p:nvPr/>
        </p:nvSpPr>
        <p:spPr>
          <a:xfrm>
            <a:off x="242250" y="1424160"/>
            <a:ext cx="8659500" cy="6770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1" u="none" strike="noStrike" cap="none" dirty="0">
                <a:solidFill>
                  <a:srgbClr val="376092"/>
                </a:solidFill>
                <a:latin typeface="Verdana"/>
                <a:ea typeface="Verdana"/>
                <a:cs typeface="Verdana"/>
                <a:sym typeface="Verdana"/>
              </a:rPr>
              <a:t>File Carving</a:t>
            </a:r>
            <a:r>
              <a:rPr lang="en-US" sz="1900" b="0" i="0" u="none" strike="noStrike" cap="none" dirty="0">
                <a:solidFill>
                  <a:srgbClr val="376092"/>
                </a:solidFill>
                <a:latin typeface="Verdana"/>
                <a:ea typeface="Verdana"/>
                <a:cs typeface="Verdana"/>
                <a:sym typeface="Verdana"/>
              </a:rPr>
              <a:t> </a:t>
            </a:r>
            <a:r>
              <a:rPr lang="en-US" sz="1900" b="0" i="0" u="none" strike="noStrike" cap="none" dirty="0">
                <a:solidFill>
                  <a:schemeClr val="dk1"/>
                </a:solidFill>
                <a:latin typeface="Verdana"/>
                <a:ea typeface="Verdana"/>
                <a:cs typeface="Verdana"/>
                <a:sym typeface="Verdana"/>
              </a:rPr>
              <a:t>- a technique used to recover files or fragments of files when corrupted, missing or purposely deleted.</a:t>
            </a:r>
            <a:endParaRPr sz="1400" b="0" i="0" u="none" strike="noStrike" cap="none" dirty="0">
              <a:solidFill>
                <a:srgbClr val="000000"/>
              </a:solidFill>
              <a:latin typeface="Arial"/>
              <a:ea typeface="Arial"/>
              <a:cs typeface="Arial"/>
              <a:sym typeface="Arial"/>
            </a:endParaRPr>
          </a:p>
        </p:txBody>
      </p:sp>
      <p:sp>
        <p:nvSpPr>
          <p:cNvPr id="206" name="Google Shape;206;p12"/>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pic>
        <p:nvPicPr>
          <p:cNvPr id="2" name="Google Shape;223;p14" descr="headerfooter.png">
            <a:extLst>
              <a:ext uri="{FF2B5EF4-FFF2-40B4-BE49-F238E27FC236}">
                <a16:creationId xmlns:a16="http://schemas.microsoft.com/office/drawing/2014/main" id="{35B8DDD9-71BF-90C5-E3D3-FB3FDE7CC416}"/>
              </a:ext>
            </a:extLst>
          </p:cNvPr>
          <p:cNvPicPr preferRelativeResize="0"/>
          <p:nvPr/>
        </p:nvPicPr>
        <p:blipFill rotWithShape="1">
          <a:blip r:embed="rId3">
            <a:alphaModFix/>
          </a:blip>
          <a:srcRect/>
          <a:stretch/>
        </p:blipFill>
        <p:spPr>
          <a:xfrm>
            <a:off x="1982867" y="2465759"/>
            <a:ext cx="8238877" cy="4657852"/>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txBox="1">
            <a:spLocks noGrp="1"/>
          </p:cNvSpPr>
          <p:nvPr>
            <p:ph type="title"/>
          </p:nvPr>
        </p:nvSpPr>
        <p:spPr>
          <a:xfrm>
            <a:off x="0" y="361307"/>
            <a:ext cx="9144000" cy="755462"/>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Forensic Procedures</a:t>
            </a:r>
            <a:endParaRPr/>
          </a:p>
        </p:txBody>
      </p:sp>
      <p:sp>
        <p:nvSpPr>
          <p:cNvPr id="145" name="Google Shape;145;p6"/>
          <p:cNvSpPr/>
          <p:nvPr/>
        </p:nvSpPr>
        <p:spPr>
          <a:xfrm>
            <a:off x="0" y="6295510"/>
            <a:ext cx="9144000" cy="32846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Verdana"/>
                <a:ea typeface="Verdana"/>
                <a:cs typeface="Verdana"/>
                <a:sym typeface="Verdana"/>
              </a:rPr>
              <a:t>CS 151 - Fall 2018</a:t>
            </a:r>
            <a:endParaRPr sz="1400" b="0" i="0" u="none" strike="noStrike" cap="none">
              <a:solidFill>
                <a:srgbClr val="000000"/>
              </a:solidFill>
              <a:latin typeface="Arial"/>
              <a:ea typeface="Arial"/>
              <a:cs typeface="Arial"/>
              <a:sym typeface="Arial"/>
            </a:endParaRPr>
          </a:p>
        </p:txBody>
      </p:sp>
      <p:sp>
        <p:nvSpPr>
          <p:cNvPr id="146" name="Google Shape;146;p6"/>
          <p:cNvSpPr txBox="1"/>
          <p:nvPr/>
        </p:nvSpPr>
        <p:spPr>
          <a:xfrm>
            <a:off x="240848" y="1368589"/>
            <a:ext cx="8659567" cy="44750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rgbClr val="000000"/>
                </a:solidFill>
                <a:latin typeface="Verdana"/>
                <a:ea typeface="Verdana"/>
                <a:cs typeface="Verdana"/>
                <a:sym typeface="Verdana"/>
              </a:rPr>
              <a:t>Collection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dk1"/>
                </a:solidFill>
                <a:latin typeface="Verdana"/>
                <a:ea typeface="Verdana"/>
                <a:cs typeface="Verdana"/>
                <a:sym typeface="Verdana"/>
              </a:rPr>
              <a:t>Examination</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chemeClr val="tx1"/>
                </a:solidFill>
                <a:latin typeface="Verdana"/>
                <a:ea typeface="Verdana"/>
                <a:cs typeface="Verdana"/>
                <a:sym typeface="Verdana"/>
              </a:rPr>
              <a:t>Analysis</a:t>
            </a:r>
            <a:r>
              <a:rPr lang="en-US" sz="2400" b="0" i="0" u="none" strike="noStrike" cap="none" dirty="0">
                <a:solidFill>
                  <a:schemeClr val="dk1"/>
                </a:solidFill>
                <a:latin typeface="Verdana"/>
                <a:ea typeface="Verdana"/>
                <a:cs typeface="Verdana"/>
                <a:sym typeface="Verdana"/>
              </a:rPr>
              <a:t>     </a:t>
            </a:r>
            <a:r>
              <a:rPr lang="en-US" sz="2400" b="0" i="1" u="none" strike="noStrike" cap="none" dirty="0">
                <a:solidFill>
                  <a:srgbClr val="376092"/>
                </a:solidFill>
                <a:latin typeface="Verdana"/>
                <a:ea typeface="Verdana"/>
                <a:cs typeface="Verdana"/>
                <a:sym typeface="Verdana"/>
              </a:rPr>
              <a:t>Reporting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2000"/>
              <a:buFont typeface="Arial"/>
              <a:buNone/>
            </a:pPr>
            <a:r>
              <a:rPr lang="en-US" sz="2700" b="0" i="1" u="none" strike="noStrike" cap="none" dirty="0">
                <a:solidFill>
                  <a:schemeClr val="dk1"/>
                </a:solidFill>
                <a:latin typeface="Verdana"/>
                <a:ea typeface="Verdana"/>
                <a:cs typeface="Verdana"/>
                <a:sym typeface="Verdana"/>
              </a:rPr>
              <a:t>Reporting</a:t>
            </a:r>
            <a:endParaRPr sz="27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chemeClr val="dk1"/>
              </a:buClr>
              <a:buSzPts val="1900"/>
              <a:buFont typeface="Arial"/>
              <a:buChar char="•"/>
            </a:pPr>
            <a:r>
              <a:rPr lang="en-US" sz="2200" b="0" i="0" u="none" strike="noStrike" cap="none" dirty="0">
                <a:solidFill>
                  <a:schemeClr val="dk1"/>
                </a:solidFill>
                <a:latin typeface="Verdana"/>
                <a:ea typeface="Verdana"/>
                <a:cs typeface="Verdana"/>
                <a:sym typeface="Verdana"/>
              </a:rPr>
              <a:t>Summary</a:t>
            </a:r>
          </a:p>
          <a:p>
            <a:pPr marL="800100" marR="0" lvl="1" indent="-342900" algn="l" rtl="0">
              <a:lnSpc>
                <a:spcPct val="110000"/>
              </a:lnSpc>
              <a:spcBef>
                <a:spcPts val="0"/>
              </a:spcBef>
              <a:spcAft>
                <a:spcPts val="0"/>
              </a:spcAft>
              <a:buClr>
                <a:schemeClr val="dk1"/>
              </a:buClr>
              <a:buSzPts val="1900"/>
              <a:buFont typeface="Arial"/>
              <a:buChar char="•"/>
            </a:pPr>
            <a:endParaRPr sz="22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chemeClr val="dk1"/>
              </a:buClr>
              <a:buSzPts val="1900"/>
              <a:buFont typeface="Arial"/>
              <a:buChar char="•"/>
            </a:pPr>
            <a:r>
              <a:rPr lang="en-US" sz="2200" b="0" i="0" u="none" strike="noStrike" cap="none" dirty="0">
                <a:solidFill>
                  <a:schemeClr val="dk1"/>
                </a:solidFill>
                <a:latin typeface="Verdana"/>
                <a:ea typeface="Verdana"/>
                <a:cs typeface="Verdana"/>
                <a:sym typeface="Verdana"/>
              </a:rPr>
              <a:t>Scope and Objectives</a:t>
            </a:r>
          </a:p>
          <a:p>
            <a:pPr marL="800100" marR="0" lvl="1" indent="-342900" algn="l" rtl="0">
              <a:lnSpc>
                <a:spcPct val="110000"/>
              </a:lnSpc>
              <a:spcBef>
                <a:spcPts val="0"/>
              </a:spcBef>
              <a:spcAft>
                <a:spcPts val="0"/>
              </a:spcAft>
              <a:buClr>
                <a:schemeClr val="dk1"/>
              </a:buClr>
              <a:buSzPts val="1900"/>
              <a:buFont typeface="Arial"/>
              <a:buChar char="•"/>
            </a:pPr>
            <a:endParaRPr sz="22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chemeClr val="dk1"/>
              </a:buClr>
              <a:buSzPts val="1900"/>
              <a:buFont typeface="Arial"/>
              <a:buChar char="•"/>
            </a:pPr>
            <a:r>
              <a:rPr lang="en-US" sz="2200" b="0" i="0" u="none" strike="noStrike" cap="none" dirty="0">
                <a:solidFill>
                  <a:schemeClr val="dk1"/>
                </a:solidFill>
                <a:latin typeface="Verdana"/>
                <a:ea typeface="Verdana"/>
                <a:cs typeface="Verdana"/>
                <a:sym typeface="Verdana"/>
              </a:rPr>
              <a:t>Examination Results and Details</a:t>
            </a:r>
          </a:p>
          <a:p>
            <a:pPr marL="800100" marR="0" lvl="1" indent="-342900" algn="l" rtl="0">
              <a:lnSpc>
                <a:spcPct val="110000"/>
              </a:lnSpc>
              <a:spcBef>
                <a:spcPts val="0"/>
              </a:spcBef>
              <a:spcAft>
                <a:spcPts val="0"/>
              </a:spcAft>
              <a:buClr>
                <a:schemeClr val="dk1"/>
              </a:buClr>
              <a:buSzPts val="1900"/>
              <a:buFont typeface="Arial"/>
              <a:buChar char="•"/>
            </a:pPr>
            <a:endParaRPr sz="22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rgbClr val="FF0000"/>
              </a:buClr>
              <a:buSzPts val="1900"/>
              <a:buFont typeface="Arial"/>
              <a:buChar char="•"/>
            </a:pPr>
            <a:r>
              <a:rPr lang="en-US" sz="2200" b="0" i="0" u="none" strike="noStrike" cap="none" dirty="0">
                <a:solidFill>
                  <a:srgbClr val="FF0000"/>
                </a:solidFill>
                <a:latin typeface="Verdana"/>
                <a:ea typeface="Verdana"/>
                <a:cs typeface="Verdana"/>
                <a:sym typeface="Verdana"/>
              </a:rPr>
              <a:t>Conclusion</a:t>
            </a:r>
            <a:r>
              <a:rPr lang="en-US" sz="2200" b="0" i="0" u="none" strike="noStrike" cap="none" dirty="0">
                <a:solidFill>
                  <a:schemeClr val="dk1"/>
                </a:solidFill>
                <a:latin typeface="Verdana"/>
                <a:ea typeface="Verdana"/>
                <a:cs typeface="Verdana"/>
                <a:sym typeface="Verdana"/>
              </a:rPr>
              <a:t> </a:t>
            </a:r>
            <a:endParaRPr sz="2200" b="0" i="0" u="none" strike="noStrike" cap="none" dirty="0">
              <a:solidFill>
                <a:srgbClr val="000000"/>
              </a:solidFill>
              <a:latin typeface="Arial"/>
              <a:ea typeface="Arial"/>
              <a:cs typeface="Arial"/>
              <a:sym typeface="Arial"/>
            </a:endParaRPr>
          </a:p>
          <a:p>
            <a:pPr marL="800100" marR="0" lvl="1" indent="-342900" algn="l" rtl="0">
              <a:lnSpc>
                <a:spcPct val="110000"/>
              </a:lnSpc>
              <a:spcBef>
                <a:spcPts val="0"/>
              </a:spcBef>
              <a:spcAft>
                <a:spcPts val="0"/>
              </a:spcAft>
              <a:buClr>
                <a:schemeClr val="dk1"/>
              </a:buClr>
              <a:buSzPts val="1900"/>
              <a:buFont typeface="Arial"/>
              <a:buChar char="•"/>
            </a:pPr>
            <a:endParaRPr lang="en-US" sz="2200" b="0" i="0" u="none" strike="noStrike" cap="none" dirty="0">
              <a:solidFill>
                <a:schemeClr val="dk1"/>
              </a:solidFill>
              <a:latin typeface="Verdana"/>
              <a:ea typeface="Verdana"/>
              <a:cs typeface="Verdana"/>
              <a:sym typeface="Verdana"/>
            </a:endParaRPr>
          </a:p>
          <a:p>
            <a:pPr marL="800100" marR="0" lvl="1" indent="-342900" algn="l" rtl="0">
              <a:lnSpc>
                <a:spcPct val="110000"/>
              </a:lnSpc>
              <a:spcBef>
                <a:spcPts val="0"/>
              </a:spcBef>
              <a:spcAft>
                <a:spcPts val="0"/>
              </a:spcAft>
              <a:buClr>
                <a:schemeClr val="dk1"/>
              </a:buClr>
              <a:buSzPts val="1900"/>
              <a:buFont typeface="Arial"/>
              <a:buChar char="•"/>
            </a:pPr>
            <a:r>
              <a:rPr lang="en-US" sz="2200" b="0" i="0" u="none" strike="noStrike" cap="none" dirty="0">
                <a:solidFill>
                  <a:schemeClr val="dk1"/>
                </a:solidFill>
                <a:latin typeface="Verdana"/>
                <a:ea typeface="Verdana"/>
                <a:cs typeface="Verdana"/>
                <a:sym typeface="Verdana"/>
              </a:rPr>
              <a:t>Supporting Documents</a:t>
            </a:r>
            <a:endParaRPr sz="2200" b="0" i="0" u="none" strike="noStrike" cap="none" dirty="0">
              <a:solidFill>
                <a:srgbClr val="000000"/>
              </a:solidFill>
              <a:latin typeface="Arial"/>
              <a:ea typeface="Arial"/>
              <a:cs typeface="Arial"/>
              <a:sym typeface="Arial"/>
            </a:endParaRPr>
          </a:p>
        </p:txBody>
      </p:sp>
      <p:cxnSp>
        <p:nvCxnSpPr>
          <p:cNvPr id="147" name="Google Shape;147;p6"/>
          <p:cNvCxnSpPr/>
          <p:nvPr/>
        </p:nvCxnSpPr>
        <p:spPr>
          <a:xfrm>
            <a:off x="2305414"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48" name="Google Shape;148;p6"/>
          <p:cNvCxnSpPr/>
          <p:nvPr/>
        </p:nvCxnSpPr>
        <p:spPr>
          <a:xfrm>
            <a:off x="4721813"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cxnSp>
        <p:nvCxnSpPr>
          <p:cNvPr id="149" name="Google Shape;149;p6"/>
          <p:cNvCxnSpPr/>
          <p:nvPr/>
        </p:nvCxnSpPr>
        <p:spPr>
          <a:xfrm>
            <a:off x="6537697" y="1628872"/>
            <a:ext cx="338219" cy="0"/>
          </a:xfrm>
          <a:prstGeom prst="straightConnector1">
            <a:avLst/>
          </a:prstGeom>
          <a:noFill/>
          <a:ln w="25400" cap="flat" cmpd="sng">
            <a:solidFill>
              <a:srgbClr val="002E62">
                <a:alpha val="20392"/>
              </a:srgbClr>
            </a:solidFill>
            <a:prstDash val="solid"/>
            <a:round/>
            <a:headEnd type="none" w="sm" len="sm"/>
            <a:tailEnd type="stealth" w="med" len="med"/>
          </a:ln>
          <a:effectLst>
            <a:outerShdw blurRad="40000" dist="20000" dir="5400000" rotWithShape="0">
              <a:srgbClr val="000000">
                <a:alpha val="37254"/>
              </a:srgbClr>
            </a:outerShdw>
          </a:effectLst>
        </p:spPr>
      </p:cxnSp>
      <p:sp>
        <p:nvSpPr>
          <p:cNvPr id="150" name="Google Shape;150;p6"/>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pic>
        <p:nvPicPr>
          <p:cNvPr id="3" name="Picture 2" descr="A close-up of a stack of papers&#10;&#10;Description automatically generated">
            <a:extLst>
              <a:ext uri="{FF2B5EF4-FFF2-40B4-BE49-F238E27FC236}">
                <a16:creationId xmlns:a16="http://schemas.microsoft.com/office/drawing/2014/main" id="{C3CD43BD-FC8B-DC7B-3DC4-EA3D130FAB15}"/>
              </a:ext>
            </a:extLst>
          </p:cNvPr>
          <p:cNvPicPr>
            <a:picLocks noChangeAspect="1"/>
          </p:cNvPicPr>
          <p:nvPr/>
        </p:nvPicPr>
        <p:blipFill>
          <a:blip r:embed="rId3"/>
          <a:stretch>
            <a:fillRect/>
          </a:stretch>
        </p:blipFill>
        <p:spPr>
          <a:xfrm>
            <a:off x="6102851" y="3151196"/>
            <a:ext cx="2621230" cy="2692757"/>
          </a:xfrm>
          <a:prstGeom prst="rect">
            <a:avLst/>
          </a:prstGeom>
        </p:spPr>
      </p:pic>
    </p:spTree>
    <p:extLst>
      <p:ext uri="{BB962C8B-B14F-4D97-AF65-F5344CB8AC3E}">
        <p14:creationId xmlns:p14="http://schemas.microsoft.com/office/powerpoint/2010/main" val="10348089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de69dcc2ca_0_0"/>
          <p:cNvSpPr txBox="1">
            <a:spLocks noGrp="1"/>
          </p:cNvSpPr>
          <p:nvPr>
            <p:ph type="title"/>
          </p:nvPr>
        </p:nvSpPr>
        <p:spPr>
          <a:xfrm>
            <a:off x="0" y="361950"/>
            <a:ext cx="9144000" cy="754200"/>
          </a:xfrm>
          <a:prstGeom prst="rect">
            <a:avLst/>
          </a:prstGeom>
          <a:solidFill>
            <a:srgbClr val="002E62"/>
          </a:solidFill>
          <a:ln>
            <a:noFill/>
          </a:ln>
          <a:effectLst>
            <a:outerShdw blurRad="50800" dist="38100" dir="2700000" algn="tl" rotWithShape="0">
              <a:srgbClr val="000000">
                <a:alpha val="42745"/>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What are Metadata and ExifTool?</a:t>
            </a:r>
            <a:endParaRPr/>
          </a:p>
        </p:txBody>
      </p:sp>
      <p:sp>
        <p:nvSpPr>
          <p:cNvPr id="239" name="Google Shape;239;gde69dcc2ca_0_0"/>
          <p:cNvSpPr txBox="1"/>
          <p:nvPr/>
        </p:nvSpPr>
        <p:spPr>
          <a:xfrm>
            <a:off x="533400" y="1774338"/>
            <a:ext cx="8077200" cy="3437700"/>
          </a:xfrm>
          <a:prstGeom prst="rect">
            <a:avLst/>
          </a:prstGeom>
          <a:noFill/>
          <a:ln>
            <a:noFill/>
          </a:ln>
        </p:spPr>
        <p:txBody>
          <a:bodyPr spcFirstLastPara="1" wrap="square" lIns="91425" tIns="45700" rIns="91425" bIns="45700" anchor="t" anchorCtr="0">
            <a:spAutoFit/>
          </a:bodyPr>
          <a:lstStyle/>
          <a:p>
            <a:pPr marL="457200" marR="0" lvl="0" indent="-342900" algn="l" rtl="0">
              <a:lnSpc>
                <a:spcPct val="100000"/>
              </a:lnSpc>
              <a:spcBef>
                <a:spcPts val="0"/>
              </a:spcBef>
              <a:spcAft>
                <a:spcPts val="0"/>
              </a:spcAft>
              <a:buClr>
                <a:schemeClr val="dk1"/>
              </a:buClr>
              <a:buSzPts val="1800"/>
              <a:buFont typeface="Verdana"/>
              <a:buChar char="•"/>
            </a:pPr>
            <a:r>
              <a:rPr lang="en-US" sz="1900" b="0" i="1" u="none" strike="noStrike" cap="none">
                <a:solidFill>
                  <a:srgbClr val="376092"/>
                </a:solidFill>
                <a:latin typeface="Verdana"/>
                <a:ea typeface="Verdana"/>
                <a:cs typeface="Verdana"/>
                <a:sym typeface="Verdana"/>
              </a:rPr>
              <a:t>Metadata</a:t>
            </a:r>
            <a:r>
              <a:rPr lang="en-US" sz="1900" b="0" i="1" u="none" strike="noStrike" cap="none">
                <a:solidFill>
                  <a:schemeClr val="dk1"/>
                </a:solidFill>
                <a:latin typeface="Verdana"/>
                <a:ea typeface="Verdana"/>
                <a:cs typeface="Verdana"/>
                <a:sym typeface="Verdana"/>
              </a:rPr>
              <a:t> – </a:t>
            </a:r>
            <a:r>
              <a:rPr lang="en-US" sz="1900" b="0" i="0" u="none" strike="noStrike" cap="none">
                <a:solidFill>
                  <a:schemeClr val="dk1"/>
                </a:solidFill>
                <a:latin typeface="Verdana"/>
                <a:ea typeface="Verdana"/>
                <a:cs typeface="Verdana"/>
                <a:sym typeface="Verdana"/>
              </a:rPr>
              <a:t>data that provides information about other data, useful to find information about file creation, access, and author.</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Verdana"/>
              <a:ea typeface="Verdana"/>
              <a:cs typeface="Verdana"/>
              <a:sym typeface="Verdana"/>
            </a:endParaRPr>
          </a:p>
          <a:p>
            <a:pPr marL="457200" marR="0" lvl="0" indent="-342900" algn="l" rtl="0">
              <a:lnSpc>
                <a:spcPct val="100000"/>
              </a:lnSpc>
              <a:spcBef>
                <a:spcPts val="0"/>
              </a:spcBef>
              <a:spcAft>
                <a:spcPts val="0"/>
              </a:spcAft>
              <a:buClr>
                <a:schemeClr val="dk1"/>
              </a:buClr>
              <a:buSzPts val="1800"/>
              <a:buFont typeface="Verdana"/>
              <a:buChar char="•"/>
            </a:pPr>
            <a:r>
              <a:rPr lang="en-US" sz="1900" b="0" i="1" u="none" strike="noStrike" cap="none">
                <a:solidFill>
                  <a:srgbClr val="376092"/>
                </a:solidFill>
                <a:latin typeface="Verdana"/>
                <a:ea typeface="Verdana"/>
                <a:cs typeface="Verdana"/>
                <a:sym typeface="Verdana"/>
              </a:rPr>
              <a:t>MAC</a:t>
            </a:r>
            <a:r>
              <a:rPr lang="en-US" sz="1900" b="0" i="1" u="none" strike="noStrike" cap="none">
                <a:solidFill>
                  <a:schemeClr val="dk1"/>
                </a:solidFill>
                <a:latin typeface="Verdana"/>
                <a:ea typeface="Verdana"/>
                <a:cs typeface="Verdana"/>
                <a:sym typeface="Verdana"/>
              </a:rPr>
              <a:t> – </a:t>
            </a:r>
            <a:r>
              <a:rPr lang="en-US" sz="1900" b="0" i="0" u="none" strike="noStrike" cap="none">
                <a:solidFill>
                  <a:schemeClr val="dk1"/>
                </a:solidFill>
                <a:latin typeface="Verdana"/>
                <a:ea typeface="Verdana"/>
                <a:cs typeface="Verdana"/>
                <a:sym typeface="Verdana"/>
              </a:rPr>
              <a:t>file metadata containing Modified, Access, and Creation dates and times.</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Verdana"/>
              <a:ea typeface="Verdana"/>
              <a:cs typeface="Verdana"/>
              <a:sym typeface="Verdana"/>
            </a:endParaRPr>
          </a:p>
          <a:p>
            <a:pPr marL="457200" marR="0" lvl="0" indent="-349250" algn="l" rtl="0">
              <a:lnSpc>
                <a:spcPct val="100000"/>
              </a:lnSpc>
              <a:spcBef>
                <a:spcPts val="0"/>
              </a:spcBef>
              <a:spcAft>
                <a:spcPts val="0"/>
              </a:spcAft>
              <a:buClr>
                <a:schemeClr val="dk1"/>
              </a:buClr>
              <a:buSzPts val="1900"/>
              <a:buFont typeface="Verdana"/>
              <a:buChar char="•"/>
            </a:pPr>
            <a:r>
              <a:rPr lang="en-US" sz="1900" b="0" i="1" u="none" strike="noStrike" cap="none">
                <a:solidFill>
                  <a:srgbClr val="376092"/>
                </a:solidFill>
                <a:latin typeface="Verdana"/>
                <a:ea typeface="Verdana"/>
                <a:cs typeface="Verdana"/>
                <a:sym typeface="Verdana"/>
              </a:rPr>
              <a:t>ExifTool</a:t>
            </a:r>
            <a:r>
              <a:rPr lang="en-US" sz="1900" b="0" i="1" u="none" strike="noStrike" cap="none">
                <a:solidFill>
                  <a:schemeClr val="dk1"/>
                </a:solidFill>
                <a:latin typeface="Verdana"/>
                <a:ea typeface="Verdana"/>
                <a:cs typeface="Verdana"/>
                <a:sym typeface="Verdana"/>
              </a:rPr>
              <a:t>– </a:t>
            </a:r>
            <a:r>
              <a:rPr lang="en-US" sz="1900" b="0" i="0" u="none" strike="noStrike" cap="none">
                <a:solidFill>
                  <a:schemeClr val="dk1"/>
                </a:solidFill>
                <a:latin typeface="Verdana"/>
                <a:ea typeface="Verdana"/>
                <a:cs typeface="Verdana"/>
                <a:sym typeface="Verdana"/>
              </a:rPr>
              <a:t>a command-line interface used for reading, writing, and editing metadata.</a:t>
            </a:r>
            <a:endParaRPr sz="1900" b="0" i="0" u="none" strike="noStrike" cap="none">
              <a:solidFill>
                <a:schemeClr val="dk1"/>
              </a:solidFill>
              <a:latin typeface="Verdana"/>
              <a:ea typeface="Verdana"/>
              <a:cs typeface="Verdana"/>
              <a:sym typeface="Verdana"/>
            </a:endParaRPr>
          </a:p>
          <a:p>
            <a:pPr marL="914400" marR="0" lvl="1" indent="-349250" algn="l" rtl="0">
              <a:lnSpc>
                <a:spcPct val="100000"/>
              </a:lnSpc>
              <a:spcBef>
                <a:spcPts val="1000"/>
              </a:spcBef>
              <a:spcAft>
                <a:spcPts val="0"/>
              </a:spcAft>
              <a:buClr>
                <a:schemeClr val="dk1"/>
              </a:buClr>
              <a:buSzPts val="1900"/>
              <a:buFont typeface="Verdana"/>
              <a:buChar char="❖"/>
            </a:pPr>
            <a:r>
              <a:rPr lang="en-US" sz="1900" b="0" i="0" u="none" strike="noStrike" cap="none">
                <a:solidFill>
                  <a:schemeClr val="dk1"/>
                </a:solidFill>
                <a:latin typeface="Verdana"/>
                <a:ea typeface="Verdana"/>
                <a:cs typeface="Verdana"/>
                <a:sym typeface="Verdana"/>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For our exercise, will only utilize the reading feature of Exiftool</a:t>
            </a:r>
            <a:endParaRPr sz="1900" b="0" i="0" u="none" strike="noStrike" cap="none">
              <a:solidFill>
                <a:schemeClr val="dk1"/>
              </a:solidFill>
              <a:latin typeface="Verdana"/>
              <a:ea typeface="Verdana"/>
              <a:cs typeface="Verdana"/>
              <a:sym typeface="Verdana"/>
            </a:endParaRPr>
          </a:p>
        </p:txBody>
      </p:sp>
      <p:sp>
        <p:nvSpPr>
          <p:cNvPr id="240" name="Google Shape;240;gde69dcc2ca_0_0"/>
          <p:cNvSpPr/>
          <p:nvPr/>
        </p:nvSpPr>
        <p:spPr>
          <a:xfrm>
            <a:off x="0" y="6237288"/>
            <a:ext cx="9144000" cy="328500"/>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D9D9D9"/>
              </a:solidFill>
              <a:latin typeface="Verdana"/>
              <a:ea typeface="Verdana"/>
              <a:cs typeface="Verdana"/>
              <a:sym typeface="Verdana"/>
            </a:endParaRPr>
          </a:p>
        </p:txBody>
      </p:sp>
      <p:sp>
        <p:nvSpPr>
          <p:cNvPr id="241" name="Google Shape;241;gde69dcc2ca_0_0"/>
          <p:cNvSpPr/>
          <p:nvPr/>
        </p:nvSpPr>
        <p:spPr>
          <a:xfrm>
            <a:off x="0" y="6296025"/>
            <a:ext cx="9144000" cy="328500"/>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1"/>
          <p:cNvSpPr txBox="1">
            <a:spLocks noGrp="1"/>
          </p:cNvSpPr>
          <p:nvPr>
            <p:ph type="title"/>
          </p:nvPr>
        </p:nvSpPr>
        <p:spPr>
          <a:xfrm>
            <a:off x="0" y="361950"/>
            <a:ext cx="9144000" cy="754063"/>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a:solidFill>
                  <a:srgbClr val="D8D8D8"/>
                </a:solidFill>
                <a:latin typeface="Verdana"/>
                <a:ea typeface="Verdana"/>
                <a:cs typeface="Verdana"/>
                <a:sym typeface="Verdana"/>
              </a:rPr>
              <a:t>Discussion Questions</a:t>
            </a:r>
            <a:endParaRPr/>
          </a:p>
        </p:txBody>
      </p:sp>
      <p:sp>
        <p:nvSpPr>
          <p:cNvPr id="274" name="Google Shape;274;p21"/>
          <p:cNvSpPr/>
          <p:nvPr/>
        </p:nvSpPr>
        <p:spPr>
          <a:xfrm>
            <a:off x="0" y="6237288"/>
            <a:ext cx="9144000" cy="32861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D9D9D9"/>
              </a:solidFill>
              <a:latin typeface="Verdana"/>
              <a:ea typeface="Verdana"/>
              <a:cs typeface="Verdana"/>
              <a:sym typeface="Verdana"/>
            </a:endParaRPr>
          </a:p>
        </p:txBody>
      </p:sp>
      <p:sp>
        <p:nvSpPr>
          <p:cNvPr id="275" name="Google Shape;275;p21"/>
          <p:cNvSpPr txBox="1"/>
          <p:nvPr/>
        </p:nvSpPr>
        <p:spPr>
          <a:xfrm>
            <a:off x="190500" y="1784350"/>
            <a:ext cx="8763000" cy="347787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2200"/>
              <a:buFont typeface="Verdana"/>
              <a:buChar char="•"/>
            </a:pPr>
            <a:r>
              <a:rPr lang="en-US" sz="2200" b="0" i="0" u="none" strike="noStrike" cap="none">
                <a:solidFill>
                  <a:schemeClr val="dk1"/>
                </a:solidFill>
                <a:latin typeface="Verdana"/>
                <a:ea typeface="Verdana"/>
                <a:cs typeface="Verdana"/>
                <a:sym typeface="Verdana"/>
              </a:rPr>
              <a:t>Is digital photo metadata useful as evidence? Is it viable/absolute? What would make it useful or not useful? </a:t>
            </a:r>
            <a:endParaRPr sz="1400" b="0" i="0" u="none" strike="noStrike" cap="none">
              <a:solidFill>
                <a:srgbClr val="000000"/>
              </a:solidFill>
              <a:latin typeface="Arial"/>
              <a:ea typeface="Arial"/>
              <a:cs typeface="Arial"/>
              <a:sym typeface="Arial"/>
            </a:endParaRPr>
          </a:p>
          <a:p>
            <a:pPr marL="342900" marR="0" lvl="0" indent="-20320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Verdana"/>
              <a:ea typeface="Verdana"/>
              <a:cs typeface="Verdana"/>
              <a:sym typeface="Verdana"/>
            </a:endParaRPr>
          </a:p>
          <a:p>
            <a:pPr marL="342900" marR="0" lvl="0" indent="-342900" algn="l" rtl="0">
              <a:lnSpc>
                <a:spcPct val="100000"/>
              </a:lnSpc>
              <a:spcBef>
                <a:spcPts val="0"/>
              </a:spcBef>
              <a:spcAft>
                <a:spcPts val="0"/>
              </a:spcAft>
              <a:buClr>
                <a:schemeClr val="dk1"/>
              </a:buClr>
              <a:buSzPts val="2200"/>
              <a:buFont typeface="Verdana"/>
              <a:buChar char="•"/>
            </a:pPr>
            <a:r>
              <a:rPr lang="en-US" sz="2200" b="0" i="0" u="none" strike="noStrike" cap="none">
                <a:solidFill>
                  <a:schemeClr val="dk1"/>
                </a:solidFill>
                <a:latin typeface="Verdana"/>
                <a:ea typeface="Verdana"/>
                <a:cs typeface="Verdana"/>
                <a:sym typeface="Verdana"/>
              </a:rPr>
              <a:t>Can the fields in the metadata be altered? Could we tell if the metadata in a photo had been altered?</a:t>
            </a:r>
            <a:endParaRPr sz="1400" b="0" i="0" u="none" strike="noStrike" cap="none">
              <a:solidFill>
                <a:srgbClr val="000000"/>
              </a:solidFill>
              <a:latin typeface="Arial"/>
              <a:ea typeface="Arial"/>
              <a:cs typeface="Arial"/>
              <a:sym typeface="Arial"/>
            </a:endParaRPr>
          </a:p>
          <a:p>
            <a:pPr marL="342900" marR="0" lvl="0" indent="-20320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Verdana"/>
              <a:ea typeface="Verdana"/>
              <a:cs typeface="Verdana"/>
              <a:sym typeface="Verdana"/>
            </a:endParaRPr>
          </a:p>
          <a:p>
            <a:pPr marL="342900" marR="0" lvl="0" indent="-342900" algn="l" rtl="0">
              <a:lnSpc>
                <a:spcPct val="100000"/>
              </a:lnSpc>
              <a:spcBef>
                <a:spcPts val="0"/>
              </a:spcBef>
              <a:spcAft>
                <a:spcPts val="0"/>
              </a:spcAft>
              <a:buClr>
                <a:schemeClr val="dk1"/>
              </a:buClr>
              <a:buSzPts val="2200"/>
              <a:buFont typeface="Verdana"/>
              <a:buChar char="•"/>
            </a:pPr>
            <a:r>
              <a:rPr lang="en-US" sz="2200" b="0" i="0" u="none" strike="noStrike" cap="none">
                <a:solidFill>
                  <a:schemeClr val="dk1"/>
                </a:solidFill>
                <a:latin typeface="Verdana"/>
                <a:ea typeface="Verdana"/>
                <a:cs typeface="Verdana"/>
                <a:sym typeface="Verdana"/>
              </a:rPr>
              <a:t>Are there privacy concerns? What are they?</a:t>
            </a:r>
            <a:endParaRPr sz="1400" b="0" i="0" u="none" strike="noStrike" cap="none">
              <a:solidFill>
                <a:srgbClr val="000000"/>
              </a:solidFill>
              <a:latin typeface="Arial"/>
              <a:ea typeface="Arial"/>
              <a:cs typeface="Arial"/>
              <a:sym typeface="Arial"/>
            </a:endParaRPr>
          </a:p>
          <a:p>
            <a:pPr marL="342900" marR="0" lvl="0" indent="-20320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Verdana"/>
              <a:ea typeface="Verdana"/>
              <a:cs typeface="Verdana"/>
              <a:sym typeface="Verdana"/>
            </a:endParaRPr>
          </a:p>
          <a:p>
            <a:pPr marL="342900" marR="0" lvl="0" indent="-342900" algn="l" rtl="0">
              <a:lnSpc>
                <a:spcPct val="100000"/>
              </a:lnSpc>
              <a:spcBef>
                <a:spcPts val="0"/>
              </a:spcBef>
              <a:spcAft>
                <a:spcPts val="0"/>
              </a:spcAft>
              <a:buClr>
                <a:schemeClr val="dk1"/>
              </a:buClr>
              <a:buSzPts val="2200"/>
              <a:buFont typeface="Verdana"/>
              <a:buChar char="•"/>
            </a:pPr>
            <a:r>
              <a:rPr lang="en-US" sz="2200" b="0" i="0" u="none" strike="noStrike" cap="none">
                <a:solidFill>
                  <a:schemeClr val="dk1"/>
                </a:solidFill>
                <a:latin typeface="Verdana"/>
                <a:ea typeface="Verdana"/>
                <a:cs typeface="Verdana"/>
                <a:sym typeface="Verdana"/>
              </a:rPr>
              <a:t>What should be communicated to students about photo metadata? How can this be applied to the classroom?</a:t>
            </a:r>
            <a:endParaRPr sz="1400" b="0" i="0" u="none" strike="noStrike" cap="none">
              <a:solidFill>
                <a:srgbClr val="000000"/>
              </a:solidFill>
              <a:latin typeface="Arial"/>
              <a:ea typeface="Arial"/>
              <a:cs typeface="Arial"/>
              <a:sym typeface="Arial"/>
            </a:endParaRPr>
          </a:p>
        </p:txBody>
      </p:sp>
      <p:sp>
        <p:nvSpPr>
          <p:cNvPr id="276" name="Google Shape;276;p21"/>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1"/>
          <p:cNvSpPr txBox="1">
            <a:spLocks noGrp="1"/>
          </p:cNvSpPr>
          <p:nvPr>
            <p:ph type="title"/>
          </p:nvPr>
        </p:nvSpPr>
        <p:spPr>
          <a:xfrm>
            <a:off x="0" y="361950"/>
            <a:ext cx="9144000" cy="754063"/>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dirty="0">
                <a:solidFill>
                  <a:srgbClr val="D8D8D8"/>
                </a:solidFill>
                <a:latin typeface="Verdana"/>
                <a:ea typeface="Verdana"/>
                <a:cs typeface="Verdana"/>
                <a:sym typeface="Verdana"/>
              </a:rPr>
              <a:t>References</a:t>
            </a:r>
            <a:endParaRPr dirty="0"/>
          </a:p>
        </p:txBody>
      </p:sp>
      <p:sp>
        <p:nvSpPr>
          <p:cNvPr id="274" name="Google Shape;274;p21"/>
          <p:cNvSpPr/>
          <p:nvPr/>
        </p:nvSpPr>
        <p:spPr>
          <a:xfrm>
            <a:off x="0" y="6237288"/>
            <a:ext cx="9144000" cy="32861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D9D9D9"/>
              </a:solidFill>
              <a:latin typeface="Verdana"/>
              <a:ea typeface="Verdana"/>
              <a:cs typeface="Verdana"/>
              <a:sym typeface="Verdana"/>
            </a:endParaRPr>
          </a:p>
        </p:txBody>
      </p:sp>
      <p:sp>
        <p:nvSpPr>
          <p:cNvPr id="276" name="Google Shape;276;p21"/>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
        <p:nvSpPr>
          <p:cNvPr id="3" name="Google Shape;293;p23">
            <a:extLst>
              <a:ext uri="{FF2B5EF4-FFF2-40B4-BE49-F238E27FC236}">
                <a16:creationId xmlns:a16="http://schemas.microsoft.com/office/drawing/2014/main" id="{FD2E38F5-C2D0-EA9A-864A-C3025A8C068E}"/>
              </a:ext>
            </a:extLst>
          </p:cNvPr>
          <p:cNvSpPr txBox="1"/>
          <p:nvPr/>
        </p:nvSpPr>
        <p:spPr>
          <a:xfrm>
            <a:off x="240848" y="1368589"/>
            <a:ext cx="8659567" cy="47397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Verdana"/>
                <a:ea typeface="Verdana"/>
                <a:cs typeface="Verdana"/>
                <a:sym typeface="Verdana"/>
              </a:rPr>
              <a:t>[1] NIJ - Forensic Examination of Digital Evidence: A Guide for Law Enforcement,</a:t>
            </a:r>
            <a:r>
              <a:rPr lang="en-US" sz="1800" b="1" i="0" u="none" strike="noStrike" cap="none" dirty="0">
                <a:solidFill>
                  <a:schemeClr val="dk1"/>
                </a:solidFill>
                <a:latin typeface="Verdana"/>
                <a:ea typeface="Verdana"/>
                <a:cs typeface="Verdana"/>
                <a:sym typeface="Verdana"/>
              </a:rPr>
              <a:t> </a:t>
            </a:r>
            <a:r>
              <a:rPr lang="en-US" sz="1800" b="0" i="0" u="sng" strike="noStrike" cap="none" dirty="0">
                <a:solidFill>
                  <a:schemeClr val="dk1"/>
                </a:solidFill>
                <a:latin typeface="Verdana"/>
                <a:ea typeface="Verdana"/>
                <a:cs typeface="Verdana"/>
                <a:sym typeface="Verdana"/>
                <a:hlinkClick r:id="rId3">
                  <a:extLst>
                    <a:ext uri="{A12FA001-AC4F-418D-AE19-62706E023703}">
                      <ahyp:hlinkClr xmlns:ahyp="http://schemas.microsoft.com/office/drawing/2018/hyperlinkcolor" val="tx"/>
                    </a:ext>
                  </a:extLst>
                </a:hlinkClick>
              </a:rPr>
              <a:t>https://www.ncjrs.gov/pdffiles1/nij/199408.pdf</a:t>
            </a:r>
            <a:endParaRPr sz="18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Verdana"/>
                <a:ea typeface="Verdana"/>
                <a:cs typeface="Verdana"/>
                <a:sym typeface="Verdana"/>
              </a:rPr>
              <a:t>[2] NIST – Guide to Integrating Forensic Techniques into Incident Response, </a:t>
            </a:r>
            <a:r>
              <a:rPr lang="en-US" sz="1800" b="0" i="0" u="sng" strike="noStrike" cap="none" dirty="0">
                <a:solidFill>
                  <a:schemeClr val="dk1"/>
                </a:solidFill>
                <a:latin typeface="Verdana"/>
                <a:ea typeface="Verdana"/>
                <a:cs typeface="Verdana"/>
                <a:sym typeface="Verdana"/>
                <a:hlinkClick r:id="rId4">
                  <a:extLst>
                    <a:ext uri="{A12FA001-AC4F-418D-AE19-62706E023703}">
                      <ahyp:hlinkClr xmlns:ahyp="http://schemas.microsoft.com/office/drawing/2018/hyperlinkcolor" val="tx"/>
                    </a:ext>
                  </a:extLst>
                </a:hlinkClick>
              </a:rPr>
              <a:t>http://csrc.nist.gov/publications/nistpubs/800-86/SP800-86.pdf</a:t>
            </a:r>
            <a:endParaRPr sz="18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Verdana"/>
                <a:ea typeface="Verdana"/>
                <a:cs typeface="Verdana"/>
                <a:sym typeface="Verdana"/>
              </a:rPr>
              <a:t>[3] NIST – Computer Forensics Tool Testing Handbook, </a:t>
            </a:r>
            <a:r>
              <a:rPr lang="en-US" sz="1800" b="0" i="0" u="sng" strike="noStrike" cap="none" dirty="0">
                <a:solidFill>
                  <a:schemeClr val="dk1"/>
                </a:solidFill>
                <a:latin typeface="Verdana"/>
                <a:ea typeface="Verdana"/>
                <a:cs typeface="Verdana"/>
                <a:sym typeface="Verdana"/>
                <a:hlinkClick r:id="rId5">
                  <a:extLst>
                    <a:ext uri="{A12FA001-AC4F-418D-AE19-62706E023703}">
                      <ahyp:hlinkClr xmlns:ahyp="http://schemas.microsoft.com/office/drawing/2018/hyperlinkcolor" val="tx"/>
                    </a:ext>
                  </a:extLst>
                </a:hlinkClick>
              </a:rPr>
              <a:t>http://www.cftt.nist.gov/CFTT-Booklet-08112015.pdf</a:t>
            </a:r>
            <a:endParaRPr sz="18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Verdana"/>
                <a:ea typeface="Verdana"/>
                <a:cs typeface="Verdana"/>
                <a:sym typeface="Verdana"/>
              </a:rPr>
              <a:t>[4] </a:t>
            </a:r>
            <a:r>
              <a:rPr lang="en-US" sz="1800" b="0" i="0" u="none" strike="noStrike" cap="none" dirty="0" err="1">
                <a:solidFill>
                  <a:schemeClr val="dk1"/>
                </a:solidFill>
                <a:latin typeface="Verdana"/>
                <a:ea typeface="Verdana"/>
                <a:cs typeface="Verdana"/>
                <a:sym typeface="Verdana"/>
              </a:rPr>
              <a:t>Belakasoft</a:t>
            </a:r>
            <a:r>
              <a:rPr lang="en-US" sz="1800" b="0" i="0" u="none" strike="noStrike" cap="none" dirty="0">
                <a:solidFill>
                  <a:schemeClr val="dk1"/>
                </a:solidFill>
                <a:latin typeface="Verdana"/>
                <a:ea typeface="Verdana"/>
                <a:cs typeface="Verdana"/>
                <a:sym typeface="Verdana"/>
              </a:rPr>
              <a:t> Research - Whitepaper, Retrieving Digital Evidence: Methods, Techniques and Issues, 2012, Yuri </a:t>
            </a:r>
            <a:r>
              <a:rPr lang="en-US" sz="1800" b="0" i="0" u="none" strike="noStrike" cap="none" dirty="0" err="1">
                <a:solidFill>
                  <a:schemeClr val="dk1"/>
                </a:solidFill>
                <a:latin typeface="Verdana"/>
                <a:ea typeface="Verdana"/>
                <a:cs typeface="Verdana"/>
                <a:sym typeface="Verdana"/>
              </a:rPr>
              <a:t>Gubanov</a:t>
            </a:r>
            <a:r>
              <a:rPr lang="en-US" sz="1800" b="0" i="0" u="none" strike="noStrike" cap="none" dirty="0">
                <a:solidFill>
                  <a:schemeClr val="dk1"/>
                </a:solidFill>
                <a:latin typeface="Verdana"/>
                <a:ea typeface="Verdana"/>
                <a:cs typeface="Verdana"/>
                <a:sym typeface="Verdana"/>
              </a:rPr>
              <a:t> </a:t>
            </a:r>
            <a:r>
              <a:rPr lang="en-US" sz="1800" b="0" i="0" u="sng" strike="noStrike" cap="none" dirty="0">
                <a:solidFill>
                  <a:schemeClr val="dk1"/>
                </a:solidFill>
                <a:latin typeface="Verdana"/>
                <a:ea typeface="Verdana"/>
                <a:cs typeface="Verdana"/>
                <a:sym typeface="Verdana"/>
                <a:hlinkClick r:id="rId6">
                  <a:extLst>
                    <a:ext uri="{A12FA001-AC4F-418D-AE19-62706E023703}">
                      <ahyp:hlinkClr xmlns:ahyp="http://schemas.microsoft.com/office/drawing/2018/hyperlinkcolor" val="tx"/>
                    </a:ext>
                  </a:extLst>
                </a:hlinkClick>
              </a:rPr>
              <a:t>https://belkasoft.com/retrieving-digital-evidence-methods-techniques-and-issues</a:t>
            </a:r>
            <a:endParaRPr sz="18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Verdana"/>
                <a:ea typeface="Verdana"/>
                <a:cs typeface="Verdana"/>
                <a:sym typeface="Verdana"/>
              </a:rPr>
              <a:t>[5] Computer and Information Security Handbook, 2</a:t>
            </a:r>
            <a:r>
              <a:rPr lang="en-US" sz="1800" b="0" i="0" u="none" strike="noStrike" cap="none" baseline="30000" dirty="0">
                <a:solidFill>
                  <a:schemeClr val="dk1"/>
                </a:solidFill>
                <a:latin typeface="Verdana"/>
                <a:ea typeface="Verdana"/>
                <a:cs typeface="Verdana"/>
                <a:sym typeface="Verdana"/>
              </a:rPr>
              <a:t>nd</a:t>
            </a:r>
            <a:r>
              <a:rPr lang="en-US" sz="1800" b="0" i="0" u="none" strike="noStrike" cap="none" dirty="0">
                <a:solidFill>
                  <a:schemeClr val="dk1"/>
                </a:solidFill>
                <a:latin typeface="Verdana"/>
                <a:ea typeface="Verdana"/>
                <a:cs typeface="Verdana"/>
                <a:sym typeface="Verdana"/>
              </a:rPr>
              <a:t> Edition, 2013, John Vacca, Editor. Part III – Cyber, Network and Systems Forensics Security and Assurance</a:t>
            </a:r>
            <a:r>
              <a:rPr lang="en-US" sz="2000" b="0" i="0" u="none" strike="noStrike" cap="none" dirty="0">
                <a:solidFill>
                  <a:schemeClr val="dk1"/>
                </a:solidFill>
                <a:latin typeface="Verdana"/>
                <a:ea typeface="Verdana"/>
                <a:cs typeface="Verdana"/>
                <a:sym typeface="Verdana"/>
              </a:rPr>
              <a:t>.</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97310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1"/>
          <p:cNvSpPr txBox="1">
            <a:spLocks noGrp="1"/>
          </p:cNvSpPr>
          <p:nvPr>
            <p:ph type="title"/>
          </p:nvPr>
        </p:nvSpPr>
        <p:spPr>
          <a:xfrm>
            <a:off x="0" y="361950"/>
            <a:ext cx="9144000" cy="754063"/>
          </a:xfrm>
          <a:prstGeom prst="rect">
            <a:avLst/>
          </a:prstGeom>
          <a:solidFill>
            <a:srgbClr val="002E62"/>
          </a:solidFill>
          <a:ln>
            <a:noFill/>
          </a:ln>
          <a:effectLst>
            <a:outerShdw blurRad="50800" dist="38100" dir="2700000" algn="tl" rotWithShape="0">
              <a:srgbClr val="000000">
                <a:alpha val="42352"/>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D8D8D8"/>
              </a:buClr>
              <a:buSzPts val="3600"/>
              <a:buFont typeface="Verdana"/>
              <a:buNone/>
            </a:pPr>
            <a:r>
              <a:rPr lang="en-US" sz="3600" dirty="0">
                <a:solidFill>
                  <a:srgbClr val="D8D8D8"/>
                </a:solidFill>
                <a:latin typeface="Verdana"/>
                <a:ea typeface="Verdana"/>
                <a:cs typeface="Verdana"/>
                <a:sym typeface="Verdana"/>
              </a:rPr>
              <a:t>Acknowledgements</a:t>
            </a:r>
            <a:endParaRPr lang="en-US" dirty="0"/>
          </a:p>
        </p:txBody>
      </p:sp>
      <p:sp>
        <p:nvSpPr>
          <p:cNvPr id="274" name="Google Shape;274;p21"/>
          <p:cNvSpPr/>
          <p:nvPr/>
        </p:nvSpPr>
        <p:spPr>
          <a:xfrm>
            <a:off x="0" y="6237288"/>
            <a:ext cx="9144000" cy="328612"/>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D9D9D9"/>
              </a:solidFill>
              <a:latin typeface="Verdana"/>
              <a:ea typeface="Verdana"/>
              <a:cs typeface="Verdana"/>
              <a:sym typeface="Verdana"/>
            </a:endParaRPr>
          </a:p>
        </p:txBody>
      </p:sp>
      <p:sp>
        <p:nvSpPr>
          <p:cNvPr id="276" name="Google Shape;276;p21"/>
          <p:cNvSpPr/>
          <p:nvPr/>
        </p:nvSpPr>
        <p:spPr>
          <a:xfrm>
            <a:off x="0" y="6296025"/>
            <a:ext cx="9144000" cy="328613"/>
          </a:xfrm>
          <a:prstGeom prst="rect">
            <a:avLst/>
          </a:prstGeom>
          <a:solidFill>
            <a:srgbClr val="002E62"/>
          </a:solidFill>
          <a:ln w="9525" cap="flat" cmpd="sng">
            <a:solidFill>
              <a:srgbClr val="002E62"/>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B3B3B3"/>
                </a:solidFill>
                <a:latin typeface="Calibri"/>
                <a:ea typeface="Calibri"/>
                <a:cs typeface="Calibri"/>
                <a:sym typeface="Calibri"/>
              </a:rPr>
              <a:t>CS 151.1001 – Fall 2025</a:t>
            </a:r>
          </a:p>
        </p:txBody>
      </p:sp>
      <p:sp>
        <p:nvSpPr>
          <p:cNvPr id="2" name="Google Shape;301;p24">
            <a:extLst>
              <a:ext uri="{FF2B5EF4-FFF2-40B4-BE49-F238E27FC236}">
                <a16:creationId xmlns:a16="http://schemas.microsoft.com/office/drawing/2014/main" id="{14B2C6A0-9AB1-0727-4483-52B339DE9A15}"/>
              </a:ext>
            </a:extLst>
          </p:cNvPr>
          <p:cNvSpPr txBox="1"/>
          <p:nvPr/>
        </p:nvSpPr>
        <p:spPr>
          <a:xfrm>
            <a:off x="298834" y="1368589"/>
            <a:ext cx="8501970" cy="70788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This material is based upon work supported by the National Science Foundation under Grant No. 1855159.</a:t>
            </a:r>
            <a:endParaRPr sz="1400" b="0" i="0" u="none" strike="noStrike" cap="none" dirty="0">
              <a:solidFill>
                <a:srgbClr val="000000"/>
              </a:solidFill>
              <a:latin typeface="Arial"/>
              <a:ea typeface="Arial"/>
              <a:cs typeface="Arial"/>
              <a:sym typeface="Arial"/>
            </a:endParaRPr>
          </a:p>
        </p:txBody>
      </p:sp>
      <p:sp>
        <p:nvSpPr>
          <p:cNvPr id="5" name="Google Shape;303;p24">
            <a:extLst>
              <a:ext uri="{FF2B5EF4-FFF2-40B4-BE49-F238E27FC236}">
                <a16:creationId xmlns:a16="http://schemas.microsoft.com/office/drawing/2014/main" id="{7832FBCF-2139-FEB6-FA25-C0A85AF2D457}"/>
              </a:ext>
            </a:extLst>
          </p:cNvPr>
          <p:cNvSpPr txBox="1"/>
          <p:nvPr/>
        </p:nvSpPr>
        <p:spPr>
          <a:xfrm>
            <a:off x="451234" y="4616281"/>
            <a:ext cx="8501970" cy="70788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Verdana"/>
                <a:ea typeface="Verdana"/>
                <a:cs typeface="Verdana"/>
                <a:sym typeface="Verdana"/>
              </a:rPr>
              <a:t>File carving images based on those provided by Mr. Todd Shipley, CFE, CFCE President &amp; CEO Vere Software.</a:t>
            </a:r>
            <a:endParaRPr sz="1400" b="0" i="0" u="none" strike="noStrike" cap="none" dirty="0">
              <a:solidFill>
                <a:srgbClr val="000000"/>
              </a:solidFill>
              <a:latin typeface="Arial"/>
              <a:ea typeface="Arial"/>
              <a:cs typeface="Arial"/>
              <a:sym typeface="Arial"/>
            </a:endParaRPr>
          </a:p>
        </p:txBody>
      </p:sp>
      <p:pic>
        <p:nvPicPr>
          <p:cNvPr id="1026" name="Picture 2">
            <a:extLst>
              <a:ext uri="{FF2B5EF4-FFF2-40B4-BE49-F238E27FC236}">
                <a16:creationId xmlns:a16="http://schemas.microsoft.com/office/drawing/2014/main" id="{369DF008-1EEA-9FBC-A6DF-91286BD36E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1932" y="2029134"/>
            <a:ext cx="2355773" cy="2367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3982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TotalTime>
  <Words>3424</Words>
  <Application>Microsoft Office PowerPoint</Application>
  <PresentationFormat>On-screen Show (4:3)</PresentationFormat>
  <Paragraphs>434</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Noto Sans Symbols</vt:lpstr>
      <vt:lpstr>Verdana</vt:lpstr>
      <vt:lpstr>Office Theme</vt:lpstr>
      <vt:lpstr>Introduction to Digital Forensics</vt:lpstr>
      <vt:lpstr>Digital Forensics</vt:lpstr>
      <vt:lpstr>Digital Forensics</vt:lpstr>
      <vt:lpstr>Forensic Procedures</vt:lpstr>
      <vt:lpstr>Forensic Procedures</vt:lpstr>
      <vt:lpstr>Forensic Procedures</vt:lpstr>
      <vt:lpstr>Forensic Procedures</vt:lpstr>
      <vt:lpstr>Forensic Procedures</vt:lpstr>
      <vt:lpstr>Forensic Images</vt:lpstr>
      <vt:lpstr>Forensic Procedures</vt:lpstr>
      <vt:lpstr>Forensic Tools</vt:lpstr>
      <vt:lpstr>Forensic Tools</vt:lpstr>
      <vt:lpstr>Forensic Procedures</vt:lpstr>
      <vt:lpstr>Forensic Artifacts</vt:lpstr>
      <vt:lpstr>Registry</vt:lpstr>
      <vt:lpstr>Event Logs</vt:lpstr>
      <vt:lpstr>Hex Editor</vt:lpstr>
      <vt:lpstr>File Carving</vt:lpstr>
      <vt:lpstr>Forensic Procedures</vt:lpstr>
      <vt:lpstr>What are Metadata and ExifTool?</vt:lpstr>
      <vt:lpstr>Discussion Questions</vt:lpstr>
      <vt:lpstr>References</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Nancy LaTourrette</dc:creator>
  <cp:lastModifiedBy>stephanie du</cp:lastModifiedBy>
  <cp:revision>57</cp:revision>
  <dcterms:created xsi:type="dcterms:W3CDTF">2016-02-28T22:40:58Z</dcterms:created>
  <dcterms:modified xsi:type="dcterms:W3CDTF">2025-09-23T05:49:32Z</dcterms:modified>
</cp:coreProperties>
</file>