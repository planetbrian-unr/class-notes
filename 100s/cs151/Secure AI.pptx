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83" r:id="rId3"/>
    <p:sldId id="384" r:id="rId4"/>
    <p:sldId id="389" r:id="rId5"/>
    <p:sldId id="257" r:id="rId6"/>
    <p:sldId id="268" r:id="rId7"/>
    <p:sldId id="269" r:id="rId8"/>
    <p:sldId id="276" r:id="rId9"/>
    <p:sldId id="277" r:id="rId10"/>
    <p:sldId id="278" r:id="rId11"/>
    <p:sldId id="279" r:id="rId12"/>
    <p:sldId id="379" r:id="rId13"/>
    <p:sldId id="271" r:id="rId14"/>
    <p:sldId id="272" r:id="rId15"/>
    <p:sldId id="273" r:id="rId16"/>
    <p:sldId id="274" r:id="rId17"/>
    <p:sldId id="381" r:id="rId18"/>
    <p:sldId id="387" r:id="rId19"/>
    <p:sldId id="380" r:id="rId20"/>
    <p:sldId id="388" r:id="rId21"/>
    <p:sldId id="382" r:id="rId22"/>
    <p:sldId id="385" r:id="rId23"/>
    <p:sldId id="386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88769A-4DB9-514D-818A-E71A8CC2D4DA}" v="232" dt="2025-11-04T07:05:20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/>
    <p:restoredTop sz="92891"/>
  </p:normalViewPr>
  <p:slideViewPr>
    <p:cSldViewPr snapToGrid="0">
      <p:cViewPr varScale="1">
        <p:scale>
          <a:sx n="102" d="100"/>
          <a:sy n="102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5:30:49.80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2760 49 16383,'-24'0'0,"-1"0"0,-1 0 0,-1 0 0,2 0 0,1 0 0,-3 0 0,-1 0 0,-2 0 0,-1 0 0,0 0 0,0 0 0,5 0 0,0 0 0,-3 0 0,0 0 0,7 0 0,0 0 0,-5 2 0,-1 0 0,6-2 0,0 1 0,-2 0 0,1 1 0,-10-2 0,-4 0 0,9 0 0,2 0 0,3 0 0,0 0 0,4 0 0,1 0 0,5 0 0,-1 0 0,5 0 0,-6 0 0,6 0 0,-2 0 0,-2 0 0,4 0 0,-6 0 0,5-2 0,-1 2 0,-2-2 0,4 2 0,-3 0 0,3-2 0,-3 2 0,-2-2 0,0 0 0,1 1 0,2-3 0,2 4 0,-6-5 0,6 3 0,-5-1 0,2-1 0,0 3 0,-3-3 0,3 1 0,0 0 0,-2-1 0,5 3 0,-6-1 0,3 0 0,-3 1 0,0-1 0,0 2 0,0-2 0,0 1 0,0-1 0,0 2 0,-3 0 0,2 0 0,-3 0 0,4 0 0,0 0 0,0 0 0,1 0 0,-1 0 0,0 0 0,0 0 0,3 0 0,-3 0 0,3 0 0,-3 0 0,0 0 0,0 0 0,0 0 0,0 0 0,0 0 0,-4 0 0,4 0 0,-4 0 0,1 0 0,2 0 0,-6 0 0,3 0 0,-4 0 0,4 0 0,-3 0 0,3 0 0,-1 0 0,-2 0 0,3 0 0,0 0 0,-3 0 0,6 0 0,-6 0 0,6 0 0,-6 0 0,6 0 0,-6 0 0,6 0 0,-6 0 0,3 0 0,0 0 0,-3 0 0,6 0 0,-2 0 0,-1 0 0,3 0 0,-2 0 0,6 0 0,-2 0 0,1 0 0,-2 0 0,3 0 0,-2 0 0,5 0 0,-5 0 0,1 0 0,1 0 0,-2 0 0,2 0 0,-7 0 0,3 0 0,-5 0 0,1 0 0,-3 0 0,-3 0 0,5 0 0,-5 0 0,10 0 0,-6 0 0,6 0 0,1 0 0,1 0 0,2 0 0,-1 0 0,2 0 0,3 0 0,-3 0 0,-1 0 0,3 0 0,-5 0 0,6 0 0,-1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5:30:59.18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16383,'21'0'0,"0"0"0,6 0 0,7 0 0,-12 0 0,14 0 0,-3 0 0,-13 0 0,1 0 0,3 0 0,1 0 0,1 2 0,-1-1 0,5 2 0,1-1 0,-3 0 0,-1 0 0,-5 1 0,0 0 0,2 0 0,-1-2 0,15 3 0,-17-1 0,1 0 0,-1-2 0,0-1 0,-2 3 0,0 0 0,18-2 0,-9 1 0,3 2 0,-3-4 0,-1 3 0,4-3 0,-3 0 0,4 0 0,-1 0 0,1 0 0,0 0 0,0 0 0,0 0 0,-4 0 0,-1 0 0,-4 0 0,0 0 0,-1 0 0,1 0 0,0 0 0,0 0 0,-1 0 0,1 0 0,-4 0 0,3 0 0,-2 0 0,3 0 0,-1 0 0,1 0 0,0 0 0,4 0 0,-3 0 0,2 0 0,-3 0 0,0 0 0,0 0 0,-4 0 0,3 0 0,-6 0 0,6 0 0,-6 0 0,6 3 0,-6-3 0,2 3 0,1-1 0,-4-1 0,7 4 0,-3-4 0,4 4 0,0-5 0,-1 3 0,1-3 0,0 2 0,0-1 0,-1 2 0,1-3 0,0 0 0,-4 2 0,3-2 0,-2 3 0,-1-3 0,2 0 0,-4 0 0,1 0 0,-3 0 0,0 0 0,0 0 0,0 0 0,-3 0 0,2 0 0,-2 0 0,1 0 0,1 0 0,-5 0 0,5 0 0,-2 0 0,0 0 0,3 0 0,-3 0 0,0 0 0,2 0 0,-4 0 0,8 0 0,-8 0 0,5 0 0,-6 0 0,0 0 0,3 0 0,-2 0 0,2 0 0,-2 0 0,1 0 0,-1 0 0,2 0 0,-2 0 0,1 0 0,-1 0 0,-1 0 0,0 0 0,2 0 0,-1 0 0,-1 0 0,3 0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5:33:02.93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16383,'20'0'0,"0"0"0,3 0 0,0 0 0,6 0 0,4 0 0,3 0 0,-1 3 0,-14-1 0,1 0 0,-3 0 0,0 0 0,2 2 0,0-1 0,-1-1 0,-1 0 0,0 0 0,0 0 0,18 4 0,-4-2 0,-5-1 0,4 0 0,-8-3 0,3 0 0,0 0 0,-3 0 0,4 0 0,-9 0 0,4 0 0,-7 0 0,2 0 0,-2 0 0,-1 0 0,3 0 0,-2 0 0,3 0 0,-4 0 0,4 0 0,-3 0 0,6 0 0,-5 0 0,5 0 0,-6 0 0,3 2 0,-1-1 0,-2 1 0,3-2 0,-4 0 0,0 0 0,0 0 0,1 0 0,2 0 0,-2 0 0,3 0 0,-4 0 0,4 0 0,-4 0 0,4 0 0,0 0 0,-3 0 0,6 0 0,-6 0 0,6 0 0,-2 0 0,3 0 0,-4 0 0,4 0 0,-4 0 0,1 0 0,2 0 0,-6 0 0,2-2 0,-2 1 0,-1-1 0,0 2 0,-3 0 0,3 0 0,-6 0 0,6 0 0,-3 0 0,0 0 0,3 0 0,-3 0 0,3 0 0,-2 0 0,1 0 0,-2 0 0,4 0 0,-4 0 0,2 0 0,-1 0 0,2 0 0,-3 0 0,3 0 0,-3 0 0,3 0 0,0 0 0,1-2 0,-1 1 0,0-1 0,0 0 0,4 1 0,-3-1 0,3 2 0,-4-3 0,0 3 0,0-5 0,1 5 0,-1-2 0,0 0 0,0 1 0,0-1 0,1 0 0,-1 1 0,-3-2 0,2 3 0,-1 0 0,2 0 0,0 0 0,-3-1 0,3 0 0,-5-1 0,4 2 0,-5 0 0,6 0 0,-6 0 0,3 0 0,-1 0 0,-1 0 0,1 0 0,-2 0 0,4 0 0,-4 0 0,4 0 0,-4 0 0,0 0 0,3 0 0,1 0 0,0 0 0,-2 0 0,1 0 0,-3 0 0,6 0 0,-3 0 0,1 0 0,1 0 0,-1 0 0,2 0 0,0 0 0,0 0 0,4 0 0,-3 0 0,2 0 0,-2 0 0,-4 0 0,2 0 0,-1 0 0,-1 0 0,0 0 0,-1 0 0,-1 0 0,1 0 0,-2 0 0,4 0 0,-4 0 0,4 0 0,-5 0 0,3 0 0,-2 2 0,3-1 0,-3 0 0,3 1 0,-3-1 0,1 2 0,3-2 0,-3 1 0,2-1 0,-3 0 0,0 1 0,2-2 0,-1 0 0,1 0 0,-2 0 0,3 0 0,-3 0 0,3 0 0,-4 0 0,5 0 0,-3 0 0,2 2 0,-3-2 0,0 2 0,3-2 0,-2 0 0,0 0 0,5 0 0,-9 0 0,12 0 0,-10 0 0,5 0 0,-2 0 0,-1 0 0,2 0 0,-4 0 0,3 0 0,-1 0 0,-1 0 0,3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1B7CB-FFFE-4941-A5D4-B3C99725D24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47DFF-B1C3-944A-9CE4-9CD65055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95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nologyreview.com/2019/12/11/131629/apple-ai-personalizes-siri-federated-learnin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53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7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04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33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“AI is no longer limited to labs — it’s in our daily lives. From chatbots like </a:t>
            </a:r>
            <a:r>
              <a:rPr lang="en-US" dirty="0" err="1"/>
              <a:t>ChatGPT</a:t>
            </a:r>
            <a:r>
              <a:rPr lang="en-US" dirty="0"/>
              <a:t> that understand language, to vision models that generate images, to autonomous vehicles and scientific breakthroughs like </a:t>
            </a:r>
            <a:r>
              <a:rPr lang="en-US" dirty="0" err="1"/>
              <a:t>AlphaFold</a:t>
            </a:r>
            <a:r>
              <a:rPr lang="en-US" dirty="0"/>
              <a:t>. But this leads to a fundamental question: </a:t>
            </a:r>
            <a:r>
              <a:rPr lang="en-US" i="1" dirty="0"/>
              <a:t>How do we actually build such powerful models?</a:t>
            </a:r>
            <a:r>
              <a:rPr lang="en-US" dirty="0"/>
              <a:t> — which brings us to Machine Learning.”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77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It (ML) allows models to learn patterns from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Traditional ML requires </a:t>
            </a:r>
            <a:r>
              <a:rPr lang="en-US" b="1" dirty="0"/>
              <a:t>manual feature engineering</a:t>
            </a:r>
            <a:r>
              <a:rPr lang="en-US" dirty="0"/>
              <a:t> — humans decide what features to use.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57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build powerful deep models, we need vast amounts of data.</a:t>
            </a:r>
            <a:br>
              <a:rPr lang="en-US" dirty="0"/>
            </a:br>
            <a:r>
              <a:rPr lang="en-US" dirty="0"/>
              <a:t>But in many domains, data cannot be shared due to privacy regulations or proprietary restrictions.</a:t>
            </a:r>
            <a:br>
              <a:rPr lang="en-US" dirty="0"/>
            </a:br>
            <a:r>
              <a:rPr lang="en-US" dirty="0"/>
              <a:t>This challenge motivates a new paradigm — </a:t>
            </a:r>
            <a:r>
              <a:rPr lang="en-US" b="1" dirty="0"/>
              <a:t>Federated Learning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58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build powerful deep models, we need vast amounts of data.</a:t>
            </a:r>
            <a:br>
              <a:rPr lang="en-US" dirty="0"/>
            </a:br>
            <a:r>
              <a:rPr lang="en-US" dirty="0"/>
              <a:t>But in many domains, data cannot be shared due to privacy regulations or proprietary restrictions.</a:t>
            </a:r>
            <a:br>
              <a:rPr lang="en-US" dirty="0"/>
            </a:br>
            <a:r>
              <a:rPr lang="en-US" dirty="0"/>
              <a:t>This challenge motivates a new paradigm — </a:t>
            </a:r>
            <a:r>
              <a:rPr lang="en-US" b="1" dirty="0"/>
              <a:t>Federated Learning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64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31750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Actually, there are many real-world applications of federated learning that are deployed cross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devices. </a:t>
            </a:r>
          </a:p>
          <a:p>
            <a:pPr marL="457200" indent="-317500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indent="-31750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For example, google, implemented, google assistant, improve hey google</a:t>
            </a:r>
          </a:p>
          <a:p>
            <a:pPr marL="457200" indent="-317500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indent="-31750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Also 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gboard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next-word-generation, when typing</a:t>
            </a:r>
          </a:p>
          <a:p>
            <a:pPr marL="457200" indent="-317500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indent="-317500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Besides, Apple also use FL protect the privacy of users when using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siri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  <a:hlinkClick r:id="rId3"/>
            </a:endParaRPr>
          </a:p>
          <a:p>
            <a:pPr marL="139700" indent="0">
              <a:buNone/>
            </a:pPr>
            <a:endParaRPr lang="en-US" dirty="0">
              <a:hlinkClick r:id="rId3"/>
            </a:endParaRP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365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Watermarking is a passive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1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Watermarking is a passive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14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Watermarking is a passive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48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7DFF-B1C3-944A-9CE4-9CD650554F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5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909CF-DCF2-5634-656A-C7CBFA295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C0CC4-9C9B-1C33-2249-93A949741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5E867-9D71-2650-8F66-B1CD68C8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768B-B9AF-8300-6CDD-10D70803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A41E3-5C0C-8746-316E-1C55CB62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1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E645-428F-44C5-F6FF-3994FF68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3C67-3FA4-7BEE-6CC0-AA2E97C9B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895A1-61C8-7E96-E49F-73F9A6FB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99692-EAE9-0084-0DC6-51555F09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B8D9A-A604-BA49-14F9-F7099953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6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EB8C-DA5D-62FF-542C-59CAE460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F2276-59DC-E9A8-9DD7-DF39CE9EB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22738-F514-01D2-DB02-C0E6EA85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F8D30-80EB-B1E4-7DF7-CA6A30EB5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9AE84-B22E-6865-0E27-CEA6D772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36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9873-1C3F-D6B6-26FC-EFC89D97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4CC8-71B4-1137-72EE-7591E11AE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CC405-46E5-EEC6-EBE8-523476884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79289-7DCE-24DE-117B-76231AC48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9E45E-A4EE-2B5E-6268-6D067701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5D957-2206-E48D-5E97-1AAA9C8C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1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C118-2995-B9E9-A63E-B766EB6D8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F0B4B-0C43-F691-C30F-AD29EE383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1D198-5BD1-D46A-0715-A60DC3D46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57C869-B446-E3E9-9222-ABBAF0FD5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5647C-1232-F52D-6C9C-E6AA14721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0841F1-287D-B5CC-2379-74A7F1F0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8C9DE-F44C-451E-2AD4-7A365EA0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0D3340-A35A-93F3-F5BD-753FC25C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94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E069-D52E-5539-BE86-6738ECD0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DCFE6-8F25-BFA0-A1AB-14A90A1D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EC9FA-0C1F-C93B-755E-7BBC01AB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948E-E08F-3183-A64B-E7918A76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4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FDDB2-2FA6-D871-90FE-D3E86908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13756-5612-8AF4-527B-E38B9D39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25BA-F3AE-3289-5890-3E8823D8A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8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C6A6-A24A-8257-8CE0-C949AB3D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A1EE6-D082-418D-91B8-CF33082A5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9D41C-3E5C-36CF-0C63-BD6665E1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49AE7-6D5A-2962-D05F-D88E43C9C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47EFD-92A4-D215-B501-55EA0B51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80ED0-85FE-AF22-50AD-9E2AA47C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5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AF1CE-EFB6-EB40-5846-742DB7B52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9E11C-A86B-318D-A6EE-DAE5A05E0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EED55-F0B4-9163-3228-F4ED249D5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29E67-B85C-6B8A-D425-60CD8D6C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55240-69BE-09E8-021F-61907914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A46AD-391A-1DAB-FF10-A0775F74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3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F36C-F041-F772-4D24-D880C0C7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5FB6D-AC68-40BD-C039-81CAA7FA8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66D7E-7918-AA80-D163-7A7DE07A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5A32E-B554-4E91-F019-58966BD5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D8A04-9EDD-D191-5A07-34BA443B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0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25393E-6D69-2208-8474-4B4A986B8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9A716-3366-F2AE-1625-BFF28C164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CFE3F-60EE-A7A2-6FB2-51BD60C8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54D74-1413-CC63-2314-323E70FDB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E522E-F5D6-FC95-00CD-33E827FF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6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8315B-93EC-94E0-A81C-0C2301CC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7CFEB-B4F8-6F10-28A7-335F35B54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BB64A-4F84-78E8-6EB0-E1896DB05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C605A-2297-9D4C-BC1D-271BC990327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AE53-2DF0-4CC1-86C8-885ECFF9D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81BCE-794C-2B6E-D59A-09AD68B73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6CD0-6039-9941-9942-6265AAE57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7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5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25.svg"/><Relationship Id="rId23" Type="http://schemas.openxmlformats.org/officeDocument/2006/relationships/image" Target="../media/image33.svg"/><Relationship Id="rId28" Type="http://schemas.openxmlformats.org/officeDocument/2006/relationships/image" Target="../media/image38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7.png"/><Relationship Id="rId18" Type="http://schemas.openxmlformats.org/officeDocument/2006/relationships/image" Target="../media/image18.svg"/><Relationship Id="rId3" Type="http://schemas.openxmlformats.org/officeDocument/2006/relationships/image" Target="../media/image33.svg"/><Relationship Id="rId21" Type="http://schemas.openxmlformats.org/officeDocument/2006/relationships/image" Target="../media/image37.png"/><Relationship Id="rId7" Type="http://schemas.openxmlformats.org/officeDocument/2006/relationships/image" Target="../media/image20.png"/><Relationship Id="rId12" Type="http://schemas.openxmlformats.org/officeDocument/2006/relationships/image" Target="../media/image26.png"/><Relationship Id="rId17" Type="http://schemas.openxmlformats.org/officeDocument/2006/relationships/image" Target="../media/image17.png"/><Relationship Id="rId2" Type="http://schemas.openxmlformats.org/officeDocument/2006/relationships/image" Target="../media/image32.png"/><Relationship Id="rId16" Type="http://schemas.openxmlformats.org/officeDocument/2006/relationships/image" Target="../media/image16.sv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31.png"/><Relationship Id="rId24" Type="http://schemas.openxmlformats.org/officeDocument/2006/relationships/image" Target="../media/image42.png"/><Relationship Id="rId5" Type="http://schemas.openxmlformats.org/officeDocument/2006/relationships/image" Target="../media/image14.svg"/><Relationship Id="rId15" Type="http://schemas.openxmlformats.org/officeDocument/2006/relationships/image" Target="../media/image15.png"/><Relationship Id="rId23" Type="http://schemas.openxmlformats.org/officeDocument/2006/relationships/image" Target="../media/image41.png"/><Relationship Id="rId10" Type="http://schemas.openxmlformats.org/officeDocument/2006/relationships/image" Target="../media/image30.png"/><Relationship Id="rId19" Type="http://schemas.openxmlformats.org/officeDocument/2006/relationships/image" Target="../media/image40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28.png"/><Relationship Id="rId22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chnologyreview.com/2019/12/11/131629/apple-ai-personalizes-siri-federated-learning/" TargetMode="External"/><Relationship Id="rId13" Type="http://schemas.openxmlformats.org/officeDocument/2006/relationships/image" Target="../media/image50.png"/><Relationship Id="rId18" Type="http://schemas.openxmlformats.org/officeDocument/2006/relationships/image" Target="../media/image53.png"/><Relationship Id="rId3" Type="http://schemas.openxmlformats.org/officeDocument/2006/relationships/image" Target="../media/image43.jpeg"/><Relationship Id="rId7" Type="http://schemas.openxmlformats.org/officeDocument/2006/relationships/hyperlink" Target="https://support.google.com/gboard/answer/9334583?hl=en" TargetMode="External"/><Relationship Id="rId12" Type="http://schemas.openxmlformats.org/officeDocument/2006/relationships/customXml" Target="../ink/ink1.xml"/><Relationship Id="rId17" Type="http://schemas.openxmlformats.org/officeDocument/2006/relationships/customXml" Target="../ink/ink3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49.png"/><Relationship Id="rId5" Type="http://schemas.openxmlformats.org/officeDocument/2006/relationships/image" Target="../media/image45.PNG"/><Relationship Id="rId15" Type="http://schemas.openxmlformats.org/officeDocument/2006/relationships/image" Target="../media/image51.png"/><Relationship Id="rId10" Type="http://schemas.openxmlformats.org/officeDocument/2006/relationships/image" Target="../media/image48.PNG"/><Relationship Id="rId4" Type="http://schemas.openxmlformats.org/officeDocument/2006/relationships/image" Target="../media/image44.PNG"/><Relationship Id="rId9" Type="http://schemas.openxmlformats.org/officeDocument/2006/relationships/image" Target="../media/image47.png"/><Relationship Id="rId1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56.png"/><Relationship Id="rId18" Type="http://schemas.openxmlformats.org/officeDocument/2006/relationships/image" Target="../media/image28.png"/><Relationship Id="rId3" Type="http://schemas.openxmlformats.org/officeDocument/2006/relationships/image" Target="../media/image33.svg"/><Relationship Id="rId21" Type="http://schemas.openxmlformats.org/officeDocument/2006/relationships/image" Target="../media/image59.png"/><Relationship Id="rId7" Type="http://schemas.openxmlformats.org/officeDocument/2006/relationships/image" Target="../media/image20.png"/><Relationship Id="rId12" Type="http://schemas.openxmlformats.org/officeDocument/2006/relationships/image" Target="../media/image55.png"/><Relationship Id="rId17" Type="http://schemas.openxmlformats.org/officeDocument/2006/relationships/image" Target="../media/image27.png"/><Relationship Id="rId2" Type="http://schemas.openxmlformats.org/officeDocument/2006/relationships/image" Target="../media/image32.png"/><Relationship Id="rId16" Type="http://schemas.openxmlformats.org/officeDocument/2006/relationships/image" Target="../media/image26.pn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31.png"/><Relationship Id="rId5" Type="http://schemas.openxmlformats.org/officeDocument/2006/relationships/image" Target="../media/image14.svg"/><Relationship Id="rId15" Type="http://schemas.openxmlformats.org/officeDocument/2006/relationships/image" Target="../media/image58.svg"/><Relationship Id="rId10" Type="http://schemas.openxmlformats.org/officeDocument/2006/relationships/image" Target="../media/image30.png"/><Relationship Id="rId19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57.png"/><Relationship Id="rId22" Type="http://schemas.openxmlformats.org/officeDocument/2006/relationships/image" Target="../media/image6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1.png"/><Relationship Id="rId18" Type="http://schemas.openxmlformats.org/officeDocument/2006/relationships/image" Target="../media/image62.png"/><Relationship Id="rId26" Type="http://schemas.openxmlformats.org/officeDocument/2006/relationships/image" Target="../media/image37.png"/><Relationship Id="rId3" Type="http://schemas.openxmlformats.org/officeDocument/2006/relationships/image" Target="../media/image14.svg"/><Relationship Id="rId21" Type="http://schemas.openxmlformats.org/officeDocument/2006/relationships/image" Target="../media/image16.svg"/><Relationship Id="rId7" Type="http://schemas.openxmlformats.org/officeDocument/2006/relationships/image" Target="../media/image56.png"/><Relationship Id="rId12" Type="http://schemas.openxmlformats.org/officeDocument/2006/relationships/image" Target="../media/image30.png"/><Relationship Id="rId17" Type="http://schemas.openxmlformats.org/officeDocument/2006/relationships/image" Target="../media/image61.png"/><Relationship Id="rId25" Type="http://schemas.openxmlformats.org/officeDocument/2006/relationships/image" Target="../media/image36.png"/><Relationship Id="rId2" Type="http://schemas.openxmlformats.org/officeDocument/2006/relationships/image" Target="../media/image13.png"/><Relationship Id="rId16" Type="http://schemas.openxmlformats.org/officeDocument/2006/relationships/image" Target="../media/image28.png"/><Relationship Id="rId20" Type="http://schemas.openxmlformats.org/officeDocument/2006/relationships/image" Target="../media/image15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29.png"/><Relationship Id="rId24" Type="http://schemas.openxmlformats.org/officeDocument/2006/relationships/image" Target="../media/image40.png"/><Relationship Id="rId5" Type="http://schemas.openxmlformats.org/officeDocument/2006/relationships/image" Target="../media/image33.svg"/><Relationship Id="rId15" Type="http://schemas.openxmlformats.org/officeDocument/2006/relationships/image" Target="../media/image27.png"/><Relationship Id="rId23" Type="http://schemas.openxmlformats.org/officeDocument/2006/relationships/image" Target="../media/image18.svg"/><Relationship Id="rId28" Type="http://schemas.openxmlformats.org/officeDocument/2006/relationships/image" Target="../media/image41.png"/><Relationship Id="rId10" Type="http://schemas.openxmlformats.org/officeDocument/2006/relationships/image" Target="../media/image21.png"/><Relationship Id="rId19" Type="http://schemas.openxmlformats.org/officeDocument/2006/relationships/image" Target="../media/image63.png"/><Relationship Id="rId31" Type="http://schemas.openxmlformats.org/officeDocument/2006/relationships/image" Target="../media/image60.svg"/><Relationship Id="rId4" Type="http://schemas.openxmlformats.org/officeDocument/2006/relationships/image" Target="../media/image32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Relationship Id="rId22" Type="http://schemas.openxmlformats.org/officeDocument/2006/relationships/image" Target="../media/image17.png"/><Relationship Id="rId27" Type="http://schemas.openxmlformats.org/officeDocument/2006/relationships/image" Target="../media/image38.png"/><Relationship Id="rId30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7.png"/><Relationship Id="rId18" Type="http://schemas.openxmlformats.org/officeDocument/2006/relationships/image" Target="../media/image60.svg"/><Relationship Id="rId3" Type="http://schemas.openxmlformats.org/officeDocument/2006/relationships/image" Target="../media/image33.svg"/><Relationship Id="rId7" Type="http://schemas.openxmlformats.org/officeDocument/2006/relationships/image" Target="../media/image20.png"/><Relationship Id="rId12" Type="http://schemas.openxmlformats.org/officeDocument/2006/relationships/image" Target="../media/image26.png"/><Relationship Id="rId17" Type="http://schemas.openxmlformats.org/officeDocument/2006/relationships/image" Target="../media/image59.png"/><Relationship Id="rId2" Type="http://schemas.openxmlformats.org/officeDocument/2006/relationships/image" Target="../media/image32.png"/><Relationship Id="rId16" Type="http://schemas.openxmlformats.org/officeDocument/2006/relationships/image" Target="../media/image16.sv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31.png"/><Relationship Id="rId5" Type="http://schemas.openxmlformats.org/officeDocument/2006/relationships/image" Target="../media/image14.svg"/><Relationship Id="rId15" Type="http://schemas.openxmlformats.org/officeDocument/2006/relationships/image" Target="../media/image15.png"/><Relationship Id="rId10" Type="http://schemas.openxmlformats.org/officeDocument/2006/relationships/image" Target="../media/image30.png"/><Relationship Id="rId19" Type="http://schemas.openxmlformats.org/officeDocument/2006/relationships/image" Target="../media/image6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1.png"/><Relationship Id="rId18" Type="http://schemas.openxmlformats.org/officeDocument/2006/relationships/image" Target="../media/image16.svg"/><Relationship Id="rId3" Type="http://schemas.openxmlformats.org/officeDocument/2006/relationships/image" Target="../media/image56.png"/><Relationship Id="rId21" Type="http://schemas.openxmlformats.org/officeDocument/2006/relationships/image" Target="../media/image70.svg"/><Relationship Id="rId7" Type="http://schemas.openxmlformats.org/officeDocument/2006/relationships/image" Target="../media/image14.svg"/><Relationship Id="rId12" Type="http://schemas.openxmlformats.org/officeDocument/2006/relationships/image" Target="../media/image3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8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9.png"/><Relationship Id="rId5" Type="http://schemas.openxmlformats.org/officeDocument/2006/relationships/image" Target="../media/image33.svg"/><Relationship Id="rId15" Type="http://schemas.openxmlformats.org/officeDocument/2006/relationships/image" Target="../media/image27.png"/><Relationship Id="rId23" Type="http://schemas.openxmlformats.org/officeDocument/2006/relationships/image" Target="../media/image60.svg"/><Relationship Id="rId10" Type="http://schemas.openxmlformats.org/officeDocument/2006/relationships/image" Target="../media/image21.png"/><Relationship Id="rId19" Type="http://schemas.openxmlformats.org/officeDocument/2006/relationships/image" Target="../media/image68.png"/><Relationship Id="rId4" Type="http://schemas.openxmlformats.org/officeDocument/2006/relationships/image" Target="../media/image32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Relationship Id="rId22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1.png"/><Relationship Id="rId18" Type="http://schemas.openxmlformats.org/officeDocument/2006/relationships/image" Target="../media/image16.svg"/><Relationship Id="rId26" Type="http://schemas.openxmlformats.org/officeDocument/2006/relationships/image" Target="../media/image59.png"/><Relationship Id="rId3" Type="http://schemas.openxmlformats.org/officeDocument/2006/relationships/image" Target="../media/image56.png"/><Relationship Id="rId21" Type="http://schemas.openxmlformats.org/officeDocument/2006/relationships/image" Target="../media/image72.svg"/><Relationship Id="rId7" Type="http://schemas.openxmlformats.org/officeDocument/2006/relationships/image" Target="../media/image14.svg"/><Relationship Id="rId12" Type="http://schemas.openxmlformats.org/officeDocument/2006/relationships/image" Target="../media/image30.png"/><Relationship Id="rId17" Type="http://schemas.openxmlformats.org/officeDocument/2006/relationships/image" Target="../media/image15.png"/><Relationship Id="rId25" Type="http://schemas.openxmlformats.org/officeDocument/2006/relationships/image" Target="../media/image76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8.png"/><Relationship Id="rId20" Type="http://schemas.openxmlformats.org/officeDocument/2006/relationships/image" Target="../media/image71.pn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9.png"/><Relationship Id="rId24" Type="http://schemas.openxmlformats.org/officeDocument/2006/relationships/image" Target="../media/image75.png"/><Relationship Id="rId5" Type="http://schemas.openxmlformats.org/officeDocument/2006/relationships/image" Target="../media/image33.svg"/><Relationship Id="rId15" Type="http://schemas.openxmlformats.org/officeDocument/2006/relationships/image" Target="../media/image27.png"/><Relationship Id="rId23" Type="http://schemas.openxmlformats.org/officeDocument/2006/relationships/image" Target="../media/image74.svg"/><Relationship Id="rId28" Type="http://schemas.openxmlformats.org/officeDocument/2006/relationships/image" Target="../media/image77.svg"/><Relationship Id="rId10" Type="http://schemas.openxmlformats.org/officeDocument/2006/relationships/image" Target="../media/image21.png"/><Relationship Id="rId19" Type="http://schemas.openxmlformats.org/officeDocument/2006/relationships/image" Target="../media/image68.png"/><Relationship Id="rId4" Type="http://schemas.openxmlformats.org/officeDocument/2006/relationships/image" Target="../media/image32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Relationship Id="rId22" Type="http://schemas.openxmlformats.org/officeDocument/2006/relationships/image" Target="../media/image73.png"/><Relationship Id="rId27" Type="http://schemas.openxmlformats.org/officeDocument/2006/relationships/image" Target="../media/image60.svg"/><Relationship Id="rId30" Type="http://schemas.openxmlformats.org/officeDocument/2006/relationships/image" Target="../media/image79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330F4-542C-86A9-5AD9-B52728D81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9533" y="3746614"/>
            <a:ext cx="8072934" cy="1902623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Calibri" panose="020F0502020204030204" pitchFamily="34" charset="0"/>
              </a:rPr>
              <a:t>Jiahao Xu</a:t>
            </a:r>
          </a:p>
          <a:p>
            <a:r>
              <a:rPr lang="en-US" dirty="0">
                <a:cs typeface="Calibri" panose="020F0502020204030204" pitchFamily="34" charset="0"/>
              </a:rPr>
              <a:t>Ph.D. student</a:t>
            </a:r>
          </a:p>
          <a:p>
            <a:r>
              <a:rPr lang="en-US" dirty="0">
                <a:cs typeface="Calibri" panose="020F0502020204030204" pitchFamily="34" charset="0"/>
              </a:rPr>
              <a:t>Department of Computer Science and Engineering</a:t>
            </a:r>
          </a:p>
          <a:p>
            <a:r>
              <a:rPr lang="en-US" dirty="0">
                <a:cs typeface="Calibri" panose="020F0502020204030204" pitchFamily="34" charset="0"/>
              </a:rPr>
              <a:t>University of Nevada, Reno</a:t>
            </a:r>
          </a:p>
        </p:txBody>
      </p:sp>
      <p:pic>
        <p:nvPicPr>
          <p:cNvPr id="4" name="图片 11" descr="蓝色的标志&#10;&#10;描述已自动生成">
            <a:extLst>
              <a:ext uri="{FF2B5EF4-FFF2-40B4-BE49-F238E27FC236}">
                <a16:creationId xmlns:a16="http://schemas.microsoft.com/office/drawing/2014/main" id="{2EBB6CED-3229-E47A-5FAF-BDB55F002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60" y="6125227"/>
            <a:ext cx="4295940" cy="5556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35A1C8-A4DF-8F34-09DB-9DE7A1D1930C}"/>
              </a:ext>
            </a:extLst>
          </p:cNvPr>
          <p:cNvSpPr txBox="1">
            <a:spLocks/>
          </p:cNvSpPr>
          <p:nvPr/>
        </p:nvSpPr>
        <p:spPr>
          <a:xfrm>
            <a:off x="100314" y="1208763"/>
            <a:ext cx="11991372" cy="14791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Secure AI: Robust Federated Learning as a Solution</a:t>
            </a:r>
            <a:endParaRPr lang="en-US" sz="6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05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884" y="6356350"/>
            <a:ext cx="302682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93818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Trustworthy Networked Intelligence (TNI) Lab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3AD62D-DECB-6953-2608-EDBBB6997DA0}"/>
              </a:ext>
            </a:extLst>
          </p:cNvPr>
          <p:cNvSpPr txBox="1">
            <a:spLocks/>
          </p:cNvSpPr>
          <p:nvPr/>
        </p:nvSpPr>
        <p:spPr>
          <a:xfrm>
            <a:off x="403524" y="1015004"/>
            <a:ext cx="11342359" cy="5664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Mem</a:t>
            </a:r>
            <a:r>
              <a:rPr lang="en-US" b="1" dirty="0">
                <a:solidFill>
                  <a:srgbClr val="041D42"/>
                </a:solidFill>
                <a:latin typeface="+mn-lt"/>
              </a:rPr>
              <a:t>b</a:t>
            </a:r>
            <a:r>
              <a:rPr lang="en-US" b="1" dirty="0">
                <a:latin typeface="+mn-lt"/>
              </a:rPr>
              <a:t>ers</a:t>
            </a:r>
            <a:r>
              <a:rPr lang="en-US" dirty="0">
                <a:latin typeface="+mn-lt"/>
              </a:rPr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Principal investigator: Dr. Rui (Zoey) Hu, assistant professor @ CSE.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Ph.D. students: Jiahao Xu, </a:t>
            </a:r>
            <a:r>
              <a:rPr lang="en-US" dirty="0" err="1">
                <a:solidFill>
                  <a:srgbClr val="041D42"/>
                </a:solidFill>
                <a:latin typeface="+mn-lt"/>
              </a:rPr>
              <a:t>Zikai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 Zhang, Kelly </a:t>
            </a:r>
            <a:r>
              <a:rPr lang="en-US" dirty="0" err="1">
                <a:solidFill>
                  <a:srgbClr val="041D42"/>
                </a:solidFill>
                <a:latin typeface="+mn-lt"/>
              </a:rPr>
              <a:t>Chinander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10+ Master’s students and undergrads.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041D42"/>
                </a:solidFill>
                <a:latin typeface="+mn-lt"/>
              </a:rPr>
              <a:t>Research Interests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AI Security and Privacy.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Federated Learning.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Large Language Models.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Agentic AI.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041D42"/>
                </a:solidFill>
                <a:latin typeface="+mn-lt"/>
              </a:rPr>
              <a:t>Location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: WPEB 402.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4F8FF-3ABB-6C17-EFCA-A06E10DF7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997" y="4508405"/>
            <a:ext cx="1669738" cy="175464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49E98C-7CBB-7EB5-D03B-F9DAAD6CE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887" y="4508405"/>
            <a:ext cx="1754639" cy="17546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B946A5-EC90-0EB7-C813-A1332A25C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526" y="4492220"/>
            <a:ext cx="1754640" cy="175464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411E82-CD86-A6C3-7143-8A46AEC68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6800" y="2484599"/>
            <a:ext cx="2122814" cy="17546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C6BF1B-E7D6-CF91-1E9D-4EE44F830687}"/>
              </a:ext>
            </a:extLst>
          </p:cNvPr>
          <p:cNvSpPr txBox="1"/>
          <p:nvPr/>
        </p:nvSpPr>
        <p:spPr>
          <a:xfrm>
            <a:off x="9633104" y="3893232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Dr. Zoey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4D52E-60EE-D772-7DDE-FCB97909B7FA}"/>
              </a:ext>
            </a:extLst>
          </p:cNvPr>
          <p:cNvSpPr txBox="1"/>
          <p:nvPr/>
        </p:nvSpPr>
        <p:spPr>
          <a:xfrm>
            <a:off x="6770778" y="6282878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Jiahao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9CE396-5B0D-6BF9-B1DA-7B7351FC36FA}"/>
              </a:ext>
            </a:extLst>
          </p:cNvPr>
          <p:cNvSpPr txBox="1"/>
          <p:nvPr/>
        </p:nvSpPr>
        <p:spPr>
          <a:xfrm>
            <a:off x="8619404" y="6282878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Zikai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070E38-B620-5D18-8113-E9480C465803}"/>
              </a:ext>
            </a:extLst>
          </p:cNvPr>
          <p:cNvSpPr txBox="1"/>
          <p:nvPr/>
        </p:nvSpPr>
        <p:spPr>
          <a:xfrm>
            <a:off x="10572785" y="6282878"/>
            <a:ext cx="626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Kelly</a:t>
            </a:r>
          </a:p>
        </p:txBody>
      </p:sp>
    </p:spTree>
    <p:extLst>
      <p:ext uri="{BB962C8B-B14F-4D97-AF65-F5344CB8AC3E}">
        <p14:creationId xmlns:p14="http://schemas.microsoft.com/office/powerpoint/2010/main" val="70218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884" y="6356350"/>
            <a:ext cx="302682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About me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3AD62D-DECB-6953-2608-EDBBB6997DA0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9214004" cy="5664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>
              <a:solidFill>
                <a:srgbClr val="041D42"/>
              </a:solidFill>
              <a:latin typeface="+mn-lt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51F910F-20DA-F983-F716-C15CC1966022}"/>
              </a:ext>
            </a:extLst>
          </p:cNvPr>
          <p:cNvSpPr txBox="1">
            <a:spLocks/>
          </p:cNvSpPr>
          <p:nvPr/>
        </p:nvSpPr>
        <p:spPr>
          <a:xfrm>
            <a:off x="143434" y="1011641"/>
            <a:ext cx="12168309" cy="5664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41D42"/>
                </a:solidFill>
                <a:latin typeface="+mn-lt"/>
              </a:rPr>
              <a:t>Education background: 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solidFill>
                  <a:srgbClr val="041D42"/>
                </a:solidFill>
                <a:latin typeface="+mn-lt"/>
              </a:rPr>
              <a:t>B.Eng. in Internet of Things Engineering in 2021 from Fujian Normal University in China, mainland. 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solidFill>
                  <a:srgbClr val="041D42"/>
                </a:solidFill>
                <a:latin typeface="+mn-lt"/>
              </a:rPr>
              <a:t>M.Sc. in Data Science and Analytics in 2023 from The Hong Kong Polytechnic University in Hong Kong SAR.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solidFill>
                  <a:srgbClr val="041D42"/>
                </a:solidFill>
                <a:latin typeface="+mn-lt"/>
              </a:rPr>
              <a:t>Currently a third-year Ph.D. student at UNR.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41D42"/>
                </a:solidFill>
                <a:latin typeface="+mn-lt"/>
              </a:rPr>
              <a:t>Work experience</a:t>
            </a:r>
            <a:r>
              <a:rPr lang="en-US" sz="2400" dirty="0">
                <a:solidFill>
                  <a:srgbClr val="041D42"/>
                </a:solidFill>
                <a:latin typeface="+mn-lt"/>
              </a:rPr>
              <a:t>: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solidFill>
                  <a:srgbClr val="041D42"/>
                </a:solidFill>
                <a:latin typeface="+mn-lt"/>
              </a:rPr>
              <a:t>Graduate Research Assistant, The Hong Kong Polytechnic University, May 2022 – Mar. 2023.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solidFill>
                  <a:srgbClr val="041D42"/>
                </a:solidFill>
                <a:latin typeface="+mn-lt"/>
              </a:rPr>
              <a:t>Research Assistant, The Hong Kong Polytechnic University, Mar. 2023 – Aug. 2023.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solidFill>
                  <a:srgbClr val="041D42"/>
                </a:solidFill>
                <a:latin typeface="+mn-lt"/>
              </a:rPr>
              <a:t>Graduate Research and Teaching Assistant, UNR, Aug. 2023 – now.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solidFill>
                  <a:srgbClr val="041D42"/>
                </a:solidFill>
                <a:latin typeface="+mn-lt"/>
              </a:rPr>
              <a:t>Graduate Researcher at the Oak Ridge National Laboratory, Step. 2025 – now.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41D42"/>
                </a:solidFill>
                <a:latin typeface="+mn-lt"/>
              </a:rPr>
              <a:t>Research interests</a:t>
            </a:r>
            <a:r>
              <a:rPr lang="en-US" sz="2400" dirty="0">
                <a:solidFill>
                  <a:srgbClr val="041D42"/>
                </a:solidFill>
                <a:latin typeface="+mn-lt"/>
              </a:rPr>
              <a:t>: AI security and privacy, Federated Learning, Large Language Models.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41D42"/>
                </a:solidFill>
                <a:latin typeface="+mn-lt"/>
              </a:rPr>
              <a:t>Major achievements</a:t>
            </a:r>
            <a:r>
              <a:rPr lang="en-US" sz="2400" dirty="0">
                <a:solidFill>
                  <a:srgbClr val="041D42"/>
                </a:solidFill>
                <a:latin typeface="+mn-lt"/>
              </a:rPr>
              <a:t>: First-authored 4 papers published on prestigious conferences, 4 times travel grant awardee, and Nevada </a:t>
            </a:r>
            <a:r>
              <a:rPr lang="en-US" sz="2400" dirty="0" err="1">
                <a:solidFill>
                  <a:srgbClr val="041D42"/>
                </a:solidFill>
                <a:latin typeface="+mn-lt"/>
              </a:rPr>
              <a:t>WateReuse</a:t>
            </a:r>
            <a:r>
              <a:rPr lang="en-US" sz="2400" dirty="0">
                <a:solidFill>
                  <a:srgbClr val="041D42"/>
                </a:solidFill>
                <a:latin typeface="+mn-lt"/>
              </a:rPr>
              <a:t> research grant awardee during my Ph.D.</a:t>
            </a:r>
          </a:p>
        </p:txBody>
      </p:sp>
    </p:spTree>
    <p:extLst>
      <p:ext uri="{BB962C8B-B14F-4D97-AF65-F5344CB8AC3E}">
        <p14:creationId xmlns:p14="http://schemas.microsoft.com/office/powerpoint/2010/main" val="204254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884" y="6356350"/>
            <a:ext cx="302682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93818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List of Contents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3AD62D-DECB-6953-2608-EDBBB6997DA0}"/>
              </a:ext>
            </a:extLst>
          </p:cNvPr>
          <p:cNvSpPr txBox="1">
            <a:spLocks/>
          </p:cNvSpPr>
          <p:nvPr/>
        </p:nvSpPr>
        <p:spPr>
          <a:xfrm>
            <a:off x="403524" y="1015004"/>
            <a:ext cx="11342359" cy="5664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Introduction to Artificial Intelligence.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Introduction to Machine Learning.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Introduction to Deep Learning.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Introduction to Federated Learning.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Vulnerabilities of Federated Learning.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Robust Federated Learning.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Conclusion.</a:t>
            </a:r>
          </a:p>
        </p:txBody>
      </p:sp>
    </p:spTree>
    <p:extLst>
      <p:ext uri="{BB962C8B-B14F-4D97-AF65-F5344CB8AC3E}">
        <p14:creationId xmlns:p14="http://schemas.microsoft.com/office/powerpoint/2010/main" val="275224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884" y="6356350"/>
            <a:ext cx="302682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is Artificial Intelligence (AI)?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5664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Definition</a:t>
            </a:r>
            <a:r>
              <a:rPr lang="en-US" dirty="0">
                <a:latin typeface="+mn-lt"/>
              </a:rPr>
              <a:t>: AI studies and develops models that can perceive, reason, learn, and act autonomously to achieve goals requiring human intelligence.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AI is everywhere</a:t>
            </a:r>
            <a:r>
              <a:rPr lang="en-US" dirty="0">
                <a:latin typeface="+mn-lt"/>
              </a:rPr>
              <a:t>, reshaping the way we live, study, and work.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Examples across domains</a:t>
            </a:r>
            <a:r>
              <a:rPr lang="en-US" dirty="0">
                <a:latin typeface="+mn-lt"/>
              </a:rPr>
              <a:t>: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💬 </a:t>
            </a:r>
            <a:r>
              <a:rPr lang="en-US" b="1" dirty="0">
                <a:latin typeface="+mn-lt"/>
              </a:rPr>
              <a:t>Language models</a:t>
            </a:r>
            <a:r>
              <a:rPr lang="en-US" dirty="0">
                <a:latin typeface="+mn-lt"/>
              </a:rPr>
              <a:t>:          </a:t>
            </a:r>
            <a:r>
              <a:rPr lang="en-US" dirty="0" err="1">
                <a:latin typeface="+mn-lt"/>
              </a:rPr>
              <a:t>ChatGPT</a:t>
            </a:r>
            <a:r>
              <a:rPr lang="en-US" dirty="0">
                <a:latin typeface="+mn-lt"/>
              </a:rPr>
              <a:t>,         Gemini.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🎨 </a:t>
            </a:r>
            <a:r>
              <a:rPr lang="en-US" b="1" dirty="0">
                <a:latin typeface="+mn-lt"/>
              </a:rPr>
              <a:t>Vision models</a:t>
            </a:r>
            <a:r>
              <a:rPr lang="en-US" dirty="0">
                <a:latin typeface="+mn-lt"/>
              </a:rPr>
              <a:t>:          Stable Diffusion,          </a:t>
            </a:r>
            <a:r>
              <a:rPr lang="en-US" dirty="0" err="1">
                <a:latin typeface="+mn-lt"/>
              </a:rPr>
              <a:t>Midjourney</a:t>
            </a:r>
            <a:r>
              <a:rPr lang="en-US" dirty="0">
                <a:latin typeface="+mn-lt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🚗 </a:t>
            </a:r>
            <a:r>
              <a:rPr lang="en-US" b="1" dirty="0">
                <a:latin typeface="+mn-lt"/>
              </a:rPr>
              <a:t>Autonomous driving models</a:t>
            </a:r>
            <a:r>
              <a:rPr lang="en-US" dirty="0">
                <a:latin typeface="+mn-lt"/>
              </a:rPr>
              <a:t>:         Tesla Autopilot,         Waymo.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🧬 </a:t>
            </a:r>
            <a:r>
              <a:rPr lang="en-US" b="1" dirty="0">
                <a:latin typeface="+mn-lt"/>
              </a:rPr>
              <a:t>Science &amp; healthcare</a:t>
            </a:r>
            <a:r>
              <a:rPr lang="en-US" dirty="0">
                <a:latin typeface="+mn-lt"/>
              </a:rPr>
              <a:t>:          </a:t>
            </a:r>
            <a:r>
              <a:rPr lang="en-US" dirty="0" err="1">
                <a:latin typeface="+mn-lt"/>
              </a:rPr>
              <a:t>AlphaFold</a:t>
            </a:r>
            <a:r>
              <a:rPr lang="en-US" dirty="0">
                <a:latin typeface="+mn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accent2"/>
                </a:solidFill>
                <a:latin typeface="+mn-lt"/>
              </a:rPr>
              <a:t>Key question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: How can we obtain a useful AI model?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4DE31C-095F-026A-3D79-8A827D215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051" y="3963219"/>
            <a:ext cx="406400" cy="406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240495-1440-03D5-D856-7B11EF231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451" y="3963219"/>
            <a:ext cx="483840" cy="40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34CF15-6334-5A21-1C84-1DCEB4774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152" y="3443816"/>
            <a:ext cx="403200" cy="40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609323-2CCF-F770-4BE0-8BCCCFC6C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8451" y="34290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4AF016-8FCC-DF12-2486-6599914D241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6791" r="10175" b="26389"/>
          <a:stretch/>
        </p:blipFill>
        <p:spPr>
          <a:xfrm>
            <a:off x="5364113" y="4481448"/>
            <a:ext cx="400039" cy="40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9B131A-0518-E1CC-B28C-3329BCDEDE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0167" y="4481448"/>
            <a:ext cx="403200" cy="40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E91102-67EE-BD65-EC62-B30445E9031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6520" t="23260" r="27080" b="19954"/>
          <a:stretch/>
        </p:blipFill>
        <p:spPr>
          <a:xfrm>
            <a:off x="4431147" y="4965526"/>
            <a:ext cx="411819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71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884" y="6356350"/>
            <a:ext cx="302682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4" y="178973"/>
            <a:ext cx="11645041" cy="6853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Machine Learning (ML) — How AI Models Learn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3"/>
            <a:ext cx="11384948" cy="56640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ML is the foundation that makes AI practical.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ML workflow</a:t>
            </a:r>
            <a:r>
              <a:rPr lang="en-US" dirty="0">
                <a:latin typeface="+mn-lt"/>
              </a:rPr>
              <a:t>: Data → Feature engineering → Model training → Inference.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An example</a:t>
            </a:r>
            <a:r>
              <a:rPr lang="en-US" dirty="0">
                <a:latin typeface="+mn-lt"/>
              </a:rPr>
              <a:t>: Predicting a movie’s box office revenue.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📊</a:t>
            </a:r>
            <a:r>
              <a:rPr lang="zh-CN" alt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Data</a:t>
            </a:r>
            <a:r>
              <a:rPr lang="en-US" dirty="0">
                <a:latin typeface="+mn-lt"/>
              </a:rPr>
              <a:t>: budgets, cast, etc. as input features; movie revenue as the label.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⚙️</a:t>
            </a:r>
            <a:r>
              <a:rPr lang="zh-CN" altLang="en-US" dirty="0"/>
              <a:t> </a:t>
            </a:r>
            <a:r>
              <a:rPr lang="en-US" b="1" dirty="0">
                <a:latin typeface="+mn-lt"/>
              </a:rPr>
              <a:t>Feature engineering</a:t>
            </a:r>
            <a:r>
              <a:rPr lang="en-US" dirty="0">
                <a:latin typeface="+mn-lt"/>
              </a:rPr>
              <a:t>: apply transformation methods on features such as min–max normalization, encoding categorical features, etc.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🧠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b="1" dirty="0">
                <a:latin typeface="+mn-lt"/>
              </a:rPr>
              <a:t>T</a:t>
            </a:r>
            <a:r>
              <a:rPr lang="en-US" b="1" dirty="0">
                <a:latin typeface="+mn-lt"/>
              </a:rPr>
              <a:t>raining</a:t>
            </a:r>
            <a:r>
              <a:rPr lang="en-US" dirty="0">
                <a:latin typeface="+mn-lt"/>
              </a:rPr>
              <a:t>: train a model to learn the relationship between features and revenue.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🎯</a:t>
            </a:r>
            <a:r>
              <a:rPr lang="zh-CN" alt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Inference</a:t>
            </a:r>
            <a:r>
              <a:rPr lang="en-US" dirty="0">
                <a:latin typeface="+mn-lt"/>
              </a:rPr>
              <a:t>: predict the box office for </a:t>
            </a:r>
            <a:r>
              <a:rPr lang="en-US" b="1" i="1" dirty="0">
                <a:latin typeface="+mn-lt"/>
              </a:rPr>
              <a:t>unseen</a:t>
            </a:r>
            <a:r>
              <a:rPr lang="en-US" dirty="0">
                <a:latin typeface="+mn-lt"/>
              </a:rPr>
              <a:t> movies.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accent2"/>
                </a:solidFill>
                <a:latin typeface="+mn-lt"/>
              </a:rPr>
              <a:t>However, feature engineering is often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empirical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 and relies on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human expertise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. What if models could learn features directly from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raw data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6733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694767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Deep Learning (DL) — The Breakthrough of AI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4" y="1015004"/>
            <a:ext cx="11496201" cy="55235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DL is a powerful branch of ML that enables </a:t>
            </a:r>
            <a:r>
              <a:rPr lang="en-US" b="1" dirty="0">
                <a:latin typeface="+mn-lt"/>
              </a:rPr>
              <a:t>multi-layer neural networks (NNs)</a:t>
            </a:r>
            <a:r>
              <a:rPr lang="en-US" dirty="0">
                <a:latin typeface="+mn-lt"/>
              </a:rPr>
              <a:t> to automatically learn representations directly from raw data.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DL has powered major breakthroughs in </a:t>
            </a:r>
            <a:r>
              <a:rPr lang="en-US" b="1" dirty="0">
                <a:latin typeface="+mn-lt"/>
              </a:rPr>
              <a:t>computer vision, natural language processing, and multimodal tasks</a:t>
            </a:r>
            <a:r>
              <a:rPr lang="en-US" dirty="0">
                <a:latin typeface="+mn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DL workflow</a:t>
            </a:r>
            <a:r>
              <a:rPr lang="en-US" dirty="0">
                <a:latin typeface="+mn-lt"/>
              </a:rPr>
              <a:t>: Data → Model (NNs) training → Inference.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NNs are trained on </a:t>
            </a:r>
            <a:r>
              <a:rPr lang="en-US" b="1" dirty="0">
                <a:latin typeface="+mn-lt"/>
              </a:rPr>
              <a:t>millions (or more)</a:t>
            </a:r>
            <a:r>
              <a:rPr lang="en-US" dirty="0">
                <a:latin typeface="+mn-lt"/>
              </a:rPr>
              <a:t> of data samples to capture complex patterns.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Training typically occurs on </a:t>
            </a:r>
            <a:r>
              <a:rPr lang="en-US" b="1" dirty="0">
                <a:latin typeface="+mn-lt"/>
              </a:rPr>
              <a:t>high-performance servers</a:t>
            </a:r>
            <a:r>
              <a:rPr lang="en-US" dirty="0">
                <a:latin typeface="+mn-lt"/>
              </a:rPr>
              <a:t> using </a:t>
            </a:r>
            <a:r>
              <a:rPr lang="en-US" b="1" dirty="0">
                <a:latin typeface="+mn-lt"/>
              </a:rPr>
              <a:t>GPUs</a:t>
            </a:r>
            <a:r>
              <a:rPr lang="en-US" dirty="0">
                <a:latin typeface="+mn-lt"/>
              </a:rPr>
              <a:t> to accelerate computation.</a:t>
            </a:r>
          </a:p>
        </p:txBody>
      </p:sp>
    </p:spTree>
    <p:extLst>
      <p:ext uri="{BB962C8B-B14F-4D97-AF65-F5344CB8AC3E}">
        <p14:creationId xmlns:p14="http://schemas.microsoft.com/office/powerpoint/2010/main" val="1334620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Deep Learning (DL) — Cont.</a:t>
            </a:r>
          </a:p>
        </p:txBody>
      </p:sp>
      <p:sp>
        <p:nvSpPr>
          <p:cNvPr id="307" name="Content Placeholder 2">
            <a:extLst>
              <a:ext uri="{FF2B5EF4-FFF2-40B4-BE49-F238E27FC236}">
                <a16:creationId xmlns:a16="http://schemas.microsoft.com/office/drawing/2014/main" id="{6B8690C4-7420-8463-A9FE-ECC1C208B460}"/>
              </a:ext>
            </a:extLst>
          </p:cNvPr>
          <p:cNvSpPr txBox="1">
            <a:spLocks/>
          </p:cNvSpPr>
          <p:nvPr/>
        </p:nvSpPr>
        <p:spPr>
          <a:xfrm>
            <a:off x="403525" y="5703598"/>
            <a:ext cx="11496201" cy="11099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solidFill>
                  <a:schemeClr val="accent2"/>
                </a:solidFill>
                <a:latin typeface="+mn-lt"/>
              </a:rPr>
              <a:t>In traditional DL setups, data must be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collected and centralized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 for model training — ⚠️ raising serious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data privacy concerns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.</a:t>
            </a: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629E7CEB-1215-680A-BC10-7BD33CEC2E22}"/>
              </a:ext>
            </a:extLst>
          </p:cNvPr>
          <p:cNvSpPr/>
          <p:nvPr/>
        </p:nvSpPr>
        <p:spPr>
          <a:xfrm>
            <a:off x="4509523" y="2403010"/>
            <a:ext cx="1508892" cy="21694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Graphic 80" descr="Server with solid fill">
            <a:extLst>
              <a:ext uri="{FF2B5EF4-FFF2-40B4-BE49-F238E27FC236}">
                <a16:creationId xmlns:a16="http://schemas.microsoft.com/office/drawing/2014/main" id="{064CF754-5296-75FD-515B-47321A7277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9035" y="3095108"/>
            <a:ext cx="545563" cy="54556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21AC9542-6CB9-3ED6-6156-5BF22116368F}"/>
              </a:ext>
            </a:extLst>
          </p:cNvPr>
          <p:cNvSpPr txBox="1"/>
          <p:nvPr/>
        </p:nvSpPr>
        <p:spPr>
          <a:xfrm>
            <a:off x="7717640" y="3560640"/>
            <a:ext cx="86468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Server</a:t>
            </a:r>
            <a:endParaRPr lang="en-US" sz="1600" b="1" dirty="0">
              <a:cs typeface="Times New Roman" panose="02020603050405020304" pitchFamily="18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125A23-CA1E-70FC-0619-94B0E8F88EC3}"/>
              </a:ext>
            </a:extLst>
          </p:cNvPr>
          <p:cNvSpPr/>
          <p:nvPr/>
        </p:nvSpPr>
        <p:spPr>
          <a:xfrm>
            <a:off x="711397" y="1070243"/>
            <a:ext cx="1688657" cy="11438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40DA1D-54C5-6279-4918-0CF21BB1A0FC}"/>
              </a:ext>
            </a:extLst>
          </p:cNvPr>
          <p:cNvSpPr/>
          <p:nvPr/>
        </p:nvSpPr>
        <p:spPr>
          <a:xfrm>
            <a:off x="853060" y="1173905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A841D-497D-E04E-3AB4-29A3D30E08EA}"/>
              </a:ext>
            </a:extLst>
          </p:cNvPr>
          <p:cNvSpPr txBox="1"/>
          <p:nvPr/>
        </p:nvSpPr>
        <p:spPr>
          <a:xfrm>
            <a:off x="1108197" y="1163136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pic>
        <p:nvPicPr>
          <p:cNvPr id="160" name="Graphic 159" descr="Laptop with solid fill">
            <a:extLst>
              <a:ext uri="{FF2B5EF4-FFF2-40B4-BE49-F238E27FC236}">
                <a16:creationId xmlns:a16="http://schemas.microsoft.com/office/drawing/2014/main" id="{76A96EF2-136B-7783-29F8-1884A70615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14" y="1368566"/>
            <a:ext cx="547200" cy="54720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D663896-8FF9-091E-59EC-57480FD448E1}"/>
              </a:ext>
            </a:extLst>
          </p:cNvPr>
          <p:cNvSpPr/>
          <p:nvPr/>
        </p:nvSpPr>
        <p:spPr>
          <a:xfrm>
            <a:off x="711397" y="4413633"/>
            <a:ext cx="1688657" cy="11438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EBC4CD-D88C-0828-E03A-5824DF57EED1}"/>
              </a:ext>
            </a:extLst>
          </p:cNvPr>
          <p:cNvSpPr/>
          <p:nvPr/>
        </p:nvSpPr>
        <p:spPr>
          <a:xfrm>
            <a:off x="842556" y="4510377"/>
            <a:ext cx="1407886" cy="876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7ACB19-14D0-AD07-EA72-20386CD1512C}"/>
              </a:ext>
            </a:extLst>
          </p:cNvPr>
          <p:cNvSpPr txBox="1"/>
          <p:nvPr/>
        </p:nvSpPr>
        <p:spPr>
          <a:xfrm>
            <a:off x="1073160" y="4494473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pic>
        <p:nvPicPr>
          <p:cNvPr id="161" name="Graphic 160" descr="Smart Phone with solid fill">
            <a:extLst>
              <a:ext uri="{FF2B5EF4-FFF2-40B4-BE49-F238E27FC236}">
                <a16:creationId xmlns:a16="http://schemas.microsoft.com/office/drawing/2014/main" id="{30B2B187-3C1B-3989-89D9-7D508EF78B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39" y="4711957"/>
            <a:ext cx="547200" cy="547200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0988EA8-FBA7-F00A-E466-023BF9716482}"/>
              </a:ext>
            </a:extLst>
          </p:cNvPr>
          <p:cNvSpPr/>
          <p:nvPr/>
        </p:nvSpPr>
        <p:spPr>
          <a:xfrm>
            <a:off x="711397" y="2741939"/>
            <a:ext cx="1688657" cy="11438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99E21B-F7B6-E5BA-AA20-B5C9C38AE6C2}"/>
              </a:ext>
            </a:extLst>
          </p:cNvPr>
          <p:cNvSpPr/>
          <p:nvPr/>
        </p:nvSpPr>
        <p:spPr>
          <a:xfrm>
            <a:off x="836371" y="2851371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740BDC-F887-451D-2708-A028B82813B5}"/>
              </a:ext>
            </a:extLst>
          </p:cNvPr>
          <p:cNvSpPr txBox="1"/>
          <p:nvPr/>
        </p:nvSpPr>
        <p:spPr>
          <a:xfrm>
            <a:off x="1080812" y="2836336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9621694-1274-1A1C-20AC-2FCAA6FF2F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1844" y="3081047"/>
            <a:ext cx="360000" cy="35984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B5179AB-61C7-4509-4C9C-E4C20B828C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197" y="3081047"/>
            <a:ext cx="360000" cy="35984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EB58F1A-4C00-B77A-4552-E12E0E794221}"/>
              </a:ext>
            </a:extLst>
          </p:cNvPr>
          <p:cNvSpPr txBox="1"/>
          <p:nvPr/>
        </p:nvSpPr>
        <p:spPr>
          <a:xfrm>
            <a:off x="1798146" y="3461632"/>
            <a:ext cx="434388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Car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92BDA20-FCEA-0C1D-53F6-BDCA0593935E}"/>
              </a:ext>
            </a:extLst>
          </p:cNvPr>
          <p:cNvSpPr/>
          <p:nvPr/>
        </p:nvSpPr>
        <p:spPr>
          <a:xfrm>
            <a:off x="1831571" y="350056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685DF2-7B97-F556-5D04-9D26EA443149}"/>
              </a:ext>
            </a:extLst>
          </p:cNvPr>
          <p:cNvSpPr txBox="1"/>
          <p:nvPr/>
        </p:nvSpPr>
        <p:spPr>
          <a:xfrm>
            <a:off x="855087" y="3461632"/>
            <a:ext cx="5105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Horse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27F3FB2-9544-887E-A880-A8836924E385}"/>
              </a:ext>
            </a:extLst>
          </p:cNvPr>
          <p:cNvSpPr/>
          <p:nvPr/>
        </p:nvSpPr>
        <p:spPr>
          <a:xfrm>
            <a:off x="924343" y="350056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DBD9B3-FC45-9B06-F573-5CD18B76AD15}"/>
              </a:ext>
            </a:extLst>
          </p:cNvPr>
          <p:cNvSpPr txBox="1"/>
          <p:nvPr/>
        </p:nvSpPr>
        <p:spPr>
          <a:xfrm>
            <a:off x="1359095" y="3461632"/>
            <a:ext cx="4299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Bird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D690D0-4526-9786-63D7-39EA75A2F95C}"/>
              </a:ext>
            </a:extLst>
          </p:cNvPr>
          <p:cNvSpPr/>
          <p:nvPr/>
        </p:nvSpPr>
        <p:spPr>
          <a:xfrm>
            <a:off x="1384244" y="350056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79B50B6E-F324-817B-834B-1D8CC5DB8A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5531" y="3080971"/>
            <a:ext cx="360000" cy="360000"/>
          </a:xfrm>
          <a:prstGeom prst="rect">
            <a:avLst/>
          </a:prstGeom>
        </p:spPr>
      </p:pic>
      <p:pic>
        <p:nvPicPr>
          <p:cNvPr id="163" name="Graphic 162" descr="Computer with solid fill">
            <a:extLst>
              <a:ext uri="{FF2B5EF4-FFF2-40B4-BE49-F238E27FC236}">
                <a16:creationId xmlns:a16="http://schemas.microsoft.com/office/drawing/2014/main" id="{511A1134-B91D-F54E-CA52-AD6F360B65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305" y="3040262"/>
            <a:ext cx="547200" cy="547200"/>
          </a:xfrm>
          <a:prstGeom prst="rect">
            <a:avLst/>
          </a:prstGeom>
        </p:spPr>
      </p:pic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5444926C-FDE8-B76F-0B1E-F822A4A39A72}"/>
              </a:ext>
            </a:extLst>
          </p:cNvPr>
          <p:cNvCxnSpPr>
            <a:cxnSpLocks/>
            <a:stCxn id="18" idx="3"/>
            <a:endCxn id="171" idx="1"/>
          </p:cNvCxnSpPr>
          <p:nvPr/>
        </p:nvCxnSpPr>
        <p:spPr>
          <a:xfrm>
            <a:off x="2400054" y="1642167"/>
            <a:ext cx="1914021" cy="166851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5496A3E-243A-32BE-E637-F6226188DB24}"/>
              </a:ext>
            </a:extLst>
          </p:cNvPr>
          <p:cNvSpPr/>
          <p:nvPr/>
        </p:nvSpPr>
        <p:spPr>
          <a:xfrm>
            <a:off x="4314075" y="1909411"/>
            <a:ext cx="4197894" cy="2802546"/>
          </a:xfrm>
          <a:custGeom>
            <a:avLst/>
            <a:gdLst>
              <a:gd name="connsiteX0" fmla="*/ 0 w 4197894"/>
              <a:gd name="connsiteY0" fmla="*/ 0 h 2802546"/>
              <a:gd name="connsiteX1" fmla="*/ 557720 w 4197894"/>
              <a:gd name="connsiteY1" fmla="*/ 0 h 2802546"/>
              <a:gd name="connsiteX2" fmla="*/ 1031483 w 4197894"/>
              <a:gd name="connsiteY2" fmla="*/ 0 h 2802546"/>
              <a:gd name="connsiteX3" fmla="*/ 1715140 w 4197894"/>
              <a:gd name="connsiteY3" fmla="*/ 0 h 2802546"/>
              <a:gd name="connsiteX4" fmla="*/ 2272860 w 4197894"/>
              <a:gd name="connsiteY4" fmla="*/ 0 h 2802546"/>
              <a:gd name="connsiteX5" fmla="*/ 2830580 w 4197894"/>
              <a:gd name="connsiteY5" fmla="*/ 0 h 2802546"/>
              <a:gd name="connsiteX6" fmla="*/ 3514237 w 4197894"/>
              <a:gd name="connsiteY6" fmla="*/ 0 h 2802546"/>
              <a:gd name="connsiteX7" fmla="*/ 4197894 w 4197894"/>
              <a:gd name="connsiteY7" fmla="*/ 0 h 2802546"/>
              <a:gd name="connsiteX8" fmla="*/ 4197894 w 4197894"/>
              <a:gd name="connsiteY8" fmla="*/ 616560 h 2802546"/>
              <a:gd name="connsiteX9" fmla="*/ 4197894 w 4197894"/>
              <a:gd name="connsiteY9" fmla="*/ 1121018 h 2802546"/>
              <a:gd name="connsiteX10" fmla="*/ 4197894 w 4197894"/>
              <a:gd name="connsiteY10" fmla="*/ 1625477 h 2802546"/>
              <a:gd name="connsiteX11" fmla="*/ 4197894 w 4197894"/>
              <a:gd name="connsiteY11" fmla="*/ 2185986 h 2802546"/>
              <a:gd name="connsiteX12" fmla="*/ 4197894 w 4197894"/>
              <a:gd name="connsiteY12" fmla="*/ 2802546 h 2802546"/>
              <a:gd name="connsiteX13" fmla="*/ 3724132 w 4197894"/>
              <a:gd name="connsiteY13" fmla="*/ 2802546 h 2802546"/>
              <a:gd name="connsiteX14" fmla="*/ 3040475 w 4197894"/>
              <a:gd name="connsiteY14" fmla="*/ 2802546 h 2802546"/>
              <a:gd name="connsiteX15" fmla="*/ 2524733 w 4197894"/>
              <a:gd name="connsiteY15" fmla="*/ 2802546 h 2802546"/>
              <a:gd name="connsiteX16" fmla="*/ 1925034 w 4197894"/>
              <a:gd name="connsiteY16" fmla="*/ 2802546 h 2802546"/>
              <a:gd name="connsiteX17" fmla="*/ 1241377 w 4197894"/>
              <a:gd name="connsiteY17" fmla="*/ 2802546 h 2802546"/>
              <a:gd name="connsiteX18" fmla="*/ 641678 w 4197894"/>
              <a:gd name="connsiteY18" fmla="*/ 2802546 h 2802546"/>
              <a:gd name="connsiteX19" fmla="*/ 0 w 4197894"/>
              <a:gd name="connsiteY19" fmla="*/ 2802546 h 2802546"/>
              <a:gd name="connsiteX20" fmla="*/ 0 w 4197894"/>
              <a:gd name="connsiteY20" fmla="*/ 2298088 h 2802546"/>
              <a:gd name="connsiteX21" fmla="*/ 0 w 4197894"/>
              <a:gd name="connsiteY21" fmla="*/ 1765604 h 2802546"/>
              <a:gd name="connsiteX22" fmla="*/ 0 w 4197894"/>
              <a:gd name="connsiteY22" fmla="*/ 1149044 h 2802546"/>
              <a:gd name="connsiteX23" fmla="*/ 0 w 4197894"/>
              <a:gd name="connsiteY23" fmla="*/ 588535 h 2802546"/>
              <a:gd name="connsiteX24" fmla="*/ 0 w 4197894"/>
              <a:gd name="connsiteY24" fmla="*/ 0 h 2802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97894" h="2802546" extrusionOk="0">
                <a:moveTo>
                  <a:pt x="0" y="0"/>
                </a:moveTo>
                <a:cubicBezTo>
                  <a:pt x="177320" y="-3474"/>
                  <a:pt x="334848" y="57246"/>
                  <a:pt x="557720" y="0"/>
                </a:cubicBezTo>
                <a:cubicBezTo>
                  <a:pt x="780592" y="-57246"/>
                  <a:pt x="892797" y="40708"/>
                  <a:pt x="1031483" y="0"/>
                </a:cubicBezTo>
                <a:cubicBezTo>
                  <a:pt x="1170169" y="-40708"/>
                  <a:pt x="1441591" y="29144"/>
                  <a:pt x="1715140" y="0"/>
                </a:cubicBezTo>
                <a:cubicBezTo>
                  <a:pt x="1988689" y="-29144"/>
                  <a:pt x="2097141" y="48515"/>
                  <a:pt x="2272860" y="0"/>
                </a:cubicBezTo>
                <a:cubicBezTo>
                  <a:pt x="2448579" y="-48515"/>
                  <a:pt x="2626272" y="65406"/>
                  <a:pt x="2830580" y="0"/>
                </a:cubicBezTo>
                <a:cubicBezTo>
                  <a:pt x="3034888" y="-65406"/>
                  <a:pt x="3318966" y="81224"/>
                  <a:pt x="3514237" y="0"/>
                </a:cubicBezTo>
                <a:cubicBezTo>
                  <a:pt x="3709508" y="-81224"/>
                  <a:pt x="3998348" y="41686"/>
                  <a:pt x="4197894" y="0"/>
                </a:cubicBezTo>
                <a:cubicBezTo>
                  <a:pt x="4209212" y="218894"/>
                  <a:pt x="4144765" y="329283"/>
                  <a:pt x="4197894" y="616560"/>
                </a:cubicBezTo>
                <a:cubicBezTo>
                  <a:pt x="4251023" y="903837"/>
                  <a:pt x="4161218" y="954809"/>
                  <a:pt x="4197894" y="1121018"/>
                </a:cubicBezTo>
                <a:cubicBezTo>
                  <a:pt x="4234570" y="1287227"/>
                  <a:pt x="4151930" y="1404808"/>
                  <a:pt x="4197894" y="1625477"/>
                </a:cubicBezTo>
                <a:cubicBezTo>
                  <a:pt x="4243858" y="1846146"/>
                  <a:pt x="4183522" y="2022911"/>
                  <a:pt x="4197894" y="2185986"/>
                </a:cubicBezTo>
                <a:cubicBezTo>
                  <a:pt x="4212266" y="2349061"/>
                  <a:pt x="4146198" y="2624964"/>
                  <a:pt x="4197894" y="2802546"/>
                </a:cubicBezTo>
                <a:cubicBezTo>
                  <a:pt x="4056888" y="2827549"/>
                  <a:pt x="3957569" y="2794844"/>
                  <a:pt x="3724132" y="2802546"/>
                </a:cubicBezTo>
                <a:cubicBezTo>
                  <a:pt x="3490695" y="2810248"/>
                  <a:pt x="3320153" y="2786907"/>
                  <a:pt x="3040475" y="2802546"/>
                </a:cubicBezTo>
                <a:cubicBezTo>
                  <a:pt x="2760797" y="2818185"/>
                  <a:pt x="2729739" y="2782173"/>
                  <a:pt x="2524733" y="2802546"/>
                </a:cubicBezTo>
                <a:cubicBezTo>
                  <a:pt x="2319727" y="2822919"/>
                  <a:pt x="2125769" y="2792748"/>
                  <a:pt x="1925034" y="2802546"/>
                </a:cubicBezTo>
                <a:cubicBezTo>
                  <a:pt x="1724299" y="2812344"/>
                  <a:pt x="1489516" y="2728302"/>
                  <a:pt x="1241377" y="2802546"/>
                </a:cubicBezTo>
                <a:cubicBezTo>
                  <a:pt x="993238" y="2876790"/>
                  <a:pt x="816658" y="2779036"/>
                  <a:pt x="641678" y="2802546"/>
                </a:cubicBezTo>
                <a:cubicBezTo>
                  <a:pt x="466698" y="2826056"/>
                  <a:pt x="244806" y="2765554"/>
                  <a:pt x="0" y="2802546"/>
                </a:cubicBezTo>
                <a:cubicBezTo>
                  <a:pt x="-59428" y="2638849"/>
                  <a:pt x="59500" y="2429006"/>
                  <a:pt x="0" y="2298088"/>
                </a:cubicBezTo>
                <a:cubicBezTo>
                  <a:pt x="-59500" y="2167170"/>
                  <a:pt x="50549" y="2009701"/>
                  <a:pt x="0" y="1765604"/>
                </a:cubicBezTo>
                <a:cubicBezTo>
                  <a:pt x="-50549" y="1521507"/>
                  <a:pt x="69548" y="1432781"/>
                  <a:pt x="0" y="1149044"/>
                </a:cubicBezTo>
                <a:cubicBezTo>
                  <a:pt x="-69548" y="865307"/>
                  <a:pt x="48524" y="806052"/>
                  <a:pt x="0" y="588535"/>
                </a:cubicBezTo>
                <a:cubicBezTo>
                  <a:pt x="-48524" y="371018"/>
                  <a:pt x="56185" y="236718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E5D77B3D-5460-B317-FCCE-FE2F9D24B8A5}"/>
              </a:ext>
            </a:extLst>
          </p:cNvPr>
          <p:cNvCxnSpPr>
            <a:cxnSpLocks/>
            <a:stCxn id="16" idx="3"/>
            <a:endCxn id="171" idx="1"/>
          </p:cNvCxnSpPr>
          <p:nvPr/>
        </p:nvCxnSpPr>
        <p:spPr>
          <a:xfrm flipV="1">
            <a:off x="2400054" y="3310684"/>
            <a:ext cx="1914021" cy="317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3B190A77-BA1B-BEE9-359E-84DCD40A7015}"/>
              </a:ext>
            </a:extLst>
          </p:cNvPr>
          <p:cNvCxnSpPr>
            <a:cxnSpLocks/>
            <a:stCxn id="17" idx="3"/>
            <a:endCxn id="171" idx="1"/>
          </p:cNvCxnSpPr>
          <p:nvPr/>
        </p:nvCxnSpPr>
        <p:spPr>
          <a:xfrm flipV="1">
            <a:off x="2400054" y="3310684"/>
            <a:ext cx="1914021" cy="167487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459C1B2F-9118-30EE-1F70-798CDB457B0A}"/>
              </a:ext>
            </a:extLst>
          </p:cNvPr>
          <p:cNvSpPr txBox="1"/>
          <p:nvPr/>
        </p:nvSpPr>
        <p:spPr>
          <a:xfrm rot="2517172">
            <a:off x="2247871" y="2062930"/>
            <a:ext cx="2331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cs typeface="Times New Roman" panose="02020603050405020304" pitchFamily="18" charset="0"/>
              </a:rPr>
              <a:t>① </a:t>
            </a:r>
            <a:r>
              <a:rPr lang="en-US" sz="1600" b="1" dirty="0">
                <a:cs typeface="Times New Roman" panose="02020603050405020304" pitchFamily="18" charset="0"/>
              </a:rPr>
              <a:t>Private data collection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F055B7F-FC0C-0781-84C6-32B00B6FFB6C}"/>
              </a:ext>
            </a:extLst>
          </p:cNvPr>
          <p:cNvSpPr txBox="1"/>
          <p:nvPr/>
        </p:nvSpPr>
        <p:spPr>
          <a:xfrm rot="19096548">
            <a:off x="2239304" y="4222840"/>
            <a:ext cx="2331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cs typeface="Times New Roman" panose="02020603050405020304" pitchFamily="18" charset="0"/>
              </a:rPr>
              <a:t>① </a:t>
            </a:r>
            <a:r>
              <a:rPr lang="en-US" sz="1600" b="1" dirty="0">
                <a:cs typeface="Times New Roman" panose="02020603050405020304" pitchFamily="18" charset="0"/>
              </a:rPr>
              <a:t>Private data collection</a:t>
            </a:r>
          </a:p>
        </p:txBody>
      </p:sp>
      <p:pic>
        <p:nvPicPr>
          <p:cNvPr id="191" name="Graphic 190" descr="Database with solid fill">
            <a:extLst>
              <a:ext uri="{FF2B5EF4-FFF2-40B4-BE49-F238E27FC236}">
                <a16:creationId xmlns:a16="http://schemas.microsoft.com/office/drawing/2014/main" id="{006185DE-D64B-6FAE-E1F4-576B3365F8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20258" y="1915816"/>
            <a:ext cx="596548" cy="596548"/>
          </a:xfrm>
          <a:prstGeom prst="rect">
            <a:avLst/>
          </a:prstGeom>
        </p:spPr>
      </p:pic>
      <p:sp>
        <p:nvSpPr>
          <p:cNvPr id="193" name="TextBox 192">
            <a:extLst>
              <a:ext uri="{FF2B5EF4-FFF2-40B4-BE49-F238E27FC236}">
                <a16:creationId xmlns:a16="http://schemas.microsoft.com/office/drawing/2014/main" id="{1833439C-2D8D-83AB-318E-2A735E44BE25}"/>
              </a:ext>
            </a:extLst>
          </p:cNvPr>
          <p:cNvSpPr txBox="1"/>
          <p:nvPr/>
        </p:nvSpPr>
        <p:spPr>
          <a:xfrm>
            <a:off x="4417802" y="2053564"/>
            <a:ext cx="173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Centralized data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0C64307-D012-E917-6B91-588DFC33D4F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9409" y="3875788"/>
            <a:ext cx="360000" cy="35984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75411CF-2000-F2C4-9B9F-644A655B58C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22708" y="3875788"/>
            <a:ext cx="360000" cy="35984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D9BE40-04A4-1082-3176-376F67C4C10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5573570" y="3875788"/>
            <a:ext cx="360000" cy="35984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628C48D-F122-639F-34EF-3E832DA5C4E9}"/>
              </a:ext>
            </a:extLst>
          </p:cNvPr>
          <p:cNvSpPr txBox="1"/>
          <p:nvPr/>
        </p:nvSpPr>
        <p:spPr>
          <a:xfrm>
            <a:off x="4665042" y="4256373"/>
            <a:ext cx="3593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900" b="1" dirty="0"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621345E-5A73-3449-A222-3430AEA4E935}"/>
              </a:ext>
            </a:extLst>
          </p:cNvPr>
          <p:cNvSpPr/>
          <p:nvPr/>
        </p:nvSpPr>
        <p:spPr>
          <a:xfrm>
            <a:off x="4669409" y="4295304"/>
            <a:ext cx="355027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EFD619-BB5F-AC31-47EB-67FD7D43DE8B}"/>
              </a:ext>
            </a:extLst>
          </p:cNvPr>
          <p:cNvSpPr txBox="1"/>
          <p:nvPr/>
        </p:nvSpPr>
        <p:spPr>
          <a:xfrm>
            <a:off x="5051940" y="4256373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Plane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37B12AD-64A9-DCEE-D9EE-AA754E0E75D1}"/>
              </a:ext>
            </a:extLst>
          </p:cNvPr>
          <p:cNvSpPr/>
          <p:nvPr/>
        </p:nvSpPr>
        <p:spPr>
          <a:xfrm>
            <a:off x="5128681" y="4295304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8293EE-0AEE-078B-C27B-6E68AF29D1E4}"/>
              </a:ext>
            </a:extLst>
          </p:cNvPr>
          <p:cNvSpPr txBox="1"/>
          <p:nvPr/>
        </p:nvSpPr>
        <p:spPr>
          <a:xfrm>
            <a:off x="5500860" y="4256373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Truck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AF9F4E-8A4A-83AC-F5DF-9C8B1747B959}"/>
              </a:ext>
            </a:extLst>
          </p:cNvPr>
          <p:cNvSpPr/>
          <p:nvPr/>
        </p:nvSpPr>
        <p:spPr>
          <a:xfrm>
            <a:off x="5577601" y="4295304"/>
            <a:ext cx="355969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6" name="Picture 195">
            <a:extLst>
              <a:ext uri="{FF2B5EF4-FFF2-40B4-BE49-F238E27FC236}">
                <a16:creationId xmlns:a16="http://schemas.microsoft.com/office/drawing/2014/main" id="{25EF458E-750B-B7B4-F8E0-DE41DA2FF27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30314" y="2492786"/>
            <a:ext cx="360000" cy="359849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0325BBCD-9EEF-7673-63D7-60A7DAC2217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76229" y="2492786"/>
            <a:ext cx="360000" cy="359849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D9BCBB18-B617-F583-25C7-0470A26A5F5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29876" y="2492786"/>
            <a:ext cx="360000" cy="359849"/>
          </a:xfrm>
          <a:prstGeom prst="rect">
            <a:avLst/>
          </a:prstGeom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F3ADF9B2-26FB-0527-9320-BA3CAADBB6E9}"/>
              </a:ext>
            </a:extLst>
          </p:cNvPr>
          <p:cNvSpPr txBox="1"/>
          <p:nvPr/>
        </p:nvSpPr>
        <p:spPr>
          <a:xfrm>
            <a:off x="5504508" y="2873371"/>
            <a:ext cx="446602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Ship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CD41DE3-151C-8691-B580-F2438246EAB7}"/>
              </a:ext>
            </a:extLst>
          </p:cNvPr>
          <p:cNvSpPr/>
          <p:nvPr/>
        </p:nvSpPr>
        <p:spPr>
          <a:xfrm>
            <a:off x="5534852" y="2912302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5C58AAB-9043-EBC9-973A-6E5B96CAF4EB}"/>
              </a:ext>
            </a:extLst>
          </p:cNvPr>
          <p:cNvSpPr txBox="1"/>
          <p:nvPr/>
        </p:nvSpPr>
        <p:spPr>
          <a:xfrm>
            <a:off x="5084408" y="2873371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489DCF28-43C3-B006-7104-FDDFB3B05E4B}"/>
              </a:ext>
            </a:extLst>
          </p:cNvPr>
          <p:cNvSpPr/>
          <p:nvPr/>
        </p:nvSpPr>
        <p:spPr>
          <a:xfrm>
            <a:off x="5088777" y="2912302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883E1B9-F323-2268-7494-E3573139119D}"/>
              </a:ext>
            </a:extLst>
          </p:cNvPr>
          <p:cNvSpPr txBox="1"/>
          <p:nvPr/>
        </p:nvSpPr>
        <p:spPr>
          <a:xfrm>
            <a:off x="4610200" y="2873371"/>
            <a:ext cx="4221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Dog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096F956-4BC3-7D6B-F968-FFA46301E720}"/>
              </a:ext>
            </a:extLst>
          </p:cNvPr>
          <p:cNvSpPr/>
          <p:nvPr/>
        </p:nvSpPr>
        <p:spPr>
          <a:xfrm>
            <a:off x="4635349" y="2912302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3459E4BB-F507-DE8B-6E4A-91A784FA5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8689" y="3180567"/>
            <a:ext cx="360000" cy="359849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98EBAD4C-C5DC-4462-5D31-C5C7FCDDCF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5042" y="3180567"/>
            <a:ext cx="360000" cy="359849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97887B1B-4D80-627B-99A7-7C36132C7A4C}"/>
              </a:ext>
            </a:extLst>
          </p:cNvPr>
          <p:cNvSpPr txBox="1"/>
          <p:nvPr/>
        </p:nvSpPr>
        <p:spPr>
          <a:xfrm>
            <a:off x="5534991" y="3561152"/>
            <a:ext cx="434388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Car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95CE5E71-B051-19EA-6F85-DE3F86ABCF1A}"/>
              </a:ext>
            </a:extLst>
          </p:cNvPr>
          <p:cNvSpPr/>
          <p:nvPr/>
        </p:nvSpPr>
        <p:spPr>
          <a:xfrm>
            <a:off x="5568416" y="360008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B7726BC-16E4-DEF1-C220-AD383FD7B5E9}"/>
              </a:ext>
            </a:extLst>
          </p:cNvPr>
          <p:cNvSpPr txBox="1"/>
          <p:nvPr/>
        </p:nvSpPr>
        <p:spPr>
          <a:xfrm>
            <a:off x="4591932" y="3561152"/>
            <a:ext cx="5105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Horse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F5B47CA3-6B67-BDD2-A807-DF58B89B6B87}"/>
              </a:ext>
            </a:extLst>
          </p:cNvPr>
          <p:cNvSpPr/>
          <p:nvPr/>
        </p:nvSpPr>
        <p:spPr>
          <a:xfrm>
            <a:off x="4661188" y="360008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27153B78-EAEB-AAC5-55C2-5A9BBB5C40A0}"/>
              </a:ext>
            </a:extLst>
          </p:cNvPr>
          <p:cNvSpPr txBox="1"/>
          <p:nvPr/>
        </p:nvSpPr>
        <p:spPr>
          <a:xfrm>
            <a:off x="5095940" y="3561152"/>
            <a:ext cx="4299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Bird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E4AAD01-C51A-F28D-6ED3-A8BB5D5ECB19}"/>
              </a:ext>
            </a:extLst>
          </p:cNvPr>
          <p:cNvSpPr/>
          <p:nvPr/>
        </p:nvSpPr>
        <p:spPr>
          <a:xfrm>
            <a:off x="5121089" y="360008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13" name="Picture 212">
            <a:extLst>
              <a:ext uri="{FF2B5EF4-FFF2-40B4-BE49-F238E27FC236}">
                <a16:creationId xmlns:a16="http://schemas.microsoft.com/office/drawing/2014/main" id="{79EC7CEC-32EA-6C9B-D69A-302DA3F56E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2376" y="3180491"/>
            <a:ext cx="360000" cy="360000"/>
          </a:xfrm>
          <a:prstGeom prst="rect">
            <a:avLst/>
          </a:prstGeom>
        </p:spPr>
      </p:pic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4745EE40-B0F0-ED64-CF31-4C431A98ACA1}"/>
              </a:ext>
            </a:extLst>
          </p:cNvPr>
          <p:cNvCxnSpPr>
            <a:cxnSpLocks/>
          </p:cNvCxnSpPr>
          <p:nvPr/>
        </p:nvCxnSpPr>
        <p:spPr>
          <a:xfrm>
            <a:off x="6018415" y="3459667"/>
            <a:ext cx="102528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DA82BF39-3C20-CB68-F317-90C045C7DDF7}"/>
              </a:ext>
            </a:extLst>
          </p:cNvPr>
          <p:cNvSpPr txBox="1"/>
          <p:nvPr/>
        </p:nvSpPr>
        <p:spPr>
          <a:xfrm>
            <a:off x="5954936" y="2781264"/>
            <a:ext cx="1088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>
                <a:cs typeface="Times New Roman" panose="02020603050405020304" pitchFamily="18" charset="0"/>
              </a:rPr>
              <a:t>② </a:t>
            </a:r>
            <a:r>
              <a:rPr lang="en-US" b="1" dirty="0">
                <a:cs typeface="Times New Roman" panose="02020603050405020304" pitchFamily="18" charset="0"/>
              </a:rPr>
              <a:t>Model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training</a:t>
            </a:r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25653664-806C-9320-5618-D473D1EAC61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8860" y="1399778"/>
            <a:ext cx="360000" cy="359849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9B7DCADC-B8F1-A978-3682-D15CA7909F5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74775" y="1399778"/>
            <a:ext cx="360000" cy="359849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C190060C-8921-A3A0-C3F8-0F46C608B96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28422" y="1399778"/>
            <a:ext cx="360000" cy="359849"/>
          </a:xfrm>
          <a:prstGeom prst="rect">
            <a:avLst/>
          </a:prstGeom>
        </p:spPr>
      </p:pic>
      <p:sp>
        <p:nvSpPr>
          <p:cNvPr id="226" name="TextBox 225">
            <a:extLst>
              <a:ext uri="{FF2B5EF4-FFF2-40B4-BE49-F238E27FC236}">
                <a16:creationId xmlns:a16="http://schemas.microsoft.com/office/drawing/2014/main" id="{2F245574-8A59-9E63-A193-78CF41B51FA2}"/>
              </a:ext>
            </a:extLst>
          </p:cNvPr>
          <p:cNvSpPr txBox="1"/>
          <p:nvPr/>
        </p:nvSpPr>
        <p:spPr>
          <a:xfrm>
            <a:off x="1803054" y="1780363"/>
            <a:ext cx="446602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Ship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AC372B03-CB6F-C7E7-B811-A79FE8D00AB2}"/>
              </a:ext>
            </a:extLst>
          </p:cNvPr>
          <p:cNvSpPr/>
          <p:nvPr/>
        </p:nvSpPr>
        <p:spPr>
          <a:xfrm>
            <a:off x="1833398" y="1819294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10A7ED2-24DF-257F-A161-CD6A49022531}"/>
              </a:ext>
            </a:extLst>
          </p:cNvPr>
          <p:cNvSpPr txBox="1"/>
          <p:nvPr/>
        </p:nvSpPr>
        <p:spPr>
          <a:xfrm>
            <a:off x="1382954" y="1780363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800493-1A96-ECEF-12FF-94290B4F8A62}"/>
              </a:ext>
            </a:extLst>
          </p:cNvPr>
          <p:cNvSpPr/>
          <p:nvPr/>
        </p:nvSpPr>
        <p:spPr>
          <a:xfrm>
            <a:off x="1387323" y="1819294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4B342C6-7A32-065B-56CE-A7C26EE99856}"/>
              </a:ext>
            </a:extLst>
          </p:cNvPr>
          <p:cNvSpPr txBox="1"/>
          <p:nvPr/>
        </p:nvSpPr>
        <p:spPr>
          <a:xfrm>
            <a:off x="908746" y="1780363"/>
            <a:ext cx="4221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Dog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3C976FB-4691-5E0D-B248-E7570170C5E4}"/>
              </a:ext>
            </a:extLst>
          </p:cNvPr>
          <p:cNvSpPr/>
          <p:nvPr/>
        </p:nvSpPr>
        <p:spPr>
          <a:xfrm>
            <a:off x="933895" y="1819294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32" name="Graphic 231">
            <a:extLst>
              <a:ext uri="{FF2B5EF4-FFF2-40B4-BE49-F238E27FC236}">
                <a16:creationId xmlns:a16="http://schemas.microsoft.com/office/drawing/2014/main" id="{D49C052F-DDD2-5713-5270-14F72F574E1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16196" y="3104670"/>
            <a:ext cx="646603" cy="646332"/>
          </a:xfrm>
          <a:prstGeom prst="rect">
            <a:avLst/>
          </a:prstGeom>
        </p:spPr>
      </p:pic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2647FE3B-B3E6-C6B6-4533-60B9B499A965}"/>
              </a:ext>
            </a:extLst>
          </p:cNvPr>
          <p:cNvCxnSpPr>
            <a:cxnSpLocks/>
          </p:cNvCxnSpPr>
          <p:nvPr/>
        </p:nvCxnSpPr>
        <p:spPr>
          <a:xfrm>
            <a:off x="8526473" y="3506522"/>
            <a:ext cx="138895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725D85D3-5F15-065A-177F-78EFD8219C3A}"/>
              </a:ext>
            </a:extLst>
          </p:cNvPr>
          <p:cNvSpPr txBox="1"/>
          <p:nvPr/>
        </p:nvSpPr>
        <p:spPr>
          <a:xfrm>
            <a:off x="8521352" y="3080660"/>
            <a:ext cx="142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cs typeface="Times New Roman" panose="02020603050405020304" pitchFamily="18" charset="0"/>
              </a:rPr>
              <a:t>③ </a:t>
            </a:r>
            <a:r>
              <a:rPr lang="en-US" b="1" dirty="0">
                <a:cs typeface="Times New Roman" panose="02020603050405020304" pitchFamily="18" charset="0"/>
              </a:rPr>
              <a:t>Inference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B2DADE01-27D3-7F18-D924-E6CF1E96CBBD}"/>
              </a:ext>
            </a:extLst>
          </p:cNvPr>
          <p:cNvCxnSpPr>
            <a:cxnSpLocks/>
          </p:cNvCxnSpPr>
          <p:nvPr/>
        </p:nvCxnSpPr>
        <p:spPr>
          <a:xfrm>
            <a:off x="7741277" y="1942700"/>
            <a:ext cx="0" cy="2769631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Graphic 255" descr="User with solid fill">
            <a:extLst>
              <a:ext uri="{FF2B5EF4-FFF2-40B4-BE49-F238E27FC236}">
                <a16:creationId xmlns:a16="http://schemas.microsoft.com/office/drawing/2014/main" id="{D720706A-ACA2-A465-C4DD-9DADAE6AF27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34833" y="3032637"/>
            <a:ext cx="547200" cy="547200"/>
          </a:xfrm>
          <a:prstGeom prst="rect">
            <a:avLst/>
          </a:prstGeom>
        </p:spPr>
      </p:pic>
      <p:sp>
        <p:nvSpPr>
          <p:cNvPr id="257" name="Rectangle 256">
            <a:extLst>
              <a:ext uri="{FF2B5EF4-FFF2-40B4-BE49-F238E27FC236}">
                <a16:creationId xmlns:a16="http://schemas.microsoft.com/office/drawing/2014/main" id="{92161EAE-E79E-9CB6-07E4-407410338470}"/>
              </a:ext>
            </a:extLst>
          </p:cNvPr>
          <p:cNvSpPr/>
          <p:nvPr/>
        </p:nvSpPr>
        <p:spPr>
          <a:xfrm>
            <a:off x="9947272" y="2382891"/>
            <a:ext cx="2104329" cy="2081214"/>
          </a:xfrm>
          <a:custGeom>
            <a:avLst/>
            <a:gdLst>
              <a:gd name="connsiteX0" fmla="*/ 0 w 2104329"/>
              <a:gd name="connsiteY0" fmla="*/ 0 h 2081214"/>
              <a:gd name="connsiteX1" fmla="*/ 505039 w 2104329"/>
              <a:gd name="connsiteY1" fmla="*/ 0 h 2081214"/>
              <a:gd name="connsiteX2" fmla="*/ 967991 w 2104329"/>
              <a:gd name="connsiteY2" fmla="*/ 0 h 2081214"/>
              <a:gd name="connsiteX3" fmla="*/ 1536160 w 2104329"/>
              <a:gd name="connsiteY3" fmla="*/ 0 h 2081214"/>
              <a:gd name="connsiteX4" fmla="*/ 2104329 w 2104329"/>
              <a:gd name="connsiteY4" fmla="*/ 0 h 2081214"/>
              <a:gd name="connsiteX5" fmla="*/ 2104329 w 2104329"/>
              <a:gd name="connsiteY5" fmla="*/ 499491 h 2081214"/>
              <a:gd name="connsiteX6" fmla="*/ 2104329 w 2104329"/>
              <a:gd name="connsiteY6" fmla="*/ 978171 h 2081214"/>
              <a:gd name="connsiteX7" fmla="*/ 2104329 w 2104329"/>
              <a:gd name="connsiteY7" fmla="*/ 1498474 h 2081214"/>
              <a:gd name="connsiteX8" fmla="*/ 2104329 w 2104329"/>
              <a:gd name="connsiteY8" fmla="*/ 2081214 h 2081214"/>
              <a:gd name="connsiteX9" fmla="*/ 1620333 w 2104329"/>
              <a:gd name="connsiteY9" fmla="*/ 2081214 h 2081214"/>
              <a:gd name="connsiteX10" fmla="*/ 1094251 w 2104329"/>
              <a:gd name="connsiteY10" fmla="*/ 2081214 h 2081214"/>
              <a:gd name="connsiteX11" fmla="*/ 568169 w 2104329"/>
              <a:gd name="connsiteY11" fmla="*/ 2081214 h 2081214"/>
              <a:gd name="connsiteX12" fmla="*/ 0 w 2104329"/>
              <a:gd name="connsiteY12" fmla="*/ 2081214 h 2081214"/>
              <a:gd name="connsiteX13" fmla="*/ 0 w 2104329"/>
              <a:gd name="connsiteY13" fmla="*/ 1519286 h 2081214"/>
              <a:gd name="connsiteX14" fmla="*/ 0 w 2104329"/>
              <a:gd name="connsiteY14" fmla="*/ 957358 h 2081214"/>
              <a:gd name="connsiteX15" fmla="*/ 0 w 2104329"/>
              <a:gd name="connsiteY15" fmla="*/ 0 h 2081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04329" h="2081214" extrusionOk="0">
                <a:moveTo>
                  <a:pt x="0" y="0"/>
                </a:moveTo>
                <a:cubicBezTo>
                  <a:pt x="142568" y="-6214"/>
                  <a:pt x="291383" y="25168"/>
                  <a:pt x="505039" y="0"/>
                </a:cubicBezTo>
                <a:cubicBezTo>
                  <a:pt x="718695" y="-25168"/>
                  <a:pt x="819474" y="22755"/>
                  <a:pt x="967991" y="0"/>
                </a:cubicBezTo>
                <a:cubicBezTo>
                  <a:pt x="1116508" y="-22755"/>
                  <a:pt x="1311209" y="59739"/>
                  <a:pt x="1536160" y="0"/>
                </a:cubicBezTo>
                <a:cubicBezTo>
                  <a:pt x="1761111" y="-59739"/>
                  <a:pt x="1959028" y="53689"/>
                  <a:pt x="2104329" y="0"/>
                </a:cubicBezTo>
                <a:cubicBezTo>
                  <a:pt x="2146623" y="111405"/>
                  <a:pt x="2050426" y="280353"/>
                  <a:pt x="2104329" y="499491"/>
                </a:cubicBezTo>
                <a:cubicBezTo>
                  <a:pt x="2158232" y="718629"/>
                  <a:pt x="2098715" y="815814"/>
                  <a:pt x="2104329" y="978171"/>
                </a:cubicBezTo>
                <a:cubicBezTo>
                  <a:pt x="2109943" y="1140528"/>
                  <a:pt x="2089759" y="1333978"/>
                  <a:pt x="2104329" y="1498474"/>
                </a:cubicBezTo>
                <a:cubicBezTo>
                  <a:pt x="2118899" y="1662970"/>
                  <a:pt x="2059370" y="1870284"/>
                  <a:pt x="2104329" y="2081214"/>
                </a:cubicBezTo>
                <a:cubicBezTo>
                  <a:pt x="1975745" y="2124997"/>
                  <a:pt x="1836713" y="2033634"/>
                  <a:pt x="1620333" y="2081214"/>
                </a:cubicBezTo>
                <a:cubicBezTo>
                  <a:pt x="1403953" y="2128794"/>
                  <a:pt x="1296177" y="2048366"/>
                  <a:pt x="1094251" y="2081214"/>
                </a:cubicBezTo>
                <a:cubicBezTo>
                  <a:pt x="892325" y="2114062"/>
                  <a:pt x="745474" y="2031211"/>
                  <a:pt x="568169" y="2081214"/>
                </a:cubicBezTo>
                <a:cubicBezTo>
                  <a:pt x="390864" y="2131217"/>
                  <a:pt x="137755" y="2063396"/>
                  <a:pt x="0" y="2081214"/>
                </a:cubicBezTo>
                <a:cubicBezTo>
                  <a:pt x="-36911" y="1839950"/>
                  <a:pt x="9489" y="1640055"/>
                  <a:pt x="0" y="1519286"/>
                </a:cubicBezTo>
                <a:cubicBezTo>
                  <a:pt x="-9489" y="1398517"/>
                  <a:pt x="31994" y="1171575"/>
                  <a:pt x="0" y="957358"/>
                </a:cubicBezTo>
                <a:cubicBezTo>
                  <a:pt x="-31994" y="743141"/>
                  <a:pt x="24700" y="372262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4" name="Picture 273">
            <a:extLst>
              <a:ext uri="{FF2B5EF4-FFF2-40B4-BE49-F238E27FC236}">
                <a16:creationId xmlns:a16="http://schemas.microsoft.com/office/drawing/2014/main" id="{FD425BA4-7EB3-8224-8BDB-50DFA90836A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19359" y="2501165"/>
            <a:ext cx="360000" cy="360000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FC0DA950-5967-A02E-E567-29E63DC8AC4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594825" y="2501165"/>
            <a:ext cx="360000" cy="360000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48D1FFEC-1FBE-AAFE-CA66-922A1CFCDD6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058892" y="2502965"/>
            <a:ext cx="356400" cy="356400"/>
          </a:xfrm>
          <a:prstGeom prst="rect">
            <a:avLst/>
          </a:prstGeom>
        </p:spPr>
      </p:pic>
      <p:pic>
        <p:nvPicPr>
          <p:cNvPr id="282" name="Graphic 281">
            <a:extLst>
              <a:ext uri="{FF2B5EF4-FFF2-40B4-BE49-F238E27FC236}">
                <a16:creationId xmlns:a16="http://schemas.microsoft.com/office/drawing/2014/main" id="{55038E15-4437-2562-44BF-287DFEBF2D9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998010" y="3129471"/>
            <a:ext cx="511200" cy="511200"/>
          </a:xfrm>
          <a:prstGeom prst="rect">
            <a:avLst/>
          </a:prstGeom>
        </p:spPr>
      </p:pic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360DB998-1A26-E5DE-FFDA-81B6B3C041FE}"/>
              </a:ext>
            </a:extLst>
          </p:cNvPr>
          <p:cNvCxnSpPr>
            <a:cxnSpLocks/>
          </p:cNvCxnSpPr>
          <p:nvPr/>
        </p:nvCxnSpPr>
        <p:spPr>
          <a:xfrm>
            <a:off x="11253610" y="2889341"/>
            <a:ext cx="1528" cy="2529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8E6FAB34-D1C5-D965-07FA-50D07BCC8CFC}"/>
              </a:ext>
            </a:extLst>
          </p:cNvPr>
          <p:cNvCxnSpPr>
            <a:cxnSpLocks/>
            <a:stCxn id="282" idx="2"/>
          </p:cNvCxnSpPr>
          <p:nvPr/>
        </p:nvCxnSpPr>
        <p:spPr>
          <a:xfrm>
            <a:off x="11253610" y="3640671"/>
            <a:ext cx="0" cy="32031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84619B63-3F5C-28C1-E161-57D280CD3BA2}"/>
              </a:ext>
            </a:extLst>
          </p:cNvPr>
          <p:cNvSpPr txBox="1"/>
          <p:nvPr/>
        </p:nvSpPr>
        <p:spPr>
          <a:xfrm>
            <a:off x="10525932" y="4068049"/>
            <a:ext cx="498379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Deer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40BE3B22-B51F-DC01-4B22-78E96D1E13EF}"/>
              </a:ext>
            </a:extLst>
          </p:cNvPr>
          <p:cNvSpPr txBox="1"/>
          <p:nvPr/>
        </p:nvSpPr>
        <p:spPr>
          <a:xfrm>
            <a:off x="11059413" y="4068049"/>
            <a:ext cx="460088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Ship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63B4A6E9-358C-2A84-7629-9EF5B4DD1592}"/>
              </a:ext>
            </a:extLst>
          </p:cNvPr>
          <p:cNvSpPr txBox="1"/>
          <p:nvPr/>
        </p:nvSpPr>
        <p:spPr>
          <a:xfrm>
            <a:off x="11554603" y="4068049"/>
            <a:ext cx="414721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Car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F1C4930B-1020-54CE-9ED7-700AC2EE6832}"/>
              </a:ext>
            </a:extLst>
          </p:cNvPr>
          <p:cNvCxnSpPr>
            <a:cxnSpLocks/>
          </p:cNvCxnSpPr>
          <p:nvPr/>
        </p:nvCxnSpPr>
        <p:spPr>
          <a:xfrm>
            <a:off x="10455619" y="2435224"/>
            <a:ext cx="0" cy="1895756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782C88EA-3B1F-DA41-4AF5-917A054ED720}"/>
              </a:ext>
            </a:extLst>
          </p:cNvPr>
          <p:cNvSpPr txBox="1"/>
          <p:nvPr/>
        </p:nvSpPr>
        <p:spPr>
          <a:xfrm>
            <a:off x="9872205" y="3532147"/>
            <a:ext cx="648768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User</a:t>
            </a:r>
            <a:endParaRPr lang="en-US" sz="1600" b="1" dirty="0">
              <a:cs typeface="Times New Roman" panose="02020603050405020304" pitchFamily="18" charset="0"/>
            </a:endParaRPr>
          </a:p>
        </p:txBody>
      </p:sp>
      <p:pic>
        <p:nvPicPr>
          <p:cNvPr id="2" name="Graphic 1" descr="Database with solid fill">
            <a:extLst>
              <a:ext uri="{FF2B5EF4-FFF2-40B4-BE49-F238E27FC236}">
                <a16:creationId xmlns:a16="http://schemas.microsoft.com/office/drawing/2014/main" id="{5190FEDC-EA2F-872F-B8F1-7BFA4A8839A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90833" y="2021350"/>
            <a:ext cx="421714" cy="421714"/>
          </a:xfrm>
          <a:prstGeom prst="rect">
            <a:avLst/>
          </a:prstGeom>
        </p:spPr>
      </p:pic>
      <p:pic>
        <p:nvPicPr>
          <p:cNvPr id="4" name="Graphic 3" descr="Database with solid fill">
            <a:extLst>
              <a:ext uri="{FF2B5EF4-FFF2-40B4-BE49-F238E27FC236}">
                <a16:creationId xmlns:a16="http://schemas.microsoft.com/office/drawing/2014/main" id="{3E34A7B3-22EB-BCB6-D989-4F417D3FCC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91943" y="3363362"/>
            <a:ext cx="421714" cy="421714"/>
          </a:xfrm>
          <a:prstGeom prst="rect">
            <a:avLst/>
          </a:prstGeom>
        </p:spPr>
      </p:pic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EE358E07-174F-00D2-83DB-BAA386BD47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92683" y="4229517"/>
            <a:ext cx="421714" cy="421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508235-13B9-D402-9328-70B500F068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471" y="4735529"/>
            <a:ext cx="360000" cy="359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EA146E-0248-07DD-28F0-48EF3A49830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71770" y="4735529"/>
            <a:ext cx="360000" cy="359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C7484-3CED-B222-02C5-459EAC4FDF3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1822632" y="4735529"/>
            <a:ext cx="360000" cy="3598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DE9C5B-A1A6-5D17-0AE2-418BD192D348}"/>
              </a:ext>
            </a:extLst>
          </p:cNvPr>
          <p:cNvSpPr txBox="1"/>
          <p:nvPr/>
        </p:nvSpPr>
        <p:spPr>
          <a:xfrm>
            <a:off x="914104" y="5116114"/>
            <a:ext cx="3593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900" b="1" dirty="0"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3D208C-FBED-9B7E-B906-690A82AD2B2D}"/>
              </a:ext>
            </a:extLst>
          </p:cNvPr>
          <p:cNvSpPr/>
          <p:nvPr/>
        </p:nvSpPr>
        <p:spPr>
          <a:xfrm>
            <a:off x="918471" y="5155045"/>
            <a:ext cx="355027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88D50D-D856-BE48-01FE-684C3C9E0E2B}"/>
              </a:ext>
            </a:extLst>
          </p:cNvPr>
          <p:cNvSpPr txBox="1"/>
          <p:nvPr/>
        </p:nvSpPr>
        <p:spPr>
          <a:xfrm>
            <a:off x="1301002" y="5116114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Plane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C5A5DA-0E2D-9F60-70E2-F89C9E2058D1}"/>
              </a:ext>
            </a:extLst>
          </p:cNvPr>
          <p:cNvSpPr/>
          <p:nvPr/>
        </p:nvSpPr>
        <p:spPr>
          <a:xfrm>
            <a:off x="1377743" y="5155045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43764E-A456-61B1-022C-06BD9DC0DF2D}"/>
              </a:ext>
            </a:extLst>
          </p:cNvPr>
          <p:cNvSpPr txBox="1"/>
          <p:nvPr/>
        </p:nvSpPr>
        <p:spPr>
          <a:xfrm>
            <a:off x="1749922" y="5116114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Truck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B8E224-3D7E-92DD-0148-64DE1FA2D497}"/>
              </a:ext>
            </a:extLst>
          </p:cNvPr>
          <p:cNvSpPr/>
          <p:nvPr/>
        </p:nvSpPr>
        <p:spPr>
          <a:xfrm>
            <a:off x="1826663" y="5155045"/>
            <a:ext cx="355969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884" y="6356350"/>
            <a:ext cx="302682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Limitation of Centralized Model Training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55736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Traditional DL requires </a:t>
            </a:r>
            <a:r>
              <a:rPr lang="en-US" b="1" dirty="0">
                <a:latin typeface="+mn-lt"/>
              </a:rPr>
              <a:t>massive centralized datasets</a:t>
            </a:r>
            <a:r>
              <a:rPr lang="en-US" dirty="0">
                <a:latin typeface="+mn-lt"/>
              </a:rPr>
              <a:t>, but in reality, </a:t>
            </a:r>
            <a:r>
              <a:rPr lang="en-US" b="1" dirty="0">
                <a:latin typeface="+mn-lt"/>
              </a:rPr>
              <a:t>data are often distributed, sensitive, or private</a:t>
            </a:r>
            <a:r>
              <a:rPr lang="en-US" dirty="0">
                <a:latin typeface="+mn-lt"/>
              </a:rPr>
              <a:t> — making central collection impractical or even illegal.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🧍‍♂️ </a:t>
            </a:r>
            <a:r>
              <a:rPr lang="en-US" b="1" dirty="0">
                <a:latin typeface="+mn-lt"/>
              </a:rPr>
              <a:t>Personal privacy</a:t>
            </a:r>
            <a:r>
              <a:rPr lang="en-US" dirty="0">
                <a:latin typeface="+mn-lt"/>
              </a:rPr>
              <a:t>: medical, financial, and behavioral data.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🏢 </a:t>
            </a:r>
            <a:r>
              <a:rPr lang="en-US" b="1" dirty="0">
                <a:latin typeface="+mn-lt"/>
              </a:rPr>
              <a:t>Regulatory constraints</a:t>
            </a:r>
            <a:r>
              <a:rPr lang="en-US" dirty="0">
                <a:latin typeface="+mn-lt"/>
              </a:rPr>
              <a:t>: laws such as GDPR and HIPAA.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🔐 </a:t>
            </a:r>
            <a:r>
              <a:rPr lang="en-US" b="1" dirty="0">
                <a:latin typeface="+mn-lt"/>
              </a:rPr>
              <a:t>Data ownership &amp; security risks</a:t>
            </a:r>
            <a:r>
              <a:rPr lang="en-US" dirty="0">
                <a:latin typeface="+mn-lt"/>
              </a:rPr>
              <a:t>: institutions reluctant to share data.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As a result, data cannot always be shared or transferred to a central server.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accent2"/>
                </a:solidFill>
                <a:latin typeface="+mn-lt"/>
              </a:rPr>
              <a:t>Keep data at the edge — and train models collaboratively!</a:t>
            </a:r>
          </a:p>
        </p:txBody>
      </p:sp>
    </p:spTree>
    <p:extLst>
      <p:ext uri="{BB962C8B-B14F-4D97-AF65-F5344CB8AC3E}">
        <p14:creationId xmlns:p14="http://schemas.microsoft.com/office/powerpoint/2010/main" val="300755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884" y="6356350"/>
            <a:ext cx="302682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Federated Learning (FL)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55736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FL enables multiple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clients</a:t>
            </a:r>
            <a:r>
              <a:rPr lang="en-US" dirty="0">
                <a:latin typeface="+mn-lt"/>
              </a:rPr>
              <a:t> (devices or organizations) to train a </a:t>
            </a:r>
            <a:r>
              <a:rPr lang="en-US" b="1" dirty="0">
                <a:latin typeface="+mn-lt"/>
              </a:rPr>
              <a:t>shared model </a:t>
            </a:r>
            <a:r>
              <a:rPr lang="en-US" dirty="0">
                <a:latin typeface="+mn-lt"/>
              </a:rPr>
              <a:t>without sharing raw data under the coordination of a central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server</a:t>
            </a:r>
            <a:r>
              <a:rPr lang="en-US" dirty="0">
                <a:latin typeface="+mn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Roles in FL</a:t>
            </a:r>
            <a:r>
              <a:rPr lang="en-US" dirty="0">
                <a:latin typeface="+mn-lt"/>
              </a:rPr>
              <a:t>:</a:t>
            </a:r>
          </a:p>
          <a:p>
            <a:pPr lvl="1"/>
            <a:r>
              <a:rPr lang="en-US" b="1" dirty="0">
                <a:latin typeface="+mn-lt"/>
              </a:rPr>
              <a:t>Server </a:t>
            </a:r>
            <a:r>
              <a:rPr lang="en-US" dirty="0">
                <a:latin typeface="+mn-lt"/>
              </a:rPr>
              <a:t>m</a:t>
            </a:r>
            <a:r>
              <a:rPr lang="en-US" sz="2400" dirty="0">
                <a:latin typeface="+mn-lt"/>
              </a:rPr>
              <a:t>aintains the </a:t>
            </a:r>
            <a:r>
              <a:rPr lang="en-US" sz="2400" b="1" dirty="0">
                <a:latin typeface="+mn-lt"/>
              </a:rPr>
              <a:t>global model</a:t>
            </a:r>
            <a:r>
              <a:rPr lang="en-US" sz="2400" dirty="0">
                <a:latin typeface="+mn-lt"/>
              </a:rPr>
              <a:t>.</a:t>
            </a:r>
          </a:p>
          <a:p>
            <a:pPr lvl="2"/>
            <a:r>
              <a:rPr lang="en-US" sz="2400" dirty="0">
                <a:latin typeface="+mn-lt"/>
              </a:rPr>
              <a:t>In each training round, </a:t>
            </a:r>
            <a:r>
              <a:rPr lang="en-US" sz="2400" b="1" dirty="0">
                <a:latin typeface="+mn-lt"/>
              </a:rPr>
              <a:t>broadcasts</a:t>
            </a:r>
            <a:r>
              <a:rPr lang="en-US" sz="2400" dirty="0">
                <a:latin typeface="+mn-lt"/>
              </a:rPr>
              <a:t> the current global model to selected clients.</a:t>
            </a:r>
          </a:p>
          <a:p>
            <a:pPr lvl="2"/>
            <a:r>
              <a:rPr lang="en-US" sz="2400" b="1" dirty="0">
                <a:latin typeface="+mn-lt"/>
              </a:rPr>
              <a:t>Aggregates</a:t>
            </a:r>
            <a:r>
              <a:rPr lang="en-US" sz="2400" dirty="0">
                <a:latin typeface="+mn-lt"/>
              </a:rPr>
              <a:t> the received model updates from clients to refine the global model.</a:t>
            </a:r>
          </a:p>
          <a:p>
            <a:pPr lvl="1"/>
            <a:endParaRPr lang="en-US" b="1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Local clients hold </a:t>
            </a:r>
            <a:r>
              <a:rPr lang="en-US" sz="2400" b="1" dirty="0">
                <a:latin typeface="+mn-lt"/>
              </a:rPr>
              <a:t>private local data</a:t>
            </a:r>
            <a:r>
              <a:rPr lang="en-US" sz="2400" dirty="0">
                <a:latin typeface="+mn-lt"/>
              </a:rPr>
              <a:t> that never leave their devices.</a:t>
            </a:r>
          </a:p>
          <a:p>
            <a:pPr lvl="2"/>
            <a:r>
              <a:rPr lang="en-US" sz="2400" b="1" dirty="0">
                <a:latin typeface="+mn-lt"/>
              </a:rPr>
              <a:t>Train</a:t>
            </a:r>
            <a:r>
              <a:rPr lang="en-US" sz="2400" dirty="0">
                <a:latin typeface="+mn-lt"/>
              </a:rPr>
              <a:t> the received global model on their own datasets.</a:t>
            </a:r>
          </a:p>
          <a:p>
            <a:pPr lvl="2"/>
            <a:r>
              <a:rPr lang="en-US" sz="2400" b="1" dirty="0">
                <a:latin typeface="+mn-lt"/>
              </a:rPr>
              <a:t>Send model updates</a:t>
            </a:r>
            <a:r>
              <a:rPr lang="en-US" sz="2400" dirty="0">
                <a:latin typeface="+mn-lt"/>
              </a:rPr>
              <a:t> (the difference between the trained local model and the received global model) back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386307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50129" y="6356350"/>
            <a:ext cx="1798437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Federated Learning (FL) — Cont. 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CD556754-D2A4-A333-0CDB-92132C16738E}"/>
              </a:ext>
            </a:extLst>
          </p:cNvPr>
          <p:cNvSpPr/>
          <p:nvPr/>
        </p:nvSpPr>
        <p:spPr>
          <a:xfrm rot="16200000">
            <a:off x="6247988" y="3500271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BF33BAC6-60BE-E2F9-5C2A-1ABCE8590870}"/>
              </a:ext>
            </a:extLst>
          </p:cNvPr>
          <p:cNvSpPr/>
          <p:nvPr/>
        </p:nvSpPr>
        <p:spPr>
          <a:xfrm rot="5400000">
            <a:off x="6452334" y="3500271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12B805-91EA-EDFB-E121-93D168808421}"/>
              </a:ext>
            </a:extLst>
          </p:cNvPr>
          <p:cNvSpPr/>
          <p:nvPr/>
        </p:nvSpPr>
        <p:spPr>
          <a:xfrm>
            <a:off x="2975121" y="1002985"/>
            <a:ext cx="6984734" cy="2235283"/>
          </a:xfrm>
          <a:custGeom>
            <a:avLst/>
            <a:gdLst>
              <a:gd name="connsiteX0" fmla="*/ 0 w 6984734"/>
              <a:gd name="connsiteY0" fmla="*/ 0 h 2235283"/>
              <a:gd name="connsiteX1" fmla="*/ 628626 w 6984734"/>
              <a:gd name="connsiteY1" fmla="*/ 0 h 2235283"/>
              <a:gd name="connsiteX2" fmla="*/ 1117557 w 6984734"/>
              <a:gd name="connsiteY2" fmla="*/ 0 h 2235283"/>
              <a:gd name="connsiteX3" fmla="*/ 1955726 w 6984734"/>
              <a:gd name="connsiteY3" fmla="*/ 0 h 2235283"/>
              <a:gd name="connsiteX4" fmla="*/ 2584352 w 6984734"/>
              <a:gd name="connsiteY4" fmla="*/ 0 h 2235283"/>
              <a:gd name="connsiteX5" fmla="*/ 3212978 w 6984734"/>
              <a:gd name="connsiteY5" fmla="*/ 0 h 2235283"/>
              <a:gd name="connsiteX6" fmla="*/ 4051146 w 6984734"/>
              <a:gd name="connsiteY6" fmla="*/ 0 h 2235283"/>
              <a:gd name="connsiteX7" fmla="*/ 4609924 w 6984734"/>
              <a:gd name="connsiteY7" fmla="*/ 0 h 2235283"/>
              <a:gd name="connsiteX8" fmla="*/ 5448093 w 6984734"/>
              <a:gd name="connsiteY8" fmla="*/ 0 h 2235283"/>
              <a:gd name="connsiteX9" fmla="*/ 6286261 w 6984734"/>
              <a:gd name="connsiteY9" fmla="*/ 0 h 2235283"/>
              <a:gd name="connsiteX10" fmla="*/ 6984734 w 6984734"/>
              <a:gd name="connsiteY10" fmla="*/ 0 h 2235283"/>
              <a:gd name="connsiteX11" fmla="*/ 6984734 w 6984734"/>
              <a:gd name="connsiteY11" fmla="*/ 603526 h 2235283"/>
              <a:gd name="connsiteX12" fmla="*/ 6984734 w 6984734"/>
              <a:gd name="connsiteY12" fmla="*/ 1184700 h 2235283"/>
              <a:gd name="connsiteX13" fmla="*/ 6984734 w 6984734"/>
              <a:gd name="connsiteY13" fmla="*/ 1676462 h 2235283"/>
              <a:gd name="connsiteX14" fmla="*/ 6984734 w 6984734"/>
              <a:gd name="connsiteY14" fmla="*/ 2235283 h 2235283"/>
              <a:gd name="connsiteX15" fmla="*/ 6286261 w 6984734"/>
              <a:gd name="connsiteY15" fmla="*/ 2235283 h 2235283"/>
              <a:gd name="connsiteX16" fmla="*/ 5587787 w 6984734"/>
              <a:gd name="connsiteY16" fmla="*/ 2235283 h 2235283"/>
              <a:gd name="connsiteX17" fmla="*/ 4749619 w 6984734"/>
              <a:gd name="connsiteY17" fmla="*/ 2235283 h 2235283"/>
              <a:gd name="connsiteX18" fmla="*/ 4051146 w 6984734"/>
              <a:gd name="connsiteY18" fmla="*/ 2235283 h 2235283"/>
              <a:gd name="connsiteX19" fmla="*/ 3562214 w 6984734"/>
              <a:gd name="connsiteY19" fmla="*/ 2235283 h 2235283"/>
              <a:gd name="connsiteX20" fmla="*/ 3003436 w 6984734"/>
              <a:gd name="connsiteY20" fmla="*/ 2235283 h 2235283"/>
              <a:gd name="connsiteX21" fmla="*/ 2165268 w 6984734"/>
              <a:gd name="connsiteY21" fmla="*/ 2235283 h 2235283"/>
              <a:gd name="connsiteX22" fmla="*/ 1466794 w 6984734"/>
              <a:gd name="connsiteY22" fmla="*/ 2235283 h 2235283"/>
              <a:gd name="connsiteX23" fmla="*/ 908015 w 6984734"/>
              <a:gd name="connsiteY23" fmla="*/ 2235283 h 2235283"/>
              <a:gd name="connsiteX24" fmla="*/ 0 w 6984734"/>
              <a:gd name="connsiteY24" fmla="*/ 2235283 h 2235283"/>
              <a:gd name="connsiteX25" fmla="*/ 0 w 6984734"/>
              <a:gd name="connsiteY25" fmla="*/ 1743521 h 2235283"/>
              <a:gd name="connsiteX26" fmla="*/ 0 w 6984734"/>
              <a:gd name="connsiteY26" fmla="*/ 1251758 h 2235283"/>
              <a:gd name="connsiteX27" fmla="*/ 0 w 6984734"/>
              <a:gd name="connsiteY27" fmla="*/ 670585 h 2235283"/>
              <a:gd name="connsiteX28" fmla="*/ 0 w 6984734"/>
              <a:gd name="connsiteY28" fmla="*/ 0 h 2235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984734" h="2235283" extrusionOk="0">
                <a:moveTo>
                  <a:pt x="0" y="0"/>
                </a:moveTo>
                <a:cubicBezTo>
                  <a:pt x="170869" y="-4909"/>
                  <a:pt x="379832" y="21996"/>
                  <a:pt x="628626" y="0"/>
                </a:cubicBezTo>
                <a:cubicBezTo>
                  <a:pt x="877420" y="-21996"/>
                  <a:pt x="879128" y="-18582"/>
                  <a:pt x="1117557" y="0"/>
                </a:cubicBezTo>
                <a:cubicBezTo>
                  <a:pt x="1355986" y="18582"/>
                  <a:pt x="1665544" y="-1205"/>
                  <a:pt x="1955726" y="0"/>
                </a:cubicBezTo>
                <a:cubicBezTo>
                  <a:pt x="2245908" y="1205"/>
                  <a:pt x="2415094" y="-28260"/>
                  <a:pt x="2584352" y="0"/>
                </a:cubicBezTo>
                <a:cubicBezTo>
                  <a:pt x="2753610" y="28260"/>
                  <a:pt x="3067833" y="24071"/>
                  <a:pt x="3212978" y="0"/>
                </a:cubicBezTo>
                <a:cubicBezTo>
                  <a:pt x="3358123" y="-24071"/>
                  <a:pt x="3863018" y="-39908"/>
                  <a:pt x="4051146" y="0"/>
                </a:cubicBezTo>
                <a:cubicBezTo>
                  <a:pt x="4239274" y="39908"/>
                  <a:pt x="4398784" y="24159"/>
                  <a:pt x="4609924" y="0"/>
                </a:cubicBezTo>
                <a:cubicBezTo>
                  <a:pt x="4821064" y="-24159"/>
                  <a:pt x="5041015" y="21619"/>
                  <a:pt x="5448093" y="0"/>
                </a:cubicBezTo>
                <a:cubicBezTo>
                  <a:pt x="5855171" y="-21619"/>
                  <a:pt x="6070449" y="27695"/>
                  <a:pt x="6286261" y="0"/>
                </a:cubicBezTo>
                <a:cubicBezTo>
                  <a:pt x="6502073" y="-27695"/>
                  <a:pt x="6751628" y="12233"/>
                  <a:pt x="6984734" y="0"/>
                </a:cubicBezTo>
                <a:cubicBezTo>
                  <a:pt x="6998039" y="169430"/>
                  <a:pt x="6995551" y="375633"/>
                  <a:pt x="6984734" y="603526"/>
                </a:cubicBezTo>
                <a:cubicBezTo>
                  <a:pt x="6973917" y="831419"/>
                  <a:pt x="6971730" y="919111"/>
                  <a:pt x="6984734" y="1184700"/>
                </a:cubicBezTo>
                <a:cubicBezTo>
                  <a:pt x="6997738" y="1450289"/>
                  <a:pt x="6987383" y="1574943"/>
                  <a:pt x="6984734" y="1676462"/>
                </a:cubicBezTo>
                <a:cubicBezTo>
                  <a:pt x="6982085" y="1777981"/>
                  <a:pt x="6970411" y="2110707"/>
                  <a:pt x="6984734" y="2235283"/>
                </a:cubicBezTo>
                <a:cubicBezTo>
                  <a:pt x="6656580" y="2241030"/>
                  <a:pt x="6432619" y="2252581"/>
                  <a:pt x="6286261" y="2235283"/>
                </a:cubicBezTo>
                <a:cubicBezTo>
                  <a:pt x="6139903" y="2217985"/>
                  <a:pt x="5870183" y="2255665"/>
                  <a:pt x="5587787" y="2235283"/>
                </a:cubicBezTo>
                <a:cubicBezTo>
                  <a:pt x="5305391" y="2214901"/>
                  <a:pt x="4948629" y="2256241"/>
                  <a:pt x="4749619" y="2235283"/>
                </a:cubicBezTo>
                <a:cubicBezTo>
                  <a:pt x="4550609" y="2214325"/>
                  <a:pt x="4309603" y="2267936"/>
                  <a:pt x="4051146" y="2235283"/>
                </a:cubicBezTo>
                <a:cubicBezTo>
                  <a:pt x="3792689" y="2202630"/>
                  <a:pt x="3767259" y="2257965"/>
                  <a:pt x="3562214" y="2235283"/>
                </a:cubicBezTo>
                <a:cubicBezTo>
                  <a:pt x="3357169" y="2212601"/>
                  <a:pt x="3184329" y="2247700"/>
                  <a:pt x="3003436" y="2235283"/>
                </a:cubicBezTo>
                <a:cubicBezTo>
                  <a:pt x="2822543" y="2222866"/>
                  <a:pt x="2572279" y="2269975"/>
                  <a:pt x="2165268" y="2235283"/>
                </a:cubicBezTo>
                <a:cubicBezTo>
                  <a:pt x="1758257" y="2200591"/>
                  <a:pt x="1763716" y="2236259"/>
                  <a:pt x="1466794" y="2235283"/>
                </a:cubicBezTo>
                <a:cubicBezTo>
                  <a:pt x="1169872" y="2234307"/>
                  <a:pt x="1045107" y="2209500"/>
                  <a:pt x="908015" y="2235283"/>
                </a:cubicBezTo>
                <a:cubicBezTo>
                  <a:pt x="770923" y="2261066"/>
                  <a:pt x="235314" y="2221581"/>
                  <a:pt x="0" y="2235283"/>
                </a:cubicBezTo>
                <a:cubicBezTo>
                  <a:pt x="20140" y="2127216"/>
                  <a:pt x="23391" y="1939796"/>
                  <a:pt x="0" y="1743521"/>
                </a:cubicBezTo>
                <a:cubicBezTo>
                  <a:pt x="-23391" y="1547246"/>
                  <a:pt x="-12888" y="1467814"/>
                  <a:pt x="0" y="1251758"/>
                </a:cubicBezTo>
                <a:cubicBezTo>
                  <a:pt x="12888" y="1035702"/>
                  <a:pt x="-8489" y="819358"/>
                  <a:pt x="0" y="670585"/>
                </a:cubicBezTo>
                <a:cubicBezTo>
                  <a:pt x="8489" y="521812"/>
                  <a:pt x="-6611" y="198077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2BBFBA-F1E6-EE2A-BF16-529120D25BE6}"/>
              </a:ext>
            </a:extLst>
          </p:cNvPr>
          <p:cNvSpPr/>
          <p:nvPr/>
        </p:nvSpPr>
        <p:spPr>
          <a:xfrm>
            <a:off x="8076743" y="1603224"/>
            <a:ext cx="1742324" cy="1547575"/>
          </a:xfrm>
          <a:prstGeom prst="roundRect">
            <a:avLst/>
          </a:prstGeom>
          <a:solidFill>
            <a:srgbClr val="70AD47">
              <a:lumMod val="20000"/>
              <a:lumOff val="80000"/>
            </a:srgb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D293AE-BB1E-50C2-F465-377FE79C654F}"/>
              </a:ext>
            </a:extLst>
          </p:cNvPr>
          <p:cNvSpPr/>
          <p:nvPr/>
        </p:nvSpPr>
        <p:spPr>
          <a:xfrm>
            <a:off x="5957691" y="1598668"/>
            <a:ext cx="1728248" cy="15521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ABDA24-92CD-F354-2ABB-E991669FF0E1}"/>
              </a:ext>
            </a:extLst>
          </p:cNvPr>
          <p:cNvSpPr txBox="1"/>
          <p:nvPr/>
        </p:nvSpPr>
        <p:spPr>
          <a:xfrm>
            <a:off x="3731687" y="1002985"/>
            <a:ext cx="1370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DF088-3E73-55B9-E757-FBD020C18B3C}"/>
              </a:ext>
            </a:extLst>
          </p:cNvPr>
          <p:cNvSpPr txBox="1"/>
          <p:nvPr/>
        </p:nvSpPr>
        <p:spPr>
          <a:xfrm>
            <a:off x="8485230" y="1326224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789F19-B31C-468E-B9AB-2619DE6AB31B}"/>
              </a:ext>
            </a:extLst>
          </p:cNvPr>
          <p:cNvSpPr txBox="1"/>
          <p:nvPr/>
        </p:nvSpPr>
        <p:spPr>
          <a:xfrm>
            <a:off x="5521482" y="2064493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750E0F-9F1B-04FE-AC89-083F521730A8}"/>
              </a:ext>
            </a:extLst>
          </p:cNvPr>
          <p:cNvSpPr txBox="1"/>
          <p:nvPr/>
        </p:nvSpPr>
        <p:spPr>
          <a:xfrm>
            <a:off x="7655132" y="205304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E83E05DA-A8BF-76C6-64D6-C131FD00E610}"/>
              </a:ext>
            </a:extLst>
          </p:cNvPr>
          <p:cNvSpPr txBox="1"/>
          <p:nvPr/>
        </p:nvSpPr>
        <p:spPr>
          <a:xfrm>
            <a:off x="2940615" y="2291554"/>
            <a:ext cx="72240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Clients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5AF17D-9505-439E-FA5C-31DD7BEC50ED}"/>
              </a:ext>
            </a:extLst>
          </p:cNvPr>
          <p:cNvCxnSpPr>
            <a:cxnSpLocks/>
          </p:cNvCxnSpPr>
          <p:nvPr/>
        </p:nvCxnSpPr>
        <p:spPr>
          <a:xfrm flipH="1">
            <a:off x="3623870" y="1066485"/>
            <a:ext cx="4022" cy="2199414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4B333E3-841B-939B-5291-7CF1EDD5AA66}"/>
              </a:ext>
            </a:extLst>
          </p:cNvPr>
          <p:cNvSpPr/>
          <p:nvPr/>
        </p:nvSpPr>
        <p:spPr>
          <a:xfrm>
            <a:off x="3803378" y="1603224"/>
            <a:ext cx="1737732" cy="1547575"/>
          </a:xfrm>
          <a:prstGeom prst="roundRect">
            <a:avLst/>
          </a:prstGeom>
          <a:solidFill>
            <a:srgbClr val="70AD47">
              <a:lumMod val="20000"/>
              <a:lumOff val="80000"/>
            </a:srgb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1DB4FC-2A29-1097-44D6-C82F432226EA}"/>
              </a:ext>
            </a:extLst>
          </p:cNvPr>
          <p:cNvSpPr txBox="1"/>
          <p:nvPr/>
        </p:nvSpPr>
        <p:spPr>
          <a:xfrm>
            <a:off x="4233243" y="1327379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ADAD954-510E-474B-60AD-10D85DF02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4563" y="2699162"/>
            <a:ext cx="396166" cy="396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0D370BA-9A45-694B-509C-9567DCFC321E}"/>
              </a:ext>
            </a:extLst>
          </p:cNvPr>
          <p:cNvSpPr txBox="1"/>
          <p:nvPr/>
        </p:nvSpPr>
        <p:spPr>
          <a:xfrm>
            <a:off x="3853715" y="2696508"/>
            <a:ext cx="76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26D9E8-16CB-CCA4-87BB-4BA1295186B7}"/>
              </a:ext>
            </a:extLst>
          </p:cNvPr>
          <p:cNvSpPr txBox="1"/>
          <p:nvPr/>
        </p:nvSpPr>
        <p:spPr>
          <a:xfrm>
            <a:off x="6047996" y="2667038"/>
            <a:ext cx="835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C1310D78-2E4E-F924-AD9E-780982636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254" y="2690593"/>
            <a:ext cx="396166" cy="396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D5FB268-EBFE-57D7-6949-61E611D1FFD1}"/>
              </a:ext>
            </a:extLst>
          </p:cNvPr>
          <p:cNvSpPr txBox="1"/>
          <p:nvPr/>
        </p:nvSpPr>
        <p:spPr>
          <a:xfrm>
            <a:off x="8131406" y="2687939"/>
            <a:ext cx="1020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92ED99-50DE-B92A-A492-5AE9197BE31A}"/>
              </a:ext>
            </a:extLst>
          </p:cNvPr>
          <p:cNvSpPr txBox="1"/>
          <p:nvPr/>
        </p:nvSpPr>
        <p:spPr>
          <a:xfrm>
            <a:off x="6347905" y="1326224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98F4E0F7-A939-D226-BDEE-2427F91CC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0627" y="2699162"/>
            <a:ext cx="396166" cy="39600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D06EF55C-EE4B-BE54-3C69-5F812099EEDD}"/>
              </a:ext>
            </a:extLst>
          </p:cNvPr>
          <p:cNvSpPr/>
          <p:nvPr/>
        </p:nvSpPr>
        <p:spPr>
          <a:xfrm>
            <a:off x="3623870" y="3882656"/>
            <a:ext cx="5499525" cy="911496"/>
          </a:xfrm>
          <a:custGeom>
            <a:avLst/>
            <a:gdLst>
              <a:gd name="connsiteX0" fmla="*/ 0 w 5499525"/>
              <a:gd name="connsiteY0" fmla="*/ 0 h 911496"/>
              <a:gd name="connsiteX1" fmla="*/ 494957 w 5499525"/>
              <a:gd name="connsiteY1" fmla="*/ 0 h 911496"/>
              <a:gd name="connsiteX2" fmla="*/ 879924 w 5499525"/>
              <a:gd name="connsiteY2" fmla="*/ 0 h 911496"/>
              <a:gd name="connsiteX3" fmla="*/ 1539867 w 5499525"/>
              <a:gd name="connsiteY3" fmla="*/ 0 h 911496"/>
              <a:gd name="connsiteX4" fmla="*/ 2034824 w 5499525"/>
              <a:gd name="connsiteY4" fmla="*/ 0 h 911496"/>
              <a:gd name="connsiteX5" fmla="*/ 2529782 w 5499525"/>
              <a:gd name="connsiteY5" fmla="*/ 0 h 911496"/>
              <a:gd name="connsiteX6" fmla="*/ 3189725 w 5499525"/>
              <a:gd name="connsiteY6" fmla="*/ 0 h 911496"/>
              <a:gd name="connsiteX7" fmla="*/ 3629687 w 5499525"/>
              <a:gd name="connsiteY7" fmla="*/ 0 h 911496"/>
              <a:gd name="connsiteX8" fmla="*/ 4289630 w 5499525"/>
              <a:gd name="connsiteY8" fmla="*/ 0 h 911496"/>
              <a:gd name="connsiteX9" fmla="*/ 4949573 w 5499525"/>
              <a:gd name="connsiteY9" fmla="*/ 0 h 911496"/>
              <a:gd name="connsiteX10" fmla="*/ 5499525 w 5499525"/>
              <a:gd name="connsiteY10" fmla="*/ 0 h 911496"/>
              <a:gd name="connsiteX11" fmla="*/ 5499525 w 5499525"/>
              <a:gd name="connsiteY11" fmla="*/ 473978 h 911496"/>
              <a:gd name="connsiteX12" fmla="*/ 5499525 w 5499525"/>
              <a:gd name="connsiteY12" fmla="*/ 911496 h 911496"/>
              <a:gd name="connsiteX13" fmla="*/ 5114558 w 5499525"/>
              <a:gd name="connsiteY13" fmla="*/ 911496 h 911496"/>
              <a:gd name="connsiteX14" fmla="*/ 4454615 w 5499525"/>
              <a:gd name="connsiteY14" fmla="*/ 911496 h 911496"/>
              <a:gd name="connsiteX15" fmla="*/ 4014653 w 5499525"/>
              <a:gd name="connsiteY15" fmla="*/ 911496 h 911496"/>
              <a:gd name="connsiteX16" fmla="*/ 3464701 w 5499525"/>
              <a:gd name="connsiteY16" fmla="*/ 911496 h 911496"/>
              <a:gd name="connsiteX17" fmla="*/ 2804758 w 5499525"/>
              <a:gd name="connsiteY17" fmla="*/ 911496 h 911496"/>
              <a:gd name="connsiteX18" fmla="*/ 2254805 w 5499525"/>
              <a:gd name="connsiteY18" fmla="*/ 911496 h 911496"/>
              <a:gd name="connsiteX19" fmla="*/ 1869839 w 5499525"/>
              <a:gd name="connsiteY19" fmla="*/ 911496 h 911496"/>
              <a:gd name="connsiteX20" fmla="*/ 1429877 w 5499525"/>
              <a:gd name="connsiteY20" fmla="*/ 911496 h 911496"/>
              <a:gd name="connsiteX21" fmla="*/ 769934 w 5499525"/>
              <a:gd name="connsiteY21" fmla="*/ 911496 h 911496"/>
              <a:gd name="connsiteX22" fmla="*/ 0 w 5499525"/>
              <a:gd name="connsiteY22" fmla="*/ 911496 h 911496"/>
              <a:gd name="connsiteX23" fmla="*/ 0 w 5499525"/>
              <a:gd name="connsiteY23" fmla="*/ 473978 h 911496"/>
              <a:gd name="connsiteX24" fmla="*/ 0 w 5499525"/>
              <a:gd name="connsiteY24" fmla="*/ 0 h 9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499525" h="911496" extrusionOk="0">
                <a:moveTo>
                  <a:pt x="0" y="0"/>
                </a:moveTo>
                <a:cubicBezTo>
                  <a:pt x="102132" y="-2934"/>
                  <a:pt x="370177" y="45191"/>
                  <a:pt x="494957" y="0"/>
                </a:cubicBezTo>
                <a:cubicBezTo>
                  <a:pt x="619737" y="-45191"/>
                  <a:pt x="715147" y="10761"/>
                  <a:pt x="879924" y="0"/>
                </a:cubicBezTo>
                <a:cubicBezTo>
                  <a:pt x="1044701" y="-10761"/>
                  <a:pt x="1311765" y="28845"/>
                  <a:pt x="1539867" y="0"/>
                </a:cubicBezTo>
                <a:cubicBezTo>
                  <a:pt x="1767969" y="-28845"/>
                  <a:pt x="1887396" y="58137"/>
                  <a:pt x="2034824" y="0"/>
                </a:cubicBezTo>
                <a:cubicBezTo>
                  <a:pt x="2182252" y="-58137"/>
                  <a:pt x="2356608" y="13878"/>
                  <a:pt x="2529782" y="0"/>
                </a:cubicBezTo>
                <a:cubicBezTo>
                  <a:pt x="2702956" y="-13878"/>
                  <a:pt x="3013066" y="21645"/>
                  <a:pt x="3189725" y="0"/>
                </a:cubicBezTo>
                <a:cubicBezTo>
                  <a:pt x="3366384" y="-21645"/>
                  <a:pt x="3497283" y="41564"/>
                  <a:pt x="3629687" y="0"/>
                </a:cubicBezTo>
                <a:cubicBezTo>
                  <a:pt x="3762091" y="-41564"/>
                  <a:pt x="3997715" y="57446"/>
                  <a:pt x="4289630" y="0"/>
                </a:cubicBezTo>
                <a:cubicBezTo>
                  <a:pt x="4581545" y="-57446"/>
                  <a:pt x="4760115" y="26122"/>
                  <a:pt x="4949573" y="0"/>
                </a:cubicBezTo>
                <a:cubicBezTo>
                  <a:pt x="5139031" y="-26122"/>
                  <a:pt x="5251435" y="13728"/>
                  <a:pt x="5499525" y="0"/>
                </a:cubicBezTo>
                <a:cubicBezTo>
                  <a:pt x="5551390" y="147346"/>
                  <a:pt x="5497500" y="289363"/>
                  <a:pt x="5499525" y="473978"/>
                </a:cubicBezTo>
                <a:cubicBezTo>
                  <a:pt x="5501550" y="658593"/>
                  <a:pt x="5475701" y="719754"/>
                  <a:pt x="5499525" y="911496"/>
                </a:cubicBezTo>
                <a:cubicBezTo>
                  <a:pt x="5400349" y="943514"/>
                  <a:pt x="5211249" y="884287"/>
                  <a:pt x="5114558" y="911496"/>
                </a:cubicBezTo>
                <a:cubicBezTo>
                  <a:pt x="5017867" y="938705"/>
                  <a:pt x="4730901" y="900499"/>
                  <a:pt x="4454615" y="911496"/>
                </a:cubicBezTo>
                <a:cubicBezTo>
                  <a:pt x="4178329" y="922493"/>
                  <a:pt x="4145066" y="907792"/>
                  <a:pt x="4014653" y="911496"/>
                </a:cubicBezTo>
                <a:cubicBezTo>
                  <a:pt x="3884240" y="915200"/>
                  <a:pt x="3678607" y="902732"/>
                  <a:pt x="3464701" y="911496"/>
                </a:cubicBezTo>
                <a:cubicBezTo>
                  <a:pt x="3250795" y="920260"/>
                  <a:pt x="2975987" y="888178"/>
                  <a:pt x="2804758" y="911496"/>
                </a:cubicBezTo>
                <a:cubicBezTo>
                  <a:pt x="2633529" y="934814"/>
                  <a:pt x="2482526" y="874629"/>
                  <a:pt x="2254805" y="911496"/>
                </a:cubicBezTo>
                <a:cubicBezTo>
                  <a:pt x="2027084" y="948363"/>
                  <a:pt x="1984623" y="870696"/>
                  <a:pt x="1869839" y="911496"/>
                </a:cubicBezTo>
                <a:cubicBezTo>
                  <a:pt x="1755055" y="952296"/>
                  <a:pt x="1579975" y="891477"/>
                  <a:pt x="1429877" y="911496"/>
                </a:cubicBezTo>
                <a:cubicBezTo>
                  <a:pt x="1279779" y="931515"/>
                  <a:pt x="962382" y="872874"/>
                  <a:pt x="769934" y="911496"/>
                </a:cubicBezTo>
                <a:cubicBezTo>
                  <a:pt x="577486" y="950118"/>
                  <a:pt x="175938" y="896492"/>
                  <a:pt x="0" y="911496"/>
                </a:cubicBezTo>
                <a:cubicBezTo>
                  <a:pt x="-12727" y="706786"/>
                  <a:pt x="12700" y="587916"/>
                  <a:pt x="0" y="473978"/>
                </a:cubicBezTo>
                <a:cubicBezTo>
                  <a:pt x="-12700" y="360040"/>
                  <a:pt x="10641" y="198571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Graphic 52" descr="Server with solid fill">
            <a:extLst>
              <a:ext uri="{FF2B5EF4-FFF2-40B4-BE49-F238E27FC236}">
                <a16:creationId xmlns:a16="http://schemas.microsoft.com/office/drawing/2014/main" id="{8DC52153-E09C-2118-4072-ACB120030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1660" y="4006395"/>
            <a:ext cx="545563" cy="54556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BACA5BB-108D-0CE7-A67A-F76108F4CCDB}"/>
              </a:ext>
            </a:extLst>
          </p:cNvPr>
          <p:cNvSpPr txBox="1"/>
          <p:nvPr/>
        </p:nvSpPr>
        <p:spPr>
          <a:xfrm>
            <a:off x="3674057" y="4486375"/>
            <a:ext cx="666937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Server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833DD03-E601-C56A-5F31-75A56B1BDB44}"/>
              </a:ext>
            </a:extLst>
          </p:cNvPr>
          <p:cNvCxnSpPr>
            <a:cxnSpLocks/>
          </p:cNvCxnSpPr>
          <p:nvPr/>
        </p:nvCxnSpPr>
        <p:spPr>
          <a:xfrm>
            <a:off x="4338547" y="3935435"/>
            <a:ext cx="0" cy="82800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8E45D13-EB65-4FA4-CF74-DA0BB2AC9292}"/>
              </a:ext>
            </a:extLst>
          </p:cNvPr>
          <p:cNvSpPr txBox="1"/>
          <p:nvPr/>
        </p:nvSpPr>
        <p:spPr>
          <a:xfrm>
            <a:off x="4409765" y="3905839"/>
            <a:ext cx="2244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Server-side Aggregation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968410-7266-D088-F936-38E20305DB6B}"/>
              </a:ext>
            </a:extLst>
          </p:cNvPr>
          <p:cNvSpPr txBox="1"/>
          <p:nvPr/>
        </p:nvSpPr>
        <p:spPr>
          <a:xfrm>
            <a:off x="6161049" y="4153405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AE28A6-C6AD-BF69-2016-10C2DBAA8C17}"/>
              </a:ext>
            </a:extLst>
          </p:cNvPr>
          <p:cNvSpPr txBox="1"/>
          <p:nvPr/>
        </p:nvSpPr>
        <p:spPr>
          <a:xfrm>
            <a:off x="7165547" y="4153405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4AD2B04-F07E-974D-0D14-8A5F0AA97EB0}"/>
              </a:ext>
            </a:extLst>
          </p:cNvPr>
          <p:cNvCxnSpPr>
            <a:cxnSpLocks/>
          </p:cNvCxnSpPr>
          <p:nvPr/>
        </p:nvCxnSpPr>
        <p:spPr>
          <a:xfrm>
            <a:off x="8210015" y="4458842"/>
            <a:ext cx="378732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60" name="Graphic 59">
            <a:extLst>
              <a:ext uri="{FF2B5EF4-FFF2-40B4-BE49-F238E27FC236}">
                <a16:creationId xmlns:a16="http://schemas.microsoft.com/office/drawing/2014/main" id="{BCB1673B-344E-36C6-7A9C-013F861E4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3863" y="4254904"/>
            <a:ext cx="396000" cy="3960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13C23918-A879-C1C0-811F-F86D263FE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9421" y="4254904"/>
            <a:ext cx="396000" cy="396000"/>
          </a:xfrm>
          <a:prstGeom prst="rect">
            <a:avLst/>
          </a:prstGeom>
        </p:spPr>
      </p:pic>
      <p:sp>
        <p:nvSpPr>
          <p:cNvPr id="62" name="Double Bracket 61">
            <a:extLst>
              <a:ext uri="{FF2B5EF4-FFF2-40B4-BE49-F238E27FC236}">
                <a16:creationId xmlns:a16="http://schemas.microsoft.com/office/drawing/2014/main" id="{A5CD6639-0889-8DCE-BCC4-424DE9D22DE0}"/>
              </a:ext>
            </a:extLst>
          </p:cNvPr>
          <p:cNvSpPr/>
          <p:nvPr/>
        </p:nvSpPr>
        <p:spPr>
          <a:xfrm>
            <a:off x="5553939" y="4235452"/>
            <a:ext cx="2573093" cy="430944"/>
          </a:xfrm>
          <a:prstGeom prst="bracketPair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61D2F7-B20F-DC3D-D581-E61F960BC41C}"/>
              </a:ext>
            </a:extLst>
          </p:cNvPr>
          <p:cNvSpPr txBox="1"/>
          <p:nvPr/>
        </p:nvSpPr>
        <p:spPr>
          <a:xfrm>
            <a:off x="4394338" y="4284545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cs typeface="Times New Roman" panose="02020603050405020304" pitchFamily="18" charset="0"/>
              </a:rPr>
              <a:t>④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Aggregate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81C53097-414C-BC7F-F58F-2703D5C91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9899" y="4254904"/>
            <a:ext cx="396166" cy="3960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9A6619B-29C8-B005-5B62-4E6FA439E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791" y="4254904"/>
            <a:ext cx="396166" cy="396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AE76B0F-7A8C-294D-D848-EE66A6536A9C}"/>
              </a:ext>
            </a:extLst>
          </p:cNvPr>
          <p:cNvSpPr txBox="1"/>
          <p:nvPr/>
        </p:nvSpPr>
        <p:spPr>
          <a:xfrm>
            <a:off x="4070843" y="3408580"/>
            <a:ext cx="2144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Times New Roman" panose="02020603050405020304" pitchFamily="18" charset="0"/>
              </a:rPr>
              <a:t>①</a:t>
            </a:r>
            <a:r>
              <a:rPr lang="en-US" sz="1400" b="1" dirty="0">
                <a:cs typeface="Times New Roman" panose="02020603050405020304" pitchFamily="18" charset="0"/>
              </a:rPr>
              <a:t> Broadcast global model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DA7E40-4D4C-77BD-00BF-432EB4B11B29}"/>
              </a:ext>
            </a:extLst>
          </p:cNvPr>
          <p:cNvSpPr txBox="1"/>
          <p:nvPr/>
        </p:nvSpPr>
        <p:spPr>
          <a:xfrm>
            <a:off x="6850948" y="3420390"/>
            <a:ext cx="2441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cs typeface="Times New Roman" panose="02020603050405020304" pitchFamily="18" charset="0"/>
              </a:rPr>
              <a:t>③</a:t>
            </a:r>
            <a:r>
              <a:rPr lang="zh-CN" altLang="en-US" sz="1400" b="1" dirty="0">
                <a:cs typeface="Times New Roman" panose="02020603050405020304" pitchFamily="18" charset="0"/>
              </a:rPr>
              <a:t> </a:t>
            </a:r>
            <a:r>
              <a:rPr lang="en-US" sz="1400" b="1" dirty="0">
                <a:cs typeface="Times New Roman" panose="02020603050405020304" pitchFamily="18" charset="0"/>
              </a:rPr>
              <a:t>Upload local model update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15D4F66-3727-AF3C-799D-EF359B0EE047}"/>
              </a:ext>
            </a:extLst>
          </p:cNvPr>
          <p:cNvSpPr/>
          <p:nvPr/>
        </p:nvSpPr>
        <p:spPr>
          <a:xfrm>
            <a:off x="3967742" y="1719427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540DA5-2CFA-0BCF-50BA-A91DB37BC444}"/>
              </a:ext>
            </a:extLst>
          </p:cNvPr>
          <p:cNvSpPr txBox="1"/>
          <p:nvPr/>
        </p:nvSpPr>
        <p:spPr>
          <a:xfrm>
            <a:off x="4222879" y="1708658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84E7A93-76F6-3028-7A24-552BECCDCB68}"/>
              </a:ext>
            </a:extLst>
          </p:cNvPr>
          <p:cNvSpPr/>
          <p:nvPr/>
        </p:nvSpPr>
        <p:spPr>
          <a:xfrm>
            <a:off x="8250493" y="1722901"/>
            <a:ext cx="1407886" cy="876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36BE77-3386-6AB1-29E1-CE3199842D9E}"/>
              </a:ext>
            </a:extLst>
          </p:cNvPr>
          <p:cNvSpPr txBox="1"/>
          <p:nvPr/>
        </p:nvSpPr>
        <p:spPr>
          <a:xfrm>
            <a:off x="8481097" y="1706997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67EBD63-9AD9-85F2-349E-75D1528DC544}"/>
              </a:ext>
            </a:extLst>
          </p:cNvPr>
          <p:cNvSpPr/>
          <p:nvPr/>
        </p:nvSpPr>
        <p:spPr>
          <a:xfrm>
            <a:off x="6116500" y="1728240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52A0DC1-3704-BB5D-FED3-0531A419F2F1}"/>
              </a:ext>
            </a:extLst>
          </p:cNvPr>
          <p:cNvSpPr txBox="1"/>
          <p:nvPr/>
        </p:nvSpPr>
        <p:spPr>
          <a:xfrm>
            <a:off x="6360941" y="1713205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D0CA141B-D99F-75FE-C098-8E50708DE3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973" y="1957916"/>
            <a:ext cx="360000" cy="359849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A5F1CAC7-EA38-6FF4-74D4-71652D01DD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326" y="1957916"/>
            <a:ext cx="360000" cy="359849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2E1F6B5D-369F-4B0B-A523-87741E431613}"/>
              </a:ext>
            </a:extLst>
          </p:cNvPr>
          <p:cNvSpPr txBox="1"/>
          <p:nvPr/>
        </p:nvSpPr>
        <p:spPr>
          <a:xfrm>
            <a:off x="7078275" y="2338501"/>
            <a:ext cx="434388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Car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385BC1C-09B7-3C21-85B7-8FDA0A49FDEA}"/>
              </a:ext>
            </a:extLst>
          </p:cNvPr>
          <p:cNvSpPr/>
          <p:nvPr/>
        </p:nvSpPr>
        <p:spPr>
          <a:xfrm>
            <a:off x="7111700" y="2377432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BB7A38D-CB23-075A-FFA8-2EA3DB3642DC}"/>
              </a:ext>
            </a:extLst>
          </p:cNvPr>
          <p:cNvSpPr txBox="1"/>
          <p:nvPr/>
        </p:nvSpPr>
        <p:spPr>
          <a:xfrm>
            <a:off x="6135216" y="2338501"/>
            <a:ext cx="5105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Horse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0F882FC-57E2-DE1F-F4C7-6DA2432B5529}"/>
              </a:ext>
            </a:extLst>
          </p:cNvPr>
          <p:cNvSpPr/>
          <p:nvPr/>
        </p:nvSpPr>
        <p:spPr>
          <a:xfrm>
            <a:off x="6204472" y="2377432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66B752E-3D04-A536-744D-B3FB54742B36}"/>
              </a:ext>
            </a:extLst>
          </p:cNvPr>
          <p:cNvSpPr txBox="1"/>
          <p:nvPr/>
        </p:nvSpPr>
        <p:spPr>
          <a:xfrm>
            <a:off x="6639224" y="2338501"/>
            <a:ext cx="4299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Bird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98A8F77-4F67-9D50-532F-3A2B2A9D3093}"/>
              </a:ext>
            </a:extLst>
          </p:cNvPr>
          <p:cNvSpPr/>
          <p:nvPr/>
        </p:nvSpPr>
        <p:spPr>
          <a:xfrm>
            <a:off x="6664373" y="2377432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9E3946FB-BAFE-1AD9-7E19-513EA17CCA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660" y="1957840"/>
            <a:ext cx="360000" cy="36000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3D8BF801-0E54-21B3-64CB-3927D9B04A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3542" y="1945300"/>
            <a:ext cx="360000" cy="359849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CB1060B8-3E15-15F3-AD0D-A085E3F81C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457" y="1945300"/>
            <a:ext cx="360000" cy="359849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6B4A4283-D95E-2665-E578-1CB9704266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3104" y="1945300"/>
            <a:ext cx="360000" cy="359849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128226EC-991A-ED52-10EA-51057DD97BA0}"/>
              </a:ext>
            </a:extLst>
          </p:cNvPr>
          <p:cNvSpPr txBox="1"/>
          <p:nvPr/>
        </p:nvSpPr>
        <p:spPr>
          <a:xfrm>
            <a:off x="4917736" y="2325885"/>
            <a:ext cx="446602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Ship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D8AB5E2-2C5A-CCE1-F05D-401A57CD586D}"/>
              </a:ext>
            </a:extLst>
          </p:cNvPr>
          <p:cNvSpPr/>
          <p:nvPr/>
        </p:nvSpPr>
        <p:spPr>
          <a:xfrm>
            <a:off x="4948080" y="2364816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C1E31B3-B093-44EA-A892-0E67E15A5428}"/>
              </a:ext>
            </a:extLst>
          </p:cNvPr>
          <p:cNvSpPr txBox="1"/>
          <p:nvPr/>
        </p:nvSpPr>
        <p:spPr>
          <a:xfrm>
            <a:off x="4497636" y="2325885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24DA0EF-AB7A-66DE-629D-CC6ECA4BFC06}"/>
              </a:ext>
            </a:extLst>
          </p:cNvPr>
          <p:cNvSpPr/>
          <p:nvPr/>
        </p:nvSpPr>
        <p:spPr>
          <a:xfrm>
            <a:off x="4502005" y="2364816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22798EF-3407-AB00-8EE5-297030434B95}"/>
              </a:ext>
            </a:extLst>
          </p:cNvPr>
          <p:cNvSpPr txBox="1"/>
          <p:nvPr/>
        </p:nvSpPr>
        <p:spPr>
          <a:xfrm>
            <a:off x="4023428" y="2325885"/>
            <a:ext cx="4221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Dog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F0E7E39-FCCC-5D22-2F6F-E452ECD2739B}"/>
              </a:ext>
            </a:extLst>
          </p:cNvPr>
          <p:cNvSpPr/>
          <p:nvPr/>
        </p:nvSpPr>
        <p:spPr>
          <a:xfrm>
            <a:off x="4048577" y="2364816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8C43363C-7CE3-8BEC-40F0-D7631EEC66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8706" y="1945300"/>
            <a:ext cx="360000" cy="359849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7CF29606-27AF-D4E2-E7EB-B8EB0B1339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82005" y="1945300"/>
            <a:ext cx="360000" cy="359849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5266BFF3-436C-B09F-F957-8E49882B25F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9232867" y="1945300"/>
            <a:ext cx="360000" cy="359849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346A0C7B-D4CE-D024-33FA-D19CF9274697}"/>
              </a:ext>
            </a:extLst>
          </p:cNvPr>
          <p:cNvSpPr txBox="1"/>
          <p:nvPr/>
        </p:nvSpPr>
        <p:spPr>
          <a:xfrm>
            <a:off x="8324339" y="2325885"/>
            <a:ext cx="3593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900" b="1" dirty="0"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96D2BBB-8028-5CAC-D90A-F8661E0D3A80}"/>
              </a:ext>
            </a:extLst>
          </p:cNvPr>
          <p:cNvSpPr/>
          <p:nvPr/>
        </p:nvSpPr>
        <p:spPr>
          <a:xfrm>
            <a:off x="8328706" y="2364816"/>
            <a:ext cx="355027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90C6877-DA85-5496-B351-B42975F7351A}"/>
              </a:ext>
            </a:extLst>
          </p:cNvPr>
          <p:cNvSpPr txBox="1"/>
          <p:nvPr/>
        </p:nvSpPr>
        <p:spPr>
          <a:xfrm>
            <a:off x="8711237" y="2325885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Plane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F4FAA8C-7949-C72F-80F7-7F28880EE0E5}"/>
              </a:ext>
            </a:extLst>
          </p:cNvPr>
          <p:cNvSpPr/>
          <p:nvPr/>
        </p:nvSpPr>
        <p:spPr>
          <a:xfrm>
            <a:off x="8787978" y="2364816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6B6DDF9-0161-ECD4-1228-3BA9E33DE88B}"/>
              </a:ext>
            </a:extLst>
          </p:cNvPr>
          <p:cNvSpPr txBox="1"/>
          <p:nvPr/>
        </p:nvSpPr>
        <p:spPr>
          <a:xfrm>
            <a:off x="9160157" y="2325885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Truck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1CEE994-53DB-BC0B-D536-EECBB621E0C5}"/>
              </a:ext>
            </a:extLst>
          </p:cNvPr>
          <p:cNvSpPr/>
          <p:nvPr/>
        </p:nvSpPr>
        <p:spPr>
          <a:xfrm>
            <a:off x="9236898" y="2364816"/>
            <a:ext cx="355969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6" name="Graphic 115" descr="Laptop with solid fill">
            <a:extLst>
              <a:ext uri="{FF2B5EF4-FFF2-40B4-BE49-F238E27FC236}">
                <a16:creationId xmlns:a16="http://schemas.microsoft.com/office/drawing/2014/main" id="{C3278804-4294-EDB8-F6E6-DCEFF513743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5575" y="1864240"/>
            <a:ext cx="547200" cy="547200"/>
          </a:xfrm>
          <a:prstGeom prst="rect">
            <a:avLst/>
          </a:prstGeom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9A619DFA-36A2-6A38-B1A8-2E6D4ADF4FBC}"/>
              </a:ext>
            </a:extLst>
          </p:cNvPr>
          <p:cNvSpPr/>
          <p:nvPr/>
        </p:nvSpPr>
        <p:spPr>
          <a:xfrm>
            <a:off x="3984111" y="5227090"/>
            <a:ext cx="5042551" cy="1314898"/>
          </a:xfrm>
          <a:custGeom>
            <a:avLst/>
            <a:gdLst>
              <a:gd name="connsiteX0" fmla="*/ 0 w 5042551"/>
              <a:gd name="connsiteY0" fmla="*/ 0 h 1314898"/>
              <a:gd name="connsiteX1" fmla="*/ 579893 w 5042551"/>
              <a:gd name="connsiteY1" fmla="*/ 0 h 1314898"/>
              <a:gd name="connsiteX2" fmla="*/ 1058936 w 5042551"/>
              <a:gd name="connsiteY2" fmla="*/ 0 h 1314898"/>
              <a:gd name="connsiteX3" fmla="*/ 1790106 w 5042551"/>
              <a:gd name="connsiteY3" fmla="*/ 0 h 1314898"/>
              <a:gd name="connsiteX4" fmla="*/ 2369999 w 5042551"/>
              <a:gd name="connsiteY4" fmla="*/ 0 h 1314898"/>
              <a:gd name="connsiteX5" fmla="*/ 2949892 w 5042551"/>
              <a:gd name="connsiteY5" fmla="*/ 0 h 1314898"/>
              <a:gd name="connsiteX6" fmla="*/ 3681062 w 5042551"/>
              <a:gd name="connsiteY6" fmla="*/ 0 h 1314898"/>
              <a:gd name="connsiteX7" fmla="*/ 4210530 w 5042551"/>
              <a:gd name="connsiteY7" fmla="*/ 0 h 1314898"/>
              <a:gd name="connsiteX8" fmla="*/ 5042551 w 5042551"/>
              <a:gd name="connsiteY8" fmla="*/ 0 h 1314898"/>
              <a:gd name="connsiteX9" fmla="*/ 5042551 w 5042551"/>
              <a:gd name="connsiteY9" fmla="*/ 683747 h 1314898"/>
              <a:gd name="connsiteX10" fmla="*/ 5042551 w 5042551"/>
              <a:gd name="connsiteY10" fmla="*/ 1314898 h 1314898"/>
              <a:gd name="connsiteX11" fmla="*/ 4412232 w 5042551"/>
              <a:gd name="connsiteY11" fmla="*/ 1314898 h 1314898"/>
              <a:gd name="connsiteX12" fmla="*/ 3832339 w 5042551"/>
              <a:gd name="connsiteY12" fmla="*/ 1314898 h 1314898"/>
              <a:gd name="connsiteX13" fmla="*/ 3101169 w 5042551"/>
              <a:gd name="connsiteY13" fmla="*/ 1314898 h 1314898"/>
              <a:gd name="connsiteX14" fmla="*/ 2369999 w 5042551"/>
              <a:gd name="connsiteY14" fmla="*/ 1314898 h 1314898"/>
              <a:gd name="connsiteX15" fmla="*/ 1840531 w 5042551"/>
              <a:gd name="connsiteY15" fmla="*/ 1314898 h 1314898"/>
              <a:gd name="connsiteX16" fmla="*/ 1210212 w 5042551"/>
              <a:gd name="connsiteY16" fmla="*/ 1314898 h 1314898"/>
              <a:gd name="connsiteX17" fmla="*/ 0 w 5042551"/>
              <a:gd name="connsiteY17" fmla="*/ 1314898 h 1314898"/>
              <a:gd name="connsiteX18" fmla="*/ 0 w 5042551"/>
              <a:gd name="connsiteY18" fmla="*/ 657449 h 1314898"/>
              <a:gd name="connsiteX19" fmla="*/ 0 w 5042551"/>
              <a:gd name="connsiteY19" fmla="*/ 0 h 1314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042551" h="1314898" extrusionOk="0">
                <a:moveTo>
                  <a:pt x="0" y="0"/>
                </a:moveTo>
                <a:cubicBezTo>
                  <a:pt x="159673" y="-2936"/>
                  <a:pt x="377251" y="-25405"/>
                  <a:pt x="579893" y="0"/>
                </a:cubicBezTo>
                <a:cubicBezTo>
                  <a:pt x="782535" y="25405"/>
                  <a:pt x="886977" y="22546"/>
                  <a:pt x="1058936" y="0"/>
                </a:cubicBezTo>
                <a:cubicBezTo>
                  <a:pt x="1230895" y="-22546"/>
                  <a:pt x="1501665" y="28436"/>
                  <a:pt x="1790106" y="0"/>
                </a:cubicBezTo>
                <a:cubicBezTo>
                  <a:pt x="2078547" y="-28436"/>
                  <a:pt x="2171691" y="-9213"/>
                  <a:pt x="2369999" y="0"/>
                </a:cubicBezTo>
                <a:cubicBezTo>
                  <a:pt x="2568307" y="9213"/>
                  <a:pt x="2666054" y="18999"/>
                  <a:pt x="2949892" y="0"/>
                </a:cubicBezTo>
                <a:cubicBezTo>
                  <a:pt x="3233730" y="-18999"/>
                  <a:pt x="3475829" y="-12931"/>
                  <a:pt x="3681062" y="0"/>
                </a:cubicBezTo>
                <a:cubicBezTo>
                  <a:pt x="3886295" y="12931"/>
                  <a:pt x="3979950" y="-6455"/>
                  <a:pt x="4210530" y="0"/>
                </a:cubicBezTo>
                <a:cubicBezTo>
                  <a:pt x="4441110" y="6455"/>
                  <a:pt x="4711218" y="-37911"/>
                  <a:pt x="5042551" y="0"/>
                </a:cubicBezTo>
                <a:cubicBezTo>
                  <a:pt x="5058288" y="215028"/>
                  <a:pt x="5024940" y="424863"/>
                  <a:pt x="5042551" y="683747"/>
                </a:cubicBezTo>
                <a:cubicBezTo>
                  <a:pt x="5060162" y="942631"/>
                  <a:pt x="5049070" y="1004464"/>
                  <a:pt x="5042551" y="1314898"/>
                </a:cubicBezTo>
                <a:cubicBezTo>
                  <a:pt x="4783811" y="1308586"/>
                  <a:pt x="4554604" y="1308366"/>
                  <a:pt x="4412232" y="1314898"/>
                </a:cubicBezTo>
                <a:cubicBezTo>
                  <a:pt x="4269860" y="1321430"/>
                  <a:pt x="3995156" y="1293664"/>
                  <a:pt x="3832339" y="1314898"/>
                </a:cubicBezTo>
                <a:cubicBezTo>
                  <a:pt x="3669522" y="1336132"/>
                  <a:pt x="3249889" y="1325381"/>
                  <a:pt x="3101169" y="1314898"/>
                </a:cubicBezTo>
                <a:cubicBezTo>
                  <a:pt x="2952449" y="1304416"/>
                  <a:pt x="2700741" y="1312029"/>
                  <a:pt x="2369999" y="1314898"/>
                </a:cubicBezTo>
                <a:cubicBezTo>
                  <a:pt x="2039257" y="1317768"/>
                  <a:pt x="2019276" y="1319087"/>
                  <a:pt x="1840531" y="1314898"/>
                </a:cubicBezTo>
                <a:cubicBezTo>
                  <a:pt x="1661786" y="1310709"/>
                  <a:pt x="1496855" y="1284840"/>
                  <a:pt x="1210212" y="1314898"/>
                </a:cubicBezTo>
                <a:cubicBezTo>
                  <a:pt x="923569" y="1344956"/>
                  <a:pt x="256624" y="1275391"/>
                  <a:pt x="0" y="1314898"/>
                </a:cubicBezTo>
                <a:cubicBezTo>
                  <a:pt x="-11367" y="1110064"/>
                  <a:pt x="32442" y="839953"/>
                  <a:pt x="0" y="657449"/>
                </a:cubicBezTo>
                <a:cubicBezTo>
                  <a:pt x="-32442" y="474945"/>
                  <a:pt x="-21026" y="132864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D33A5A4-878D-9BB2-D7E0-B00066A2C645}"/>
              </a:ext>
            </a:extLst>
          </p:cNvPr>
          <p:cNvSpPr txBox="1"/>
          <p:nvPr/>
        </p:nvSpPr>
        <p:spPr>
          <a:xfrm>
            <a:off x="4561839" y="5282915"/>
            <a:ext cx="15787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cs typeface="Times New Roman" panose="02020603050405020304" pitchFamily="18" charset="0"/>
              </a:rPr>
              <a:t>Inference Phase</a:t>
            </a:r>
          </a:p>
        </p:txBody>
      </p:sp>
      <p:pic>
        <p:nvPicPr>
          <p:cNvPr id="121" name="Graphic 120" descr="Smart Phone with solid fill">
            <a:extLst>
              <a:ext uri="{FF2B5EF4-FFF2-40B4-BE49-F238E27FC236}">
                <a16:creationId xmlns:a16="http://schemas.microsoft.com/office/drawing/2014/main" id="{52B803B0-BC3D-AC82-36F8-4418383059E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87477" y="5568313"/>
            <a:ext cx="547200" cy="547200"/>
          </a:xfrm>
          <a:prstGeom prst="rect">
            <a:avLst/>
          </a:prstGeom>
        </p:spPr>
      </p:pic>
      <p:sp>
        <p:nvSpPr>
          <p:cNvPr id="122" name="TextBox 2">
            <a:extLst>
              <a:ext uri="{FF2B5EF4-FFF2-40B4-BE49-F238E27FC236}">
                <a16:creationId xmlns:a16="http://schemas.microsoft.com/office/drawing/2014/main" id="{A9674FA9-A191-C3AB-B918-5B7DD6DDFAEE}"/>
              </a:ext>
            </a:extLst>
          </p:cNvPr>
          <p:cNvSpPr txBox="1"/>
          <p:nvPr/>
        </p:nvSpPr>
        <p:spPr>
          <a:xfrm>
            <a:off x="3904903" y="6090228"/>
            <a:ext cx="722405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cs typeface="Times New Roman" panose="02020603050405020304" pitchFamily="18" charset="0"/>
              </a:rPr>
              <a:t>User</a:t>
            </a:r>
            <a:endParaRPr lang="en-US" sz="1600" b="1" dirty="0">
              <a:cs typeface="Times New Roman" panose="02020603050405020304" pitchFamily="18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A3481CA-E296-4D48-F101-E03B1D688712}"/>
              </a:ext>
            </a:extLst>
          </p:cNvPr>
          <p:cNvCxnSpPr>
            <a:cxnSpLocks/>
          </p:cNvCxnSpPr>
          <p:nvPr/>
        </p:nvCxnSpPr>
        <p:spPr>
          <a:xfrm>
            <a:off x="4520916" y="5290589"/>
            <a:ext cx="0" cy="1188998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7E5F769-CBED-194C-D1CA-76D237E08B7F}"/>
              </a:ext>
            </a:extLst>
          </p:cNvPr>
          <p:cNvCxnSpPr>
            <a:cxnSpLocks/>
          </p:cNvCxnSpPr>
          <p:nvPr/>
        </p:nvCxnSpPr>
        <p:spPr>
          <a:xfrm>
            <a:off x="5965809" y="6060266"/>
            <a:ext cx="28685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F5A552A-F653-36A1-F2E1-41A8E563DD86}"/>
              </a:ext>
            </a:extLst>
          </p:cNvPr>
          <p:cNvCxnSpPr>
            <a:cxnSpLocks/>
          </p:cNvCxnSpPr>
          <p:nvPr/>
        </p:nvCxnSpPr>
        <p:spPr>
          <a:xfrm>
            <a:off x="6778548" y="6067091"/>
            <a:ext cx="2880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1AF89552-3147-980B-0C28-A83D8E9B0B7F}"/>
              </a:ext>
            </a:extLst>
          </p:cNvPr>
          <p:cNvSpPr txBox="1"/>
          <p:nvPr/>
        </p:nvSpPr>
        <p:spPr>
          <a:xfrm>
            <a:off x="7079160" y="6116504"/>
            <a:ext cx="5688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Ship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8EB4598-992E-A0D0-F36B-028C8BE08DC3}"/>
              </a:ext>
            </a:extLst>
          </p:cNvPr>
          <p:cNvSpPr txBox="1"/>
          <p:nvPr/>
        </p:nvSpPr>
        <p:spPr>
          <a:xfrm>
            <a:off x="7079160" y="5742463"/>
            <a:ext cx="5688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Deer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2D4AB5B-4E91-1625-8308-DA41E1944ED1}"/>
              </a:ext>
            </a:extLst>
          </p:cNvPr>
          <p:cNvSpPr txBox="1"/>
          <p:nvPr/>
        </p:nvSpPr>
        <p:spPr>
          <a:xfrm>
            <a:off x="7722073" y="5742463"/>
            <a:ext cx="5688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Ship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B09E08F-952D-19BC-78BD-3DCFB26EC87B}"/>
              </a:ext>
            </a:extLst>
          </p:cNvPr>
          <p:cNvSpPr txBox="1"/>
          <p:nvPr/>
        </p:nvSpPr>
        <p:spPr>
          <a:xfrm>
            <a:off x="8361153" y="5742463"/>
            <a:ext cx="5688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Car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C309D3D-82A6-F84E-055A-744BF32B546A}"/>
              </a:ext>
            </a:extLst>
          </p:cNvPr>
          <p:cNvSpPr txBox="1"/>
          <p:nvPr/>
        </p:nvSpPr>
        <p:spPr>
          <a:xfrm>
            <a:off x="7722073" y="6116504"/>
            <a:ext cx="568800" cy="2616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cs typeface="Times New Roman" panose="02020603050405020304" pitchFamily="18" charset="0"/>
              </a:rPr>
              <a:t>Horse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573A4A4-E28D-5FE0-DC8A-A0F40500391E}"/>
              </a:ext>
            </a:extLst>
          </p:cNvPr>
          <p:cNvSpPr txBox="1"/>
          <p:nvPr/>
        </p:nvSpPr>
        <p:spPr>
          <a:xfrm>
            <a:off x="8361153" y="6116504"/>
            <a:ext cx="5688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Bird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0E3E706-1C46-95A2-ED81-DFD786C9CFC5}"/>
              </a:ext>
            </a:extLst>
          </p:cNvPr>
          <p:cNvGrpSpPr/>
          <p:nvPr/>
        </p:nvGrpSpPr>
        <p:grpSpPr>
          <a:xfrm>
            <a:off x="4674002" y="5641143"/>
            <a:ext cx="1238908" cy="809403"/>
            <a:chOff x="9670265" y="13098132"/>
            <a:chExt cx="1238908" cy="809403"/>
          </a:xfrm>
        </p:grpSpPr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78E1FE37-0315-D51E-86BC-E70A780F2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549173" y="13547535"/>
              <a:ext cx="360000" cy="360000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F2469650-E228-BB3C-037B-226AC63EC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670265" y="13098132"/>
              <a:ext cx="360000" cy="360000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0299ACA1-A87B-EA5B-7E1B-352288137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549173" y="13100108"/>
              <a:ext cx="360000" cy="360000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91EEC4C1-D935-F6A9-3B16-CCA8A227C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103760" y="13099932"/>
              <a:ext cx="356400" cy="356400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BC986E73-9093-5000-C7FF-2E2935B47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106935" y="13549335"/>
              <a:ext cx="356400" cy="356400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91A9A12C-7A1A-ACE5-35AC-0692AA3C7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9671750" y="13549335"/>
              <a:ext cx="356400" cy="356400"/>
            </a:xfrm>
            <a:prstGeom prst="rect">
              <a:avLst/>
            </a:prstGeom>
          </p:spPr>
        </p:pic>
      </p:grpSp>
      <p:sp>
        <p:nvSpPr>
          <p:cNvPr id="144" name="Right Arrow 143">
            <a:extLst>
              <a:ext uri="{FF2B5EF4-FFF2-40B4-BE49-F238E27FC236}">
                <a16:creationId xmlns:a16="http://schemas.microsoft.com/office/drawing/2014/main" id="{360DD310-FC56-EA19-B585-68F683A28B9F}"/>
              </a:ext>
            </a:extLst>
          </p:cNvPr>
          <p:cNvSpPr/>
          <p:nvPr/>
        </p:nvSpPr>
        <p:spPr>
          <a:xfrm rot="5400000">
            <a:off x="6351688" y="4958325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5" name="Graphic 144">
            <a:extLst>
              <a:ext uri="{FF2B5EF4-FFF2-40B4-BE49-F238E27FC236}">
                <a16:creationId xmlns:a16="http://schemas.microsoft.com/office/drawing/2014/main" id="{67A56BC8-706D-A2A1-7BB4-CC990A744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8444" y="5808768"/>
            <a:ext cx="501944" cy="50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85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Gboard Has Started Getting a New Design with Redesigned Keys">
            <a:extLst>
              <a:ext uri="{FF2B5EF4-FFF2-40B4-BE49-F238E27FC236}">
                <a16:creationId xmlns:a16="http://schemas.microsoft.com/office/drawing/2014/main" id="{F9E52463-6D1A-8849-A387-7719E2C91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0" y="1190636"/>
            <a:ext cx="1979310" cy="111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Text, letter&#10;&#10;Description automatically generated">
            <a:extLst>
              <a:ext uri="{FF2B5EF4-FFF2-40B4-BE49-F238E27FC236}">
                <a16:creationId xmlns:a16="http://schemas.microsoft.com/office/drawing/2014/main" id="{69AD7B59-A316-D64A-8B48-8992C9A91C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838" b="44020"/>
          <a:stretch/>
        </p:blipFill>
        <p:spPr>
          <a:xfrm>
            <a:off x="353344" y="2484056"/>
            <a:ext cx="3148066" cy="2939224"/>
          </a:xfrm>
          <a:prstGeom prst="rect">
            <a:avLst/>
          </a:prstGeom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4C1A5672-FBED-3F42-BF92-A621758CCD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401" b="39964"/>
          <a:stretch/>
        </p:blipFill>
        <p:spPr>
          <a:xfrm>
            <a:off x="3098313" y="2174031"/>
            <a:ext cx="3148066" cy="3245251"/>
          </a:xfrm>
          <a:prstGeom prst="rect">
            <a:avLst/>
          </a:prstGeom>
        </p:spPr>
      </p:pic>
      <p:pic>
        <p:nvPicPr>
          <p:cNvPr id="2052" name="Picture 4" descr="How to Update Gboard on an Android in 2 Easy Steps">
            <a:extLst>
              <a:ext uri="{FF2B5EF4-FFF2-40B4-BE49-F238E27FC236}">
                <a16:creationId xmlns:a16="http://schemas.microsoft.com/office/drawing/2014/main" id="{356A0621-7463-A54A-B9FB-F09303DCA4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7" r="16942"/>
          <a:stretch/>
        </p:blipFill>
        <p:spPr bwMode="auto">
          <a:xfrm>
            <a:off x="5925152" y="1440731"/>
            <a:ext cx="2312315" cy="258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49B4A26-51B4-3F4A-B310-2A94497F7B88}"/>
              </a:ext>
            </a:extLst>
          </p:cNvPr>
          <p:cNvSpPr txBox="1"/>
          <p:nvPr/>
        </p:nvSpPr>
        <p:spPr>
          <a:xfrm>
            <a:off x="185765" y="5715569"/>
            <a:ext cx="6280292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[1]. </a:t>
            </a:r>
            <a:r>
              <a:rPr lang="en-US" sz="1530" dirty="0">
                <a:hlinkClick r:id="rId7"/>
              </a:rPr>
              <a:t>https://support.google.com/gboard/answer/9334583?hl=en</a:t>
            </a:r>
            <a:endParaRPr lang="en-US" sz="1530" dirty="0"/>
          </a:p>
          <a:p>
            <a:r>
              <a:rPr lang="en-US" sz="1530" dirty="0"/>
              <a:t>[2]. </a:t>
            </a:r>
            <a:r>
              <a:rPr lang="en-US" sz="1530" dirty="0">
                <a:hlinkClick r:id="rId8"/>
              </a:rPr>
              <a:t>https://support.google.com/assistant/answer/10176224?hl=en</a:t>
            </a:r>
          </a:p>
          <a:p>
            <a:r>
              <a:rPr lang="en-US" sz="1530" dirty="0"/>
              <a:t>[3]. </a:t>
            </a:r>
            <a:r>
              <a:rPr lang="en-US" sz="1530" dirty="0">
                <a:hlinkClick r:id="rId8"/>
              </a:rPr>
              <a:t>https://www.technologyreview.com/2019/12/11/131629/apple-ai-personalizes-siri-federated-learning/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20364-70EE-904B-B947-B9F559BCBAA9}"/>
              </a:ext>
            </a:extLst>
          </p:cNvPr>
          <p:cNvSpPr txBox="1"/>
          <p:nvPr/>
        </p:nvSpPr>
        <p:spPr>
          <a:xfrm>
            <a:off x="2696592" y="1920222"/>
            <a:ext cx="598780" cy="198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68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C0A54-934C-7846-95D0-EB66A269402C}"/>
              </a:ext>
            </a:extLst>
          </p:cNvPr>
          <p:cNvSpPr txBox="1"/>
          <p:nvPr/>
        </p:nvSpPr>
        <p:spPr>
          <a:xfrm>
            <a:off x="8661554" y="1828377"/>
            <a:ext cx="534464" cy="198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689" dirty="0"/>
          </a:p>
        </p:txBody>
      </p:sp>
      <p:pic>
        <p:nvPicPr>
          <p:cNvPr id="2056" name="Picture 8" descr="Smart home | Google Assistant">
            <a:extLst>
              <a:ext uri="{FF2B5EF4-FFF2-40B4-BE49-F238E27FC236}">
                <a16:creationId xmlns:a16="http://schemas.microsoft.com/office/drawing/2014/main" id="{1025274B-F9D8-DF41-972F-80DE273A1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03" y="1588540"/>
            <a:ext cx="2303413" cy="51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5110E4E-0839-8948-8A1E-EE140315910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1577" b="12593"/>
          <a:stretch/>
        </p:blipFill>
        <p:spPr>
          <a:xfrm>
            <a:off x="8408145" y="1316660"/>
            <a:ext cx="3148067" cy="5166058"/>
          </a:xfrm>
          <a:prstGeom prst="rect">
            <a:avLst/>
          </a:prstGeom>
        </p:spPr>
      </p:pic>
      <p:pic>
        <p:nvPicPr>
          <p:cNvPr id="15" name="Picture 2" descr="Is Siri currently down? Live Status and Outage Reports | ServicesDown 2022">
            <a:extLst>
              <a:ext uri="{FF2B5EF4-FFF2-40B4-BE49-F238E27FC236}">
                <a16:creationId xmlns:a16="http://schemas.microsoft.com/office/drawing/2014/main" id="{D28981E5-AEBF-FE4E-B578-487B8B2CB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355" y="1312861"/>
            <a:ext cx="1086857" cy="607361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A6BE89F-EBA9-8242-927F-A81E07A829FD}"/>
                  </a:ext>
                </a:extLst>
              </p14:cNvPr>
              <p14:cNvContentPartPr/>
              <p14:nvPr/>
            </p14:nvContentPartPr>
            <p14:xfrm>
              <a:off x="573786" y="4640222"/>
              <a:ext cx="993868" cy="20663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A6BE89F-EBA9-8242-927F-A81E07A829F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3794" y="4462093"/>
                <a:ext cx="1173491" cy="3765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AC6A71A-BD67-9649-903E-7160DC3529F8}"/>
                  </a:ext>
                </a:extLst>
              </p14:cNvPr>
              <p14:cNvContentPartPr/>
              <p14:nvPr/>
            </p14:nvContentPartPr>
            <p14:xfrm>
              <a:off x="4331787" y="3736584"/>
              <a:ext cx="965078" cy="29892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AC6A71A-BD67-9649-903E-7160DC3529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41795" y="3558655"/>
                <a:ext cx="1144703" cy="385393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410A8E1-6950-ED43-83AD-DF865D7875A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6057" y="4054042"/>
            <a:ext cx="5233545" cy="25015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BB3F714-886F-1246-AA95-9744708C78E6}"/>
                  </a:ext>
                </a:extLst>
              </p14:cNvPr>
              <p14:cNvContentPartPr/>
              <p14:nvPr/>
            </p14:nvContentPartPr>
            <p14:xfrm>
              <a:off x="9874160" y="4247430"/>
              <a:ext cx="1154071" cy="16943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BB3F714-886F-1246-AA95-9744708C78E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784167" y="4070940"/>
                <a:ext cx="1333697" cy="36956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55818F9-18FB-F73C-FE43-4CC8337B495B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7684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Applications of Federated Learning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6BF9236-203E-15CE-FEE1-573A0202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5032" y="6356350"/>
            <a:ext cx="913534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645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843" y="6356350"/>
            <a:ext cx="810723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Vulnerabilities of Federated Learning</a:t>
            </a:r>
            <a:endParaRPr lang="en-US" b="1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4" y="1015004"/>
            <a:ext cx="11510179" cy="58429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While FL enables privacy-preserving collaboration, it faces </a:t>
            </a:r>
            <a:r>
              <a:rPr lang="en-US" b="1" dirty="0">
                <a:latin typeface="+mn-lt"/>
              </a:rPr>
              <a:t>significant challenges, </a:t>
            </a:r>
            <a:r>
              <a:rPr lang="en-US" dirty="0">
                <a:latin typeface="+mn-lt"/>
              </a:rPr>
              <a:t>especially when </a:t>
            </a:r>
            <a:r>
              <a:rPr lang="en-US" b="1" dirty="0">
                <a:latin typeface="+mn-lt"/>
              </a:rPr>
              <a:t>the server or clients cannot be fully trusted</a:t>
            </a:r>
            <a:r>
              <a:rPr lang="en-US" dirty="0">
                <a:latin typeface="+mn-lt"/>
              </a:rPr>
              <a:t>.</a:t>
            </a:r>
          </a:p>
          <a:p>
            <a:r>
              <a:rPr lang="en-US" b="1" dirty="0">
                <a:latin typeface="+mn-lt"/>
              </a:rPr>
              <a:t>Untrusted server</a:t>
            </a:r>
            <a:r>
              <a:rPr lang="en-US" dirty="0">
                <a:latin typeface="+mn-lt"/>
              </a:rPr>
              <a:t>:</a:t>
            </a:r>
          </a:p>
          <a:p>
            <a:pPr lvl="1"/>
            <a:r>
              <a:rPr lang="en-US" dirty="0">
                <a:latin typeface="+mn-lt"/>
              </a:rPr>
              <a:t>The server may be </a:t>
            </a:r>
            <a:r>
              <a:rPr lang="en-US" b="1" dirty="0">
                <a:latin typeface="+mn-lt"/>
              </a:rPr>
              <a:t>curious about clients’ private data</a:t>
            </a:r>
            <a:r>
              <a:rPr lang="en-US" dirty="0">
                <a:latin typeface="+mn-lt"/>
              </a:rPr>
              <a:t>.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+mn-lt"/>
              </a:rPr>
              <a:t>Model inversion attacks: </a:t>
            </a:r>
            <a:r>
              <a:rPr lang="en-US" dirty="0">
                <a:latin typeface="+mn-lt"/>
              </a:rPr>
              <a:t>reconstructing private client data from uploaded model updates. </a:t>
            </a:r>
          </a:p>
          <a:p>
            <a:r>
              <a:rPr lang="en-US" b="1" dirty="0">
                <a:latin typeface="+mn-lt"/>
              </a:rPr>
              <a:t>Untrusted clients</a:t>
            </a:r>
            <a:r>
              <a:rPr lang="en-US" dirty="0">
                <a:latin typeface="+mn-lt"/>
              </a:rPr>
              <a:t>:</a:t>
            </a:r>
          </a:p>
          <a:p>
            <a:pPr lvl="1"/>
            <a:r>
              <a:rPr lang="en-US" dirty="0">
                <a:latin typeface="+mn-lt"/>
              </a:rPr>
              <a:t>Some clients may attempt to </a:t>
            </a:r>
            <a:r>
              <a:rPr lang="en-US" b="1" dirty="0">
                <a:latin typeface="+mn-lt"/>
              </a:rPr>
              <a:t>disrupt training</a:t>
            </a:r>
            <a:r>
              <a:rPr lang="en-US" dirty="0">
                <a:latin typeface="+mn-lt"/>
              </a:rPr>
              <a:t>. 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+mn-lt"/>
              </a:rPr>
              <a:t>Byzantine attacks</a:t>
            </a:r>
            <a:r>
              <a:rPr lang="en-US" b="1" dirty="0">
                <a:latin typeface="+mn-lt"/>
              </a:rPr>
              <a:t>:</a:t>
            </a:r>
            <a:r>
              <a:rPr lang="en-US" dirty="0">
                <a:latin typeface="+mn-lt"/>
              </a:rPr>
              <a:t> sending corrupted or random updates to prevent convergence.</a:t>
            </a:r>
          </a:p>
          <a:p>
            <a:pPr lvl="1"/>
            <a:r>
              <a:rPr lang="en-US" dirty="0">
                <a:latin typeface="+mn-lt"/>
              </a:rPr>
              <a:t>Some clients may attempt to </a:t>
            </a:r>
            <a:r>
              <a:rPr lang="en-US" b="1" dirty="0">
                <a:latin typeface="+mn-lt"/>
              </a:rPr>
              <a:t>manipulate the global model </a:t>
            </a:r>
            <a:r>
              <a:rPr lang="en-US" dirty="0">
                <a:latin typeface="+mn-lt"/>
              </a:rPr>
              <a:t>for malicious purposes.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+mn-lt"/>
              </a:rPr>
              <a:t>Backdoor attacks</a:t>
            </a:r>
            <a:r>
              <a:rPr lang="en-US" b="1" dirty="0">
                <a:latin typeface="+mn-lt"/>
              </a:rPr>
              <a:t>:</a:t>
            </a:r>
            <a:r>
              <a:rPr lang="en-US" dirty="0">
                <a:latin typeface="+mn-lt"/>
              </a:rPr>
              <a:t> injecting triggers into the global model while maintaining normal performance.</a:t>
            </a:r>
          </a:p>
          <a:p>
            <a:pPr lvl="1"/>
            <a:r>
              <a:rPr lang="en-US" dirty="0">
                <a:latin typeface="+mn-lt"/>
              </a:rPr>
              <a:t>Some clients may </a:t>
            </a:r>
            <a:r>
              <a:rPr lang="en-US" b="1" dirty="0">
                <a:latin typeface="+mn-lt"/>
              </a:rPr>
              <a:t>leak or resell the global model</a:t>
            </a:r>
            <a:r>
              <a:rPr lang="en-US" dirty="0">
                <a:latin typeface="+mn-lt"/>
              </a:rPr>
              <a:t> for personal gain.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+mn-lt"/>
              </a:rPr>
              <a:t>Model stealing attacks: </a:t>
            </a:r>
            <a:r>
              <a:rPr lang="en-US" dirty="0">
                <a:latin typeface="+mn-lt"/>
              </a:rPr>
              <a:t>replicate and redistribute the trained global model without authorization.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986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Untrusted Server: Model Inversion Attack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12612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The server attempts to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reconstruct private training data </a:t>
            </a:r>
            <a:r>
              <a:rPr lang="en-US" dirty="0">
                <a:latin typeface="+mn-lt"/>
              </a:rPr>
              <a:t>by exploiting access to the model’s outputs, gradients, or parameters.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B7055B2-AD01-CC7C-3432-6AB33A62A0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12" t="10904" r="53519"/>
          <a:stretch/>
        </p:blipFill>
        <p:spPr>
          <a:xfrm>
            <a:off x="4306270" y="2101862"/>
            <a:ext cx="1302518" cy="1571157"/>
          </a:xfrm>
          <a:prstGeom prst="rect">
            <a:avLst/>
          </a:prstGeom>
        </p:spPr>
      </p:pic>
      <p:sp>
        <p:nvSpPr>
          <p:cNvPr id="36" name="Right Arrow 35">
            <a:extLst>
              <a:ext uri="{FF2B5EF4-FFF2-40B4-BE49-F238E27FC236}">
                <a16:creationId xmlns:a16="http://schemas.microsoft.com/office/drawing/2014/main" id="{E3979A8B-30FD-A475-9AC3-4C5BD0772462}"/>
              </a:ext>
            </a:extLst>
          </p:cNvPr>
          <p:cNvSpPr/>
          <p:nvPr/>
        </p:nvSpPr>
        <p:spPr>
          <a:xfrm>
            <a:off x="2496795" y="2821969"/>
            <a:ext cx="1018531" cy="372846"/>
          </a:xfrm>
          <a:prstGeom prst="rightArrow">
            <a:avLst>
              <a:gd name="adj1" fmla="val 50000"/>
              <a:gd name="adj2" fmla="val 7985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FD3E09-95E8-5415-043F-65599012451C}"/>
              </a:ext>
            </a:extLst>
          </p:cNvPr>
          <p:cNvSpPr txBox="1"/>
          <p:nvPr/>
        </p:nvSpPr>
        <p:spPr>
          <a:xfrm>
            <a:off x="822448" y="3493580"/>
            <a:ext cx="1700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update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52D375-F101-8549-C9B6-C727631494C4}"/>
              </a:ext>
            </a:extLst>
          </p:cNvPr>
          <p:cNvSpPr txBox="1"/>
          <p:nvPr/>
        </p:nvSpPr>
        <p:spPr>
          <a:xfrm>
            <a:off x="3571446" y="3544451"/>
            <a:ext cx="2946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Reconstructed image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C3C05A8-CA3E-D296-1583-5196580CC1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355" t="10904" r="5476"/>
          <a:stretch/>
        </p:blipFill>
        <p:spPr>
          <a:xfrm>
            <a:off x="8698003" y="2195237"/>
            <a:ext cx="1221438" cy="147335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5F63165-ED86-41AE-8C93-59F56C8A59E1}"/>
              </a:ext>
            </a:extLst>
          </p:cNvPr>
          <p:cNvSpPr txBox="1"/>
          <p:nvPr/>
        </p:nvSpPr>
        <p:spPr>
          <a:xfrm>
            <a:off x="6522298" y="2637410"/>
            <a:ext cx="13025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/>
              <a:t>VS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13CDF3-4070-F964-63BD-842D9F517753}"/>
              </a:ext>
            </a:extLst>
          </p:cNvPr>
          <p:cNvSpPr txBox="1"/>
          <p:nvPr/>
        </p:nvSpPr>
        <p:spPr>
          <a:xfrm>
            <a:off x="7754829" y="3540024"/>
            <a:ext cx="3107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Original image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lide Number Placeholder 4">
            <a:extLst>
              <a:ext uri="{FF2B5EF4-FFF2-40B4-BE49-F238E27FC236}">
                <a16:creationId xmlns:a16="http://schemas.microsoft.com/office/drawing/2014/main" id="{273C67CE-7F60-7FDF-8006-B462F93B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843" y="6356350"/>
            <a:ext cx="810723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2CCAD13E-93B3-2B78-31A3-250DA2793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4435" y="2583066"/>
            <a:ext cx="856888" cy="856529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90554DDA-BE22-3AE6-C70E-39BD2506A6BB}"/>
              </a:ext>
            </a:extLst>
          </p:cNvPr>
          <p:cNvSpPr txBox="1">
            <a:spLocks/>
          </p:cNvSpPr>
          <p:nvPr/>
        </p:nvSpPr>
        <p:spPr>
          <a:xfrm>
            <a:off x="403525" y="3940133"/>
            <a:ext cx="11384948" cy="23228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Since model inversion exploits uploaded model updates, the defense should be applied on the client side — before sharing any update.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Differential privacy is a common technique that adds controllable noise to the model update to defend against model inversion attacks.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88158600-5E63-F264-49D3-F77B64DA4ED7}"/>
              </a:ext>
            </a:extLst>
          </p:cNvPr>
          <p:cNvSpPr txBox="1">
            <a:spLocks/>
          </p:cNvSpPr>
          <p:nvPr/>
        </p:nvSpPr>
        <p:spPr>
          <a:xfrm>
            <a:off x="403523" y="6313902"/>
            <a:ext cx="10712705" cy="308571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latin typeface="+mn-lt"/>
              </a:rPr>
              <a:t>Jiahao et al., “</a:t>
            </a:r>
            <a:r>
              <a:rPr lang="en-US" sz="1400" b="1" i="1" dirty="0">
                <a:latin typeface="+mn-lt"/>
              </a:rPr>
              <a:t>Optimal Client Sampling in Federated Learning with Client-Level Heterogeneous Differential Privacy</a:t>
            </a:r>
            <a:r>
              <a:rPr lang="en-US" sz="1400" b="1" dirty="0">
                <a:latin typeface="+mn-lt"/>
              </a:rPr>
              <a:t>”, preprint, under review.</a:t>
            </a:r>
          </a:p>
        </p:txBody>
      </p:sp>
    </p:spTree>
    <p:extLst>
      <p:ext uri="{BB962C8B-B14F-4D97-AF65-F5344CB8AC3E}">
        <p14:creationId xmlns:p14="http://schemas.microsoft.com/office/powerpoint/2010/main" val="2637475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8421" y="6356350"/>
            <a:ext cx="1230145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Untrusted Clients: Byzantine Attack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13148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One or several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malicious clients </a:t>
            </a:r>
            <a:r>
              <a:rPr lang="en-US" dirty="0">
                <a:latin typeface="+mn-lt"/>
              </a:rPr>
              <a:t>try to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prevent</a:t>
            </a:r>
            <a:r>
              <a:rPr lang="en-US" dirty="0">
                <a:latin typeface="+mn-lt"/>
              </a:rPr>
              <a:t> the model from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converging</a:t>
            </a:r>
            <a:r>
              <a:rPr lang="en-US" dirty="0">
                <a:latin typeface="+mn-lt"/>
              </a:rPr>
              <a:t> via 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local model poisoning</a:t>
            </a:r>
            <a:r>
              <a:rPr lang="en-US" dirty="0">
                <a:latin typeface="+mn-lt"/>
              </a:rPr>
              <a:t>.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86183C99-DC1A-A5F2-765A-90798564C893}"/>
              </a:ext>
            </a:extLst>
          </p:cNvPr>
          <p:cNvSpPr/>
          <p:nvPr/>
        </p:nvSpPr>
        <p:spPr>
          <a:xfrm rot="16200000">
            <a:off x="3710898" y="4944828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A8205A6B-151B-DD7B-438D-A2030FFFDE90}"/>
              </a:ext>
            </a:extLst>
          </p:cNvPr>
          <p:cNvSpPr/>
          <p:nvPr/>
        </p:nvSpPr>
        <p:spPr>
          <a:xfrm rot="5400000">
            <a:off x="3915244" y="4944828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AC8A28-631E-294F-8C69-BE5E060A2B42}"/>
              </a:ext>
            </a:extLst>
          </p:cNvPr>
          <p:cNvSpPr/>
          <p:nvPr/>
        </p:nvSpPr>
        <p:spPr>
          <a:xfrm>
            <a:off x="438031" y="2447542"/>
            <a:ext cx="6984734" cy="2235283"/>
          </a:xfrm>
          <a:custGeom>
            <a:avLst/>
            <a:gdLst>
              <a:gd name="connsiteX0" fmla="*/ 0 w 6984734"/>
              <a:gd name="connsiteY0" fmla="*/ 0 h 2235283"/>
              <a:gd name="connsiteX1" fmla="*/ 628626 w 6984734"/>
              <a:gd name="connsiteY1" fmla="*/ 0 h 2235283"/>
              <a:gd name="connsiteX2" fmla="*/ 1117557 w 6984734"/>
              <a:gd name="connsiteY2" fmla="*/ 0 h 2235283"/>
              <a:gd name="connsiteX3" fmla="*/ 1955726 w 6984734"/>
              <a:gd name="connsiteY3" fmla="*/ 0 h 2235283"/>
              <a:gd name="connsiteX4" fmla="*/ 2584352 w 6984734"/>
              <a:gd name="connsiteY4" fmla="*/ 0 h 2235283"/>
              <a:gd name="connsiteX5" fmla="*/ 3212978 w 6984734"/>
              <a:gd name="connsiteY5" fmla="*/ 0 h 2235283"/>
              <a:gd name="connsiteX6" fmla="*/ 4051146 w 6984734"/>
              <a:gd name="connsiteY6" fmla="*/ 0 h 2235283"/>
              <a:gd name="connsiteX7" fmla="*/ 4609924 w 6984734"/>
              <a:gd name="connsiteY7" fmla="*/ 0 h 2235283"/>
              <a:gd name="connsiteX8" fmla="*/ 5448093 w 6984734"/>
              <a:gd name="connsiteY8" fmla="*/ 0 h 2235283"/>
              <a:gd name="connsiteX9" fmla="*/ 6286261 w 6984734"/>
              <a:gd name="connsiteY9" fmla="*/ 0 h 2235283"/>
              <a:gd name="connsiteX10" fmla="*/ 6984734 w 6984734"/>
              <a:gd name="connsiteY10" fmla="*/ 0 h 2235283"/>
              <a:gd name="connsiteX11" fmla="*/ 6984734 w 6984734"/>
              <a:gd name="connsiteY11" fmla="*/ 603526 h 2235283"/>
              <a:gd name="connsiteX12" fmla="*/ 6984734 w 6984734"/>
              <a:gd name="connsiteY12" fmla="*/ 1184700 h 2235283"/>
              <a:gd name="connsiteX13" fmla="*/ 6984734 w 6984734"/>
              <a:gd name="connsiteY13" fmla="*/ 1676462 h 2235283"/>
              <a:gd name="connsiteX14" fmla="*/ 6984734 w 6984734"/>
              <a:gd name="connsiteY14" fmla="*/ 2235283 h 2235283"/>
              <a:gd name="connsiteX15" fmla="*/ 6286261 w 6984734"/>
              <a:gd name="connsiteY15" fmla="*/ 2235283 h 2235283"/>
              <a:gd name="connsiteX16" fmla="*/ 5587787 w 6984734"/>
              <a:gd name="connsiteY16" fmla="*/ 2235283 h 2235283"/>
              <a:gd name="connsiteX17" fmla="*/ 4749619 w 6984734"/>
              <a:gd name="connsiteY17" fmla="*/ 2235283 h 2235283"/>
              <a:gd name="connsiteX18" fmla="*/ 4051146 w 6984734"/>
              <a:gd name="connsiteY18" fmla="*/ 2235283 h 2235283"/>
              <a:gd name="connsiteX19" fmla="*/ 3562214 w 6984734"/>
              <a:gd name="connsiteY19" fmla="*/ 2235283 h 2235283"/>
              <a:gd name="connsiteX20" fmla="*/ 3003436 w 6984734"/>
              <a:gd name="connsiteY20" fmla="*/ 2235283 h 2235283"/>
              <a:gd name="connsiteX21" fmla="*/ 2165268 w 6984734"/>
              <a:gd name="connsiteY21" fmla="*/ 2235283 h 2235283"/>
              <a:gd name="connsiteX22" fmla="*/ 1466794 w 6984734"/>
              <a:gd name="connsiteY22" fmla="*/ 2235283 h 2235283"/>
              <a:gd name="connsiteX23" fmla="*/ 908015 w 6984734"/>
              <a:gd name="connsiteY23" fmla="*/ 2235283 h 2235283"/>
              <a:gd name="connsiteX24" fmla="*/ 0 w 6984734"/>
              <a:gd name="connsiteY24" fmla="*/ 2235283 h 2235283"/>
              <a:gd name="connsiteX25" fmla="*/ 0 w 6984734"/>
              <a:gd name="connsiteY25" fmla="*/ 1743521 h 2235283"/>
              <a:gd name="connsiteX26" fmla="*/ 0 w 6984734"/>
              <a:gd name="connsiteY26" fmla="*/ 1251758 h 2235283"/>
              <a:gd name="connsiteX27" fmla="*/ 0 w 6984734"/>
              <a:gd name="connsiteY27" fmla="*/ 670585 h 2235283"/>
              <a:gd name="connsiteX28" fmla="*/ 0 w 6984734"/>
              <a:gd name="connsiteY28" fmla="*/ 0 h 2235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984734" h="2235283" extrusionOk="0">
                <a:moveTo>
                  <a:pt x="0" y="0"/>
                </a:moveTo>
                <a:cubicBezTo>
                  <a:pt x="170869" y="-4909"/>
                  <a:pt x="379832" y="21996"/>
                  <a:pt x="628626" y="0"/>
                </a:cubicBezTo>
                <a:cubicBezTo>
                  <a:pt x="877420" y="-21996"/>
                  <a:pt x="879128" y="-18582"/>
                  <a:pt x="1117557" y="0"/>
                </a:cubicBezTo>
                <a:cubicBezTo>
                  <a:pt x="1355986" y="18582"/>
                  <a:pt x="1665544" y="-1205"/>
                  <a:pt x="1955726" y="0"/>
                </a:cubicBezTo>
                <a:cubicBezTo>
                  <a:pt x="2245908" y="1205"/>
                  <a:pt x="2415094" y="-28260"/>
                  <a:pt x="2584352" y="0"/>
                </a:cubicBezTo>
                <a:cubicBezTo>
                  <a:pt x="2753610" y="28260"/>
                  <a:pt x="3067833" y="24071"/>
                  <a:pt x="3212978" y="0"/>
                </a:cubicBezTo>
                <a:cubicBezTo>
                  <a:pt x="3358123" y="-24071"/>
                  <a:pt x="3863018" y="-39908"/>
                  <a:pt x="4051146" y="0"/>
                </a:cubicBezTo>
                <a:cubicBezTo>
                  <a:pt x="4239274" y="39908"/>
                  <a:pt x="4398784" y="24159"/>
                  <a:pt x="4609924" y="0"/>
                </a:cubicBezTo>
                <a:cubicBezTo>
                  <a:pt x="4821064" y="-24159"/>
                  <a:pt x="5041015" y="21619"/>
                  <a:pt x="5448093" y="0"/>
                </a:cubicBezTo>
                <a:cubicBezTo>
                  <a:pt x="5855171" y="-21619"/>
                  <a:pt x="6070449" y="27695"/>
                  <a:pt x="6286261" y="0"/>
                </a:cubicBezTo>
                <a:cubicBezTo>
                  <a:pt x="6502073" y="-27695"/>
                  <a:pt x="6751628" y="12233"/>
                  <a:pt x="6984734" y="0"/>
                </a:cubicBezTo>
                <a:cubicBezTo>
                  <a:pt x="6998039" y="169430"/>
                  <a:pt x="6995551" y="375633"/>
                  <a:pt x="6984734" y="603526"/>
                </a:cubicBezTo>
                <a:cubicBezTo>
                  <a:pt x="6973917" y="831419"/>
                  <a:pt x="6971730" y="919111"/>
                  <a:pt x="6984734" y="1184700"/>
                </a:cubicBezTo>
                <a:cubicBezTo>
                  <a:pt x="6997738" y="1450289"/>
                  <a:pt x="6987383" y="1574943"/>
                  <a:pt x="6984734" y="1676462"/>
                </a:cubicBezTo>
                <a:cubicBezTo>
                  <a:pt x="6982085" y="1777981"/>
                  <a:pt x="6970411" y="2110707"/>
                  <a:pt x="6984734" y="2235283"/>
                </a:cubicBezTo>
                <a:cubicBezTo>
                  <a:pt x="6656580" y="2241030"/>
                  <a:pt x="6432619" y="2252581"/>
                  <a:pt x="6286261" y="2235283"/>
                </a:cubicBezTo>
                <a:cubicBezTo>
                  <a:pt x="6139903" y="2217985"/>
                  <a:pt x="5870183" y="2255665"/>
                  <a:pt x="5587787" y="2235283"/>
                </a:cubicBezTo>
                <a:cubicBezTo>
                  <a:pt x="5305391" y="2214901"/>
                  <a:pt x="4948629" y="2256241"/>
                  <a:pt x="4749619" y="2235283"/>
                </a:cubicBezTo>
                <a:cubicBezTo>
                  <a:pt x="4550609" y="2214325"/>
                  <a:pt x="4309603" y="2267936"/>
                  <a:pt x="4051146" y="2235283"/>
                </a:cubicBezTo>
                <a:cubicBezTo>
                  <a:pt x="3792689" y="2202630"/>
                  <a:pt x="3767259" y="2257965"/>
                  <a:pt x="3562214" y="2235283"/>
                </a:cubicBezTo>
                <a:cubicBezTo>
                  <a:pt x="3357169" y="2212601"/>
                  <a:pt x="3184329" y="2247700"/>
                  <a:pt x="3003436" y="2235283"/>
                </a:cubicBezTo>
                <a:cubicBezTo>
                  <a:pt x="2822543" y="2222866"/>
                  <a:pt x="2572279" y="2269975"/>
                  <a:pt x="2165268" y="2235283"/>
                </a:cubicBezTo>
                <a:cubicBezTo>
                  <a:pt x="1758257" y="2200591"/>
                  <a:pt x="1763716" y="2236259"/>
                  <a:pt x="1466794" y="2235283"/>
                </a:cubicBezTo>
                <a:cubicBezTo>
                  <a:pt x="1169872" y="2234307"/>
                  <a:pt x="1045107" y="2209500"/>
                  <a:pt x="908015" y="2235283"/>
                </a:cubicBezTo>
                <a:cubicBezTo>
                  <a:pt x="770923" y="2261066"/>
                  <a:pt x="235314" y="2221581"/>
                  <a:pt x="0" y="2235283"/>
                </a:cubicBezTo>
                <a:cubicBezTo>
                  <a:pt x="20140" y="2127216"/>
                  <a:pt x="23391" y="1939796"/>
                  <a:pt x="0" y="1743521"/>
                </a:cubicBezTo>
                <a:cubicBezTo>
                  <a:pt x="-23391" y="1547246"/>
                  <a:pt x="-12888" y="1467814"/>
                  <a:pt x="0" y="1251758"/>
                </a:cubicBezTo>
                <a:cubicBezTo>
                  <a:pt x="12888" y="1035702"/>
                  <a:pt x="-8489" y="819358"/>
                  <a:pt x="0" y="670585"/>
                </a:cubicBezTo>
                <a:cubicBezTo>
                  <a:pt x="8489" y="521812"/>
                  <a:pt x="-6611" y="198077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ABC4DED-A582-6E6F-EDDB-8FB9C62F2327}"/>
              </a:ext>
            </a:extLst>
          </p:cNvPr>
          <p:cNvSpPr/>
          <p:nvPr/>
        </p:nvSpPr>
        <p:spPr>
          <a:xfrm>
            <a:off x="5539653" y="3047781"/>
            <a:ext cx="1742324" cy="1547575"/>
          </a:xfrm>
          <a:prstGeom prst="roundRect">
            <a:avLst/>
          </a:prstGeom>
          <a:solidFill>
            <a:srgbClr val="70AD47">
              <a:lumMod val="20000"/>
              <a:lumOff val="80000"/>
            </a:srgb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F51C9C-4A9B-904B-B376-076BE372B15D}"/>
              </a:ext>
            </a:extLst>
          </p:cNvPr>
          <p:cNvSpPr/>
          <p:nvPr/>
        </p:nvSpPr>
        <p:spPr>
          <a:xfrm>
            <a:off x="3420601" y="3043225"/>
            <a:ext cx="1728248" cy="15521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405FF-4AA6-8AFA-A16C-CE91F4C39F5E}"/>
              </a:ext>
            </a:extLst>
          </p:cNvPr>
          <p:cNvSpPr txBox="1"/>
          <p:nvPr/>
        </p:nvSpPr>
        <p:spPr>
          <a:xfrm>
            <a:off x="1194597" y="2447542"/>
            <a:ext cx="1370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B096A-F4B4-8FE4-9900-88595250B1A8}"/>
              </a:ext>
            </a:extLst>
          </p:cNvPr>
          <p:cNvSpPr txBox="1"/>
          <p:nvPr/>
        </p:nvSpPr>
        <p:spPr>
          <a:xfrm>
            <a:off x="5948140" y="2770781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4ADC3A-DDD6-38D4-C2B5-687B24A0964C}"/>
              </a:ext>
            </a:extLst>
          </p:cNvPr>
          <p:cNvSpPr txBox="1"/>
          <p:nvPr/>
        </p:nvSpPr>
        <p:spPr>
          <a:xfrm>
            <a:off x="2984392" y="350905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34DC23-1DEE-F598-8086-5591741B7E06}"/>
              </a:ext>
            </a:extLst>
          </p:cNvPr>
          <p:cNvSpPr txBox="1"/>
          <p:nvPr/>
        </p:nvSpPr>
        <p:spPr>
          <a:xfrm>
            <a:off x="5118042" y="3497597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215BCEB8-C74C-7C9C-F760-CBAC6BCBEF82}"/>
              </a:ext>
            </a:extLst>
          </p:cNvPr>
          <p:cNvSpPr txBox="1"/>
          <p:nvPr/>
        </p:nvSpPr>
        <p:spPr>
          <a:xfrm>
            <a:off x="403525" y="3736111"/>
            <a:ext cx="72240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Clients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78DEB6-2DF0-1CCD-88F4-592F2490D889}"/>
              </a:ext>
            </a:extLst>
          </p:cNvPr>
          <p:cNvCxnSpPr>
            <a:cxnSpLocks/>
          </p:cNvCxnSpPr>
          <p:nvPr/>
        </p:nvCxnSpPr>
        <p:spPr>
          <a:xfrm flipH="1">
            <a:off x="1086780" y="2511042"/>
            <a:ext cx="4022" cy="2199414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FE2B9CC-AC51-CE0F-0C92-358240FD69F7}"/>
              </a:ext>
            </a:extLst>
          </p:cNvPr>
          <p:cNvSpPr/>
          <p:nvPr/>
        </p:nvSpPr>
        <p:spPr>
          <a:xfrm>
            <a:off x="1266288" y="3047781"/>
            <a:ext cx="1737732" cy="1547575"/>
          </a:xfrm>
          <a:prstGeom prst="roundRect">
            <a:avLst/>
          </a:prstGeom>
          <a:solidFill>
            <a:srgbClr val="70AD47">
              <a:lumMod val="20000"/>
              <a:lumOff val="80000"/>
            </a:srgb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4B43C6-F468-7BA5-D9B2-CF16A65689F5}"/>
              </a:ext>
            </a:extLst>
          </p:cNvPr>
          <p:cNvSpPr txBox="1"/>
          <p:nvPr/>
        </p:nvSpPr>
        <p:spPr>
          <a:xfrm>
            <a:off x="1696153" y="2771936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6593AF1-4010-98EB-66F3-6FA03F8A1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73" y="4143719"/>
            <a:ext cx="396166" cy="396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3763D49-A75C-3A5F-98D7-4AB46D087EF5}"/>
              </a:ext>
            </a:extLst>
          </p:cNvPr>
          <p:cNvSpPr txBox="1"/>
          <p:nvPr/>
        </p:nvSpPr>
        <p:spPr>
          <a:xfrm>
            <a:off x="1316625" y="4141065"/>
            <a:ext cx="76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FD5A0A-6E34-C980-0C19-77C64D036CAA}"/>
              </a:ext>
            </a:extLst>
          </p:cNvPr>
          <p:cNvSpPr txBox="1"/>
          <p:nvPr/>
        </p:nvSpPr>
        <p:spPr>
          <a:xfrm>
            <a:off x="3510906" y="4111595"/>
            <a:ext cx="1163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model poisoning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60CA79E0-02F9-BB84-38EE-6C379E142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5164" y="4135150"/>
            <a:ext cx="396166" cy="396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F73EE9-D575-BEA3-DB21-1DA07BA8E6E1}"/>
              </a:ext>
            </a:extLst>
          </p:cNvPr>
          <p:cNvSpPr txBox="1"/>
          <p:nvPr/>
        </p:nvSpPr>
        <p:spPr>
          <a:xfrm>
            <a:off x="5594316" y="4132496"/>
            <a:ext cx="1020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EF07B-FB56-ED7E-40E9-D6DB580447D1}"/>
              </a:ext>
            </a:extLst>
          </p:cNvPr>
          <p:cNvSpPr txBox="1"/>
          <p:nvPr/>
        </p:nvSpPr>
        <p:spPr>
          <a:xfrm>
            <a:off x="3718182" y="2793634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Malicious client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A5D2C6-4FB1-FDD8-74F1-0ABBAE3A82A5}"/>
              </a:ext>
            </a:extLst>
          </p:cNvPr>
          <p:cNvSpPr/>
          <p:nvPr/>
        </p:nvSpPr>
        <p:spPr>
          <a:xfrm>
            <a:off x="833996" y="5316914"/>
            <a:ext cx="6060528" cy="911496"/>
          </a:xfrm>
          <a:custGeom>
            <a:avLst/>
            <a:gdLst>
              <a:gd name="connsiteX0" fmla="*/ 0 w 6060528"/>
              <a:gd name="connsiteY0" fmla="*/ 0 h 911496"/>
              <a:gd name="connsiteX1" fmla="*/ 490352 w 6060528"/>
              <a:gd name="connsiteY1" fmla="*/ 0 h 911496"/>
              <a:gd name="connsiteX2" fmla="*/ 859493 w 6060528"/>
              <a:gd name="connsiteY2" fmla="*/ 0 h 911496"/>
              <a:gd name="connsiteX3" fmla="*/ 1531661 w 6060528"/>
              <a:gd name="connsiteY3" fmla="*/ 0 h 911496"/>
              <a:gd name="connsiteX4" fmla="*/ 2022013 w 6060528"/>
              <a:gd name="connsiteY4" fmla="*/ 0 h 911496"/>
              <a:gd name="connsiteX5" fmla="*/ 2512364 w 6060528"/>
              <a:gd name="connsiteY5" fmla="*/ 0 h 911496"/>
              <a:gd name="connsiteX6" fmla="*/ 3184532 w 6060528"/>
              <a:gd name="connsiteY6" fmla="*/ 0 h 911496"/>
              <a:gd name="connsiteX7" fmla="*/ 3614279 w 6060528"/>
              <a:gd name="connsiteY7" fmla="*/ 0 h 911496"/>
              <a:gd name="connsiteX8" fmla="*/ 4286446 w 6060528"/>
              <a:gd name="connsiteY8" fmla="*/ 0 h 911496"/>
              <a:gd name="connsiteX9" fmla="*/ 4958614 w 6060528"/>
              <a:gd name="connsiteY9" fmla="*/ 0 h 911496"/>
              <a:gd name="connsiteX10" fmla="*/ 5509571 w 6060528"/>
              <a:gd name="connsiteY10" fmla="*/ 0 h 911496"/>
              <a:gd name="connsiteX11" fmla="*/ 6060528 w 6060528"/>
              <a:gd name="connsiteY11" fmla="*/ 0 h 911496"/>
              <a:gd name="connsiteX12" fmla="*/ 6060528 w 6060528"/>
              <a:gd name="connsiteY12" fmla="*/ 446633 h 911496"/>
              <a:gd name="connsiteX13" fmla="*/ 6060528 w 6060528"/>
              <a:gd name="connsiteY13" fmla="*/ 911496 h 911496"/>
              <a:gd name="connsiteX14" fmla="*/ 5509571 w 6060528"/>
              <a:gd name="connsiteY14" fmla="*/ 911496 h 911496"/>
              <a:gd name="connsiteX15" fmla="*/ 5079824 w 6060528"/>
              <a:gd name="connsiteY15" fmla="*/ 911496 h 911496"/>
              <a:gd name="connsiteX16" fmla="*/ 4528867 w 6060528"/>
              <a:gd name="connsiteY16" fmla="*/ 911496 h 911496"/>
              <a:gd name="connsiteX17" fmla="*/ 3856700 w 6060528"/>
              <a:gd name="connsiteY17" fmla="*/ 911496 h 911496"/>
              <a:gd name="connsiteX18" fmla="*/ 3305743 w 6060528"/>
              <a:gd name="connsiteY18" fmla="*/ 911496 h 911496"/>
              <a:gd name="connsiteX19" fmla="*/ 2936601 w 6060528"/>
              <a:gd name="connsiteY19" fmla="*/ 911496 h 911496"/>
              <a:gd name="connsiteX20" fmla="*/ 2506855 w 6060528"/>
              <a:gd name="connsiteY20" fmla="*/ 911496 h 911496"/>
              <a:gd name="connsiteX21" fmla="*/ 1834687 w 6060528"/>
              <a:gd name="connsiteY21" fmla="*/ 911496 h 911496"/>
              <a:gd name="connsiteX22" fmla="*/ 1283730 w 6060528"/>
              <a:gd name="connsiteY22" fmla="*/ 911496 h 911496"/>
              <a:gd name="connsiteX23" fmla="*/ 853983 w 6060528"/>
              <a:gd name="connsiteY23" fmla="*/ 911496 h 911496"/>
              <a:gd name="connsiteX24" fmla="*/ 0 w 6060528"/>
              <a:gd name="connsiteY24" fmla="*/ 911496 h 911496"/>
              <a:gd name="connsiteX25" fmla="*/ 0 w 6060528"/>
              <a:gd name="connsiteY25" fmla="*/ 483093 h 911496"/>
              <a:gd name="connsiteX26" fmla="*/ 0 w 6060528"/>
              <a:gd name="connsiteY26" fmla="*/ 0 h 9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60528" h="911496" extrusionOk="0">
                <a:moveTo>
                  <a:pt x="0" y="0"/>
                </a:moveTo>
                <a:cubicBezTo>
                  <a:pt x="235641" y="-12831"/>
                  <a:pt x="271481" y="25506"/>
                  <a:pt x="490352" y="0"/>
                </a:cubicBezTo>
                <a:cubicBezTo>
                  <a:pt x="709223" y="-25506"/>
                  <a:pt x="724866" y="9909"/>
                  <a:pt x="859493" y="0"/>
                </a:cubicBezTo>
                <a:cubicBezTo>
                  <a:pt x="994120" y="-9909"/>
                  <a:pt x="1376851" y="54947"/>
                  <a:pt x="1531661" y="0"/>
                </a:cubicBezTo>
                <a:cubicBezTo>
                  <a:pt x="1686471" y="-54947"/>
                  <a:pt x="1846529" y="39368"/>
                  <a:pt x="2022013" y="0"/>
                </a:cubicBezTo>
                <a:cubicBezTo>
                  <a:pt x="2197497" y="-39368"/>
                  <a:pt x="2285668" y="26750"/>
                  <a:pt x="2512364" y="0"/>
                </a:cubicBezTo>
                <a:cubicBezTo>
                  <a:pt x="2739060" y="-26750"/>
                  <a:pt x="2975851" y="75344"/>
                  <a:pt x="3184532" y="0"/>
                </a:cubicBezTo>
                <a:cubicBezTo>
                  <a:pt x="3393213" y="-75344"/>
                  <a:pt x="3510984" y="17511"/>
                  <a:pt x="3614279" y="0"/>
                </a:cubicBezTo>
                <a:cubicBezTo>
                  <a:pt x="3717574" y="-17511"/>
                  <a:pt x="4119721" y="13293"/>
                  <a:pt x="4286446" y="0"/>
                </a:cubicBezTo>
                <a:cubicBezTo>
                  <a:pt x="4453171" y="-13293"/>
                  <a:pt x="4795993" y="19960"/>
                  <a:pt x="4958614" y="0"/>
                </a:cubicBezTo>
                <a:cubicBezTo>
                  <a:pt x="5121235" y="-19960"/>
                  <a:pt x="5308356" y="22929"/>
                  <a:pt x="5509571" y="0"/>
                </a:cubicBezTo>
                <a:cubicBezTo>
                  <a:pt x="5710786" y="-22929"/>
                  <a:pt x="5906355" y="59026"/>
                  <a:pt x="6060528" y="0"/>
                </a:cubicBezTo>
                <a:cubicBezTo>
                  <a:pt x="6101881" y="219246"/>
                  <a:pt x="6011847" y="318797"/>
                  <a:pt x="6060528" y="446633"/>
                </a:cubicBezTo>
                <a:cubicBezTo>
                  <a:pt x="6109209" y="574469"/>
                  <a:pt x="6055476" y="769738"/>
                  <a:pt x="6060528" y="911496"/>
                </a:cubicBezTo>
                <a:cubicBezTo>
                  <a:pt x="5841158" y="929414"/>
                  <a:pt x="5641568" y="888407"/>
                  <a:pt x="5509571" y="911496"/>
                </a:cubicBezTo>
                <a:cubicBezTo>
                  <a:pt x="5377574" y="934585"/>
                  <a:pt x="5209672" y="907344"/>
                  <a:pt x="5079824" y="911496"/>
                </a:cubicBezTo>
                <a:cubicBezTo>
                  <a:pt x="4949976" y="915648"/>
                  <a:pt x="4736947" y="880262"/>
                  <a:pt x="4528867" y="911496"/>
                </a:cubicBezTo>
                <a:cubicBezTo>
                  <a:pt x="4320787" y="942730"/>
                  <a:pt x="4068228" y="904192"/>
                  <a:pt x="3856700" y="911496"/>
                </a:cubicBezTo>
                <a:cubicBezTo>
                  <a:pt x="3645172" y="918800"/>
                  <a:pt x="3546558" y="884164"/>
                  <a:pt x="3305743" y="911496"/>
                </a:cubicBezTo>
                <a:cubicBezTo>
                  <a:pt x="3064928" y="938828"/>
                  <a:pt x="3020468" y="875126"/>
                  <a:pt x="2936601" y="911496"/>
                </a:cubicBezTo>
                <a:cubicBezTo>
                  <a:pt x="2852734" y="947866"/>
                  <a:pt x="2704591" y="911039"/>
                  <a:pt x="2506855" y="911496"/>
                </a:cubicBezTo>
                <a:cubicBezTo>
                  <a:pt x="2309119" y="911953"/>
                  <a:pt x="2156163" y="861734"/>
                  <a:pt x="1834687" y="911496"/>
                </a:cubicBezTo>
                <a:cubicBezTo>
                  <a:pt x="1513211" y="961258"/>
                  <a:pt x="1515879" y="873276"/>
                  <a:pt x="1283730" y="911496"/>
                </a:cubicBezTo>
                <a:cubicBezTo>
                  <a:pt x="1051581" y="949716"/>
                  <a:pt x="1032472" y="902618"/>
                  <a:pt x="853983" y="911496"/>
                </a:cubicBezTo>
                <a:cubicBezTo>
                  <a:pt x="675494" y="920374"/>
                  <a:pt x="298190" y="830200"/>
                  <a:pt x="0" y="911496"/>
                </a:cubicBezTo>
                <a:cubicBezTo>
                  <a:pt x="-37352" y="715198"/>
                  <a:pt x="28162" y="619196"/>
                  <a:pt x="0" y="483093"/>
                </a:cubicBezTo>
                <a:cubicBezTo>
                  <a:pt x="-28162" y="346990"/>
                  <a:pt x="10401" y="181431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Graphic 26" descr="Server with solid fill">
            <a:extLst>
              <a:ext uri="{FF2B5EF4-FFF2-40B4-BE49-F238E27FC236}">
                <a16:creationId xmlns:a16="http://schemas.microsoft.com/office/drawing/2014/main" id="{C8BC1379-4F02-7D1C-96E1-A7072DC62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786" y="5440653"/>
            <a:ext cx="545563" cy="54556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0C5E1B-F7DC-63EA-3160-D07AAF990F7C}"/>
              </a:ext>
            </a:extLst>
          </p:cNvPr>
          <p:cNvCxnSpPr>
            <a:cxnSpLocks/>
          </p:cNvCxnSpPr>
          <p:nvPr/>
        </p:nvCxnSpPr>
        <p:spPr>
          <a:xfrm>
            <a:off x="1548673" y="5369693"/>
            <a:ext cx="0" cy="82800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0147E65-856C-7DDA-3354-33800881C35B}"/>
              </a:ext>
            </a:extLst>
          </p:cNvPr>
          <p:cNvSpPr txBox="1"/>
          <p:nvPr/>
        </p:nvSpPr>
        <p:spPr>
          <a:xfrm>
            <a:off x="1619891" y="5340097"/>
            <a:ext cx="2244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Server-side Aggregation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EC61AF-4226-06FC-F53B-7A437CE07ABF}"/>
              </a:ext>
            </a:extLst>
          </p:cNvPr>
          <p:cNvSpPr txBox="1"/>
          <p:nvPr/>
        </p:nvSpPr>
        <p:spPr>
          <a:xfrm>
            <a:off x="3371175" y="5587663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284239-E7AF-7BDF-4F39-C3D5B8233A90}"/>
              </a:ext>
            </a:extLst>
          </p:cNvPr>
          <p:cNvSpPr txBox="1"/>
          <p:nvPr/>
        </p:nvSpPr>
        <p:spPr>
          <a:xfrm>
            <a:off x="4375673" y="5587663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1E14E3-2F44-A1F7-54AA-4D9FD042F8B2}"/>
              </a:ext>
            </a:extLst>
          </p:cNvPr>
          <p:cNvCxnSpPr>
            <a:cxnSpLocks/>
          </p:cNvCxnSpPr>
          <p:nvPr/>
        </p:nvCxnSpPr>
        <p:spPr>
          <a:xfrm>
            <a:off x="5420141" y="5893100"/>
            <a:ext cx="378732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B1C15DBF-4E6D-5ACC-BE7A-927E868A6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989" y="5689162"/>
            <a:ext cx="396000" cy="396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94BE214-7D89-5D52-D473-222C65BEE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9547" y="5689162"/>
            <a:ext cx="396000" cy="396000"/>
          </a:xfrm>
          <a:prstGeom prst="rect">
            <a:avLst/>
          </a:prstGeom>
        </p:spPr>
      </p:pic>
      <p:sp>
        <p:nvSpPr>
          <p:cNvPr id="36" name="Double Bracket 35">
            <a:extLst>
              <a:ext uri="{FF2B5EF4-FFF2-40B4-BE49-F238E27FC236}">
                <a16:creationId xmlns:a16="http://schemas.microsoft.com/office/drawing/2014/main" id="{DF64EE0D-E5FC-E325-D859-FC7E2D7E7405}"/>
              </a:ext>
            </a:extLst>
          </p:cNvPr>
          <p:cNvSpPr/>
          <p:nvPr/>
        </p:nvSpPr>
        <p:spPr>
          <a:xfrm>
            <a:off x="2764065" y="5669710"/>
            <a:ext cx="2573093" cy="430944"/>
          </a:xfrm>
          <a:prstGeom prst="bracketPair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22332D-EC3D-3867-0BB0-00F00FB54AAB}"/>
              </a:ext>
            </a:extLst>
          </p:cNvPr>
          <p:cNvSpPr txBox="1"/>
          <p:nvPr/>
        </p:nvSpPr>
        <p:spPr>
          <a:xfrm>
            <a:off x="1604464" y="5718803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cs typeface="Times New Roman" panose="02020603050405020304" pitchFamily="18" charset="0"/>
              </a:rPr>
              <a:t>④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Aggregate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31C504-95F7-CF32-BE4F-F479294616E4}"/>
              </a:ext>
            </a:extLst>
          </p:cNvPr>
          <p:cNvSpPr txBox="1"/>
          <p:nvPr/>
        </p:nvSpPr>
        <p:spPr>
          <a:xfrm>
            <a:off x="1533753" y="4853137"/>
            <a:ext cx="2144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Times New Roman" panose="02020603050405020304" pitchFamily="18" charset="0"/>
              </a:rPr>
              <a:t>①</a:t>
            </a:r>
            <a:r>
              <a:rPr lang="en-US" sz="1400" b="1" dirty="0">
                <a:cs typeface="Times New Roman" panose="02020603050405020304" pitchFamily="18" charset="0"/>
              </a:rPr>
              <a:t> Broadcast global model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F08A71-B112-760F-6E33-871C26004FF8}"/>
              </a:ext>
            </a:extLst>
          </p:cNvPr>
          <p:cNvSpPr txBox="1"/>
          <p:nvPr/>
        </p:nvSpPr>
        <p:spPr>
          <a:xfrm>
            <a:off x="4313858" y="4864947"/>
            <a:ext cx="2441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cs typeface="Times New Roman" panose="02020603050405020304" pitchFamily="18" charset="0"/>
              </a:rPr>
              <a:t>③</a:t>
            </a:r>
            <a:r>
              <a:rPr lang="zh-CN" altLang="en-US" sz="1400" b="1" dirty="0">
                <a:cs typeface="Times New Roman" panose="02020603050405020304" pitchFamily="18" charset="0"/>
              </a:rPr>
              <a:t> </a:t>
            </a:r>
            <a:r>
              <a:rPr lang="en-US" sz="1400" b="1" dirty="0">
                <a:cs typeface="Times New Roman" panose="02020603050405020304" pitchFamily="18" charset="0"/>
              </a:rPr>
              <a:t>Upload local model update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D29584-9E19-32BE-F570-CEB8035F47AB}"/>
              </a:ext>
            </a:extLst>
          </p:cNvPr>
          <p:cNvSpPr/>
          <p:nvPr/>
        </p:nvSpPr>
        <p:spPr>
          <a:xfrm>
            <a:off x="1430652" y="3163984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52082E-6550-5BBD-1F37-635656D112FA}"/>
              </a:ext>
            </a:extLst>
          </p:cNvPr>
          <p:cNvSpPr txBox="1"/>
          <p:nvPr/>
        </p:nvSpPr>
        <p:spPr>
          <a:xfrm>
            <a:off x="1685789" y="3153215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152F7E-5C3A-E96D-D1FD-F01B12BCC127}"/>
              </a:ext>
            </a:extLst>
          </p:cNvPr>
          <p:cNvSpPr/>
          <p:nvPr/>
        </p:nvSpPr>
        <p:spPr>
          <a:xfrm>
            <a:off x="5713403" y="3167458"/>
            <a:ext cx="1407886" cy="876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72778D-28C6-F2FB-E8A0-EC7C0F29928B}"/>
              </a:ext>
            </a:extLst>
          </p:cNvPr>
          <p:cNvSpPr txBox="1"/>
          <p:nvPr/>
        </p:nvSpPr>
        <p:spPr>
          <a:xfrm>
            <a:off x="5944007" y="3151554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BF59D9A-6EC8-25BC-159B-89551B3056BF}"/>
              </a:ext>
            </a:extLst>
          </p:cNvPr>
          <p:cNvSpPr/>
          <p:nvPr/>
        </p:nvSpPr>
        <p:spPr>
          <a:xfrm>
            <a:off x="3579410" y="3172797"/>
            <a:ext cx="1407886" cy="8796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EF7D04-6E18-7037-A0AF-695CA4AE3D35}"/>
              </a:ext>
            </a:extLst>
          </p:cNvPr>
          <p:cNvSpPr txBox="1"/>
          <p:nvPr/>
        </p:nvSpPr>
        <p:spPr>
          <a:xfrm>
            <a:off x="3823851" y="3157762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2827635-CB51-718B-087E-97D232732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4883" y="3402473"/>
            <a:ext cx="360000" cy="35984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5046F5C-9516-8564-2AB2-AB12AB4462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236" y="3402473"/>
            <a:ext cx="360000" cy="35984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7165A94-8D59-4CFB-87DF-5AE77F44E148}"/>
              </a:ext>
            </a:extLst>
          </p:cNvPr>
          <p:cNvSpPr txBox="1"/>
          <p:nvPr/>
        </p:nvSpPr>
        <p:spPr>
          <a:xfrm>
            <a:off x="4541185" y="3783058"/>
            <a:ext cx="434388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Car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E80A9E8-C345-C2FE-A6ED-AC4E1DD9FE63}"/>
              </a:ext>
            </a:extLst>
          </p:cNvPr>
          <p:cNvSpPr/>
          <p:nvPr/>
        </p:nvSpPr>
        <p:spPr>
          <a:xfrm>
            <a:off x="4574610" y="3821989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C666FC-057A-477F-13ED-EDBBDC65BB57}"/>
              </a:ext>
            </a:extLst>
          </p:cNvPr>
          <p:cNvSpPr txBox="1"/>
          <p:nvPr/>
        </p:nvSpPr>
        <p:spPr>
          <a:xfrm>
            <a:off x="3598126" y="3783058"/>
            <a:ext cx="5105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Horse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465FB33-2234-966F-2DFC-F78A76E1E5F2}"/>
              </a:ext>
            </a:extLst>
          </p:cNvPr>
          <p:cNvSpPr/>
          <p:nvPr/>
        </p:nvSpPr>
        <p:spPr>
          <a:xfrm>
            <a:off x="3667382" y="3821989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14D029-8190-198E-742F-E75B7BE909FF}"/>
              </a:ext>
            </a:extLst>
          </p:cNvPr>
          <p:cNvSpPr txBox="1"/>
          <p:nvPr/>
        </p:nvSpPr>
        <p:spPr>
          <a:xfrm>
            <a:off x="4102134" y="3783058"/>
            <a:ext cx="4299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Bird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52FB959-F07F-B3BA-7E75-B0E45F7BB18D}"/>
              </a:ext>
            </a:extLst>
          </p:cNvPr>
          <p:cNvSpPr/>
          <p:nvPr/>
        </p:nvSpPr>
        <p:spPr>
          <a:xfrm>
            <a:off x="4127283" y="3821989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2131073-5972-F881-9FD0-72B07C89C0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570" y="3402397"/>
            <a:ext cx="360000" cy="3600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561E751-BDED-A046-19BC-755F9CF86F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6452" y="3389857"/>
            <a:ext cx="360000" cy="35984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F1A6B65-EDF6-CEC0-434A-C68283F092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2367" y="3389857"/>
            <a:ext cx="360000" cy="35984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7B5E624-A6D9-5C49-EC0A-F22C1B6700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06014" y="3389857"/>
            <a:ext cx="360000" cy="359849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49C2F1E6-1084-28A0-F8D8-2F8DEBF32E60}"/>
              </a:ext>
            </a:extLst>
          </p:cNvPr>
          <p:cNvSpPr txBox="1"/>
          <p:nvPr/>
        </p:nvSpPr>
        <p:spPr>
          <a:xfrm>
            <a:off x="2380646" y="3770442"/>
            <a:ext cx="446602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Ship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109CF0F-7BFE-B70C-099D-4821D3F40577}"/>
              </a:ext>
            </a:extLst>
          </p:cNvPr>
          <p:cNvSpPr/>
          <p:nvPr/>
        </p:nvSpPr>
        <p:spPr>
          <a:xfrm>
            <a:off x="2410990" y="380937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5BE175-3E05-DD42-62B7-FE2BDD6955BA}"/>
              </a:ext>
            </a:extLst>
          </p:cNvPr>
          <p:cNvSpPr txBox="1"/>
          <p:nvPr/>
        </p:nvSpPr>
        <p:spPr>
          <a:xfrm>
            <a:off x="1960546" y="3770442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451DB3D-0A48-451B-1F5E-64CE5A00E6FB}"/>
              </a:ext>
            </a:extLst>
          </p:cNvPr>
          <p:cNvSpPr/>
          <p:nvPr/>
        </p:nvSpPr>
        <p:spPr>
          <a:xfrm>
            <a:off x="1964915" y="380937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1EED54-4705-51E3-C05F-80D7BAA4E30E}"/>
              </a:ext>
            </a:extLst>
          </p:cNvPr>
          <p:cNvSpPr txBox="1"/>
          <p:nvPr/>
        </p:nvSpPr>
        <p:spPr>
          <a:xfrm>
            <a:off x="1486338" y="3770442"/>
            <a:ext cx="4221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Dog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8AC9B83-52A2-6C44-E002-9D48E0FE69B9}"/>
              </a:ext>
            </a:extLst>
          </p:cNvPr>
          <p:cNvSpPr/>
          <p:nvPr/>
        </p:nvSpPr>
        <p:spPr>
          <a:xfrm>
            <a:off x="1511487" y="380937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5" name="Picture 74" descr="A red logo with circles and lines&#10;&#10;Description automatically generated">
            <a:extLst>
              <a:ext uri="{FF2B5EF4-FFF2-40B4-BE49-F238E27FC236}">
                <a16:creationId xmlns:a16="http://schemas.microsoft.com/office/drawing/2014/main" id="{ED8821C6-8D0F-22D7-F248-8CFD3EDB40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3968" y="4152703"/>
            <a:ext cx="396166" cy="396000"/>
          </a:xfrm>
          <a:prstGeom prst="rect">
            <a:avLst/>
          </a:prstGeom>
        </p:spPr>
      </p:pic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DA60E420-652E-04DC-8075-0D69E8A07EC9}"/>
              </a:ext>
            </a:extLst>
          </p:cNvPr>
          <p:cNvSpPr txBox="1">
            <a:spLocks/>
          </p:cNvSpPr>
          <p:nvPr/>
        </p:nvSpPr>
        <p:spPr>
          <a:xfrm>
            <a:off x="7515163" y="2198976"/>
            <a:ext cx="4469724" cy="3978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b="1" dirty="0">
                <a:latin typeface="+mn-lt"/>
              </a:rPr>
              <a:t>Poisoning method examples</a:t>
            </a:r>
            <a:r>
              <a:rPr lang="en-US" sz="2400" dirty="0">
                <a:latin typeface="+mn-lt"/>
              </a:rPr>
              <a:t>: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+mn-lt"/>
              </a:rPr>
              <a:t>Directly sending pure noise to the server instead of model updates.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+mn-lt"/>
              </a:rPr>
              <a:t>Adding randomly-generated noise to model updates and sending the perturbed updates to the server.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+mn-lt"/>
              </a:rPr>
              <a:t>Flipping the sign of each parameter in model updates.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+mn-lt"/>
              </a:rPr>
              <a:t>More.</a:t>
            </a:r>
          </a:p>
          <a:p>
            <a:pPr lvl="1">
              <a:lnSpc>
                <a:spcPct val="120000"/>
              </a:lnSpc>
            </a:pPr>
            <a:endParaRPr lang="en-US" sz="2000" dirty="0">
              <a:latin typeface="+mn-lt"/>
            </a:endParaRPr>
          </a:p>
        </p:txBody>
      </p:sp>
      <p:pic>
        <p:nvPicPr>
          <p:cNvPr id="77" name="Picture 76" descr="A red logo with circles and lines&#10;&#10;Description automatically generated">
            <a:extLst>
              <a:ext uri="{FF2B5EF4-FFF2-40B4-BE49-F238E27FC236}">
                <a16:creationId xmlns:a16="http://schemas.microsoft.com/office/drawing/2014/main" id="{CA71520D-62CC-4FD8-26C1-CA9516FC5A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2099" y="5684733"/>
            <a:ext cx="396166" cy="396000"/>
          </a:xfrm>
          <a:prstGeom prst="rect">
            <a:avLst/>
          </a:prstGeom>
        </p:spPr>
      </p:pic>
      <p:pic>
        <p:nvPicPr>
          <p:cNvPr id="78" name="Picture 77" descr="A yellow network with circles and lines&#10;&#10;Description automatically generated with medium confidence">
            <a:extLst>
              <a:ext uri="{FF2B5EF4-FFF2-40B4-BE49-F238E27FC236}">
                <a16:creationId xmlns:a16="http://schemas.microsoft.com/office/drawing/2014/main" id="{A211663D-777C-5FB8-05D0-CB537FE92E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43215" y="5695100"/>
            <a:ext cx="396000" cy="396000"/>
          </a:xfrm>
          <a:prstGeom prst="rect">
            <a:avLst/>
          </a:prstGeom>
        </p:spPr>
      </p:pic>
      <p:pic>
        <p:nvPicPr>
          <p:cNvPr id="79" name="Graphic 78" descr="Downward trend graph with solid fill">
            <a:extLst>
              <a:ext uri="{FF2B5EF4-FFF2-40B4-BE49-F238E27FC236}">
                <a16:creationId xmlns:a16="http://schemas.microsoft.com/office/drawing/2014/main" id="{32BF3789-99AB-EAF9-B9EE-16930FF3CC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04930" y="5650633"/>
            <a:ext cx="540000" cy="5400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E93341A8-4F7C-AD87-DC8C-0FC93D32689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89017" y="3400424"/>
            <a:ext cx="360000" cy="359849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DAA7A31E-B5B3-836E-94FF-D140C3BFDD6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2316" y="3400424"/>
            <a:ext cx="360000" cy="359849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128646CB-EF67-54D6-17A6-9386D5D1A6A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6693178" y="3400424"/>
            <a:ext cx="360000" cy="359849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46879BD0-CDD2-1764-4F2E-E5E46E3B0D01}"/>
              </a:ext>
            </a:extLst>
          </p:cNvPr>
          <p:cNvSpPr txBox="1"/>
          <p:nvPr/>
        </p:nvSpPr>
        <p:spPr>
          <a:xfrm>
            <a:off x="5784650" y="3781009"/>
            <a:ext cx="3593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900" b="1" dirty="0">
              <a:cs typeface="Times New Roman" panose="02020603050405020304" pitchFamily="18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3F5594B-3388-6632-F4B4-A01522D0AED9}"/>
              </a:ext>
            </a:extLst>
          </p:cNvPr>
          <p:cNvSpPr/>
          <p:nvPr/>
        </p:nvSpPr>
        <p:spPr>
          <a:xfrm>
            <a:off x="5789017" y="3819940"/>
            <a:ext cx="355027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4F1791-427B-D4DF-3D7E-4378848B0598}"/>
              </a:ext>
            </a:extLst>
          </p:cNvPr>
          <p:cNvSpPr txBox="1"/>
          <p:nvPr/>
        </p:nvSpPr>
        <p:spPr>
          <a:xfrm>
            <a:off x="6171548" y="3781009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Plane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CAA92CA-611E-25A2-9C0D-57C5FF737346}"/>
              </a:ext>
            </a:extLst>
          </p:cNvPr>
          <p:cNvSpPr/>
          <p:nvPr/>
        </p:nvSpPr>
        <p:spPr>
          <a:xfrm>
            <a:off x="6248289" y="3819940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EA0A258-1DBE-AF20-5737-99782E685CCE}"/>
              </a:ext>
            </a:extLst>
          </p:cNvPr>
          <p:cNvSpPr txBox="1"/>
          <p:nvPr/>
        </p:nvSpPr>
        <p:spPr>
          <a:xfrm>
            <a:off x="6620468" y="3781009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Truck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5C66411-96BD-D915-CCBF-63A448C519E8}"/>
              </a:ext>
            </a:extLst>
          </p:cNvPr>
          <p:cNvSpPr/>
          <p:nvPr/>
        </p:nvSpPr>
        <p:spPr>
          <a:xfrm>
            <a:off x="6697209" y="3819940"/>
            <a:ext cx="355969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9" name="Graphic 88" descr="Laptop with solid fill">
            <a:extLst>
              <a:ext uri="{FF2B5EF4-FFF2-40B4-BE49-F238E27FC236}">
                <a16:creationId xmlns:a16="http://schemas.microsoft.com/office/drawing/2014/main" id="{62B4943D-B66A-4C50-4922-584B4F90D24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1127" y="3306748"/>
            <a:ext cx="547200" cy="54720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AFD5F0BB-E7D4-B8EB-4AEE-3FA524F36B66}"/>
              </a:ext>
            </a:extLst>
          </p:cNvPr>
          <p:cNvSpPr txBox="1"/>
          <p:nvPr/>
        </p:nvSpPr>
        <p:spPr>
          <a:xfrm>
            <a:off x="870931" y="5894129"/>
            <a:ext cx="666937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Server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91" name="Graphic 90" descr="Devil face outline with solid fill">
            <a:extLst>
              <a:ext uri="{FF2B5EF4-FFF2-40B4-BE49-F238E27FC236}">
                <a16:creationId xmlns:a16="http://schemas.microsoft.com/office/drawing/2014/main" id="{4DBF4832-F770-821A-AFAF-54388B7B48E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835608" y="2756890"/>
            <a:ext cx="346840" cy="34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5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0"/>
            <a:ext cx="1075766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Untrusted Clients: Backdoor Attack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13148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One or several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malicious clients </a:t>
            </a:r>
            <a:r>
              <a:rPr lang="en-US" dirty="0">
                <a:latin typeface="+mn-lt"/>
              </a:rPr>
              <a:t>try to inject a backdoor trigger (e.g., an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orange</a:t>
            </a:r>
            <a:r>
              <a:rPr lang="en-US" dirty="0">
                <a:latin typeface="+mn-lt"/>
              </a:rPr>
              <a:t> pixel patch) to the global model via local data poisoning.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022C0F9-67DA-AD6D-5025-5A677B39D93D}"/>
              </a:ext>
            </a:extLst>
          </p:cNvPr>
          <p:cNvGrpSpPr/>
          <p:nvPr/>
        </p:nvGrpSpPr>
        <p:grpSpPr>
          <a:xfrm>
            <a:off x="403525" y="5762159"/>
            <a:ext cx="5472321" cy="911496"/>
            <a:chOff x="403525" y="5863992"/>
            <a:chExt cx="5472321" cy="911496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EBCBE70-99E3-C6CF-F680-BE652BE8B512}"/>
                </a:ext>
              </a:extLst>
            </p:cNvPr>
            <p:cNvSpPr/>
            <p:nvPr/>
          </p:nvSpPr>
          <p:spPr>
            <a:xfrm>
              <a:off x="403525" y="5863992"/>
              <a:ext cx="5472321" cy="911496"/>
            </a:xfrm>
            <a:custGeom>
              <a:avLst/>
              <a:gdLst>
                <a:gd name="connsiteX0" fmla="*/ 0 w 5472321"/>
                <a:gd name="connsiteY0" fmla="*/ 0 h 911496"/>
                <a:gd name="connsiteX1" fmla="*/ 492509 w 5472321"/>
                <a:gd name="connsiteY1" fmla="*/ 0 h 911496"/>
                <a:gd name="connsiteX2" fmla="*/ 875571 w 5472321"/>
                <a:gd name="connsiteY2" fmla="*/ 0 h 911496"/>
                <a:gd name="connsiteX3" fmla="*/ 1532250 w 5472321"/>
                <a:gd name="connsiteY3" fmla="*/ 0 h 911496"/>
                <a:gd name="connsiteX4" fmla="*/ 2024759 w 5472321"/>
                <a:gd name="connsiteY4" fmla="*/ 0 h 911496"/>
                <a:gd name="connsiteX5" fmla="*/ 2517268 w 5472321"/>
                <a:gd name="connsiteY5" fmla="*/ 0 h 911496"/>
                <a:gd name="connsiteX6" fmla="*/ 3173946 w 5472321"/>
                <a:gd name="connsiteY6" fmla="*/ 0 h 911496"/>
                <a:gd name="connsiteX7" fmla="*/ 3611732 w 5472321"/>
                <a:gd name="connsiteY7" fmla="*/ 0 h 911496"/>
                <a:gd name="connsiteX8" fmla="*/ 4268410 w 5472321"/>
                <a:gd name="connsiteY8" fmla="*/ 0 h 911496"/>
                <a:gd name="connsiteX9" fmla="*/ 4925089 w 5472321"/>
                <a:gd name="connsiteY9" fmla="*/ 0 h 911496"/>
                <a:gd name="connsiteX10" fmla="*/ 5472321 w 5472321"/>
                <a:gd name="connsiteY10" fmla="*/ 0 h 911496"/>
                <a:gd name="connsiteX11" fmla="*/ 5472321 w 5472321"/>
                <a:gd name="connsiteY11" fmla="*/ 473978 h 911496"/>
                <a:gd name="connsiteX12" fmla="*/ 5472321 w 5472321"/>
                <a:gd name="connsiteY12" fmla="*/ 911496 h 911496"/>
                <a:gd name="connsiteX13" fmla="*/ 5089259 w 5472321"/>
                <a:gd name="connsiteY13" fmla="*/ 911496 h 911496"/>
                <a:gd name="connsiteX14" fmla="*/ 4432580 w 5472321"/>
                <a:gd name="connsiteY14" fmla="*/ 911496 h 911496"/>
                <a:gd name="connsiteX15" fmla="*/ 3994794 w 5472321"/>
                <a:gd name="connsiteY15" fmla="*/ 911496 h 911496"/>
                <a:gd name="connsiteX16" fmla="*/ 3447562 w 5472321"/>
                <a:gd name="connsiteY16" fmla="*/ 911496 h 911496"/>
                <a:gd name="connsiteX17" fmla="*/ 2790884 w 5472321"/>
                <a:gd name="connsiteY17" fmla="*/ 911496 h 911496"/>
                <a:gd name="connsiteX18" fmla="*/ 2243652 w 5472321"/>
                <a:gd name="connsiteY18" fmla="*/ 911496 h 911496"/>
                <a:gd name="connsiteX19" fmla="*/ 1860589 w 5472321"/>
                <a:gd name="connsiteY19" fmla="*/ 911496 h 911496"/>
                <a:gd name="connsiteX20" fmla="*/ 1422803 w 5472321"/>
                <a:gd name="connsiteY20" fmla="*/ 911496 h 911496"/>
                <a:gd name="connsiteX21" fmla="*/ 766125 w 5472321"/>
                <a:gd name="connsiteY21" fmla="*/ 911496 h 911496"/>
                <a:gd name="connsiteX22" fmla="*/ 0 w 5472321"/>
                <a:gd name="connsiteY22" fmla="*/ 911496 h 911496"/>
                <a:gd name="connsiteX23" fmla="*/ 0 w 5472321"/>
                <a:gd name="connsiteY23" fmla="*/ 473978 h 911496"/>
                <a:gd name="connsiteX24" fmla="*/ 0 w 5472321"/>
                <a:gd name="connsiteY24" fmla="*/ 0 h 911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72321" h="911496" extrusionOk="0">
                  <a:moveTo>
                    <a:pt x="0" y="0"/>
                  </a:moveTo>
                  <a:cubicBezTo>
                    <a:pt x="214904" y="-17138"/>
                    <a:pt x="393744" y="55474"/>
                    <a:pt x="492509" y="0"/>
                  </a:cubicBezTo>
                  <a:cubicBezTo>
                    <a:pt x="591274" y="-55474"/>
                    <a:pt x="691964" y="3492"/>
                    <a:pt x="875571" y="0"/>
                  </a:cubicBezTo>
                  <a:cubicBezTo>
                    <a:pt x="1059178" y="-3492"/>
                    <a:pt x="1389796" y="35060"/>
                    <a:pt x="1532250" y="0"/>
                  </a:cubicBezTo>
                  <a:cubicBezTo>
                    <a:pt x="1674704" y="-35060"/>
                    <a:pt x="1886556" y="51619"/>
                    <a:pt x="2024759" y="0"/>
                  </a:cubicBezTo>
                  <a:cubicBezTo>
                    <a:pt x="2162962" y="-51619"/>
                    <a:pt x="2374959" y="6364"/>
                    <a:pt x="2517268" y="0"/>
                  </a:cubicBezTo>
                  <a:cubicBezTo>
                    <a:pt x="2659577" y="-6364"/>
                    <a:pt x="3026753" y="5866"/>
                    <a:pt x="3173946" y="0"/>
                  </a:cubicBezTo>
                  <a:cubicBezTo>
                    <a:pt x="3321139" y="-5866"/>
                    <a:pt x="3459920" y="40754"/>
                    <a:pt x="3611732" y="0"/>
                  </a:cubicBezTo>
                  <a:cubicBezTo>
                    <a:pt x="3763544" y="-40754"/>
                    <a:pt x="4013337" y="5188"/>
                    <a:pt x="4268410" y="0"/>
                  </a:cubicBezTo>
                  <a:cubicBezTo>
                    <a:pt x="4523483" y="-5188"/>
                    <a:pt x="4741913" y="350"/>
                    <a:pt x="4925089" y="0"/>
                  </a:cubicBezTo>
                  <a:cubicBezTo>
                    <a:pt x="5108265" y="-350"/>
                    <a:pt x="5310284" y="63667"/>
                    <a:pt x="5472321" y="0"/>
                  </a:cubicBezTo>
                  <a:cubicBezTo>
                    <a:pt x="5524186" y="147346"/>
                    <a:pt x="5470296" y="289363"/>
                    <a:pt x="5472321" y="473978"/>
                  </a:cubicBezTo>
                  <a:cubicBezTo>
                    <a:pt x="5474346" y="658593"/>
                    <a:pt x="5448497" y="719754"/>
                    <a:pt x="5472321" y="911496"/>
                  </a:cubicBezTo>
                  <a:cubicBezTo>
                    <a:pt x="5323718" y="948715"/>
                    <a:pt x="5194555" y="876697"/>
                    <a:pt x="5089259" y="911496"/>
                  </a:cubicBezTo>
                  <a:cubicBezTo>
                    <a:pt x="4983963" y="946295"/>
                    <a:pt x="4646840" y="869863"/>
                    <a:pt x="4432580" y="911496"/>
                  </a:cubicBezTo>
                  <a:cubicBezTo>
                    <a:pt x="4218320" y="953129"/>
                    <a:pt x="4173272" y="874100"/>
                    <a:pt x="3994794" y="911496"/>
                  </a:cubicBezTo>
                  <a:cubicBezTo>
                    <a:pt x="3816316" y="948892"/>
                    <a:pt x="3558948" y="878955"/>
                    <a:pt x="3447562" y="911496"/>
                  </a:cubicBezTo>
                  <a:cubicBezTo>
                    <a:pt x="3336176" y="944037"/>
                    <a:pt x="3044546" y="838714"/>
                    <a:pt x="2790884" y="911496"/>
                  </a:cubicBezTo>
                  <a:cubicBezTo>
                    <a:pt x="2537222" y="984278"/>
                    <a:pt x="2414607" y="858098"/>
                    <a:pt x="2243652" y="911496"/>
                  </a:cubicBezTo>
                  <a:cubicBezTo>
                    <a:pt x="2072697" y="964894"/>
                    <a:pt x="1955870" y="904797"/>
                    <a:pt x="1860589" y="911496"/>
                  </a:cubicBezTo>
                  <a:cubicBezTo>
                    <a:pt x="1765308" y="918195"/>
                    <a:pt x="1556849" y="895032"/>
                    <a:pt x="1422803" y="911496"/>
                  </a:cubicBezTo>
                  <a:cubicBezTo>
                    <a:pt x="1288757" y="927960"/>
                    <a:pt x="907413" y="910442"/>
                    <a:pt x="766125" y="911496"/>
                  </a:cubicBezTo>
                  <a:cubicBezTo>
                    <a:pt x="624837" y="912550"/>
                    <a:pt x="158815" y="868144"/>
                    <a:pt x="0" y="911496"/>
                  </a:cubicBezTo>
                  <a:cubicBezTo>
                    <a:pt x="-12727" y="706786"/>
                    <a:pt x="12700" y="587916"/>
                    <a:pt x="0" y="473978"/>
                  </a:cubicBezTo>
                  <a:cubicBezTo>
                    <a:pt x="-12700" y="360040"/>
                    <a:pt x="10641" y="198571"/>
                    <a:pt x="0" y="0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1" name="Graphic 90" descr="Server with solid fill">
              <a:extLst>
                <a:ext uri="{FF2B5EF4-FFF2-40B4-BE49-F238E27FC236}">
                  <a16:creationId xmlns:a16="http://schemas.microsoft.com/office/drawing/2014/main" id="{80DA1EF8-E10F-4340-A588-C37A400A0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1315" y="5987731"/>
              <a:ext cx="545563" cy="545563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DEC1B8A-8A42-7017-2A09-64DC7A2A147B}"/>
                </a:ext>
              </a:extLst>
            </p:cNvPr>
            <p:cNvSpPr txBox="1"/>
            <p:nvPr/>
          </p:nvSpPr>
          <p:spPr>
            <a:xfrm>
              <a:off x="440460" y="6441207"/>
              <a:ext cx="666937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Server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94E61B8-B775-7404-4011-2C544BBBE748}"/>
                </a:ext>
              </a:extLst>
            </p:cNvPr>
            <p:cNvCxnSpPr>
              <a:cxnSpLocks/>
            </p:cNvCxnSpPr>
            <p:nvPr/>
          </p:nvCxnSpPr>
          <p:spPr>
            <a:xfrm>
              <a:off x="1118202" y="5916771"/>
              <a:ext cx="0" cy="82800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lgDash"/>
              <a:miter lim="800000"/>
            </a:ln>
            <a:effectLst/>
          </p:spPr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B32833B-7CAB-6177-D0E1-A472AEAC7D28}"/>
                </a:ext>
              </a:extLst>
            </p:cNvPr>
            <p:cNvSpPr txBox="1"/>
            <p:nvPr/>
          </p:nvSpPr>
          <p:spPr>
            <a:xfrm>
              <a:off x="1189420" y="5887175"/>
              <a:ext cx="22445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cs typeface="Times New Roman" panose="02020603050405020304" pitchFamily="18" charset="0"/>
                </a:rPr>
                <a:t>Server-side Aggregation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1BCCF29-9241-363F-BBB8-8620A6460B49}"/>
                </a:ext>
              </a:extLst>
            </p:cNvPr>
            <p:cNvSpPr txBox="1"/>
            <p:nvPr/>
          </p:nvSpPr>
          <p:spPr>
            <a:xfrm>
              <a:off x="2940704" y="6134741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Times New Roman" panose="02020603050405020304" pitchFamily="18" charset="0"/>
                </a:rPr>
                <a:t>…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392B6D8-4539-A691-FD21-66D201D88AF3}"/>
                </a:ext>
              </a:extLst>
            </p:cNvPr>
            <p:cNvSpPr txBox="1"/>
            <p:nvPr/>
          </p:nvSpPr>
          <p:spPr>
            <a:xfrm>
              <a:off x="3945202" y="6134741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Times New Roman" panose="02020603050405020304" pitchFamily="18" charset="0"/>
                </a:rPr>
                <a:t>…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BFE18863-4970-1C5F-7BF6-809765D5C1A5}"/>
                </a:ext>
              </a:extLst>
            </p:cNvPr>
            <p:cNvCxnSpPr>
              <a:cxnSpLocks/>
            </p:cNvCxnSpPr>
            <p:nvPr/>
          </p:nvCxnSpPr>
          <p:spPr>
            <a:xfrm>
              <a:off x="4989670" y="6440178"/>
              <a:ext cx="378732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156ED780-6FD9-BFC5-51D9-2DE3BEE45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23518" y="6236240"/>
              <a:ext cx="396000" cy="396000"/>
            </a:xfrm>
            <a:prstGeom prst="rect">
              <a:avLst/>
            </a:prstGeom>
          </p:spPr>
        </p:pic>
        <p:pic>
          <p:nvPicPr>
            <p:cNvPr id="99" name="Graphic 98">
              <a:extLst>
                <a:ext uri="{FF2B5EF4-FFF2-40B4-BE49-F238E27FC236}">
                  <a16:creationId xmlns:a16="http://schemas.microsoft.com/office/drawing/2014/main" id="{55D60240-D566-049A-8630-C1BC07870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49076" y="6236240"/>
              <a:ext cx="396000" cy="396000"/>
            </a:xfrm>
            <a:prstGeom prst="rect">
              <a:avLst/>
            </a:prstGeom>
          </p:spPr>
        </p:pic>
        <p:sp>
          <p:nvSpPr>
            <p:cNvPr id="100" name="Double Bracket 99">
              <a:extLst>
                <a:ext uri="{FF2B5EF4-FFF2-40B4-BE49-F238E27FC236}">
                  <a16:creationId xmlns:a16="http://schemas.microsoft.com/office/drawing/2014/main" id="{15B8997A-51BE-B1DA-D54B-9CE9B518DB42}"/>
                </a:ext>
              </a:extLst>
            </p:cNvPr>
            <p:cNvSpPr/>
            <p:nvPr/>
          </p:nvSpPr>
          <p:spPr>
            <a:xfrm>
              <a:off x="2333594" y="6216788"/>
              <a:ext cx="2573093" cy="430944"/>
            </a:xfrm>
            <a:prstGeom prst="bracketPair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1787E91-6AAF-1A52-9D12-5F245184B287}"/>
                </a:ext>
              </a:extLst>
            </p:cNvPr>
            <p:cNvSpPr txBox="1"/>
            <p:nvPr/>
          </p:nvSpPr>
          <p:spPr>
            <a:xfrm>
              <a:off x="1173993" y="6265881"/>
              <a:ext cx="11929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dirty="0">
                  <a:cs typeface="Times New Roman" panose="02020603050405020304" pitchFamily="18" charset="0"/>
                </a:rPr>
                <a:t>④ </a:t>
              </a:r>
              <a:r>
                <a:rPr kumimoji="0" lang="en-US" sz="14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Times New Roman" panose="02020603050405020304" pitchFamily="18" charset="0"/>
                </a:rPr>
                <a:t>Aggregate</a:t>
              </a:r>
            </a:p>
          </p:txBody>
        </p:sp>
        <p:pic>
          <p:nvPicPr>
            <p:cNvPr id="138" name="Picture 137" descr="A red logo with circles and lines&#10;&#10;Description automatically generated">
              <a:extLst>
                <a:ext uri="{FF2B5EF4-FFF2-40B4-BE49-F238E27FC236}">
                  <a16:creationId xmlns:a16="http://schemas.microsoft.com/office/drawing/2014/main" id="{4478DC7E-D897-DEE2-E104-6DF16CC7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41628" y="6231811"/>
              <a:ext cx="396166" cy="396000"/>
            </a:xfrm>
            <a:prstGeom prst="rect">
              <a:avLst/>
            </a:prstGeom>
          </p:spPr>
        </p:pic>
        <p:pic>
          <p:nvPicPr>
            <p:cNvPr id="139" name="Picture 138" descr="A yellow network with circles and lines&#10;&#10;Description automatically generated with medium confidence">
              <a:extLst>
                <a:ext uri="{FF2B5EF4-FFF2-40B4-BE49-F238E27FC236}">
                  <a16:creationId xmlns:a16="http://schemas.microsoft.com/office/drawing/2014/main" id="{3FE7BA39-B14A-1103-5C05-0ABC0931A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12744" y="6242178"/>
              <a:ext cx="396000" cy="396000"/>
            </a:xfrm>
            <a:prstGeom prst="rect">
              <a:avLst/>
            </a:prstGeom>
          </p:spPr>
        </p:pic>
      </p:grpSp>
      <p:sp>
        <p:nvSpPr>
          <p:cNvPr id="70" name="Right Arrow 69">
            <a:extLst>
              <a:ext uri="{FF2B5EF4-FFF2-40B4-BE49-F238E27FC236}">
                <a16:creationId xmlns:a16="http://schemas.microsoft.com/office/drawing/2014/main" id="{E957EE42-237A-8FE3-7E7E-EB42FC290B18}"/>
              </a:ext>
            </a:extLst>
          </p:cNvPr>
          <p:cNvSpPr/>
          <p:nvPr/>
        </p:nvSpPr>
        <p:spPr>
          <a:xfrm rot="16200000">
            <a:off x="3710898" y="5434161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28904537-F24C-FF9D-8F5E-D5D46185463E}"/>
              </a:ext>
            </a:extLst>
          </p:cNvPr>
          <p:cNvSpPr/>
          <p:nvPr/>
        </p:nvSpPr>
        <p:spPr>
          <a:xfrm rot="5400000">
            <a:off x="3915244" y="5434161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888C379-D1E3-16D5-1F26-442486B21D25}"/>
              </a:ext>
            </a:extLst>
          </p:cNvPr>
          <p:cNvSpPr/>
          <p:nvPr/>
        </p:nvSpPr>
        <p:spPr>
          <a:xfrm>
            <a:off x="438031" y="2228897"/>
            <a:ext cx="6984734" cy="2943262"/>
          </a:xfrm>
          <a:custGeom>
            <a:avLst/>
            <a:gdLst>
              <a:gd name="connsiteX0" fmla="*/ 0 w 6984734"/>
              <a:gd name="connsiteY0" fmla="*/ 0 h 2943262"/>
              <a:gd name="connsiteX1" fmla="*/ 628626 w 6984734"/>
              <a:gd name="connsiteY1" fmla="*/ 0 h 2943262"/>
              <a:gd name="connsiteX2" fmla="*/ 1117557 w 6984734"/>
              <a:gd name="connsiteY2" fmla="*/ 0 h 2943262"/>
              <a:gd name="connsiteX3" fmla="*/ 1955726 w 6984734"/>
              <a:gd name="connsiteY3" fmla="*/ 0 h 2943262"/>
              <a:gd name="connsiteX4" fmla="*/ 2584352 w 6984734"/>
              <a:gd name="connsiteY4" fmla="*/ 0 h 2943262"/>
              <a:gd name="connsiteX5" fmla="*/ 3212978 w 6984734"/>
              <a:gd name="connsiteY5" fmla="*/ 0 h 2943262"/>
              <a:gd name="connsiteX6" fmla="*/ 4051146 w 6984734"/>
              <a:gd name="connsiteY6" fmla="*/ 0 h 2943262"/>
              <a:gd name="connsiteX7" fmla="*/ 4609924 w 6984734"/>
              <a:gd name="connsiteY7" fmla="*/ 0 h 2943262"/>
              <a:gd name="connsiteX8" fmla="*/ 5448093 w 6984734"/>
              <a:gd name="connsiteY8" fmla="*/ 0 h 2943262"/>
              <a:gd name="connsiteX9" fmla="*/ 6286261 w 6984734"/>
              <a:gd name="connsiteY9" fmla="*/ 0 h 2943262"/>
              <a:gd name="connsiteX10" fmla="*/ 6984734 w 6984734"/>
              <a:gd name="connsiteY10" fmla="*/ 0 h 2943262"/>
              <a:gd name="connsiteX11" fmla="*/ 6984734 w 6984734"/>
              <a:gd name="connsiteY11" fmla="*/ 647518 h 2943262"/>
              <a:gd name="connsiteX12" fmla="*/ 6984734 w 6984734"/>
              <a:gd name="connsiteY12" fmla="*/ 1265603 h 2943262"/>
              <a:gd name="connsiteX13" fmla="*/ 6984734 w 6984734"/>
              <a:gd name="connsiteY13" fmla="*/ 1765957 h 2943262"/>
              <a:gd name="connsiteX14" fmla="*/ 6984734 w 6984734"/>
              <a:gd name="connsiteY14" fmla="*/ 2354610 h 2943262"/>
              <a:gd name="connsiteX15" fmla="*/ 6984734 w 6984734"/>
              <a:gd name="connsiteY15" fmla="*/ 2943262 h 2943262"/>
              <a:gd name="connsiteX16" fmla="*/ 6286261 w 6984734"/>
              <a:gd name="connsiteY16" fmla="*/ 2943262 h 2943262"/>
              <a:gd name="connsiteX17" fmla="*/ 5448093 w 6984734"/>
              <a:gd name="connsiteY17" fmla="*/ 2943262 h 2943262"/>
              <a:gd name="connsiteX18" fmla="*/ 4749619 w 6984734"/>
              <a:gd name="connsiteY18" fmla="*/ 2943262 h 2943262"/>
              <a:gd name="connsiteX19" fmla="*/ 4260688 w 6984734"/>
              <a:gd name="connsiteY19" fmla="*/ 2943262 h 2943262"/>
              <a:gd name="connsiteX20" fmla="*/ 3701909 w 6984734"/>
              <a:gd name="connsiteY20" fmla="*/ 2943262 h 2943262"/>
              <a:gd name="connsiteX21" fmla="*/ 2863741 w 6984734"/>
              <a:gd name="connsiteY21" fmla="*/ 2943262 h 2943262"/>
              <a:gd name="connsiteX22" fmla="*/ 2165268 w 6984734"/>
              <a:gd name="connsiteY22" fmla="*/ 2943262 h 2943262"/>
              <a:gd name="connsiteX23" fmla="*/ 1606489 w 6984734"/>
              <a:gd name="connsiteY23" fmla="*/ 2943262 h 2943262"/>
              <a:gd name="connsiteX24" fmla="*/ 908015 w 6984734"/>
              <a:gd name="connsiteY24" fmla="*/ 2943262 h 2943262"/>
              <a:gd name="connsiteX25" fmla="*/ 0 w 6984734"/>
              <a:gd name="connsiteY25" fmla="*/ 2943262 h 2943262"/>
              <a:gd name="connsiteX26" fmla="*/ 0 w 6984734"/>
              <a:gd name="connsiteY26" fmla="*/ 2442907 h 2943262"/>
              <a:gd name="connsiteX27" fmla="*/ 0 w 6984734"/>
              <a:gd name="connsiteY27" fmla="*/ 1824822 h 2943262"/>
              <a:gd name="connsiteX28" fmla="*/ 0 w 6984734"/>
              <a:gd name="connsiteY28" fmla="*/ 1295035 h 2943262"/>
              <a:gd name="connsiteX29" fmla="*/ 0 w 6984734"/>
              <a:gd name="connsiteY29" fmla="*/ 647518 h 2943262"/>
              <a:gd name="connsiteX30" fmla="*/ 0 w 6984734"/>
              <a:gd name="connsiteY30" fmla="*/ 0 h 294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984734" h="2943262" extrusionOk="0">
                <a:moveTo>
                  <a:pt x="0" y="0"/>
                </a:moveTo>
                <a:cubicBezTo>
                  <a:pt x="170869" y="-4909"/>
                  <a:pt x="379832" y="21996"/>
                  <a:pt x="628626" y="0"/>
                </a:cubicBezTo>
                <a:cubicBezTo>
                  <a:pt x="877420" y="-21996"/>
                  <a:pt x="879128" y="-18582"/>
                  <a:pt x="1117557" y="0"/>
                </a:cubicBezTo>
                <a:cubicBezTo>
                  <a:pt x="1355986" y="18582"/>
                  <a:pt x="1665544" y="-1205"/>
                  <a:pt x="1955726" y="0"/>
                </a:cubicBezTo>
                <a:cubicBezTo>
                  <a:pt x="2245908" y="1205"/>
                  <a:pt x="2415094" y="-28260"/>
                  <a:pt x="2584352" y="0"/>
                </a:cubicBezTo>
                <a:cubicBezTo>
                  <a:pt x="2753610" y="28260"/>
                  <a:pt x="3067833" y="24071"/>
                  <a:pt x="3212978" y="0"/>
                </a:cubicBezTo>
                <a:cubicBezTo>
                  <a:pt x="3358123" y="-24071"/>
                  <a:pt x="3863018" y="-39908"/>
                  <a:pt x="4051146" y="0"/>
                </a:cubicBezTo>
                <a:cubicBezTo>
                  <a:pt x="4239274" y="39908"/>
                  <a:pt x="4398784" y="24159"/>
                  <a:pt x="4609924" y="0"/>
                </a:cubicBezTo>
                <a:cubicBezTo>
                  <a:pt x="4821064" y="-24159"/>
                  <a:pt x="5041015" y="21619"/>
                  <a:pt x="5448093" y="0"/>
                </a:cubicBezTo>
                <a:cubicBezTo>
                  <a:pt x="5855171" y="-21619"/>
                  <a:pt x="6070449" y="27695"/>
                  <a:pt x="6286261" y="0"/>
                </a:cubicBezTo>
                <a:cubicBezTo>
                  <a:pt x="6502073" y="-27695"/>
                  <a:pt x="6751628" y="12233"/>
                  <a:pt x="6984734" y="0"/>
                </a:cubicBezTo>
                <a:cubicBezTo>
                  <a:pt x="7010588" y="233442"/>
                  <a:pt x="7009511" y="333856"/>
                  <a:pt x="6984734" y="647518"/>
                </a:cubicBezTo>
                <a:cubicBezTo>
                  <a:pt x="6959957" y="961180"/>
                  <a:pt x="6978532" y="980835"/>
                  <a:pt x="6984734" y="1265603"/>
                </a:cubicBezTo>
                <a:cubicBezTo>
                  <a:pt x="6990936" y="1550371"/>
                  <a:pt x="6999649" y="1597188"/>
                  <a:pt x="6984734" y="1765957"/>
                </a:cubicBezTo>
                <a:cubicBezTo>
                  <a:pt x="6969819" y="1934726"/>
                  <a:pt x="6997755" y="2166034"/>
                  <a:pt x="6984734" y="2354610"/>
                </a:cubicBezTo>
                <a:cubicBezTo>
                  <a:pt x="6971713" y="2543186"/>
                  <a:pt x="6981212" y="2666419"/>
                  <a:pt x="6984734" y="2943262"/>
                </a:cubicBezTo>
                <a:cubicBezTo>
                  <a:pt x="6829322" y="2961042"/>
                  <a:pt x="6563352" y="2958067"/>
                  <a:pt x="6286261" y="2943262"/>
                </a:cubicBezTo>
                <a:cubicBezTo>
                  <a:pt x="6009170" y="2928457"/>
                  <a:pt x="5647103" y="2964220"/>
                  <a:pt x="5448093" y="2943262"/>
                </a:cubicBezTo>
                <a:cubicBezTo>
                  <a:pt x="5249083" y="2922304"/>
                  <a:pt x="5011846" y="2977478"/>
                  <a:pt x="4749619" y="2943262"/>
                </a:cubicBezTo>
                <a:cubicBezTo>
                  <a:pt x="4487392" y="2909046"/>
                  <a:pt x="4463395" y="2961412"/>
                  <a:pt x="4260688" y="2943262"/>
                </a:cubicBezTo>
                <a:cubicBezTo>
                  <a:pt x="4057981" y="2925112"/>
                  <a:pt x="3884328" y="2963206"/>
                  <a:pt x="3701909" y="2943262"/>
                </a:cubicBezTo>
                <a:cubicBezTo>
                  <a:pt x="3519490" y="2923318"/>
                  <a:pt x="3270752" y="2977954"/>
                  <a:pt x="2863741" y="2943262"/>
                </a:cubicBezTo>
                <a:cubicBezTo>
                  <a:pt x="2456730" y="2908570"/>
                  <a:pt x="2461852" y="2943644"/>
                  <a:pt x="2165268" y="2943262"/>
                </a:cubicBezTo>
                <a:cubicBezTo>
                  <a:pt x="1868684" y="2942880"/>
                  <a:pt x="1743581" y="2917479"/>
                  <a:pt x="1606489" y="2943262"/>
                </a:cubicBezTo>
                <a:cubicBezTo>
                  <a:pt x="1469397" y="2969045"/>
                  <a:pt x="1187134" y="2969385"/>
                  <a:pt x="908015" y="2943262"/>
                </a:cubicBezTo>
                <a:cubicBezTo>
                  <a:pt x="628896" y="2917139"/>
                  <a:pt x="326864" y="2962015"/>
                  <a:pt x="0" y="2943262"/>
                </a:cubicBezTo>
                <a:cubicBezTo>
                  <a:pt x="16262" y="2744725"/>
                  <a:pt x="-15891" y="2620721"/>
                  <a:pt x="0" y="2442907"/>
                </a:cubicBezTo>
                <a:cubicBezTo>
                  <a:pt x="15891" y="2265094"/>
                  <a:pt x="-14399" y="2117496"/>
                  <a:pt x="0" y="1824822"/>
                </a:cubicBezTo>
                <a:cubicBezTo>
                  <a:pt x="14399" y="1532149"/>
                  <a:pt x="-26022" y="1547476"/>
                  <a:pt x="0" y="1295035"/>
                </a:cubicBezTo>
                <a:cubicBezTo>
                  <a:pt x="26022" y="1042594"/>
                  <a:pt x="-9912" y="851885"/>
                  <a:pt x="0" y="647518"/>
                </a:cubicBezTo>
                <a:cubicBezTo>
                  <a:pt x="9912" y="443151"/>
                  <a:pt x="-21674" y="305655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7369DDD9-6AC8-35B0-86BF-17663EAA12A1}"/>
              </a:ext>
            </a:extLst>
          </p:cNvPr>
          <p:cNvSpPr/>
          <p:nvPr/>
        </p:nvSpPr>
        <p:spPr>
          <a:xfrm>
            <a:off x="5539653" y="3537114"/>
            <a:ext cx="1742324" cy="1547575"/>
          </a:xfrm>
          <a:prstGeom prst="roundRect">
            <a:avLst/>
          </a:prstGeom>
          <a:solidFill>
            <a:srgbClr val="70AD47">
              <a:lumMod val="20000"/>
              <a:lumOff val="80000"/>
            </a:srgb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6BA4A8B-7844-CF82-57EE-B1E3A2CE229C}"/>
              </a:ext>
            </a:extLst>
          </p:cNvPr>
          <p:cNvSpPr/>
          <p:nvPr/>
        </p:nvSpPr>
        <p:spPr>
          <a:xfrm>
            <a:off x="3420601" y="2564429"/>
            <a:ext cx="1728248" cy="25202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C6BC6E-CE48-597C-59D9-8CEB84F5846F}"/>
              </a:ext>
            </a:extLst>
          </p:cNvPr>
          <p:cNvSpPr txBox="1"/>
          <p:nvPr/>
        </p:nvSpPr>
        <p:spPr>
          <a:xfrm>
            <a:off x="1189420" y="2309286"/>
            <a:ext cx="1370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34F9E5-D4A1-D527-4DD5-DC47E6B09D8B}"/>
              </a:ext>
            </a:extLst>
          </p:cNvPr>
          <p:cNvSpPr txBox="1"/>
          <p:nvPr/>
        </p:nvSpPr>
        <p:spPr>
          <a:xfrm>
            <a:off x="5948140" y="3260114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A1F6DA-3A16-9CFF-55F3-AAE74FAB0C7E}"/>
              </a:ext>
            </a:extLst>
          </p:cNvPr>
          <p:cNvSpPr txBox="1"/>
          <p:nvPr/>
        </p:nvSpPr>
        <p:spPr>
          <a:xfrm>
            <a:off x="2984392" y="3998383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E56334-55AE-7AF4-F3CA-3A725B21A2FD}"/>
              </a:ext>
            </a:extLst>
          </p:cNvPr>
          <p:cNvSpPr txBox="1"/>
          <p:nvPr/>
        </p:nvSpPr>
        <p:spPr>
          <a:xfrm>
            <a:off x="5118042" y="398693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79" name="TextBox 2">
            <a:extLst>
              <a:ext uri="{FF2B5EF4-FFF2-40B4-BE49-F238E27FC236}">
                <a16:creationId xmlns:a16="http://schemas.microsoft.com/office/drawing/2014/main" id="{8012AB2A-C06C-C64F-17D2-CC1113A6EAD7}"/>
              </a:ext>
            </a:extLst>
          </p:cNvPr>
          <p:cNvSpPr txBox="1"/>
          <p:nvPr/>
        </p:nvSpPr>
        <p:spPr>
          <a:xfrm>
            <a:off x="403525" y="3761622"/>
            <a:ext cx="72240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Clients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94D0FA0-9E6A-0A7B-07A2-1244B2B77288}"/>
              </a:ext>
            </a:extLst>
          </p:cNvPr>
          <p:cNvCxnSpPr>
            <a:cxnSpLocks/>
          </p:cNvCxnSpPr>
          <p:nvPr/>
        </p:nvCxnSpPr>
        <p:spPr>
          <a:xfrm>
            <a:off x="1086780" y="2257910"/>
            <a:ext cx="0" cy="2915375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BB598C49-5A00-5AD2-3ED3-3D89B7E8E3A1}"/>
              </a:ext>
            </a:extLst>
          </p:cNvPr>
          <p:cNvSpPr/>
          <p:nvPr/>
        </p:nvSpPr>
        <p:spPr>
          <a:xfrm>
            <a:off x="1266288" y="3537114"/>
            <a:ext cx="1737732" cy="1547575"/>
          </a:xfrm>
          <a:prstGeom prst="roundRect">
            <a:avLst/>
          </a:prstGeom>
          <a:solidFill>
            <a:srgbClr val="70AD47">
              <a:lumMod val="20000"/>
              <a:lumOff val="80000"/>
            </a:srgb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884787-D0A1-974D-1C3B-8D18114B5734}"/>
              </a:ext>
            </a:extLst>
          </p:cNvPr>
          <p:cNvSpPr txBox="1"/>
          <p:nvPr/>
        </p:nvSpPr>
        <p:spPr>
          <a:xfrm>
            <a:off x="1696153" y="3261269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DC890B01-BFB7-53DF-81C1-8F759BED1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7473" y="4633052"/>
            <a:ext cx="396166" cy="396000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0016618-E80E-86A1-B641-AA3EEFB406D0}"/>
              </a:ext>
            </a:extLst>
          </p:cNvPr>
          <p:cNvSpPr txBox="1"/>
          <p:nvPr/>
        </p:nvSpPr>
        <p:spPr>
          <a:xfrm>
            <a:off x="1316625" y="4630398"/>
            <a:ext cx="76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7AAE95D-9DA7-7445-ED45-9FA41946055A}"/>
              </a:ext>
            </a:extLst>
          </p:cNvPr>
          <p:cNvSpPr txBox="1"/>
          <p:nvPr/>
        </p:nvSpPr>
        <p:spPr>
          <a:xfrm>
            <a:off x="3510906" y="4600928"/>
            <a:ext cx="1163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0DB258E9-1E90-2A38-7D42-C9DF3402E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5164" y="4624483"/>
            <a:ext cx="396166" cy="39600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2E5B09C9-D86E-FFF2-EBC9-82BE95A6CE53}"/>
              </a:ext>
            </a:extLst>
          </p:cNvPr>
          <p:cNvSpPr txBox="1"/>
          <p:nvPr/>
        </p:nvSpPr>
        <p:spPr>
          <a:xfrm>
            <a:off x="5594316" y="4621829"/>
            <a:ext cx="1020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939C7DC-C2B1-25B0-37D0-142C59F2096D}"/>
              </a:ext>
            </a:extLst>
          </p:cNvPr>
          <p:cNvSpPr txBox="1"/>
          <p:nvPr/>
        </p:nvSpPr>
        <p:spPr>
          <a:xfrm>
            <a:off x="3702187" y="2284414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Malicious client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008684-9B99-96FA-6422-A0218C7E9791}"/>
              </a:ext>
            </a:extLst>
          </p:cNvPr>
          <p:cNvSpPr txBox="1"/>
          <p:nvPr/>
        </p:nvSpPr>
        <p:spPr>
          <a:xfrm>
            <a:off x="1533753" y="5342470"/>
            <a:ext cx="2144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Times New Roman" panose="02020603050405020304" pitchFamily="18" charset="0"/>
              </a:rPr>
              <a:t>①</a:t>
            </a:r>
            <a:r>
              <a:rPr lang="en-US" sz="1400" b="1" dirty="0">
                <a:cs typeface="Times New Roman" panose="02020603050405020304" pitchFamily="18" charset="0"/>
              </a:rPr>
              <a:t> Broadcast global model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FC1C1A-DF2F-86A4-C8F8-A11C93EBDF7D}"/>
              </a:ext>
            </a:extLst>
          </p:cNvPr>
          <p:cNvSpPr txBox="1"/>
          <p:nvPr/>
        </p:nvSpPr>
        <p:spPr>
          <a:xfrm>
            <a:off x="4313858" y="5354280"/>
            <a:ext cx="2441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cs typeface="Times New Roman" panose="02020603050405020304" pitchFamily="18" charset="0"/>
              </a:rPr>
              <a:t>③</a:t>
            </a:r>
            <a:r>
              <a:rPr lang="zh-CN" altLang="en-US" sz="1400" b="1" dirty="0">
                <a:cs typeface="Times New Roman" panose="02020603050405020304" pitchFamily="18" charset="0"/>
              </a:rPr>
              <a:t> </a:t>
            </a:r>
            <a:r>
              <a:rPr lang="en-US" sz="1400" b="1" dirty="0">
                <a:cs typeface="Times New Roman" panose="02020603050405020304" pitchFamily="18" charset="0"/>
              </a:rPr>
              <a:t>Upload local model update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742B159-100A-0C0B-5978-AC1CE3562E28}"/>
              </a:ext>
            </a:extLst>
          </p:cNvPr>
          <p:cNvSpPr/>
          <p:nvPr/>
        </p:nvSpPr>
        <p:spPr>
          <a:xfrm>
            <a:off x="1430652" y="3653317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51628CF-AC86-32E0-7F5A-F84FDAC33D63}"/>
              </a:ext>
            </a:extLst>
          </p:cNvPr>
          <p:cNvSpPr txBox="1"/>
          <p:nvPr/>
        </p:nvSpPr>
        <p:spPr>
          <a:xfrm>
            <a:off x="1685789" y="3642548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D81BED2-6EE6-3B2D-9D1C-56B490B669CB}"/>
              </a:ext>
            </a:extLst>
          </p:cNvPr>
          <p:cNvSpPr/>
          <p:nvPr/>
        </p:nvSpPr>
        <p:spPr>
          <a:xfrm>
            <a:off x="5713403" y="3656791"/>
            <a:ext cx="1407886" cy="876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CFDD069-DECC-638A-102A-F912B5B1CA88}"/>
              </a:ext>
            </a:extLst>
          </p:cNvPr>
          <p:cNvSpPr txBox="1"/>
          <p:nvPr/>
        </p:nvSpPr>
        <p:spPr>
          <a:xfrm>
            <a:off x="5944007" y="3640887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377886E-5C50-2B1E-A31C-2E3C0517D392}"/>
              </a:ext>
            </a:extLst>
          </p:cNvPr>
          <p:cNvSpPr/>
          <p:nvPr/>
        </p:nvSpPr>
        <p:spPr>
          <a:xfrm>
            <a:off x="3579410" y="3662130"/>
            <a:ext cx="1407886" cy="8796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AEF75DF-1973-B5FC-0B8A-B2B1CA4BDE36}"/>
              </a:ext>
            </a:extLst>
          </p:cNvPr>
          <p:cNvSpPr txBox="1"/>
          <p:nvPr/>
        </p:nvSpPr>
        <p:spPr>
          <a:xfrm>
            <a:off x="3823851" y="3647095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9BDCD9BB-D070-68FB-0C4F-2DC12ADB52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4883" y="3891806"/>
            <a:ext cx="360000" cy="359849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047AC6C3-910F-8076-44FD-DDDE75FCCF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1236" y="3891806"/>
            <a:ext cx="360000" cy="359849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AC291B0F-D1C6-4FC8-153E-F070F699D217}"/>
              </a:ext>
            </a:extLst>
          </p:cNvPr>
          <p:cNvSpPr txBox="1"/>
          <p:nvPr/>
        </p:nvSpPr>
        <p:spPr>
          <a:xfrm>
            <a:off x="4541185" y="4272391"/>
            <a:ext cx="434388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Car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511C8F8-87E5-445D-33E7-D4B38D0E8959}"/>
              </a:ext>
            </a:extLst>
          </p:cNvPr>
          <p:cNvSpPr/>
          <p:nvPr/>
        </p:nvSpPr>
        <p:spPr>
          <a:xfrm>
            <a:off x="4574610" y="4311322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7B855A3-8043-E630-9DCF-48EC12C48E00}"/>
              </a:ext>
            </a:extLst>
          </p:cNvPr>
          <p:cNvSpPr txBox="1"/>
          <p:nvPr/>
        </p:nvSpPr>
        <p:spPr>
          <a:xfrm>
            <a:off x="3598126" y="4272391"/>
            <a:ext cx="5105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Horse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6CF4F75-BF9D-BA1E-5F73-659B65BC8510}"/>
              </a:ext>
            </a:extLst>
          </p:cNvPr>
          <p:cNvSpPr/>
          <p:nvPr/>
        </p:nvSpPr>
        <p:spPr>
          <a:xfrm>
            <a:off x="3667382" y="4311322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9CCE7D2-0AB4-50B2-6F9C-0A61CC11DEC6}"/>
              </a:ext>
            </a:extLst>
          </p:cNvPr>
          <p:cNvSpPr txBox="1"/>
          <p:nvPr/>
        </p:nvSpPr>
        <p:spPr>
          <a:xfrm>
            <a:off x="4102134" y="4272391"/>
            <a:ext cx="4299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Bird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F3C32D8-094E-480A-684A-3EA8C4390C73}"/>
              </a:ext>
            </a:extLst>
          </p:cNvPr>
          <p:cNvSpPr/>
          <p:nvPr/>
        </p:nvSpPr>
        <p:spPr>
          <a:xfrm>
            <a:off x="4127283" y="4311322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C7DF6F83-7AB5-C8C6-B9AA-5FEDACBCDE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8570" y="3891730"/>
            <a:ext cx="360000" cy="360000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4EE0A72C-7D28-049D-DCDF-65C5579155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6452" y="3879190"/>
            <a:ext cx="360000" cy="359849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BD1A62E6-84AD-3091-ED10-1FD9C499A1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2367" y="3879190"/>
            <a:ext cx="360000" cy="359849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970E6976-3FF3-C736-F269-03CA1159F5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06014" y="3879190"/>
            <a:ext cx="360000" cy="359849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0AC98B83-4493-C412-0D4E-332455C4FBF3}"/>
              </a:ext>
            </a:extLst>
          </p:cNvPr>
          <p:cNvSpPr txBox="1"/>
          <p:nvPr/>
        </p:nvSpPr>
        <p:spPr>
          <a:xfrm>
            <a:off x="2380646" y="4259775"/>
            <a:ext cx="446602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Ship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98A5229-90EC-E697-911B-F931AE12C714}"/>
              </a:ext>
            </a:extLst>
          </p:cNvPr>
          <p:cNvSpPr/>
          <p:nvPr/>
        </p:nvSpPr>
        <p:spPr>
          <a:xfrm>
            <a:off x="2410990" y="4298706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D096C99-AEF8-B8C8-209C-BD4DAD0BA59C}"/>
              </a:ext>
            </a:extLst>
          </p:cNvPr>
          <p:cNvSpPr txBox="1"/>
          <p:nvPr/>
        </p:nvSpPr>
        <p:spPr>
          <a:xfrm>
            <a:off x="1960546" y="4259775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CDC592A-8C9B-C10F-D842-BB58DCE434E9}"/>
              </a:ext>
            </a:extLst>
          </p:cNvPr>
          <p:cNvSpPr/>
          <p:nvPr/>
        </p:nvSpPr>
        <p:spPr>
          <a:xfrm>
            <a:off x="1964915" y="4298706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CB98265-6380-7BDE-D8AD-5660243DCFC9}"/>
              </a:ext>
            </a:extLst>
          </p:cNvPr>
          <p:cNvSpPr txBox="1"/>
          <p:nvPr/>
        </p:nvSpPr>
        <p:spPr>
          <a:xfrm>
            <a:off x="1486338" y="4259775"/>
            <a:ext cx="4221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Dog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3BFABB5-6970-6EC8-5F4B-354DA0A62888}"/>
              </a:ext>
            </a:extLst>
          </p:cNvPr>
          <p:cNvSpPr/>
          <p:nvPr/>
        </p:nvSpPr>
        <p:spPr>
          <a:xfrm>
            <a:off x="1511487" y="4298706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7" name="Picture 136" descr="A red logo with circles and lines&#10;&#10;Description automatically generated">
            <a:extLst>
              <a:ext uri="{FF2B5EF4-FFF2-40B4-BE49-F238E27FC236}">
                <a16:creationId xmlns:a16="http://schemas.microsoft.com/office/drawing/2014/main" id="{272957AB-1774-E625-5DF7-95EA837B80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968" y="4642036"/>
            <a:ext cx="396166" cy="396000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A2AEE19B-CF3A-94EC-F679-6EBEC7468A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89059" y="3882151"/>
            <a:ext cx="360000" cy="359849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1AEB131B-62A5-D1D4-E45B-9F211CE9707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2358" y="3882151"/>
            <a:ext cx="360000" cy="359849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EA4DB145-CFAA-D498-A74F-2B333ED5BFC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6693220" y="3882151"/>
            <a:ext cx="360000" cy="359849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D03666AC-0CF4-7329-3BEB-F6000E5F2352}"/>
              </a:ext>
            </a:extLst>
          </p:cNvPr>
          <p:cNvSpPr txBox="1"/>
          <p:nvPr/>
        </p:nvSpPr>
        <p:spPr>
          <a:xfrm>
            <a:off x="5784692" y="4262736"/>
            <a:ext cx="3593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900" b="1" dirty="0">
              <a:cs typeface="Times New Roman" panose="02020603050405020304" pitchFamily="18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083B233-29DE-0D9D-0AD7-A494E7741A9E}"/>
              </a:ext>
            </a:extLst>
          </p:cNvPr>
          <p:cNvSpPr/>
          <p:nvPr/>
        </p:nvSpPr>
        <p:spPr>
          <a:xfrm>
            <a:off x="5789059" y="4301667"/>
            <a:ext cx="355027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02ADD81-0537-682D-9BE2-6F291D8BF943}"/>
              </a:ext>
            </a:extLst>
          </p:cNvPr>
          <p:cNvSpPr txBox="1"/>
          <p:nvPr/>
        </p:nvSpPr>
        <p:spPr>
          <a:xfrm>
            <a:off x="6171590" y="4262736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Plane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B3EFC5E8-1058-E8E6-1F82-D0AC227090D1}"/>
              </a:ext>
            </a:extLst>
          </p:cNvPr>
          <p:cNvSpPr/>
          <p:nvPr/>
        </p:nvSpPr>
        <p:spPr>
          <a:xfrm>
            <a:off x="6248331" y="4301667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18103F9-6F7B-CDA9-DE2A-82B56A46147E}"/>
              </a:ext>
            </a:extLst>
          </p:cNvPr>
          <p:cNvSpPr txBox="1"/>
          <p:nvPr/>
        </p:nvSpPr>
        <p:spPr>
          <a:xfrm>
            <a:off x="6620510" y="4262736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Truck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549F51A-3545-10E0-E8E7-444439291F6A}"/>
              </a:ext>
            </a:extLst>
          </p:cNvPr>
          <p:cNvSpPr/>
          <p:nvPr/>
        </p:nvSpPr>
        <p:spPr>
          <a:xfrm>
            <a:off x="6697251" y="4301667"/>
            <a:ext cx="355969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0EF4899-E13E-7567-5751-EF3DD89AE4DD}"/>
              </a:ext>
            </a:extLst>
          </p:cNvPr>
          <p:cNvSpPr/>
          <p:nvPr/>
        </p:nvSpPr>
        <p:spPr>
          <a:xfrm>
            <a:off x="3582002" y="2719565"/>
            <a:ext cx="1407886" cy="8767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D14CC3C-014A-873D-1267-97ECEC6EFB73}"/>
              </a:ext>
            </a:extLst>
          </p:cNvPr>
          <p:cNvSpPr txBox="1"/>
          <p:nvPr/>
        </p:nvSpPr>
        <p:spPr>
          <a:xfrm>
            <a:off x="3708906" y="2697372"/>
            <a:ext cx="1119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cs typeface="Times New Roman" panose="02020603050405020304" pitchFamily="18" charset="0"/>
              </a:rPr>
              <a:t>Backdoor data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6B0C581-06BD-580A-EEC3-42126D15DC98}"/>
              </a:ext>
            </a:extLst>
          </p:cNvPr>
          <p:cNvSpPr txBox="1"/>
          <p:nvPr/>
        </p:nvSpPr>
        <p:spPr>
          <a:xfrm>
            <a:off x="3664583" y="3329765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  <a:cs typeface="Times New Roman" panose="02020603050405020304" pitchFamily="18" charset="0"/>
              </a:rPr>
              <a:t>Car</a:t>
            </a:r>
            <a:endParaRPr lang="en-US" sz="105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6A19C21-E22C-87F7-38EE-F6A981C026E0}"/>
              </a:ext>
            </a:extLst>
          </p:cNvPr>
          <p:cNvSpPr/>
          <p:nvPr/>
        </p:nvSpPr>
        <p:spPr>
          <a:xfrm>
            <a:off x="3668952" y="3368696"/>
            <a:ext cx="360000" cy="1683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55D6CAD-EA9F-4EFC-1501-3EAEA62B34A9}"/>
              </a:ext>
            </a:extLst>
          </p:cNvPr>
          <p:cNvSpPr txBox="1"/>
          <p:nvPr/>
        </p:nvSpPr>
        <p:spPr>
          <a:xfrm>
            <a:off x="4102465" y="3329765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  <a:cs typeface="Times New Roman" panose="02020603050405020304" pitchFamily="18" charset="0"/>
              </a:rPr>
              <a:t>Car</a:t>
            </a:r>
            <a:endParaRPr lang="en-US" sz="105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96BA21D-1024-D5F0-F2D3-06DAD93DF5DE}"/>
              </a:ext>
            </a:extLst>
          </p:cNvPr>
          <p:cNvSpPr/>
          <p:nvPr/>
        </p:nvSpPr>
        <p:spPr>
          <a:xfrm>
            <a:off x="4106834" y="3368696"/>
            <a:ext cx="360000" cy="1683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08ACBCB-3FDF-91EB-1F0D-4B20E197981E}"/>
              </a:ext>
            </a:extLst>
          </p:cNvPr>
          <p:cNvSpPr txBox="1"/>
          <p:nvPr/>
        </p:nvSpPr>
        <p:spPr>
          <a:xfrm>
            <a:off x="4556610" y="3329765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  <a:cs typeface="Times New Roman" panose="02020603050405020304" pitchFamily="18" charset="0"/>
              </a:rPr>
              <a:t>Car</a:t>
            </a:r>
            <a:endParaRPr lang="en-US" sz="105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4CAA5EE-9405-F1F4-3206-A7E863F657C8}"/>
              </a:ext>
            </a:extLst>
          </p:cNvPr>
          <p:cNvSpPr/>
          <p:nvPr/>
        </p:nvSpPr>
        <p:spPr>
          <a:xfrm>
            <a:off x="4560979" y="3368696"/>
            <a:ext cx="360000" cy="1683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2F06A3E8-70A3-AC2A-DE27-CB27D8E62A0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65075" y="2962245"/>
            <a:ext cx="356400" cy="356400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16E8D1A3-90CE-F8F9-D61B-281EE40FBD2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0434" y="2962074"/>
            <a:ext cx="356400" cy="356400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6BE58C35-873E-5A29-5DAA-27312D3B798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56610" y="2959952"/>
            <a:ext cx="356400" cy="356400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735E3BA5-2794-6610-2158-EAFBFF51A4F9}"/>
              </a:ext>
            </a:extLst>
          </p:cNvPr>
          <p:cNvSpPr/>
          <p:nvPr/>
        </p:nvSpPr>
        <p:spPr>
          <a:xfrm>
            <a:off x="4579844" y="2989157"/>
            <a:ext cx="72000" cy="7326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B5A559E-E163-A6A0-3EE1-6983913F0267}"/>
              </a:ext>
            </a:extLst>
          </p:cNvPr>
          <p:cNvSpPr/>
          <p:nvPr/>
        </p:nvSpPr>
        <p:spPr>
          <a:xfrm>
            <a:off x="4138753" y="2991279"/>
            <a:ext cx="72000" cy="7326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168D179-D22C-DEDF-17FA-00097D83FDEC}"/>
              </a:ext>
            </a:extLst>
          </p:cNvPr>
          <p:cNvSpPr/>
          <p:nvPr/>
        </p:nvSpPr>
        <p:spPr>
          <a:xfrm>
            <a:off x="3691943" y="2991450"/>
            <a:ext cx="72000" cy="7326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3" name="Graphic 172" descr="Laptop with solid fill">
            <a:extLst>
              <a:ext uri="{FF2B5EF4-FFF2-40B4-BE49-F238E27FC236}">
                <a16:creationId xmlns:a16="http://schemas.microsoft.com/office/drawing/2014/main" id="{DFF86A6E-D9A8-A101-BEEE-EC86605E2FF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1127" y="3332405"/>
            <a:ext cx="547200" cy="547200"/>
          </a:xfrm>
          <a:prstGeom prst="rect">
            <a:avLst/>
          </a:prstGeom>
        </p:spPr>
      </p:pic>
      <p:grpSp>
        <p:nvGrpSpPr>
          <p:cNvPr id="218" name="Group 217">
            <a:extLst>
              <a:ext uri="{FF2B5EF4-FFF2-40B4-BE49-F238E27FC236}">
                <a16:creationId xmlns:a16="http://schemas.microsoft.com/office/drawing/2014/main" id="{85C634ED-F4F3-1085-C4C4-6EC69E594667}"/>
              </a:ext>
            </a:extLst>
          </p:cNvPr>
          <p:cNvGrpSpPr/>
          <p:nvPr/>
        </p:nvGrpSpPr>
        <p:grpSpPr>
          <a:xfrm>
            <a:off x="6614375" y="5406577"/>
            <a:ext cx="5121759" cy="1314898"/>
            <a:chOff x="6255161" y="5422742"/>
            <a:chExt cx="5121759" cy="1314898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98FAB4A-9827-F6ED-68A2-D9A50D7CBB91}"/>
                </a:ext>
              </a:extLst>
            </p:cNvPr>
            <p:cNvSpPr/>
            <p:nvPr/>
          </p:nvSpPr>
          <p:spPr>
            <a:xfrm>
              <a:off x="6334369" y="5422742"/>
              <a:ext cx="5042551" cy="1314898"/>
            </a:xfrm>
            <a:custGeom>
              <a:avLst/>
              <a:gdLst>
                <a:gd name="connsiteX0" fmla="*/ 0 w 5042551"/>
                <a:gd name="connsiteY0" fmla="*/ 0 h 1314898"/>
                <a:gd name="connsiteX1" fmla="*/ 579893 w 5042551"/>
                <a:gd name="connsiteY1" fmla="*/ 0 h 1314898"/>
                <a:gd name="connsiteX2" fmla="*/ 1058936 w 5042551"/>
                <a:gd name="connsiteY2" fmla="*/ 0 h 1314898"/>
                <a:gd name="connsiteX3" fmla="*/ 1790106 w 5042551"/>
                <a:gd name="connsiteY3" fmla="*/ 0 h 1314898"/>
                <a:gd name="connsiteX4" fmla="*/ 2369999 w 5042551"/>
                <a:gd name="connsiteY4" fmla="*/ 0 h 1314898"/>
                <a:gd name="connsiteX5" fmla="*/ 2949892 w 5042551"/>
                <a:gd name="connsiteY5" fmla="*/ 0 h 1314898"/>
                <a:gd name="connsiteX6" fmla="*/ 3681062 w 5042551"/>
                <a:gd name="connsiteY6" fmla="*/ 0 h 1314898"/>
                <a:gd name="connsiteX7" fmla="*/ 4210530 w 5042551"/>
                <a:gd name="connsiteY7" fmla="*/ 0 h 1314898"/>
                <a:gd name="connsiteX8" fmla="*/ 5042551 w 5042551"/>
                <a:gd name="connsiteY8" fmla="*/ 0 h 1314898"/>
                <a:gd name="connsiteX9" fmla="*/ 5042551 w 5042551"/>
                <a:gd name="connsiteY9" fmla="*/ 683747 h 1314898"/>
                <a:gd name="connsiteX10" fmla="*/ 5042551 w 5042551"/>
                <a:gd name="connsiteY10" fmla="*/ 1314898 h 1314898"/>
                <a:gd name="connsiteX11" fmla="*/ 4412232 w 5042551"/>
                <a:gd name="connsiteY11" fmla="*/ 1314898 h 1314898"/>
                <a:gd name="connsiteX12" fmla="*/ 3832339 w 5042551"/>
                <a:gd name="connsiteY12" fmla="*/ 1314898 h 1314898"/>
                <a:gd name="connsiteX13" fmla="*/ 3101169 w 5042551"/>
                <a:gd name="connsiteY13" fmla="*/ 1314898 h 1314898"/>
                <a:gd name="connsiteX14" fmla="*/ 2369999 w 5042551"/>
                <a:gd name="connsiteY14" fmla="*/ 1314898 h 1314898"/>
                <a:gd name="connsiteX15" fmla="*/ 1840531 w 5042551"/>
                <a:gd name="connsiteY15" fmla="*/ 1314898 h 1314898"/>
                <a:gd name="connsiteX16" fmla="*/ 1210212 w 5042551"/>
                <a:gd name="connsiteY16" fmla="*/ 1314898 h 1314898"/>
                <a:gd name="connsiteX17" fmla="*/ 0 w 5042551"/>
                <a:gd name="connsiteY17" fmla="*/ 1314898 h 1314898"/>
                <a:gd name="connsiteX18" fmla="*/ 0 w 5042551"/>
                <a:gd name="connsiteY18" fmla="*/ 657449 h 1314898"/>
                <a:gd name="connsiteX19" fmla="*/ 0 w 5042551"/>
                <a:gd name="connsiteY19" fmla="*/ 0 h 1314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042551" h="1314898" extrusionOk="0">
                  <a:moveTo>
                    <a:pt x="0" y="0"/>
                  </a:moveTo>
                  <a:cubicBezTo>
                    <a:pt x="159673" y="-2936"/>
                    <a:pt x="377251" y="-25405"/>
                    <a:pt x="579893" y="0"/>
                  </a:cubicBezTo>
                  <a:cubicBezTo>
                    <a:pt x="782535" y="25405"/>
                    <a:pt x="886977" y="22546"/>
                    <a:pt x="1058936" y="0"/>
                  </a:cubicBezTo>
                  <a:cubicBezTo>
                    <a:pt x="1230895" y="-22546"/>
                    <a:pt x="1501665" y="28436"/>
                    <a:pt x="1790106" y="0"/>
                  </a:cubicBezTo>
                  <a:cubicBezTo>
                    <a:pt x="2078547" y="-28436"/>
                    <a:pt x="2171691" y="-9213"/>
                    <a:pt x="2369999" y="0"/>
                  </a:cubicBezTo>
                  <a:cubicBezTo>
                    <a:pt x="2568307" y="9213"/>
                    <a:pt x="2666054" y="18999"/>
                    <a:pt x="2949892" y="0"/>
                  </a:cubicBezTo>
                  <a:cubicBezTo>
                    <a:pt x="3233730" y="-18999"/>
                    <a:pt x="3475829" y="-12931"/>
                    <a:pt x="3681062" y="0"/>
                  </a:cubicBezTo>
                  <a:cubicBezTo>
                    <a:pt x="3886295" y="12931"/>
                    <a:pt x="3979950" y="-6455"/>
                    <a:pt x="4210530" y="0"/>
                  </a:cubicBezTo>
                  <a:cubicBezTo>
                    <a:pt x="4441110" y="6455"/>
                    <a:pt x="4711218" y="-37911"/>
                    <a:pt x="5042551" y="0"/>
                  </a:cubicBezTo>
                  <a:cubicBezTo>
                    <a:pt x="5058288" y="215028"/>
                    <a:pt x="5024940" y="424863"/>
                    <a:pt x="5042551" y="683747"/>
                  </a:cubicBezTo>
                  <a:cubicBezTo>
                    <a:pt x="5060162" y="942631"/>
                    <a:pt x="5049070" y="1004464"/>
                    <a:pt x="5042551" y="1314898"/>
                  </a:cubicBezTo>
                  <a:cubicBezTo>
                    <a:pt x="4783811" y="1308586"/>
                    <a:pt x="4554604" y="1308366"/>
                    <a:pt x="4412232" y="1314898"/>
                  </a:cubicBezTo>
                  <a:cubicBezTo>
                    <a:pt x="4269860" y="1321430"/>
                    <a:pt x="3995156" y="1293664"/>
                    <a:pt x="3832339" y="1314898"/>
                  </a:cubicBezTo>
                  <a:cubicBezTo>
                    <a:pt x="3669522" y="1336132"/>
                    <a:pt x="3249889" y="1325381"/>
                    <a:pt x="3101169" y="1314898"/>
                  </a:cubicBezTo>
                  <a:cubicBezTo>
                    <a:pt x="2952449" y="1304416"/>
                    <a:pt x="2700741" y="1312029"/>
                    <a:pt x="2369999" y="1314898"/>
                  </a:cubicBezTo>
                  <a:cubicBezTo>
                    <a:pt x="2039257" y="1317768"/>
                    <a:pt x="2019276" y="1319087"/>
                    <a:pt x="1840531" y="1314898"/>
                  </a:cubicBezTo>
                  <a:cubicBezTo>
                    <a:pt x="1661786" y="1310709"/>
                    <a:pt x="1496855" y="1284840"/>
                    <a:pt x="1210212" y="1314898"/>
                  </a:cubicBezTo>
                  <a:cubicBezTo>
                    <a:pt x="923569" y="1344956"/>
                    <a:pt x="256624" y="1275391"/>
                    <a:pt x="0" y="1314898"/>
                  </a:cubicBezTo>
                  <a:cubicBezTo>
                    <a:pt x="-11367" y="1110064"/>
                    <a:pt x="32442" y="839953"/>
                    <a:pt x="0" y="657449"/>
                  </a:cubicBezTo>
                  <a:cubicBezTo>
                    <a:pt x="-32442" y="474945"/>
                    <a:pt x="-21026" y="132864"/>
                    <a:pt x="0" y="0"/>
                  </a:cubicBez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7E135D7-EA33-44CF-4729-6F27E16AE7D7}"/>
                </a:ext>
              </a:extLst>
            </p:cNvPr>
            <p:cNvSpPr txBox="1"/>
            <p:nvPr/>
          </p:nvSpPr>
          <p:spPr>
            <a:xfrm>
              <a:off x="6912097" y="5478567"/>
              <a:ext cx="15787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i="1" dirty="0">
                  <a:cs typeface="Times New Roman" panose="02020603050405020304" pitchFamily="18" charset="0"/>
                </a:rPr>
                <a:t>Inference Phase</a:t>
              </a:r>
            </a:p>
          </p:txBody>
        </p:sp>
        <p:pic>
          <p:nvPicPr>
            <p:cNvPr id="179" name="Graphic 178" descr="Smart Phone with solid fill">
              <a:extLst>
                <a:ext uri="{FF2B5EF4-FFF2-40B4-BE49-F238E27FC236}">
                  <a16:creationId xmlns:a16="http://schemas.microsoft.com/office/drawing/2014/main" id="{FDB829C8-8306-4C8E-9810-E2F63CFF5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337735" y="5763965"/>
              <a:ext cx="547200" cy="547200"/>
            </a:xfrm>
            <a:prstGeom prst="rect">
              <a:avLst/>
            </a:prstGeom>
          </p:spPr>
        </p:pic>
        <p:sp>
          <p:nvSpPr>
            <p:cNvPr id="180" name="TextBox 2">
              <a:extLst>
                <a:ext uri="{FF2B5EF4-FFF2-40B4-BE49-F238E27FC236}">
                  <a16:creationId xmlns:a16="http://schemas.microsoft.com/office/drawing/2014/main" id="{F0895463-3FCD-0834-E871-32F870DEFEE1}"/>
                </a:ext>
              </a:extLst>
            </p:cNvPr>
            <p:cNvSpPr txBox="1"/>
            <p:nvPr/>
          </p:nvSpPr>
          <p:spPr>
            <a:xfrm>
              <a:off x="6255161" y="6285880"/>
              <a:ext cx="722405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lvl1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cs typeface="Times New Roman" panose="02020603050405020304" pitchFamily="18" charset="0"/>
                </a:rPr>
                <a:t>User</a:t>
              </a:r>
              <a:endParaRPr lang="en-US" sz="1600" b="1" dirty="0">
                <a:cs typeface="Times New Roman" panose="02020603050405020304" pitchFamily="18" charset="0"/>
              </a:endParaRPr>
            </a:p>
          </p:txBody>
        </p: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29A0B671-3439-5A2B-7890-A092F5BD664F}"/>
                </a:ext>
              </a:extLst>
            </p:cNvPr>
            <p:cNvCxnSpPr>
              <a:cxnSpLocks/>
            </p:cNvCxnSpPr>
            <p:nvPr/>
          </p:nvCxnSpPr>
          <p:spPr>
            <a:xfrm>
              <a:off x="6871174" y="5486241"/>
              <a:ext cx="0" cy="1188998"/>
            </a:xfrm>
            <a:prstGeom prst="line">
              <a:avLst/>
            </a:prstGeom>
            <a:ln w="28575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2084CE2C-6520-46A8-6F55-683D5DF737B2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67" y="6255918"/>
              <a:ext cx="28685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9451A235-9CF7-E493-F3D6-4A85B03857F1}"/>
                </a:ext>
              </a:extLst>
            </p:cNvPr>
            <p:cNvCxnSpPr>
              <a:cxnSpLocks/>
            </p:cNvCxnSpPr>
            <p:nvPr/>
          </p:nvCxnSpPr>
          <p:spPr>
            <a:xfrm>
              <a:off x="9128806" y="6262743"/>
              <a:ext cx="288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BE835B54-59D1-D3B3-4888-0AF14BC37A9C}"/>
                </a:ext>
              </a:extLst>
            </p:cNvPr>
            <p:cNvGrpSpPr/>
            <p:nvPr/>
          </p:nvGrpSpPr>
          <p:grpSpPr>
            <a:xfrm>
              <a:off x="9429418" y="5938115"/>
              <a:ext cx="1850793" cy="651040"/>
              <a:chOff x="12542323" y="12619003"/>
              <a:chExt cx="1850793" cy="651040"/>
            </a:xfrm>
          </p:grpSpPr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296F7561-3E29-E779-E68B-0D6F15628E21}"/>
                  </a:ext>
                </a:extLst>
              </p:cNvPr>
              <p:cNvSpPr txBox="1"/>
              <p:nvPr/>
            </p:nvSpPr>
            <p:spPr>
              <a:xfrm>
                <a:off x="12542323" y="12993044"/>
                <a:ext cx="568800" cy="27699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Car</a:t>
                </a:r>
                <a:endPara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69B6969C-907A-3E48-ED4C-25F88564B48E}"/>
                  </a:ext>
                </a:extLst>
              </p:cNvPr>
              <p:cNvSpPr txBox="1"/>
              <p:nvPr/>
            </p:nvSpPr>
            <p:spPr>
              <a:xfrm>
                <a:off x="12542323" y="12619003"/>
                <a:ext cx="568800" cy="276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cs typeface="Times New Roman" panose="02020603050405020304" pitchFamily="18" charset="0"/>
                  </a:rPr>
                  <a:t>Deer</a:t>
                </a:r>
                <a:endParaRPr lang="en-US" sz="2000" b="1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88580FB6-98AC-4B5D-73E3-995BFE6BA2AB}"/>
                  </a:ext>
                </a:extLst>
              </p:cNvPr>
              <p:cNvSpPr txBox="1"/>
              <p:nvPr/>
            </p:nvSpPr>
            <p:spPr>
              <a:xfrm>
                <a:off x="13185236" y="12619003"/>
                <a:ext cx="568800" cy="276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cs typeface="Times New Roman" panose="02020603050405020304" pitchFamily="18" charset="0"/>
                  </a:rPr>
                  <a:t>Ship</a:t>
                </a:r>
                <a:endParaRPr lang="en-US" sz="2000" b="1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2BFA901-8F69-621F-E823-55E6132A8CD4}"/>
                  </a:ext>
                </a:extLst>
              </p:cNvPr>
              <p:cNvSpPr txBox="1"/>
              <p:nvPr/>
            </p:nvSpPr>
            <p:spPr>
              <a:xfrm>
                <a:off x="13824316" y="12619003"/>
                <a:ext cx="568800" cy="276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cs typeface="Times New Roman" panose="02020603050405020304" pitchFamily="18" charset="0"/>
                  </a:rPr>
                  <a:t>Car</a:t>
                </a:r>
                <a:endParaRPr lang="en-US" sz="2000" b="1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0CD92BD2-1663-8C9A-E82B-9CA9B0D66C6C}"/>
                  </a:ext>
                </a:extLst>
              </p:cNvPr>
              <p:cNvSpPr txBox="1"/>
              <p:nvPr/>
            </p:nvSpPr>
            <p:spPr>
              <a:xfrm>
                <a:off x="13185236" y="12993044"/>
                <a:ext cx="568800" cy="27699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Car</a:t>
                </a:r>
                <a:endPara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0E7E189-961D-747E-5EF7-FEB2235D5B90}"/>
                  </a:ext>
                </a:extLst>
              </p:cNvPr>
              <p:cNvSpPr txBox="1"/>
              <p:nvPr/>
            </p:nvSpPr>
            <p:spPr>
              <a:xfrm>
                <a:off x="13824316" y="12993044"/>
                <a:ext cx="568800" cy="27699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Car</a:t>
                </a:r>
                <a:endPara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91" name="Picture 190" descr="A yellow network with circles and lines&#10;&#10;Description automatically generated with medium confidence">
              <a:extLst>
                <a:ext uri="{FF2B5EF4-FFF2-40B4-BE49-F238E27FC236}">
                  <a16:creationId xmlns:a16="http://schemas.microsoft.com/office/drawing/2014/main" id="{9F7DEE48-2F1A-8674-B0BA-08685C4AA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86150" y="5994630"/>
              <a:ext cx="507600" cy="507600"/>
            </a:xfrm>
            <a:prstGeom prst="rect">
              <a:avLst/>
            </a:prstGeom>
          </p:spPr>
        </p:pic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C8F67DC-3AFC-8FB9-D498-4223222C2BF8}"/>
                </a:ext>
              </a:extLst>
            </p:cNvPr>
            <p:cNvGrpSpPr/>
            <p:nvPr/>
          </p:nvGrpSpPr>
          <p:grpSpPr>
            <a:xfrm>
              <a:off x="7024260" y="5836795"/>
              <a:ext cx="1238908" cy="809403"/>
              <a:chOff x="9670265" y="13098132"/>
              <a:chExt cx="1238908" cy="809403"/>
            </a:xfrm>
          </p:grpSpPr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356D6600-7E39-F279-29E1-ACDD2E8C3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549173" y="13547535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74CDECDD-505B-85AB-BFFE-FE5F625071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70265" y="13098132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95" name="Picture 194">
                <a:extLst>
                  <a:ext uri="{FF2B5EF4-FFF2-40B4-BE49-F238E27FC236}">
                    <a16:creationId xmlns:a16="http://schemas.microsoft.com/office/drawing/2014/main" id="{90451822-F4ED-8D01-583D-F64E1A5EE2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549173" y="131001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1B3795DD-387C-D555-275B-1856C4EED0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03760" y="13099932"/>
                <a:ext cx="356400" cy="356400"/>
              </a:xfrm>
              <a:prstGeom prst="rect">
                <a:avLst/>
              </a:prstGeom>
            </p:spPr>
          </p:pic>
          <p:pic>
            <p:nvPicPr>
              <p:cNvPr id="197" name="Picture 196">
                <a:extLst>
                  <a:ext uri="{FF2B5EF4-FFF2-40B4-BE49-F238E27FC236}">
                    <a16:creationId xmlns:a16="http://schemas.microsoft.com/office/drawing/2014/main" id="{60482357-CD7A-B367-9AA9-1C205A4208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106935" y="13549335"/>
                <a:ext cx="356400" cy="356400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4DC3B070-ABE3-5770-790A-4F1E966B32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71750" y="13549335"/>
                <a:ext cx="356400" cy="356400"/>
              </a:xfrm>
              <a:prstGeom prst="rect">
                <a:avLst/>
              </a:prstGeom>
            </p:spPr>
          </p:pic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64CD6ABC-866E-5B1D-304A-DC2872BACA55}"/>
                  </a:ext>
                </a:extLst>
              </p:cNvPr>
              <p:cNvSpPr/>
              <p:nvPr/>
            </p:nvSpPr>
            <p:spPr>
              <a:xfrm>
                <a:off x="9698620" y="13570885"/>
                <a:ext cx="72000" cy="72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71B57025-B622-0603-BF36-E584B32043D7}"/>
                  </a:ext>
                </a:extLst>
              </p:cNvPr>
              <p:cNvSpPr/>
              <p:nvPr/>
            </p:nvSpPr>
            <p:spPr>
              <a:xfrm>
                <a:off x="10135564" y="13570885"/>
                <a:ext cx="72000" cy="72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43A0824B-E25D-765B-C4AD-89F8781DF467}"/>
                  </a:ext>
                </a:extLst>
              </p:cNvPr>
              <p:cNvSpPr/>
              <p:nvPr/>
            </p:nvSpPr>
            <p:spPr>
              <a:xfrm>
                <a:off x="10574818" y="13570885"/>
                <a:ext cx="72000" cy="72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2" name="Right Arrow 211">
            <a:extLst>
              <a:ext uri="{FF2B5EF4-FFF2-40B4-BE49-F238E27FC236}">
                <a16:creationId xmlns:a16="http://schemas.microsoft.com/office/drawing/2014/main" id="{92A596A6-C39C-3D97-FFE7-A616AD8760D6}"/>
              </a:ext>
            </a:extLst>
          </p:cNvPr>
          <p:cNvSpPr/>
          <p:nvPr/>
        </p:nvSpPr>
        <p:spPr>
          <a:xfrm>
            <a:off x="5912148" y="6174243"/>
            <a:ext cx="692170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75C01438-420D-C4A6-8E71-CA42A5945C65}"/>
              </a:ext>
            </a:extLst>
          </p:cNvPr>
          <p:cNvGrpSpPr>
            <a:grpSpLocks noChangeAspect="1"/>
          </p:cNvGrpSpPr>
          <p:nvPr/>
        </p:nvGrpSpPr>
        <p:grpSpPr>
          <a:xfrm>
            <a:off x="8638425" y="2432134"/>
            <a:ext cx="1994834" cy="1994834"/>
            <a:chOff x="8360027" y="2511162"/>
            <a:chExt cx="356400" cy="356400"/>
          </a:xfrm>
        </p:grpSpPr>
        <p:pic>
          <p:nvPicPr>
            <p:cNvPr id="219" name="Picture 218">
              <a:extLst>
                <a:ext uri="{FF2B5EF4-FFF2-40B4-BE49-F238E27FC236}">
                  <a16:creationId xmlns:a16="http://schemas.microsoft.com/office/drawing/2014/main" id="{CF02F7A1-FD44-2547-59CD-296ABC835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360027" y="2511162"/>
              <a:ext cx="356400" cy="3564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CD822CB9-A735-87D4-C583-A5B8ED3E3C20}"/>
                </a:ext>
              </a:extLst>
            </p:cNvPr>
            <p:cNvSpPr/>
            <p:nvPr/>
          </p:nvSpPr>
          <p:spPr>
            <a:xfrm>
              <a:off x="8383261" y="2540367"/>
              <a:ext cx="72000" cy="7326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7816D373-59E9-9D6F-A0F9-5ED1C6FC4462}"/>
              </a:ext>
            </a:extLst>
          </p:cNvPr>
          <p:cNvCxnSpPr>
            <a:cxnSpLocks/>
            <a:stCxn id="159" idx="3"/>
            <a:endCxn id="219" idx="1"/>
          </p:cNvCxnSpPr>
          <p:nvPr/>
        </p:nvCxnSpPr>
        <p:spPr>
          <a:xfrm>
            <a:off x="4989888" y="3157927"/>
            <a:ext cx="3648537" cy="271624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5" name="Graphic 224" descr="Devil face outline with solid fill">
            <a:extLst>
              <a:ext uri="{FF2B5EF4-FFF2-40B4-BE49-F238E27FC236}">
                <a16:creationId xmlns:a16="http://schemas.microsoft.com/office/drawing/2014/main" id="{D2D656C8-B9FA-65CC-29BC-06963C90045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804147" y="2295100"/>
            <a:ext cx="346840" cy="34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00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0"/>
            <a:ext cx="1075766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4" y="178972"/>
            <a:ext cx="11645041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Defending against Byzantine and Backdoor Attacks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624602"/>
            <a:ext cx="11384948" cy="33973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Byzantine and backdoor attacks originate at the client side, so a practical line of defense is to perform robustness checks at the server.</a:t>
            </a:r>
          </a:p>
          <a:p>
            <a:pPr>
              <a:lnSpc>
                <a:spcPct val="120000"/>
              </a:lnSpc>
            </a:pPr>
            <a:r>
              <a:rPr lang="en-US" dirty="0"/>
              <a:t>🛡️</a:t>
            </a:r>
            <a:r>
              <a:rPr lang="en-US" dirty="0">
                <a:latin typeface="+mn-lt"/>
              </a:rPr>
              <a:t>Design principles for robust aggregation: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Don’t simply average.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+mn-lt"/>
              </a:rPr>
              <a:t>Detect and purify or filter suspicious updates.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E382A98-6892-0494-3C89-67CFDF1AFA31}"/>
              </a:ext>
            </a:extLst>
          </p:cNvPr>
          <p:cNvSpPr txBox="1">
            <a:spLocks/>
          </p:cNvSpPr>
          <p:nvPr/>
        </p:nvSpPr>
        <p:spPr>
          <a:xfrm>
            <a:off x="403524" y="4980357"/>
            <a:ext cx="11384948" cy="33973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0000"/>
              </a:lnSpc>
            </a:pP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D8AFB-D1AE-D18A-CA55-CCB17285980D}"/>
              </a:ext>
            </a:extLst>
          </p:cNvPr>
          <p:cNvSpPr txBox="1">
            <a:spLocks/>
          </p:cNvSpPr>
          <p:nvPr/>
        </p:nvSpPr>
        <p:spPr>
          <a:xfrm>
            <a:off x="403523" y="5600835"/>
            <a:ext cx="10996980" cy="93807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latin typeface="+mn-lt"/>
              </a:rPr>
              <a:t>Jiahao et al., “</a:t>
            </a:r>
            <a:r>
              <a:rPr lang="en-US" sz="1400" b="1" i="1" dirty="0">
                <a:latin typeface="+mn-lt"/>
              </a:rPr>
              <a:t>Achieving Byzantine-Resilient Federated Learning via Layer-Adaptive </a:t>
            </a:r>
            <a:r>
              <a:rPr lang="en-US" sz="1400" b="1" i="1" dirty="0" err="1">
                <a:latin typeface="+mn-lt"/>
              </a:rPr>
              <a:t>Sparsified</a:t>
            </a:r>
            <a:r>
              <a:rPr lang="en-US" sz="1400" b="1" i="1" dirty="0">
                <a:latin typeface="+mn-lt"/>
              </a:rPr>
              <a:t> Model Aggregation</a:t>
            </a:r>
            <a:r>
              <a:rPr lang="en-US" sz="1400" b="1" dirty="0">
                <a:latin typeface="+mn-lt"/>
              </a:rPr>
              <a:t>”, IEEE/CVF WACV 2025 (Oral).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latin typeface="+mn-lt"/>
              </a:rPr>
              <a:t>Jiahao et al., “</a:t>
            </a:r>
            <a:r>
              <a:rPr lang="en-US" sz="1400" b="1" i="1" dirty="0">
                <a:latin typeface="+mn-lt"/>
              </a:rPr>
              <a:t>Identify Backdoored Model in Federated Learning via Individual Unlearning</a:t>
            </a:r>
            <a:r>
              <a:rPr lang="en-US" sz="1400" b="1" dirty="0">
                <a:latin typeface="+mn-lt"/>
              </a:rPr>
              <a:t>”, IEEE/CVF WACV 2025.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latin typeface="+mn-lt"/>
              </a:rPr>
              <a:t>Jiahao et al., “</a:t>
            </a:r>
            <a:r>
              <a:rPr lang="en-US" sz="1400" b="1" i="1" dirty="0">
                <a:latin typeface="+mn-lt"/>
              </a:rPr>
              <a:t>Detecting Backdoor Attacks in Federated Learning via Direction Alignment Inspection</a:t>
            </a:r>
            <a:r>
              <a:rPr lang="en-US" sz="1400" b="1" dirty="0">
                <a:latin typeface="+mn-lt"/>
              </a:rPr>
              <a:t>”, IEEE/CVF CVPR 2025 (Highlight).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latin typeface="+mn-lt"/>
              </a:rPr>
              <a:t>Jiahao et al., “</a:t>
            </a:r>
            <a:r>
              <a:rPr lang="en-US" sz="1400" b="1" i="1" dirty="0">
                <a:latin typeface="+mn-lt"/>
              </a:rPr>
              <a:t>On the Out-of-Distribution Backdoor Attack for Federated Learning</a:t>
            </a:r>
            <a:r>
              <a:rPr lang="en-US" sz="1400" b="1" dirty="0">
                <a:latin typeface="+mn-lt"/>
              </a:rPr>
              <a:t>”, ACM </a:t>
            </a:r>
            <a:r>
              <a:rPr lang="en-US" sz="1400" b="1" dirty="0" err="1">
                <a:latin typeface="+mn-lt"/>
              </a:rPr>
              <a:t>MobiHoc</a:t>
            </a:r>
            <a:r>
              <a:rPr lang="en-US" sz="1400" b="1" dirty="0">
                <a:latin typeface="+mn-lt"/>
              </a:rPr>
              <a:t> 2025 (Oral).</a:t>
            </a:r>
          </a:p>
        </p:txBody>
      </p:sp>
    </p:spTree>
    <p:extLst>
      <p:ext uri="{BB962C8B-B14F-4D97-AF65-F5344CB8AC3E}">
        <p14:creationId xmlns:p14="http://schemas.microsoft.com/office/powerpoint/2010/main" val="808205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77">
            <a:extLst>
              <a:ext uri="{FF2B5EF4-FFF2-40B4-BE49-F238E27FC236}">
                <a16:creationId xmlns:a16="http://schemas.microsoft.com/office/drawing/2014/main" id="{941DA2BC-0143-22FB-22D4-8522700C6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619283" y="2538898"/>
            <a:ext cx="2666626" cy="305172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9EFF98F1-53CA-FF37-D27E-28E34FCCC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6" y="1504208"/>
            <a:ext cx="5652244" cy="2374552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0"/>
            <a:ext cx="1075766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4" y="178972"/>
            <a:ext cx="1001346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An Example of Robust Aggregation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D8AFB-D1AE-D18A-CA55-CCB17285980D}"/>
              </a:ext>
            </a:extLst>
          </p:cNvPr>
          <p:cNvSpPr txBox="1">
            <a:spLocks/>
          </p:cNvSpPr>
          <p:nvPr/>
        </p:nvSpPr>
        <p:spPr>
          <a:xfrm>
            <a:off x="403524" y="6356350"/>
            <a:ext cx="10386396" cy="322678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latin typeface="+mn-lt"/>
              </a:rPr>
              <a:t>Jiahao et al., “</a:t>
            </a:r>
            <a:r>
              <a:rPr lang="en-US" sz="1400" b="1" i="1" dirty="0">
                <a:latin typeface="+mn-lt"/>
              </a:rPr>
              <a:t>Detecting Backdoor Attacks in Federated Learning via Direction Alignment Inspection</a:t>
            </a:r>
            <a:r>
              <a:rPr lang="en-US" sz="1400" b="1" dirty="0">
                <a:latin typeface="+mn-lt"/>
              </a:rPr>
              <a:t>”, IEEE/CVF CVPR 2025 (Highlight).</a:t>
            </a:r>
          </a:p>
        </p:txBody>
      </p:sp>
      <p:pic>
        <p:nvPicPr>
          <p:cNvPr id="276" name="Picture 275">
            <a:extLst>
              <a:ext uri="{FF2B5EF4-FFF2-40B4-BE49-F238E27FC236}">
                <a16:creationId xmlns:a16="http://schemas.microsoft.com/office/drawing/2014/main" id="{9365B01D-E663-2B78-64D9-23D747B9B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00257"/>
            <a:ext cx="5952565" cy="3182455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5A078ED5-2F99-2A0E-5CAB-2C24977F3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070" y="4316386"/>
            <a:ext cx="4464424" cy="190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16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0"/>
            <a:ext cx="1075766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Untrusted Clients: Model Stealing Attack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13148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One or several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malicious clients </a:t>
            </a:r>
            <a:r>
              <a:rPr lang="en-US" dirty="0">
                <a:latin typeface="+mn-lt"/>
              </a:rPr>
              <a:t>replicate and redistribute the trained global model without authorization for personal gain.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E128C0CF-F081-4772-2F5A-C97B069DDC75}"/>
              </a:ext>
            </a:extLst>
          </p:cNvPr>
          <p:cNvSpPr/>
          <p:nvPr/>
        </p:nvSpPr>
        <p:spPr>
          <a:xfrm rot="16200000">
            <a:off x="5755173" y="5081428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372EDCB-6479-8739-F304-ECE279B46D77}"/>
              </a:ext>
            </a:extLst>
          </p:cNvPr>
          <p:cNvSpPr/>
          <p:nvPr/>
        </p:nvSpPr>
        <p:spPr>
          <a:xfrm rot="5400000">
            <a:off x="5959519" y="5081428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54ABD0-CD74-1B8F-BC08-455A780B3B37}"/>
              </a:ext>
            </a:extLst>
          </p:cNvPr>
          <p:cNvSpPr/>
          <p:nvPr/>
        </p:nvSpPr>
        <p:spPr>
          <a:xfrm>
            <a:off x="1750279" y="2599563"/>
            <a:ext cx="7934876" cy="2235283"/>
          </a:xfrm>
          <a:custGeom>
            <a:avLst/>
            <a:gdLst>
              <a:gd name="connsiteX0" fmla="*/ 0 w 7934876"/>
              <a:gd name="connsiteY0" fmla="*/ 0 h 2235283"/>
              <a:gd name="connsiteX1" fmla="*/ 581891 w 7934876"/>
              <a:gd name="connsiteY1" fmla="*/ 0 h 2235283"/>
              <a:gd name="connsiteX2" fmla="*/ 1005084 w 7934876"/>
              <a:gd name="connsiteY2" fmla="*/ 0 h 2235283"/>
              <a:gd name="connsiteX3" fmla="*/ 1825021 w 7934876"/>
              <a:gd name="connsiteY3" fmla="*/ 0 h 2235283"/>
              <a:gd name="connsiteX4" fmla="*/ 2406912 w 7934876"/>
              <a:gd name="connsiteY4" fmla="*/ 0 h 2235283"/>
              <a:gd name="connsiteX5" fmla="*/ 2988803 w 7934876"/>
              <a:gd name="connsiteY5" fmla="*/ 0 h 2235283"/>
              <a:gd name="connsiteX6" fmla="*/ 3808740 w 7934876"/>
              <a:gd name="connsiteY6" fmla="*/ 0 h 2235283"/>
              <a:gd name="connsiteX7" fmla="*/ 4311283 w 7934876"/>
              <a:gd name="connsiteY7" fmla="*/ 0 h 2235283"/>
              <a:gd name="connsiteX8" fmla="*/ 5131220 w 7934876"/>
              <a:gd name="connsiteY8" fmla="*/ 0 h 2235283"/>
              <a:gd name="connsiteX9" fmla="*/ 5951157 w 7934876"/>
              <a:gd name="connsiteY9" fmla="*/ 0 h 2235283"/>
              <a:gd name="connsiteX10" fmla="*/ 6612397 w 7934876"/>
              <a:gd name="connsiteY10" fmla="*/ 0 h 2235283"/>
              <a:gd name="connsiteX11" fmla="*/ 7934876 w 7934876"/>
              <a:gd name="connsiteY11" fmla="*/ 0 h 2235283"/>
              <a:gd name="connsiteX12" fmla="*/ 7934876 w 7934876"/>
              <a:gd name="connsiteY12" fmla="*/ 536468 h 2235283"/>
              <a:gd name="connsiteX13" fmla="*/ 7934876 w 7934876"/>
              <a:gd name="connsiteY13" fmla="*/ 1028230 h 2235283"/>
              <a:gd name="connsiteX14" fmla="*/ 7934876 w 7934876"/>
              <a:gd name="connsiteY14" fmla="*/ 1587051 h 2235283"/>
              <a:gd name="connsiteX15" fmla="*/ 7934876 w 7934876"/>
              <a:gd name="connsiteY15" fmla="*/ 2235283 h 2235283"/>
              <a:gd name="connsiteX16" fmla="*/ 7273636 w 7934876"/>
              <a:gd name="connsiteY16" fmla="*/ 2235283 h 2235283"/>
              <a:gd name="connsiteX17" fmla="*/ 6453699 w 7934876"/>
              <a:gd name="connsiteY17" fmla="*/ 2235283 h 2235283"/>
              <a:gd name="connsiteX18" fmla="*/ 5792459 w 7934876"/>
              <a:gd name="connsiteY18" fmla="*/ 2235283 h 2235283"/>
              <a:gd name="connsiteX19" fmla="*/ 5369266 w 7934876"/>
              <a:gd name="connsiteY19" fmla="*/ 2235283 h 2235283"/>
              <a:gd name="connsiteX20" fmla="*/ 4866724 w 7934876"/>
              <a:gd name="connsiteY20" fmla="*/ 2235283 h 2235283"/>
              <a:gd name="connsiteX21" fmla="*/ 4046787 w 7934876"/>
              <a:gd name="connsiteY21" fmla="*/ 2235283 h 2235283"/>
              <a:gd name="connsiteX22" fmla="*/ 3385547 w 7934876"/>
              <a:gd name="connsiteY22" fmla="*/ 2235283 h 2235283"/>
              <a:gd name="connsiteX23" fmla="*/ 2883005 w 7934876"/>
              <a:gd name="connsiteY23" fmla="*/ 2235283 h 2235283"/>
              <a:gd name="connsiteX24" fmla="*/ 2221765 w 7934876"/>
              <a:gd name="connsiteY24" fmla="*/ 2235283 h 2235283"/>
              <a:gd name="connsiteX25" fmla="*/ 1798572 w 7934876"/>
              <a:gd name="connsiteY25" fmla="*/ 2235283 h 2235283"/>
              <a:gd name="connsiteX26" fmla="*/ 1375379 w 7934876"/>
              <a:gd name="connsiteY26" fmla="*/ 2235283 h 2235283"/>
              <a:gd name="connsiteX27" fmla="*/ 714139 w 7934876"/>
              <a:gd name="connsiteY27" fmla="*/ 2235283 h 2235283"/>
              <a:gd name="connsiteX28" fmla="*/ 0 w 7934876"/>
              <a:gd name="connsiteY28" fmla="*/ 2235283 h 2235283"/>
              <a:gd name="connsiteX29" fmla="*/ 0 w 7934876"/>
              <a:gd name="connsiteY29" fmla="*/ 1654109 h 2235283"/>
              <a:gd name="connsiteX30" fmla="*/ 0 w 7934876"/>
              <a:gd name="connsiteY30" fmla="*/ 1117642 h 2235283"/>
              <a:gd name="connsiteX31" fmla="*/ 0 w 7934876"/>
              <a:gd name="connsiteY31" fmla="*/ 625879 h 2235283"/>
              <a:gd name="connsiteX32" fmla="*/ 0 w 7934876"/>
              <a:gd name="connsiteY32" fmla="*/ 0 h 2235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934876" h="2235283" extrusionOk="0">
                <a:moveTo>
                  <a:pt x="0" y="0"/>
                </a:moveTo>
                <a:cubicBezTo>
                  <a:pt x="225383" y="22305"/>
                  <a:pt x="388817" y="-20230"/>
                  <a:pt x="581891" y="0"/>
                </a:cubicBezTo>
                <a:cubicBezTo>
                  <a:pt x="774965" y="20230"/>
                  <a:pt x="896203" y="19878"/>
                  <a:pt x="1005084" y="0"/>
                </a:cubicBezTo>
                <a:cubicBezTo>
                  <a:pt x="1113965" y="-19878"/>
                  <a:pt x="1629826" y="-29724"/>
                  <a:pt x="1825021" y="0"/>
                </a:cubicBezTo>
                <a:cubicBezTo>
                  <a:pt x="2020216" y="29724"/>
                  <a:pt x="2149268" y="12113"/>
                  <a:pt x="2406912" y="0"/>
                </a:cubicBezTo>
                <a:cubicBezTo>
                  <a:pt x="2664556" y="-12113"/>
                  <a:pt x="2850823" y="23528"/>
                  <a:pt x="2988803" y="0"/>
                </a:cubicBezTo>
                <a:cubicBezTo>
                  <a:pt x="3126783" y="-23528"/>
                  <a:pt x="3565776" y="11129"/>
                  <a:pt x="3808740" y="0"/>
                </a:cubicBezTo>
                <a:cubicBezTo>
                  <a:pt x="4051704" y="-11129"/>
                  <a:pt x="4100103" y="-21581"/>
                  <a:pt x="4311283" y="0"/>
                </a:cubicBezTo>
                <a:cubicBezTo>
                  <a:pt x="4522463" y="21581"/>
                  <a:pt x="4891064" y="12094"/>
                  <a:pt x="5131220" y="0"/>
                </a:cubicBezTo>
                <a:cubicBezTo>
                  <a:pt x="5371376" y="-12094"/>
                  <a:pt x="5574463" y="-21526"/>
                  <a:pt x="5951157" y="0"/>
                </a:cubicBezTo>
                <a:cubicBezTo>
                  <a:pt x="6327851" y="21526"/>
                  <a:pt x="6308849" y="-17741"/>
                  <a:pt x="6612397" y="0"/>
                </a:cubicBezTo>
                <a:cubicBezTo>
                  <a:pt x="6915945" y="17741"/>
                  <a:pt x="7512996" y="-61800"/>
                  <a:pt x="7934876" y="0"/>
                </a:cubicBezTo>
                <a:cubicBezTo>
                  <a:pt x="7947673" y="157723"/>
                  <a:pt x="7958028" y="306798"/>
                  <a:pt x="7934876" y="536468"/>
                </a:cubicBezTo>
                <a:cubicBezTo>
                  <a:pt x="7911724" y="766138"/>
                  <a:pt x="7937525" y="926711"/>
                  <a:pt x="7934876" y="1028230"/>
                </a:cubicBezTo>
                <a:cubicBezTo>
                  <a:pt x="7932227" y="1129749"/>
                  <a:pt x="7920553" y="1462475"/>
                  <a:pt x="7934876" y="1587051"/>
                </a:cubicBezTo>
                <a:cubicBezTo>
                  <a:pt x="7949199" y="1711627"/>
                  <a:pt x="7944743" y="1978429"/>
                  <a:pt x="7934876" y="2235283"/>
                </a:cubicBezTo>
                <a:cubicBezTo>
                  <a:pt x="7700652" y="2241806"/>
                  <a:pt x="7418244" y="2247762"/>
                  <a:pt x="7273636" y="2235283"/>
                </a:cubicBezTo>
                <a:cubicBezTo>
                  <a:pt x="7129028" y="2222804"/>
                  <a:pt x="6858982" y="2271566"/>
                  <a:pt x="6453699" y="2235283"/>
                </a:cubicBezTo>
                <a:cubicBezTo>
                  <a:pt x="6048416" y="2199000"/>
                  <a:pt x="5954557" y="2260015"/>
                  <a:pt x="5792459" y="2235283"/>
                </a:cubicBezTo>
                <a:cubicBezTo>
                  <a:pt x="5630361" y="2210551"/>
                  <a:pt x="5490224" y="2243952"/>
                  <a:pt x="5369266" y="2235283"/>
                </a:cubicBezTo>
                <a:cubicBezTo>
                  <a:pt x="5248308" y="2226614"/>
                  <a:pt x="4982228" y="2236754"/>
                  <a:pt x="4866724" y="2235283"/>
                </a:cubicBezTo>
                <a:cubicBezTo>
                  <a:pt x="4751220" y="2233812"/>
                  <a:pt x="4332511" y="2222250"/>
                  <a:pt x="4046787" y="2235283"/>
                </a:cubicBezTo>
                <a:cubicBezTo>
                  <a:pt x="3761063" y="2248316"/>
                  <a:pt x="3606046" y="2221434"/>
                  <a:pt x="3385547" y="2235283"/>
                </a:cubicBezTo>
                <a:cubicBezTo>
                  <a:pt x="3165048" y="2249132"/>
                  <a:pt x="3022449" y="2218046"/>
                  <a:pt x="2883005" y="2235283"/>
                </a:cubicBezTo>
                <a:cubicBezTo>
                  <a:pt x="2743561" y="2252520"/>
                  <a:pt x="2442240" y="2226083"/>
                  <a:pt x="2221765" y="2235283"/>
                </a:cubicBezTo>
                <a:cubicBezTo>
                  <a:pt x="2001290" y="2244483"/>
                  <a:pt x="1967356" y="2240008"/>
                  <a:pt x="1798572" y="2235283"/>
                </a:cubicBezTo>
                <a:cubicBezTo>
                  <a:pt x="1629788" y="2230558"/>
                  <a:pt x="1481136" y="2236922"/>
                  <a:pt x="1375379" y="2235283"/>
                </a:cubicBezTo>
                <a:cubicBezTo>
                  <a:pt x="1269622" y="2233644"/>
                  <a:pt x="944804" y="2228517"/>
                  <a:pt x="714139" y="2235283"/>
                </a:cubicBezTo>
                <a:cubicBezTo>
                  <a:pt x="483474" y="2242049"/>
                  <a:pt x="286362" y="2215650"/>
                  <a:pt x="0" y="2235283"/>
                </a:cubicBezTo>
                <a:cubicBezTo>
                  <a:pt x="5020" y="2055001"/>
                  <a:pt x="11066" y="1868731"/>
                  <a:pt x="0" y="1654109"/>
                </a:cubicBezTo>
                <a:cubicBezTo>
                  <a:pt x="-11066" y="1439487"/>
                  <a:pt x="746" y="1240026"/>
                  <a:pt x="0" y="1117642"/>
                </a:cubicBezTo>
                <a:cubicBezTo>
                  <a:pt x="-746" y="995258"/>
                  <a:pt x="14391" y="839490"/>
                  <a:pt x="0" y="625879"/>
                </a:cubicBezTo>
                <a:cubicBezTo>
                  <a:pt x="-14391" y="412268"/>
                  <a:pt x="29180" y="256057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08AC11-D4B5-8E5F-904B-7635C9E7CCF8}"/>
              </a:ext>
            </a:extLst>
          </p:cNvPr>
          <p:cNvSpPr/>
          <p:nvPr/>
        </p:nvSpPr>
        <p:spPr>
          <a:xfrm>
            <a:off x="6851901" y="3199802"/>
            <a:ext cx="1742324" cy="15475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A12A60-ECF8-A776-EBC4-33F0971507C7}"/>
              </a:ext>
            </a:extLst>
          </p:cNvPr>
          <p:cNvSpPr/>
          <p:nvPr/>
        </p:nvSpPr>
        <p:spPr>
          <a:xfrm>
            <a:off x="4732849" y="3195246"/>
            <a:ext cx="1728248" cy="15521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AFB76-9915-B602-618A-64556EC1967A}"/>
              </a:ext>
            </a:extLst>
          </p:cNvPr>
          <p:cNvSpPr txBox="1"/>
          <p:nvPr/>
        </p:nvSpPr>
        <p:spPr>
          <a:xfrm>
            <a:off x="2506845" y="2599563"/>
            <a:ext cx="1370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04D06-2B5B-FA96-A28F-732272CACE8F}"/>
              </a:ext>
            </a:extLst>
          </p:cNvPr>
          <p:cNvSpPr txBox="1"/>
          <p:nvPr/>
        </p:nvSpPr>
        <p:spPr>
          <a:xfrm>
            <a:off x="7106166" y="2922801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Malicious client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17E4A-7327-0035-12F8-46AB6465A3C6}"/>
              </a:ext>
            </a:extLst>
          </p:cNvPr>
          <p:cNvSpPr txBox="1"/>
          <p:nvPr/>
        </p:nvSpPr>
        <p:spPr>
          <a:xfrm>
            <a:off x="4296640" y="3661071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C540C-7198-2003-1D26-A1A3D1E8541F}"/>
              </a:ext>
            </a:extLst>
          </p:cNvPr>
          <p:cNvSpPr txBox="1"/>
          <p:nvPr/>
        </p:nvSpPr>
        <p:spPr>
          <a:xfrm>
            <a:off x="6430290" y="3649618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E55AD16A-ED69-8E8B-0B78-2F6286D2EB46}"/>
              </a:ext>
            </a:extLst>
          </p:cNvPr>
          <p:cNvSpPr txBox="1"/>
          <p:nvPr/>
        </p:nvSpPr>
        <p:spPr>
          <a:xfrm>
            <a:off x="1715773" y="3888132"/>
            <a:ext cx="72240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Clients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A8ABD1-B369-7B8E-D2A5-406CD0060416}"/>
              </a:ext>
            </a:extLst>
          </p:cNvPr>
          <p:cNvCxnSpPr>
            <a:cxnSpLocks/>
          </p:cNvCxnSpPr>
          <p:nvPr/>
        </p:nvCxnSpPr>
        <p:spPr>
          <a:xfrm flipH="1">
            <a:off x="2399028" y="2663063"/>
            <a:ext cx="4022" cy="2199414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191FA6E-67BE-3BC1-9664-97FF3639E970}"/>
              </a:ext>
            </a:extLst>
          </p:cNvPr>
          <p:cNvSpPr/>
          <p:nvPr/>
        </p:nvSpPr>
        <p:spPr>
          <a:xfrm>
            <a:off x="2578536" y="3199802"/>
            <a:ext cx="1737732" cy="1547575"/>
          </a:xfrm>
          <a:prstGeom prst="roundRect">
            <a:avLst/>
          </a:prstGeom>
          <a:solidFill>
            <a:srgbClr val="70AD47">
              <a:lumMod val="20000"/>
              <a:lumOff val="80000"/>
            </a:srgb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C7D6A-5002-0E4A-FE30-0ED78FB8E9EC}"/>
              </a:ext>
            </a:extLst>
          </p:cNvPr>
          <p:cNvSpPr txBox="1"/>
          <p:nvPr/>
        </p:nvSpPr>
        <p:spPr>
          <a:xfrm>
            <a:off x="3008401" y="2923957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FE84DDA-CB4F-B73F-2489-C071253EE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9721" y="4295740"/>
            <a:ext cx="396166" cy="396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154874-5D0C-0443-3AB6-70E8B5F9A3CB}"/>
              </a:ext>
            </a:extLst>
          </p:cNvPr>
          <p:cNvSpPr txBox="1"/>
          <p:nvPr/>
        </p:nvSpPr>
        <p:spPr>
          <a:xfrm>
            <a:off x="2628873" y="4293086"/>
            <a:ext cx="76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2C985C-ECFE-88D1-052D-A3E78A910370}"/>
              </a:ext>
            </a:extLst>
          </p:cNvPr>
          <p:cNvSpPr txBox="1"/>
          <p:nvPr/>
        </p:nvSpPr>
        <p:spPr>
          <a:xfrm>
            <a:off x="4823154" y="4263616"/>
            <a:ext cx="835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38DE812-176D-8A26-3781-DCCE29E1D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7412" y="4287171"/>
            <a:ext cx="396166" cy="396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8CA9869-810E-4578-692E-7B3CB8BFBB53}"/>
              </a:ext>
            </a:extLst>
          </p:cNvPr>
          <p:cNvSpPr txBox="1"/>
          <p:nvPr/>
        </p:nvSpPr>
        <p:spPr>
          <a:xfrm>
            <a:off x="6906564" y="4284517"/>
            <a:ext cx="1020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362321-E2F0-1B91-C388-2A617F279BA4}"/>
              </a:ext>
            </a:extLst>
          </p:cNvPr>
          <p:cNvSpPr txBox="1"/>
          <p:nvPr/>
        </p:nvSpPr>
        <p:spPr>
          <a:xfrm>
            <a:off x="5123063" y="2922802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349FDAD-CF24-92E8-83BC-908304669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5785" y="4295740"/>
            <a:ext cx="396166" cy="396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1EEED0C-B8C0-696C-8E39-58DDAD2AA232}"/>
              </a:ext>
            </a:extLst>
          </p:cNvPr>
          <p:cNvSpPr/>
          <p:nvPr/>
        </p:nvSpPr>
        <p:spPr>
          <a:xfrm>
            <a:off x="3131055" y="5463813"/>
            <a:ext cx="5499525" cy="911496"/>
          </a:xfrm>
          <a:custGeom>
            <a:avLst/>
            <a:gdLst>
              <a:gd name="connsiteX0" fmla="*/ 0 w 5499525"/>
              <a:gd name="connsiteY0" fmla="*/ 0 h 911496"/>
              <a:gd name="connsiteX1" fmla="*/ 494957 w 5499525"/>
              <a:gd name="connsiteY1" fmla="*/ 0 h 911496"/>
              <a:gd name="connsiteX2" fmla="*/ 879924 w 5499525"/>
              <a:gd name="connsiteY2" fmla="*/ 0 h 911496"/>
              <a:gd name="connsiteX3" fmla="*/ 1539867 w 5499525"/>
              <a:gd name="connsiteY3" fmla="*/ 0 h 911496"/>
              <a:gd name="connsiteX4" fmla="*/ 2034824 w 5499525"/>
              <a:gd name="connsiteY4" fmla="*/ 0 h 911496"/>
              <a:gd name="connsiteX5" fmla="*/ 2529782 w 5499525"/>
              <a:gd name="connsiteY5" fmla="*/ 0 h 911496"/>
              <a:gd name="connsiteX6" fmla="*/ 3189725 w 5499525"/>
              <a:gd name="connsiteY6" fmla="*/ 0 h 911496"/>
              <a:gd name="connsiteX7" fmla="*/ 3629687 w 5499525"/>
              <a:gd name="connsiteY7" fmla="*/ 0 h 911496"/>
              <a:gd name="connsiteX8" fmla="*/ 4289630 w 5499525"/>
              <a:gd name="connsiteY8" fmla="*/ 0 h 911496"/>
              <a:gd name="connsiteX9" fmla="*/ 4949573 w 5499525"/>
              <a:gd name="connsiteY9" fmla="*/ 0 h 911496"/>
              <a:gd name="connsiteX10" fmla="*/ 5499525 w 5499525"/>
              <a:gd name="connsiteY10" fmla="*/ 0 h 911496"/>
              <a:gd name="connsiteX11" fmla="*/ 5499525 w 5499525"/>
              <a:gd name="connsiteY11" fmla="*/ 473978 h 911496"/>
              <a:gd name="connsiteX12" fmla="*/ 5499525 w 5499525"/>
              <a:gd name="connsiteY12" fmla="*/ 911496 h 911496"/>
              <a:gd name="connsiteX13" fmla="*/ 5114558 w 5499525"/>
              <a:gd name="connsiteY13" fmla="*/ 911496 h 911496"/>
              <a:gd name="connsiteX14" fmla="*/ 4454615 w 5499525"/>
              <a:gd name="connsiteY14" fmla="*/ 911496 h 911496"/>
              <a:gd name="connsiteX15" fmla="*/ 4014653 w 5499525"/>
              <a:gd name="connsiteY15" fmla="*/ 911496 h 911496"/>
              <a:gd name="connsiteX16" fmla="*/ 3464701 w 5499525"/>
              <a:gd name="connsiteY16" fmla="*/ 911496 h 911496"/>
              <a:gd name="connsiteX17" fmla="*/ 2804758 w 5499525"/>
              <a:gd name="connsiteY17" fmla="*/ 911496 h 911496"/>
              <a:gd name="connsiteX18" fmla="*/ 2254805 w 5499525"/>
              <a:gd name="connsiteY18" fmla="*/ 911496 h 911496"/>
              <a:gd name="connsiteX19" fmla="*/ 1869839 w 5499525"/>
              <a:gd name="connsiteY19" fmla="*/ 911496 h 911496"/>
              <a:gd name="connsiteX20" fmla="*/ 1429877 w 5499525"/>
              <a:gd name="connsiteY20" fmla="*/ 911496 h 911496"/>
              <a:gd name="connsiteX21" fmla="*/ 769934 w 5499525"/>
              <a:gd name="connsiteY21" fmla="*/ 911496 h 911496"/>
              <a:gd name="connsiteX22" fmla="*/ 0 w 5499525"/>
              <a:gd name="connsiteY22" fmla="*/ 911496 h 911496"/>
              <a:gd name="connsiteX23" fmla="*/ 0 w 5499525"/>
              <a:gd name="connsiteY23" fmla="*/ 473978 h 911496"/>
              <a:gd name="connsiteX24" fmla="*/ 0 w 5499525"/>
              <a:gd name="connsiteY24" fmla="*/ 0 h 9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499525" h="911496" extrusionOk="0">
                <a:moveTo>
                  <a:pt x="0" y="0"/>
                </a:moveTo>
                <a:cubicBezTo>
                  <a:pt x="102132" y="-2934"/>
                  <a:pt x="370177" y="45191"/>
                  <a:pt x="494957" y="0"/>
                </a:cubicBezTo>
                <a:cubicBezTo>
                  <a:pt x="619737" y="-45191"/>
                  <a:pt x="715147" y="10761"/>
                  <a:pt x="879924" y="0"/>
                </a:cubicBezTo>
                <a:cubicBezTo>
                  <a:pt x="1044701" y="-10761"/>
                  <a:pt x="1311765" y="28845"/>
                  <a:pt x="1539867" y="0"/>
                </a:cubicBezTo>
                <a:cubicBezTo>
                  <a:pt x="1767969" y="-28845"/>
                  <a:pt x="1887396" y="58137"/>
                  <a:pt x="2034824" y="0"/>
                </a:cubicBezTo>
                <a:cubicBezTo>
                  <a:pt x="2182252" y="-58137"/>
                  <a:pt x="2356608" y="13878"/>
                  <a:pt x="2529782" y="0"/>
                </a:cubicBezTo>
                <a:cubicBezTo>
                  <a:pt x="2702956" y="-13878"/>
                  <a:pt x="3013066" y="21645"/>
                  <a:pt x="3189725" y="0"/>
                </a:cubicBezTo>
                <a:cubicBezTo>
                  <a:pt x="3366384" y="-21645"/>
                  <a:pt x="3497283" y="41564"/>
                  <a:pt x="3629687" y="0"/>
                </a:cubicBezTo>
                <a:cubicBezTo>
                  <a:pt x="3762091" y="-41564"/>
                  <a:pt x="3997715" y="57446"/>
                  <a:pt x="4289630" y="0"/>
                </a:cubicBezTo>
                <a:cubicBezTo>
                  <a:pt x="4581545" y="-57446"/>
                  <a:pt x="4760115" y="26122"/>
                  <a:pt x="4949573" y="0"/>
                </a:cubicBezTo>
                <a:cubicBezTo>
                  <a:pt x="5139031" y="-26122"/>
                  <a:pt x="5251435" y="13728"/>
                  <a:pt x="5499525" y="0"/>
                </a:cubicBezTo>
                <a:cubicBezTo>
                  <a:pt x="5551390" y="147346"/>
                  <a:pt x="5497500" y="289363"/>
                  <a:pt x="5499525" y="473978"/>
                </a:cubicBezTo>
                <a:cubicBezTo>
                  <a:pt x="5501550" y="658593"/>
                  <a:pt x="5475701" y="719754"/>
                  <a:pt x="5499525" y="911496"/>
                </a:cubicBezTo>
                <a:cubicBezTo>
                  <a:pt x="5400349" y="943514"/>
                  <a:pt x="5211249" y="884287"/>
                  <a:pt x="5114558" y="911496"/>
                </a:cubicBezTo>
                <a:cubicBezTo>
                  <a:pt x="5017867" y="938705"/>
                  <a:pt x="4730901" y="900499"/>
                  <a:pt x="4454615" y="911496"/>
                </a:cubicBezTo>
                <a:cubicBezTo>
                  <a:pt x="4178329" y="922493"/>
                  <a:pt x="4145066" y="907792"/>
                  <a:pt x="4014653" y="911496"/>
                </a:cubicBezTo>
                <a:cubicBezTo>
                  <a:pt x="3884240" y="915200"/>
                  <a:pt x="3678607" y="902732"/>
                  <a:pt x="3464701" y="911496"/>
                </a:cubicBezTo>
                <a:cubicBezTo>
                  <a:pt x="3250795" y="920260"/>
                  <a:pt x="2975987" y="888178"/>
                  <a:pt x="2804758" y="911496"/>
                </a:cubicBezTo>
                <a:cubicBezTo>
                  <a:pt x="2633529" y="934814"/>
                  <a:pt x="2482526" y="874629"/>
                  <a:pt x="2254805" y="911496"/>
                </a:cubicBezTo>
                <a:cubicBezTo>
                  <a:pt x="2027084" y="948363"/>
                  <a:pt x="1984623" y="870696"/>
                  <a:pt x="1869839" y="911496"/>
                </a:cubicBezTo>
                <a:cubicBezTo>
                  <a:pt x="1755055" y="952296"/>
                  <a:pt x="1579975" y="891477"/>
                  <a:pt x="1429877" y="911496"/>
                </a:cubicBezTo>
                <a:cubicBezTo>
                  <a:pt x="1279779" y="931515"/>
                  <a:pt x="962382" y="872874"/>
                  <a:pt x="769934" y="911496"/>
                </a:cubicBezTo>
                <a:cubicBezTo>
                  <a:pt x="577486" y="950118"/>
                  <a:pt x="175938" y="896492"/>
                  <a:pt x="0" y="911496"/>
                </a:cubicBezTo>
                <a:cubicBezTo>
                  <a:pt x="-12727" y="706786"/>
                  <a:pt x="12700" y="587916"/>
                  <a:pt x="0" y="473978"/>
                </a:cubicBezTo>
                <a:cubicBezTo>
                  <a:pt x="-12700" y="360040"/>
                  <a:pt x="10641" y="198571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Graphic 25" descr="Server with solid fill">
            <a:extLst>
              <a:ext uri="{FF2B5EF4-FFF2-40B4-BE49-F238E27FC236}">
                <a16:creationId xmlns:a16="http://schemas.microsoft.com/office/drawing/2014/main" id="{F8FF9908-3744-8629-FAF9-BFC3084B4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8845" y="5587552"/>
            <a:ext cx="545563" cy="5455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CC06155-D630-F61C-6400-B386FBD40B7D}"/>
              </a:ext>
            </a:extLst>
          </p:cNvPr>
          <p:cNvSpPr txBox="1"/>
          <p:nvPr/>
        </p:nvSpPr>
        <p:spPr>
          <a:xfrm>
            <a:off x="3181242" y="6067532"/>
            <a:ext cx="666937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Server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3DB75C-3598-45E6-2C02-02C28A4A780C}"/>
              </a:ext>
            </a:extLst>
          </p:cNvPr>
          <p:cNvCxnSpPr>
            <a:cxnSpLocks/>
          </p:cNvCxnSpPr>
          <p:nvPr/>
        </p:nvCxnSpPr>
        <p:spPr>
          <a:xfrm>
            <a:off x="3845732" y="5516592"/>
            <a:ext cx="0" cy="82800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8EB293D-E481-3136-3D89-139BC6E306EF}"/>
              </a:ext>
            </a:extLst>
          </p:cNvPr>
          <p:cNvSpPr txBox="1"/>
          <p:nvPr/>
        </p:nvSpPr>
        <p:spPr>
          <a:xfrm>
            <a:off x="3916950" y="5486996"/>
            <a:ext cx="2244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Server-side Aggregation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43CF73-FFED-BC49-CEC2-55387D0BDFB3}"/>
              </a:ext>
            </a:extLst>
          </p:cNvPr>
          <p:cNvSpPr txBox="1"/>
          <p:nvPr/>
        </p:nvSpPr>
        <p:spPr>
          <a:xfrm>
            <a:off x="5668234" y="5734562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3AAB23-25CE-AB20-2313-F4EF219D16E9}"/>
              </a:ext>
            </a:extLst>
          </p:cNvPr>
          <p:cNvSpPr txBox="1"/>
          <p:nvPr/>
        </p:nvSpPr>
        <p:spPr>
          <a:xfrm>
            <a:off x="6672732" y="5734562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379291-6604-B268-79B8-DC59BCA5E510}"/>
              </a:ext>
            </a:extLst>
          </p:cNvPr>
          <p:cNvCxnSpPr>
            <a:cxnSpLocks/>
          </p:cNvCxnSpPr>
          <p:nvPr/>
        </p:nvCxnSpPr>
        <p:spPr>
          <a:xfrm>
            <a:off x="7717200" y="6039999"/>
            <a:ext cx="378732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33" name="Graphic 32">
            <a:extLst>
              <a:ext uri="{FF2B5EF4-FFF2-40B4-BE49-F238E27FC236}">
                <a16:creationId xmlns:a16="http://schemas.microsoft.com/office/drawing/2014/main" id="{D8416523-BB18-83E3-81B2-3C2A1FD36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1048" y="5836061"/>
            <a:ext cx="396000" cy="396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3946BD93-6672-AD73-00D8-7BB09B301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6606" y="5836061"/>
            <a:ext cx="396000" cy="396000"/>
          </a:xfrm>
          <a:prstGeom prst="rect">
            <a:avLst/>
          </a:prstGeom>
        </p:spPr>
      </p:pic>
      <p:sp>
        <p:nvSpPr>
          <p:cNvPr id="35" name="Double Bracket 34">
            <a:extLst>
              <a:ext uri="{FF2B5EF4-FFF2-40B4-BE49-F238E27FC236}">
                <a16:creationId xmlns:a16="http://schemas.microsoft.com/office/drawing/2014/main" id="{A44A4EBB-EA45-49F8-BA58-8B7C07B6F06F}"/>
              </a:ext>
            </a:extLst>
          </p:cNvPr>
          <p:cNvSpPr/>
          <p:nvPr/>
        </p:nvSpPr>
        <p:spPr>
          <a:xfrm>
            <a:off x="5061124" y="5816609"/>
            <a:ext cx="2573093" cy="430944"/>
          </a:xfrm>
          <a:prstGeom prst="bracketPair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31C55F-4D26-37BB-823D-786FB80194AA}"/>
              </a:ext>
            </a:extLst>
          </p:cNvPr>
          <p:cNvSpPr txBox="1"/>
          <p:nvPr/>
        </p:nvSpPr>
        <p:spPr>
          <a:xfrm>
            <a:off x="3901523" y="5865702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cs typeface="Times New Roman" panose="02020603050405020304" pitchFamily="18" charset="0"/>
              </a:rPr>
              <a:t>④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Aggregate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041D01F-2059-7356-F1E1-E5B2CBE17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7084" y="5836061"/>
            <a:ext cx="396166" cy="396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F445F486-09F1-583B-E5FB-D4D47A264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2976" y="5836061"/>
            <a:ext cx="396166" cy="396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2EC7A20-8450-B2F8-9514-1A4D42C9E7A1}"/>
              </a:ext>
            </a:extLst>
          </p:cNvPr>
          <p:cNvSpPr txBox="1"/>
          <p:nvPr/>
        </p:nvSpPr>
        <p:spPr>
          <a:xfrm>
            <a:off x="3578028" y="4989737"/>
            <a:ext cx="2144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Times New Roman" panose="02020603050405020304" pitchFamily="18" charset="0"/>
              </a:rPr>
              <a:t>①</a:t>
            </a:r>
            <a:r>
              <a:rPr lang="en-US" sz="1400" b="1" dirty="0">
                <a:cs typeface="Times New Roman" panose="02020603050405020304" pitchFamily="18" charset="0"/>
              </a:rPr>
              <a:t> Broadcast global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6DBCC-5E88-C4A5-E7B2-51BB30050D98}"/>
              </a:ext>
            </a:extLst>
          </p:cNvPr>
          <p:cNvSpPr txBox="1"/>
          <p:nvPr/>
        </p:nvSpPr>
        <p:spPr>
          <a:xfrm>
            <a:off x="6358133" y="5001547"/>
            <a:ext cx="2441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cs typeface="Times New Roman" panose="02020603050405020304" pitchFamily="18" charset="0"/>
              </a:rPr>
              <a:t>③</a:t>
            </a:r>
            <a:r>
              <a:rPr lang="zh-CN" altLang="en-US" sz="1400" b="1" dirty="0">
                <a:cs typeface="Times New Roman" panose="02020603050405020304" pitchFamily="18" charset="0"/>
              </a:rPr>
              <a:t> </a:t>
            </a:r>
            <a:r>
              <a:rPr lang="en-US" sz="1400" b="1" dirty="0">
                <a:cs typeface="Times New Roman" panose="02020603050405020304" pitchFamily="18" charset="0"/>
              </a:rPr>
              <a:t>Upload local model update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5BE0F1-E639-65E4-1C91-C9B2C0A503FA}"/>
              </a:ext>
            </a:extLst>
          </p:cNvPr>
          <p:cNvSpPr/>
          <p:nvPr/>
        </p:nvSpPr>
        <p:spPr>
          <a:xfrm>
            <a:off x="2742900" y="3316005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C6867D-49FE-6120-D930-8E1C84BBDE6F}"/>
              </a:ext>
            </a:extLst>
          </p:cNvPr>
          <p:cNvSpPr txBox="1"/>
          <p:nvPr/>
        </p:nvSpPr>
        <p:spPr>
          <a:xfrm>
            <a:off x="2998037" y="3305236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989D64C-8841-9C4C-FD05-272E9F8F9CFC}"/>
              </a:ext>
            </a:extLst>
          </p:cNvPr>
          <p:cNvSpPr/>
          <p:nvPr/>
        </p:nvSpPr>
        <p:spPr>
          <a:xfrm>
            <a:off x="7025651" y="3319479"/>
            <a:ext cx="1407886" cy="8767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88D560-E6C0-C21E-F562-46D9A7FA1AF9}"/>
              </a:ext>
            </a:extLst>
          </p:cNvPr>
          <p:cNvSpPr txBox="1"/>
          <p:nvPr/>
        </p:nvSpPr>
        <p:spPr>
          <a:xfrm>
            <a:off x="7256255" y="3303575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724495-A37E-E04D-83F4-DA56B3FEB81E}"/>
              </a:ext>
            </a:extLst>
          </p:cNvPr>
          <p:cNvSpPr/>
          <p:nvPr/>
        </p:nvSpPr>
        <p:spPr>
          <a:xfrm>
            <a:off x="4891658" y="3324818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E2071B-2B99-91E9-48BB-CA7D7413F00C}"/>
              </a:ext>
            </a:extLst>
          </p:cNvPr>
          <p:cNvSpPr txBox="1"/>
          <p:nvPr/>
        </p:nvSpPr>
        <p:spPr>
          <a:xfrm>
            <a:off x="5136099" y="3309783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2DE3ADE-6F2C-0E82-AB90-294761535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7131" y="3554494"/>
            <a:ext cx="360000" cy="35984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7F932BD-D925-95E5-C9CA-A67070A5AE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4" y="3554494"/>
            <a:ext cx="360000" cy="35984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1AC4A99-E965-0636-9096-DEBF8DE910EA}"/>
              </a:ext>
            </a:extLst>
          </p:cNvPr>
          <p:cNvSpPr txBox="1"/>
          <p:nvPr/>
        </p:nvSpPr>
        <p:spPr>
          <a:xfrm>
            <a:off x="5853433" y="3935079"/>
            <a:ext cx="434388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Car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78A5D73-7AEF-E506-19DA-0B7E5568A702}"/>
              </a:ext>
            </a:extLst>
          </p:cNvPr>
          <p:cNvSpPr/>
          <p:nvPr/>
        </p:nvSpPr>
        <p:spPr>
          <a:xfrm>
            <a:off x="5886858" y="3974010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E16277-48FE-B5E3-98E9-A6286AFD3F33}"/>
              </a:ext>
            </a:extLst>
          </p:cNvPr>
          <p:cNvSpPr txBox="1"/>
          <p:nvPr/>
        </p:nvSpPr>
        <p:spPr>
          <a:xfrm>
            <a:off x="4910374" y="3935079"/>
            <a:ext cx="5105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Horse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2CCCAE0-9CD4-E932-CCC7-748235CA6817}"/>
              </a:ext>
            </a:extLst>
          </p:cNvPr>
          <p:cNvSpPr/>
          <p:nvPr/>
        </p:nvSpPr>
        <p:spPr>
          <a:xfrm>
            <a:off x="4979630" y="3974010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9C0A1E-7B62-9296-2DA9-BAACFE506A68}"/>
              </a:ext>
            </a:extLst>
          </p:cNvPr>
          <p:cNvSpPr txBox="1"/>
          <p:nvPr/>
        </p:nvSpPr>
        <p:spPr>
          <a:xfrm>
            <a:off x="5414382" y="3935079"/>
            <a:ext cx="4299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Bird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01D236-81CF-52E7-E341-CA649102646F}"/>
              </a:ext>
            </a:extLst>
          </p:cNvPr>
          <p:cNvSpPr/>
          <p:nvPr/>
        </p:nvSpPr>
        <p:spPr>
          <a:xfrm>
            <a:off x="5439531" y="3974010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FC35811-11C4-136E-F99E-60E2AAA93D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0818" y="3554418"/>
            <a:ext cx="360000" cy="360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D4287C2-1AC3-9415-90D4-5C3F9029AC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8700" y="3541878"/>
            <a:ext cx="360000" cy="35984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D13C2AC-78B1-888D-CB0B-A2D0899FD8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4615" y="3541878"/>
            <a:ext cx="360000" cy="35984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EDB0020-0507-C7C1-1121-4C834CE54E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8262" y="3541878"/>
            <a:ext cx="360000" cy="35984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2B53EB1-B5D6-8AEA-2A48-DA8D3F10D49E}"/>
              </a:ext>
            </a:extLst>
          </p:cNvPr>
          <p:cNvSpPr txBox="1"/>
          <p:nvPr/>
        </p:nvSpPr>
        <p:spPr>
          <a:xfrm>
            <a:off x="3692894" y="3922463"/>
            <a:ext cx="446602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Ship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0D96417-3DD9-DB32-72C6-3EC8AB788B5F}"/>
              </a:ext>
            </a:extLst>
          </p:cNvPr>
          <p:cNvSpPr/>
          <p:nvPr/>
        </p:nvSpPr>
        <p:spPr>
          <a:xfrm>
            <a:off x="3723238" y="3961394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5AE63D-5317-3533-37B2-EF4D3210DC92}"/>
              </a:ext>
            </a:extLst>
          </p:cNvPr>
          <p:cNvSpPr txBox="1"/>
          <p:nvPr/>
        </p:nvSpPr>
        <p:spPr>
          <a:xfrm>
            <a:off x="3272794" y="3922463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502BDA-5508-D63E-FC82-6FE8ABDBDD99}"/>
              </a:ext>
            </a:extLst>
          </p:cNvPr>
          <p:cNvSpPr/>
          <p:nvPr/>
        </p:nvSpPr>
        <p:spPr>
          <a:xfrm>
            <a:off x="3277163" y="3961394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EF73AD-C98D-57B9-94D0-97460C8BC0E1}"/>
              </a:ext>
            </a:extLst>
          </p:cNvPr>
          <p:cNvSpPr txBox="1"/>
          <p:nvPr/>
        </p:nvSpPr>
        <p:spPr>
          <a:xfrm>
            <a:off x="2798586" y="3922463"/>
            <a:ext cx="4221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Dog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C3D3CD8-45FC-287C-50DD-9437EBCB41C7}"/>
              </a:ext>
            </a:extLst>
          </p:cNvPr>
          <p:cNvSpPr/>
          <p:nvPr/>
        </p:nvSpPr>
        <p:spPr>
          <a:xfrm>
            <a:off x="2823735" y="3961394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18C632C-AD74-E639-B538-0B97481EE5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3864" y="3541878"/>
            <a:ext cx="360000" cy="35984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C6655A0-6EE3-F5F8-516D-7D4E2A4B9E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7163" y="3541878"/>
            <a:ext cx="360000" cy="35984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2E871A58-A0D3-D831-401F-A07F16CE19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8008025" y="3541878"/>
            <a:ext cx="360000" cy="35984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2F310927-2159-4FBC-FF80-4F67865A4801}"/>
              </a:ext>
            </a:extLst>
          </p:cNvPr>
          <p:cNvSpPr txBox="1"/>
          <p:nvPr/>
        </p:nvSpPr>
        <p:spPr>
          <a:xfrm>
            <a:off x="7099497" y="3922463"/>
            <a:ext cx="3593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900" b="1" dirty="0"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48131C9-3DE3-4DEB-4A55-78BE4B012215}"/>
              </a:ext>
            </a:extLst>
          </p:cNvPr>
          <p:cNvSpPr/>
          <p:nvPr/>
        </p:nvSpPr>
        <p:spPr>
          <a:xfrm>
            <a:off x="7103864" y="3961394"/>
            <a:ext cx="355027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1E25C99-C8E7-BF0A-783C-F3EB38B0193F}"/>
              </a:ext>
            </a:extLst>
          </p:cNvPr>
          <p:cNvSpPr txBox="1"/>
          <p:nvPr/>
        </p:nvSpPr>
        <p:spPr>
          <a:xfrm>
            <a:off x="7486395" y="3922463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Plane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D229C8F-D1A6-B6D6-C4CE-8BBB535B41B5}"/>
              </a:ext>
            </a:extLst>
          </p:cNvPr>
          <p:cNvSpPr/>
          <p:nvPr/>
        </p:nvSpPr>
        <p:spPr>
          <a:xfrm>
            <a:off x="7563136" y="3961394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342B651-6E25-B6DB-F6A7-101E77910FFE}"/>
              </a:ext>
            </a:extLst>
          </p:cNvPr>
          <p:cNvSpPr txBox="1"/>
          <p:nvPr/>
        </p:nvSpPr>
        <p:spPr>
          <a:xfrm>
            <a:off x="7935315" y="3922463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Truck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6161EA8-1DE1-6B23-8302-FCA6F5A9EE7F}"/>
              </a:ext>
            </a:extLst>
          </p:cNvPr>
          <p:cNvSpPr/>
          <p:nvPr/>
        </p:nvSpPr>
        <p:spPr>
          <a:xfrm>
            <a:off x="8012056" y="3961394"/>
            <a:ext cx="355969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Graphic 110" descr="Laptop with solid fill">
            <a:extLst>
              <a:ext uri="{FF2B5EF4-FFF2-40B4-BE49-F238E27FC236}">
                <a16:creationId xmlns:a16="http://schemas.microsoft.com/office/drawing/2014/main" id="{B21EA407-7CEA-3544-5CF5-01F5D101E1F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10733" y="3460818"/>
            <a:ext cx="547200" cy="547200"/>
          </a:xfrm>
          <a:prstGeom prst="rect">
            <a:avLst/>
          </a:prstGeom>
        </p:spPr>
      </p:pic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A94966B-B1D4-76A5-653F-A6C4EBD57B25}"/>
              </a:ext>
            </a:extLst>
          </p:cNvPr>
          <p:cNvCxnSpPr>
            <a:cxnSpLocks/>
          </p:cNvCxnSpPr>
          <p:nvPr/>
        </p:nvCxnSpPr>
        <p:spPr>
          <a:xfrm>
            <a:off x="8562020" y="4478608"/>
            <a:ext cx="482392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49F41289-BBD4-601D-60A2-557589253EAA}"/>
              </a:ext>
            </a:extLst>
          </p:cNvPr>
          <p:cNvSpPr txBox="1"/>
          <p:nvPr/>
        </p:nvSpPr>
        <p:spPr>
          <a:xfrm>
            <a:off x="8562020" y="4134911"/>
            <a:ext cx="423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Sell</a:t>
            </a:r>
          </a:p>
        </p:txBody>
      </p:sp>
      <p:pic>
        <p:nvPicPr>
          <p:cNvPr id="142" name="Graphic 141" descr="Devil face outline with solid fill">
            <a:extLst>
              <a:ext uri="{FF2B5EF4-FFF2-40B4-BE49-F238E27FC236}">
                <a16:creationId xmlns:a16="http://schemas.microsoft.com/office/drawing/2014/main" id="{5B0F745E-FEBC-C851-465A-70B5F2FBAA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058" y="2879215"/>
            <a:ext cx="346840" cy="346695"/>
          </a:xfrm>
          <a:prstGeom prst="rect">
            <a:avLst/>
          </a:prstGeom>
        </p:spPr>
      </p:pic>
      <p:pic>
        <p:nvPicPr>
          <p:cNvPr id="143" name="Picture 142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B6290F15-BD39-B6C0-D3CA-F1E98576C14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8763" y="3715232"/>
            <a:ext cx="517555" cy="517555"/>
          </a:xfrm>
          <a:prstGeom prst="rect">
            <a:avLst/>
          </a:prstGeom>
        </p:spPr>
      </p:pic>
      <p:pic>
        <p:nvPicPr>
          <p:cNvPr id="144" name="Picture 143" descr="A yellow network with circles and lines&#10;&#10;Description automatically generated with medium confidence">
            <a:extLst>
              <a:ext uri="{FF2B5EF4-FFF2-40B4-BE49-F238E27FC236}">
                <a16:creationId xmlns:a16="http://schemas.microsoft.com/office/drawing/2014/main" id="{5BD20C1A-E204-265C-293A-B520D41FDF0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2454" y="4282545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396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 descr="A yellow network with circles and lines&#10;&#10;Description automatically generated with medium confidence">
            <a:extLst>
              <a:ext uri="{FF2B5EF4-FFF2-40B4-BE49-F238E27FC236}">
                <a16:creationId xmlns:a16="http://schemas.microsoft.com/office/drawing/2014/main" id="{1CBFF997-A158-E296-91C8-323442F55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118" y="3181922"/>
            <a:ext cx="396000" cy="396000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0"/>
            <a:ext cx="1075766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Mitigating Model Stealing Attack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13148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Model watermarking </a:t>
            </a:r>
            <a:r>
              <a:rPr lang="en-US" dirty="0">
                <a:latin typeface="+mn-lt"/>
              </a:rPr>
              <a:t>is an effective technique to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mitigate</a:t>
            </a:r>
            <a:r>
              <a:rPr lang="en-US" dirty="0">
                <a:latin typeface="+mn-lt"/>
              </a:rPr>
              <a:t> model stealing attacks by embedding identifiable </a:t>
            </a:r>
            <a:r>
              <a:rPr lang="en-US" b="1" dirty="0">
                <a:latin typeface="+mn-lt"/>
              </a:rPr>
              <a:t>watermarks</a:t>
            </a:r>
            <a:r>
              <a:rPr lang="en-US" dirty="0">
                <a:latin typeface="+mn-lt"/>
              </a:rPr>
              <a:t> into the global model.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E128C0CF-F081-4772-2F5A-C97B069DDC75}"/>
              </a:ext>
            </a:extLst>
          </p:cNvPr>
          <p:cNvSpPr/>
          <p:nvPr/>
        </p:nvSpPr>
        <p:spPr>
          <a:xfrm rot="16200000">
            <a:off x="4408419" y="4898797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372EDCB-6479-8739-F304-ECE279B46D77}"/>
              </a:ext>
            </a:extLst>
          </p:cNvPr>
          <p:cNvSpPr/>
          <p:nvPr/>
        </p:nvSpPr>
        <p:spPr>
          <a:xfrm rot="5400000">
            <a:off x="4612765" y="4898797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54ABD0-CD74-1B8F-BC08-455A780B3B37}"/>
              </a:ext>
            </a:extLst>
          </p:cNvPr>
          <p:cNvSpPr/>
          <p:nvPr/>
        </p:nvSpPr>
        <p:spPr>
          <a:xfrm>
            <a:off x="403525" y="2416932"/>
            <a:ext cx="7934876" cy="2235283"/>
          </a:xfrm>
          <a:custGeom>
            <a:avLst/>
            <a:gdLst>
              <a:gd name="connsiteX0" fmla="*/ 0 w 7934876"/>
              <a:gd name="connsiteY0" fmla="*/ 0 h 2235283"/>
              <a:gd name="connsiteX1" fmla="*/ 581891 w 7934876"/>
              <a:gd name="connsiteY1" fmla="*/ 0 h 2235283"/>
              <a:gd name="connsiteX2" fmla="*/ 1005084 w 7934876"/>
              <a:gd name="connsiteY2" fmla="*/ 0 h 2235283"/>
              <a:gd name="connsiteX3" fmla="*/ 1825021 w 7934876"/>
              <a:gd name="connsiteY3" fmla="*/ 0 h 2235283"/>
              <a:gd name="connsiteX4" fmla="*/ 2406912 w 7934876"/>
              <a:gd name="connsiteY4" fmla="*/ 0 h 2235283"/>
              <a:gd name="connsiteX5" fmla="*/ 2988803 w 7934876"/>
              <a:gd name="connsiteY5" fmla="*/ 0 h 2235283"/>
              <a:gd name="connsiteX6" fmla="*/ 3808740 w 7934876"/>
              <a:gd name="connsiteY6" fmla="*/ 0 h 2235283"/>
              <a:gd name="connsiteX7" fmla="*/ 4311283 w 7934876"/>
              <a:gd name="connsiteY7" fmla="*/ 0 h 2235283"/>
              <a:gd name="connsiteX8" fmla="*/ 5131220 w 7934876"/>
              <a:gd name="connsiteY8" fmla="*/ 0 h 2235283"/>
              <a:gd name="connsiteX9" fmla="*/ 5951157 w 7934876"/>
              <a:gd name="connsiteY9" fmla="*/ 0 h 2235283"/>
              <a:gd name="connsiteX10" fmla="*/ 6612397 w 7934876"/>
              <a:gd name="connsiteY10" fmla="*/ 0 h 2235283"/>
              <a:gd name="connsiteX11" fmla="*/ 7934876 w 7934876"/>
              <a:gd name="connsiteY11" fmla="*/ 0 h 2235283"/>
              <a:gd name="connsiteX12" fmla="*/ 7934876 w 7934876"/>
              <a:gd name="connsiteY12" fmla="*/ 536468 h 2235283"/>
              <a:gd name="connsiteX13" fmla="*/ 7934876 w 7934876"/>
              <a:gd name="connsiteY13" fmla="*/ 1028230 h 2235283"/>
              <a:gd name="connsiteX14" fmla="*/ 7934876 w 7934876"/>
              <a:gd name="connsiteY14" fmla="*/ 1587051 h 2235283"/>
              <a:gd name="connsiteX15" fmla="*/ 7934876 w 7934876"/>
              <a:gd name="connsiteY15" fmla="*/ 2235283 h 2235283"/>
              <a:gd name="connsiteX16" fmla="*/ 7273636 w 7934876"/>
              <a:gd name="connsiteY16" fmla="*/ 2235283 h 2235283"/>
              <a:gd name="connsiteX17" fmla="*/ 6453699 w 7934876"/>
              <a:gd name="connsiteY17" fmla="*/ 2235283 h 2235283"/>
              <a:gd name="connsiteX18" fmla="*/ 5792459 w 7934876"/>
              <a:gd name="connsiteY18" fmla="*/ 2235283 h 2235283"/>
              <a:gd name="connsiteX19" fmla="*/ 5369266 w 7934876"/>
              <a:gd name="connsiteY19" fmla="*/ 2235283 h 2235283"/>
              <a:gd name="connsiteX20" fmla="*/ 4866724 w 7934876"/>
              <a:gd name="connsiteY20" fmla="*/ 2235283 h 2235283"/>
              <a:gd name="connsiteX21" fmla="*/ 4046787 w 7934876"/>
              <a:gd name="connsiteY21" fmla="*/ 2235283 h 2235283"/>
              <a:gd name="connsiteX22" fmla="*/ 3385547 w 7934876"/>
              <a:gd name="connsiteY22" fmla="*/ 2235283 h 2235283"/>
              <a:gd name="connsiteX23" fmla="*/ 2883005 w 7934876"/>
              <a:gd name="connsiteY23" fmla="*/ 2235283 h 2235283"/>
              <a:gd name="connsiteX24" fmla="*/ 2221765 w 7934876"/>
              <a:gd name="connsiteY24" fmla="*/ 2235283 h 2235283"/>
              <a:gd name="connsiteX25" fmla="*/ 1798572 w 7934876"/>
              <a:gd name="connsiteY25" fmla="*/ 2235283 h 2235283"/>
              <a:gd name="connsiteX26" fmla="*/ 1375379 w 7934876"/>
              <a:gd name="connsiteY26" fmla="*/ 2235283 h 2235283"/>
              <a:gd name="connsiteX27" fmla="*/ 714139 w 7934876"/>
              <a:gd name="connsiteY27" fmla="*/ 2235283 h 2235283"/>
              <a:gd name="connsiteX28" fmla="*/ 0 w 7934876"/>
              <a:gd name="connsiteY28" fmla="*/ 2235283 h 2235283"/>
              <a:gd name="connsiteX29" fmla="*/ 0 w 7934876"/>
              <a:gd name="connsiteY29" fmla="*/ 1654109 h 2235283"/>
              <a:gd name="connsiteX30" fmla="*/ 0 w 7934876"/>
              <a:gd name="connsiteY30" fmla="*/ 1117642 h 2235283"/>
              <a:gd name="connsiteX31" fmla="*/ 0 w 7934876"/>
              <a:gd name="connsiteY31" fmla="*/ 625879 h 2235283"/>
              <a:gd name="connsiteX32" fmla="*/ 0 w 7934876"/>
              <a:gd name="connsiteY32" fmla="*/ 0 h 2235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934876" h="2235283" extrusionOk="0">
                <a:moveTo>
                  <a:pt x="0" y="0"/>
                </a:moveTo>
                <a:cubicBezTo>
                  <a:pt x="225383" y="22305"/>
                  <a:pt x="388817" y="-20230"/>
                  <a:pt x="581891" y="0"/>
                </a:cubicBezTo>
                <a:cubicBezTo>
                  <a:pt x="774965" y="20230"/>
                  <a:pt x="896203" y="19878"/>
                  <a:pt x="1005084" y="0"/>
                </a:cubicBezTo>
                <a:cubicBezTo>
                  <a:pt x="1113965" y="-19878"/>
                  <a:pt x="1629826" y="-29724"/>
                  <a:pt x="1825021" y="0"/>
                </a:cubicBezTo>
                <a:cubicBezTo>
                  <a:pt x="2020216" y="29724"/>
                  <a:pt x="2149268" y="12113"/>
                  <a:pt x="2406912" y="0"/>
                </a:cubicBezTo>
                <a:cubicBezTo>
                  <a:pt x="2664556" y="-12113"/>
                  <a:pt x="2850823" y="23528"/>
                  <a:pt x="2988803" y="0"/>
                </a:cubicBezTo>
                <a:cubicBezTo>
                  <a:pt x="3126783" y="-23528"/>
                  <a:pt x="3565776" y="11129"/>
                  <a:pt x="3808740" y="0"/>
                </a:cubicBezTo>
                <a:cubicBezTo>
                  <a:pt x="4051704" y="-11129"/>
                  <a:pt x="4100103" y="-21581"/>
                  <a:pt x="4311283" y="0"/>
                </a:cubicBezTo>
                <a:cubicBezTo>
                  <a:pt x="4522463" y="21581"/>
                  <a:pt x="4891064" y="12094"/>
                  <a:pt x="5131220" y="0"/>
                </a:cubicBezTo>
                <a:cubicBezTo>
                  <a:pt x="5371376" y="-12094"/>
                  <a:pt x="5574463" y="-21526"/>
                  <a:pt x="5951157" y="0"/>
                </a:cubicBezTo>
                <a:cubicBezTo>
                  <a:pt x="6327851" y="21526"/>
                  <a:pt x="6308849" y="-17741"/>
                  <a:pt x="6612397" y="0"/>
                </a:cubicBezTo>
                <a:cubicBezTo>
                  <a:pt x="6915945" y="17741"/>
                  <a:pt x="7512996" y="-61800"/>
                  <a:pt x="7934876" y="0"/>
                </a:cubicBezTo>
                <a:cubicBezTo>
                  <a:pt x="7947673" y="157723"/>
                  <a:pt x="7958028" y="306798"/>
                  <a:pt x="7934876" y="536468"/>
                </a:cubicBezTo>
                <a:cubicBezTo>
                  <a:pt x="7911724" y="766138"/>
                  <a:pt x="7937525" y="926711"/>
                  <a:pt x="7934876" y="1028230"/>
                </a:cubicBezTo>
                <a:cubicBezTo>
                  <a:pt x="7932227" y="1129749"/>
                  <a:pt x="7920553" y="1462475"/>
                  <a:pt x="7934876" y="1587051"/>
                </a:cubicBezTo>
                <a:cubicBezTo>
                  <a:pt x="7949199" y="1711627"/>
                  <a:pt x="7944743" y="1978429"/>
                  <a:pt x="7934876" y="2235283"/>
                </a:cubicBezTo>
                <a:cubicBezTo>
                  <a:pt x="7700652" y="2241806"/>
                  <a:pt x="7418244" y="2247762"/>
                  <a:pt x="7273636" y="2235283"/>
                </a:cubicBezTo>
                <a:cubicBezTo>
                  <a:pt x="7129028" y="2222804"/>
                  <a:pt x="6858982" y="2271566"/>
                  <a:pt x="6453699" y="2235283"/>
                </a:cubicBezTo>
                <a:cubicBezTo>
                  <a:pt x="6048416" y="2199000"/>
                  <a:pt x="5954557" y="2260015"/>
                  <a:pt x="5792459" y="2235283"/>
                </a:cubicBezTo>
                <a:cubicBezTo>
                  <a:pt x="5630361" y="2210551"/>
                  <a:pt x="5490224" y="2243952"/>
                  <a:pt x="5369266" y="2235283"/>
                </a:cubicBezTo>
                <a:cubicBezTo>
                  <a:pt x="5248308" y="2226614"/>
                  <a:pt x="4982228" y="2236754"/>
                  <a:pt x="4866724" y="2235283"/>
                </a:cubicBezTo>
                <a:cubicBezTo>
                  <a:pt x="4751220" y="2233812"/>
                  <a:pt x="4332511" y="2222250"/>
                  <a:pt x="4046787" y="2235283"/>
                </a:cubicBezTo>
                <a:cubicBezTo>
                  <a:pt x="3761063" y="2248316"/>
                  <a:pt x="3606046" y="2221434"/>
                  <a:pt x="3385547" y="2235283"/>
                </a:cubicBezTo>
                <a:cubicBezTo>
                  <a:pt x="3165048" y="2249132"/>
                  <a:pt x="3022449" y="2218046"/>
                  <a:pt x="2883005" y="2235283"/>
                </a:cubicBezTo>
                <a:cubicBezTo>
                  <a:pt x="2743561" y="2252520"/>
                  <a:pt x="2442240" y="2226083"/>
                  <a:pt x="2221765" y="2235283"/>
                </a:cubicBezTo>
                <a:cubicBezTo>
                  <a:pt x="2001290" y="2244483"/>
                  <a:pt x="1967356" y="2240008"/>
                  <a:pt x="1798572" y="2235283"/>
                </a:cubicBezTo>
                <a:cubicBezTo>
                  <a:pt x="1629788" y="2230558"/>
                  <a:pt x="1481136" y="2236922"/>
                  <a:pt x="1375379" y="2235283"/>
                </a:cubicBezTo>
                <a:cubicBezTo>
                  <a:pt x="1269622" y="2233644"/>
                  <a:pt x="944804" y="2228517"/>
                  <a:pt x="714139" y="2235283"/>
                </a:cubicBezTo>
                <a:cubicBezTo>
                  <a:pt x="483474" y="2242049"/>
                  <a:pt x="286362" y="2215650"/>
                  <a:pt x="0" y="2235283"/>
                </a:cubicBezTo>
                <a:cubicBezTo>
                  <a:pt x="5020" y="2055001"/>
                  <a:pt x="11066" y="1868731"/>
                  <a:pt x="0" y="1654109"/>
                </a:cubicBezTo>
                <a:cubicBezTo>
                  <a:pt x="-11066" y="1439487"/>
                  <a:pt x="746" y="1240026"/>
                  <a:pt x="0" y="1117642"/>
                </a:cubicBezTo>
                <a:cubicBezTo>
                  <a:pt x="-746" y="995258"/>
                  <a:pt x="14391" y="839490"/>
                  <a:pt x="0" y="625879"/>
                </a:cubicBezTo>
                <a:cubicBezTo>
                  <a:pt x="-14391" y="412268"/>
                  <a:pt x="29180" y="256057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08AC11-D4B5-8E5F-904B-7635C9E7CCF8}"/>
              </a:ext>
            </a:extLst>
          </p:cNvPr>
          <p:cNvSpPr/>
          <p:nvPr/>
        </p:nvSpPr>
        <p:spPr>
          <a:xfrm>
            <a:off x="5505147" y="3017171"/>
            <a:ext cx="1742324" cy="15475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A12A60-ECF8-A776-EBC4-33F0971507C7}"/>
              </a:ext>
            </a:extLst>
          </p:cNvPr>
          <p:cNvSpPr/>
          <p:nvPr/>
        </p:nvSpPr>
        <p:spPr>
          <a:xfrm>
            <a:off x="3386095" y="3012615"/>
            <a:ext cx="1728248" cy="15521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AFB76-9915-B602-618A-64556EC1967A}"/>
              </a:ext>
            </a:extLst>
          </p:cNvPr>
          <p:cNvSpPr txBox="1"/>
          <p:nvPr/>
        </p:nvSpPr>
        <p:spPr>
          <a:xfrm>
            <a:off x="1160091" y="2416932"/>
            <a:ext cx="1370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04D06-2B5B-FA96-A28F-732272CACE8F}"/>
              </a:ext>
            </a:extLst>
          </p:cNvPr>
          <p:cNvSpPr txBox="1"/>
          <p:nvPr/>
        </p:nvSpPr>
        <p:spPr>
          <a:xfrm>
            <a:off x="5759412" y="2740170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Malicious client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17E4A-7327-0035-12F8-46AB6465A3C6}"/>
              </a:ext>
            </a:extLst>
          </p:cNvPr>
          <p:cNvSpPr txBox="1"/>
          <p:nvPr/>
        </p:nvSpPr>
        <p:spPr>
          <a:xfrm>
            <a:off x="2949886" y="347844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C540C-7198-2003-1D26-A1A3D1E8541F}"/>
              </a:ext>
            </a:extLst>
          </p:cNvPr>
          <p:cNvSpPr txBox="1"/>
          <p:nvPr/>
        </p:nvSpPr>
        <p:spPr>
          <a:xfrm>
            <a:off x="5083536" y="3466987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E55AD16A-ED69-8E8B-0B78-2F6286D2EB46}"/>
              </a:ext>
            </a:extLst>
          </p:cNvPr>
          <p:cNvSpPr txBox="1"/>
          <p:nvPr/>
        </p:nvSpPr>
        <p:spPr>
          <a:xfrm>
            <a:off x="369019" y="3705501"/>
            <a:ext cx="72240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Clients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A8ABD1-B369-7B8E-D2A5-406CD0060416}"/>
              </a:ext>
            </a:extLst>
          </p:cNvPr>
          <p:cNvCxnSpPr>
            <a:cxnSpLocks/>
          </p:cNvCxnSpPr>
          <p:nvPr/>
        </p:nvCxnSpPr>
        <p:spPr>
          <a:xfrm flipH="1">
            <a:off x="1052274" y="2480432"/>
            <a:ext cx="4022" cy="2199414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191FA6E-67BE-3BC1-9664-97FF3639E970}"/>
              </a:ext>
            </a:extLst>
          </p:cNvPr>
          <p:cNvSpPr/>
          <p:nvPr/>
        </p:nvSpPr>
        <p:spPr>
          <a:xfrm>
            <a:off x="1231782" y="3017171"/>
            <a:ext cx="1737732" cy="1547575"/>
          </a:xfrm>
          <a:prstGeom prst="roundRect">
            <a:avLst/>
          </a:prstGeom>
          <a:solidFill>
            <a:srgbClr val="70AD47">
              <a:lumMod val="20000"/>
              <a:lumOff val="80000"/>
            </a:srgb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C7D6A-5002-0E4A-FE30-0ED78FB8E9EC}"/>
              </a:ext>
            </a:extLst>
          </p:cNvPr>
          <p:cNvSpPr txBox="1"/>
          <p:nvPr/>
        </p:nvSpPr>
        <p:spPr>
          <a:xfrm>
            <a:off x="1661647" y="2741326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FE84DDA-CB4F-B73F-2489-C071253EE9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2967" y="4113109"/>
            <a:ext cx="396166" cy="396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154874-5D0C-0443-3AB6-70E8B5F9A3CB}"/>
              </a:ext>
            </a:extLst>
          </p:cNvPr>
          <p:cNvSpPr txBox="1"/>
          <p:nvPr/>
        </p:nvSpPr>
        <p:spPr>
          <a:xfrm>
            <a:off x="1282119" y="4110455"/>
            <a:ext cx="76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2C985C-ECFE-88D1-052D-A3E78A910370}"/>
              </a:ext>
            </a:extLst>
          </p:cNvPr>
          <p:cNvSpPr txBox="1"/>
          <p:nvPr/>
        </p:nvSpPr>
        <p:spPr>
          <a:xfrm>
            <a:off x="3476400" y="4080985"/>
            <a:ext cx="835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38DE812-176D-8A26-3781-DCCE29E1D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0658" y="4104540"/>
            <a:ext cx="396166" cy="396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8CA9869-810E-4578-692E-7B3CB8BFBB53}"/>
              </a:ext>
            </a:extLst>
          </p:cNvPr>
          <p:cNvSpPr txBox="1"/>
          <p:nvPr/>
        </p:nvSpPr>
        <p:spPr>
          <a:xfrm>
            <a:off x="5559810" y="4101886"/>
            <a:ext cx="1020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362321-E2F0-1B91-C388-2A617F279BA4}"/>
              </a:ext>
            </a:extLst>
          </p:cNvPr>
          <p:cNvSpPr txBox="1"/>
          <p:nvPr/>
        </p:nvSpPr>
        <p:spPr>
          <a:xfrm>
            <a:off x="3776309" y="2740171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349FDAD-CF24-92E8-83BC-908304669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9031" y="4113109"/>
            <a:ext cx="396166" cy="396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1EEED0C-B8C0-696C-8E39-58DDAD2AA232}"/>
              </a:ext>
            </a:extLst>
          </p:cNvPr>
          <p:cNvSpPr/>
          <p:nvPr/>
        </p:nvSpPr>
        <p:spPr>
          <a:xfrm>
            <a:off x="1011179" y="5239152"/>
            <a:ext cx="6876182" cy="911496"/>
          </a:xfrm>
          <a:custGeom>
            <a:avLst/>
            <a:gdLst>
              <a:gd name="connsiteX0" fmla="*/ 0 w 6876182"/>
              <a:gd name="connsiteY0" fmla="*/ 0 h 911496"/>
              <a:gd name="connsiteX1" fmla="*/ 504253 w 6876182"/>
              <a:gd name="connsiteY1" fmla="*/ 0 h 911496"/>
              <a:gd name="connsiteX2" fmla="*/ 870983 w 6876182"/>
              <a:gd name="connsiteY2" fmla="*/ 0 h 911496"/>
              <a:gd name="connsiteX3" fmla="*/ 1581522 w 6876182"/>
              <a:gd name="connsiteY3" fmla="*/ 0 h 911496"/>
              <a:gd name="connsiteX4" fmla="*/ 2085775 w 6876182"/>
              <a:gd name="connsiteY4" fmla="*/ 0 h 911496"/>
              <a:gd name="connsiteX5" fmla="*/ 2590029 w 6876182"/>
              <a:gd name="connsiteY5" fmla="*/ 0 h 911496"/>
              <a:gd name="connsiteX6" fmla="*/ 3300567 w 6876182"/>
              <a:gd name="connsiteY6" fmla="*/ 0 h 911496"/>
              <a:gd name="connsiteX7" fmla="*/ 3736059 w 6876182"/>
              <a:gd name="connsiteY7" fmla="*/ 0 h 911496"/>
              <a:gd name="connsiteX8" fmla="*/ 4446598 w 6876182"/>
              <a:gd name="connsiteY8" fmla="*/ 0 h 911496"/>
              <a:gd name="connsiteX9" fmla="*/ 5157137 w 6876182"/>
              <a:gd name="connsiteY9" fmla="*/ 0 h 911496"/>
              <a:gd name="connsiteX10" fmla="*/ 5730152 w 6876182"/>
              <a:gd name="connsiteY10" fmla="*/ 0 h 911496"/>
              <a:gd name="connsiteX11" fmla="*/ 6876182 w 6876182"/>
              <a:gd name="connsiteY11" fmla="*/ 0 h 911496"/>
              <a:gd name="connsiteX12" fmla="*/ 6876182 w 6876182"/>
              <a:gd name="connsiteY12" fmla="*/ 446633 h 911496"/>
              <a:gd name="connsiteX13" fmla="*/ 6876182 w 6876182"/>
              <a:gd name="connsiteY13" fmla="*/ 911496 h 911496"/>
              <a:gd name="connsiteX14" fmla="*/ 6303167 w 6876182"/>
              <a:gd name="connsiteY14" fmla="*/ 911496 h 911496"/>
              <a:gd name="connsiteX15" fmla="*/ 5867675 w 6876182"/>
              <a:gd name="connsiteY15" fmla="*/ 911496 h 911496"/>
              <a:gd name="connsiteX16" fmla="*/ 5294660 w 6876182"/>
              <a:gd name="connsiteY16" fmla="*/ 911496 h 911496"/>
              <a:gd name="connsiteX17" fmla="*/ 4584121 w 6876182"/>
              <a:gd name="connsiteY17" fmla="*/ 911496 h 911496"/>
              <a:gd name="connsiteX18" fmla="*/ 4011106 w 6876182"/>
              <a:gd name="connsiteY18" fmla="*/ 911496 h 911496"/>
              <a:gd name="connsiteX19" fmla="*/ 3644376 w 6876182"/>
              <a:gd name="connsiteY19" fmla="*/ 911496 h 911496"/>
              <a:gd name="connsiteX20" fmla="*/ 3208885 w 6876182"/>
              <a:gd name="connsiteY20" fmla="*/ 911496 h 911496"/>
              <a:gd name="connsiteX21" fmla="*/ 2498346 w 6876182"/>
              <a:gd name="connsiteY21" fmla="*/ 911496 h 911496"/>
              <a:gd name="connsiteX22" fmla="*/ 1925331 w 6876182"/>
              <a:gd name="connsiteY22" fmla="*/ 911496 h 911496"/>
              <a:gd name="connsiteX23" fmla="*/ 1489839 w 6876182"/>
              <a:gd name="connsiteY23" fmla="*/ 911496 h 911496"/>
              <a:gd name="connsiteX24" fmla="*/ 916824 w 6876182"/>
              <a:gd name="connsiteY24" fmla="*/ 911496 h 911496"/>
              <a:gd name="connsiteX25" fmla="*/ 550095 w 6876182"/>
              <a:gd name="connsiteY25" fmla="*/ 911496 h 911496"/>
              <a:gd name="connsiteX26" fmla="*/ 0 w 6876182"/>
              <a:gd name="connsiteY26" fmla="*/ 911496 h 911496"/>
              <a:gd name="connsiteX27" fmla="*/ 0 w 6876182"/>
              <a:gd name="connsiteY27" fmla="*/ 455748 h 911496"/>
              <a:gd name="connsiteX28" fmla="*/ 0 w 6876182"/>
              <a:gd name="connsiteY28" fmla="*/ 0 h 9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876182" h="911496" extrusionOk="0">
                <a:moveTo>
                  <a:pt x="0" y="0"/>
                </a:moveTo>
                <a:cubicBezTo>
                  <a:pt x="117624" y="-4011"/>
                  <a:pt x="389139" y="411"/>
                  <a:pt x="504253" y="0"/>
                </a:cubicBezTo>
                <a:cubicBezTo>
                  <a:pt x="619367" y="-411"/>
                  <a:pt x="739301" y="23183"/>
                  <a:pt x="870983" y="0"/>
                </a:cubicBezTo>
                <a:cubicBezTo>
                  <a:pt x="1002665" y="-23183"/>
                  <a:pt x="1433467" y="61922"/>
                  <a:pt x="1581522" y="0"/>
                </a:cubicBezTo>
                <a:cubicBezTo>
                  <a:pt x="1729577" y="-61922"/>
                  <a:pt x="1898869" y="39990"/>
                  <a:pt x="2085775" y="0"/>
                </a:cubicBezTo>
                <a:cubicBezTo>
                  <a:pt x="2272681" y="-39990"/>
                  <a:pt x="2443045" y="39500"/>
                  <a:pt x="2590029" y="0"/>
                </a:cubicBezTo>
                <a:cubicBezTo>
                  <a:pt x="2737013" y="-39500"/>
                  <a:pt x="2946989" y="81788"/>
                  <a:pt x="3300567" y="0"/>
                </a:cubicBezTo>
                <a:cubicBezTo>
                  <a:pt x="3654145" y="-81788"/>
                  <a:pt x="3551104" y="2559"/>
                  <a:pt x="3736059" y="0"/>
                </a:cubicBezTo>
                <a:cubicBezTo>
                  <a:pt x="3921014" y="-2559"/>
                  <a:pt x="4255638" y="17566"/>
                  <a:pt x="4446598" y="0"/>
                </a:cubicBezTo>
                <a:cubicBezTo>
                  <a:pt x="4637558" y="-17566"/>
                  <a:pt x="4920391" y="2463"/>
                  <a:pt x="5157137" y="0"/>
                </a:cubicBezTo>
                <a:cubicBezTo>
                  <a:pt x="5393883" y="-2463"/>
                  <a:pt x="5557849" y="11848"/>
                  <a:pt x="5730152" y="0"/>
                </a:cubicBezTo>
                <a:cubicBezTo>
                  <a:pt x="5902455" y="-11848"/>
                  <a:pt x="6410270" y="89675"/>
                  <a:pt x="6876182" y="0"/>
                </a:cubicBezTo>
                <a:cubicBezTo>
                  <a:pt x="6917535" y="219246"/>
                  <a:pt x="6827501" y="318797"/>
                  <a:pt x="6876182" y="446633"/>
                </a:cubicBezTo>
                <a:cubicBezTo>
                  <a:pt x="6924863" y="574469"/>
                  <a:pt x="6871130" y="769738"/>
                  <a:pt x="6876182" y="911496"/>
                </a:cubicBezTo>
                <a:cubicBezTo>
                  <a:pt x="6608094" y="964608"/>
                  <a:pt x="6453253" y="858111"/>
                  <a:pt x="6303167" y="911496"/>
                </a:cubicBezTo>
                <a:cubicBezTo>
                  <a:pt x="6153081" y="964881"/>
                  <a:pt x="6024523" y="869581"/>
                  <a:pt x="5867675" y="911496"/>
                </a:cubicBezTo>
                <a:cubicBezTo>
                  <a:pt x="5710827" y="953411"/>
                  <a:pt x="5488344" y="868854"/>
                  <a:pt x="5294660" y="911496"/>
                </a:cubicBezTo>
                <a:cubicBezTo>
                  <a:pt x="5100977" y="954138"/>
                  <a:pt x="4896328" y="832133"/>
                  <a:pt x="4584121" y="911496"/>
                </a:cubicBezTo>
                <a:cubicBezTo>
                  <a:pt x="4271914" y="990859"/>
                  <a:pt x="4280209" y="858263"/>
                  <a:pt x="4011106" y="911496"/>
                </a:cubicBezTo>
                <a:cubicBezTo>
                  <a:pt x="3742004" y="964729"/>
                  <a:pt x="3740845" y="876995"/>
                  <a:pt x="3644376" y="911496"/>
                </a:cubicBezTo>
                <a:cubicBezTo>
                  <a:pt x="3547907" y="945997"/>
                  <a:pt x="3313396" y="901700"/>
                  <a:pt x="3208885" y="911496"/>
                </a:cubicBezTo>
                <a:cubicBezTo>
                  <a:pt x="3104374" y="921292"/>
                  <a:pt x="2804341" y="909093"/>
                  <a:pt x="2498346" y="911496"/>
                </a:cubicBezTo>
                <a:cubicBezTo>
                  <a:pt x="2192351" y="913899"/>
                  <a:pt x="2143502" y="898121"/>
                  <a:pt x="1925331" y="911496"/>
                </a:cubicBezTo>
                <a:cubicBezTo>
                  <a:pt x="1707161" y="924871"/>
                  <a:pt x="1586465" y="909504"/>
                  <a:pt x="1489839" y="911496"/>
                </a:cubicBezTo>
                <a:cubicBezTo>
                  <a:pt x="1393213" y="913488"/>
                  <a:pt x="1078473" y="903691"/>
                  <a:pt x="916824" y="911496"/>
                </a:cubicBezTo>
                <a:cubicBezTo>
                  <a:pt x="755176" y="919301"/>
                  <a:pt x="724594" y="899823"/>
                  <a:pt x="550095" y="911496"/>
                </a:cubicBezTo>
                <a:cubicBezTo>
                  <a:pt x="375596" y="923169"/>
                  <a:pt x="214471" y="906164"/>
                  <a:pt x="0" y="911496"/>
                </a:cubicBezTo>
                <a:cubicBezTo>
                  <a:pt x="-24817" y="791101"/>
                  <a:pt x="15699" y="596767"/>
                  <a:pt x="0" y="455748"/>
                </a:cubicBezTo>
                <a:cubicBezTo>
                  <a:pt x="-15699" y="314729"/>
                  <a:pt x="10885" y="162159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Graphic 25" descr="Server with solid fill">
            <a:extLst>
              <a:ext uri="{FF2B5EF4-FFF2-40B4-BE49-F238E27FC236}">
                <a16:creationId xmlns:a16="http://schemas.microsoft.com/office/drawing/2014/main" id="{F8FF9908-3744-8629-FAF9-BFC3084B47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8969" y="5362891"/>
            <a:ext cx="545563" cy="5455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CC06155-D630-F61C-6400-B386FBD40B7D}"/>
              </a:ext>
            </a:extLst>
          </p:cNvPr>
          <p:cNvSpPr txBox="1"/>
          <p:nvPr/>
        </p:nvSpPr>
        <p:spPr>
          <a:xfrm>
            <a:off x="1061366" y="5842871"/>
            <a:ext cx="666937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Server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3DB75C-3598-45E6-2C02-02C28A4A780C}"/>
              </a:ext>
            </a:extLst>
          </p:cNvPr>
          <p:cNvCxnSpPr>
            <a:cxnSpLocks/>
          </p:cNvCxnSpPr>
          <p:nvPr/>
        </p:nvCxnSpPr>
        <p:spPr>
          <a:xfrm>
            <a:off x="1725856" y="5291931"/>
            <a:ext cx="0" cy="82800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8EB293D-E481-3136-3D89-139BC6E306EF}"/>
              </a:ext>
            </a:extLst>
          </p:cNvPr>
          <p:cNvSpPr txBox="1"/>
          <p:nvPr/>
        </p:nvSpPr>
        <p:spPr>
          <a:xfrm>
            <a:off x="1797074" y="5262335"/>
            <a:ext cx="2244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Server-side Aggregation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43CF73-FFED-BC49-CEC2-55387D0BDFB3}"/>
              </a:ext>
            </a:extLst>
          </p:cNvPr>
          <p:cNvSpPr txBox="1"/>
          <p:nvPr/>
        </p:nvSpPr>
        <p:spPr>
          <a:xfrm>
            <a:off x="3548358" y="5509901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3AAB23-25CE-AB20-2313-F4EF219D16E9}"/>
              </a:ext>
            </a:extLst>
          </p:cNvPr>
          <p:cNvSpPr txBox="1"/>
          <p:nvPr/>
        </p:nvSpPr>
        <p:spPr>
          <a:xfrm>
            <a:off x="4552856" y="5509901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379291-6604-B268-79B8-DC59BCA5E51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6437412" y="5802609"/>
            <a:ext cx="974594" cy="6791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33" name="Graphic 32">
            <a:extLst>
              <a:ext uri="{FF2B5EF4-FFF2-40B4-BE49-F238E27FC236}">
                <a16:creationId xmlns:a16="http://schemas.microsoft.com/office/drawing/2014/main" id="{D8416523-BB18-83E3-81B2-3C2A1FD36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31172" y="5611400"/>
            <a:ext cx="396000" cy="396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3946BD93-6672-AD73-00D8-7BB09B301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6730" y="5611400"/>
            <a:ext cx="396000" cy="396000"/>
          </a:xfrm>
          <a:prstGeom prst="rect">
            <a:avLst/>
          </a:prstGeom>
        </p:spPr>
      </p:pic>
      <p:sp>
        <p:nvSpPr>
          <p:cNvPr id="35" name="Double Bracket 34">
            <a:extLst>
              <a:ext uri="{FF2B5EF4-FFF2-40B4-BE49-F238E27FC236}">
                <a16:creationId xmlns:a16="http://schemas.microsoft.com/office/drawing/2014/main" id="{A44A4EBB-EA45-49F8-BA58-8B7C07B6F06F}"/>
              </a:ext>
            </a:extLst>
          </p:cNvPr>
          <p:cNvSpPr/>
          <p:nvPr/>
        </p:nvSpPr>
        <p:spPr>
          <a:xfrm>
            <a:off x="2941248" y="5591948"/>
            <a:ext cx="2573093" cy="430944"/>
          </a:xfrm>
          <a:prstGeom prst="bracketPair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31C55F-4D26-37BB-823D-786FB80194AA}"/>
              </a:ext>
            </a:extLst>
          </p:cNvPr>
          <p:cNvSpPr txBox="1"/>
          <p:nvPr/>
        </p:nvSpPr>
        <p:spPr>
          <a:xfrm>
            <a:off x="1781647" y="5641041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cs typeface="Times New Roman" panose="02020603050405020304" pitchFamily="18" charset="0"/>
              </a:rPr>
              <a:t>④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Aggregate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041D01F-2059-7356-F1E1-E5B2CBE17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7208" y="5611400"/>
            <a:ext cx="396166" cy="396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F445F486-09F1-583B-E5FB-D4D47A264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2006" y="5611400"/>
            <a:ext cx="396166" cy="396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2EC7A20-8450-B2F8-9514-1A4D42C9E7A1}"/>
              </a:ext>
            </a:extLst>
          </p:cNvPr>
          <p:cNvSpPr txBox="1"/>
          <p:nvPr/>
        </p:nvSpPr>
        <p:spPr>
          <a:xfrm>
            <a:off x="2231274" y="4807106"/>
            <a:ext cx="2144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Times New Roman" panose="02020603050405020304" pitchFamily="18" charset="0"/>
              </a:rPr>
              <a:t>①</a:t>
            </a:r>
            <a:r>
              <a:rPr lang="en-US" sz="1400" b="1" dirty="0">
                <a:cs typeface="Times New Roman" panose="02020603050405020304" pitchFamily="18" charset="0"/>
              </a:rPr>
              <a:t> Broadcast global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6DBCC-5E88-C4A5-E7B2-51BB30050D98}"/>
              </a:ext>
            </a:extLst>
          </p:cNvPr>
          <p:cNvSpPr txBox="1"/>
          <p:nvPr/>
        </p:nvSpPr>
        <p:spPr>
          <a:xfrm>
            <a:off x="5011379" y="4818916"/>
            <a:ext cx="2441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cs typeface="Times New Roman" panose="02020603050405020304" pitchFamily="18" charset="0"/>
              </a:rPr>
              <a:t>③</a:t>
            </a:r>
            <a:r>
              <a:rPr lang="zh-CN" altLang="en-US" sz="1400" b="1" dirty="0">
                <a:cs typeface="Times New Roman" panose="02020603050405020304" pitchFamily="18" charset="0"/>
              </a:rPr>
              <a:t> </a:t>
            </a:r>
            <a:r>
              <a:rPr lang="en-US" sz="1400" b="1" dirty="0">
                <a:cs typeface="Times New Roman" panose="02020603050405020304" pitchFamily="18" charset="0"/>
              </a:rPr>
              <a:t>Upload local model update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5BE0F1-E639-65E4-1C91-C9B2C0A503FA}"/>
              </a:ext>
            </a:extLst>
          </p:cNvPr>
          <p:cNvSpPr/>
          <p:nvPr/>
        </p:nvSpPr>
        <p:spPr>
          <a:xfrm>
            <a:off x="1396146" y="3133374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C6867D-49FE-6120-D930-8E1C84BBDE6F}"/>
              </a:ext>
            </a:extLst>
          </p:cNvPr>
          <p:cNvSpPr txBox="1"/>
          <p:nvPr/>
        </p:nvSpPr>
        <p:spPr>
          <a:xfrm>
            <a:off x="1651283" y="3122605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989D64C-8841-9C4C-FD05-272E9F8F9CFC}"/>
              </a:ext>
            </a:extLst>
          </p:cNvPr>
          <p:cNvSpPr/>
          <p:nvPr/>
        </p:nvSpPr>
        <p:spPr>
          <a:xfrm>
            <a:off x="5678897" y="3136848"/>
            <a:ext cx="1407886" cy="8767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88D560-E6C0-C21E-F562-46D9A7FA1AF9}"/>
              </a:ext>
            </a:extLst>
          </p:cNvPr>
          <p:cNvSpPr txBox="1"/>
          <p:nvPr/>
        </p:nvSpPr>
        <p:spPr>
          <a:xfrm>
            <a:off x="5909501" y="3120944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724495-A37E-E04D-83F4-DA56B3FEB81E}"/>
              </a:ext>
            </a:extLst>
          </p:cNvPr>
          <p:cNvSpPr/>
          <p:nvPr/>
        </p:nvSpPr>
        <p:spPr>
          <a:xfrm>
            <a:off x="3544904" y="3142187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E2071B-2B99-91E9-48BB-CA7D7413F00C}"/>
              </a:ext>
            </a:extLst>
          </p:cNvPr>
          <p:cNvSpPr txBox="1"/>
          <p:nvPr/>
        </p:nvSpPr>
        <p:spPr>
          <a:xfrm>
            <a:off x="3789345" y="3127152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2DE3ADE-6F2C-0E82-AB90-2947615351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0377" y="3371863"/>
            <a:ext cx="360000" cy="35984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7F932BD-D925-95E5-C9CA-A67070A5AE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6730" y="3371863"/>
            <a:ext cx="360000" cy="35984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1AC4A99-E965-0636-9096-DEBF8DE910EA}"/>
              </a:ext>
            </a:extLst>
          </p:cNvPr>
          <p:cNvSpPr txBox="1"/>
          <p:nvPr/>
        </p:nvSpPr>
        <p:spPr>
          <a:xfrm>
            <a:off x="4506679" y="3752448"/>
            <a:ext cx="434388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Car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78A5D73-7AEF-E506-19DA-0B7E5568A702}"/>
              </a:ext>
            </a:extLst>
          </p:cNvPr>
          <p:cNvSpPr/>
          <p:nvPr/>
        </p:nvSpPr>
        <p:spPr>
          <a:xfrm>
            <a:off x="4540104" y="3791379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E16277-48FE-B5E3-98E9-A6286AFD3F33}"/>
              </a:ext>
            </a:extLst>
          </p:cNvPr>
          <p:cNvSpPr txBox="1"/>
          <p:nvPr/>
        </p:nvSpPr>
        <p:spPr>
          <a:xfrm>
            <a:off x="3563620" y="3752448"/>
            <a:ext cx="5105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Horse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2CCCAE0-9CD4-E932-CCC7-748235CA6817}"/>
              </a:ext>
            </a:extLst>
          </p:cNvPr>
          <p:cNvSpPr/>
          <p:nvPr/>
        </p:nvSpPr>
        <p:spPr>
          <a:xfrm>
            <a:off x="3632876" y="3791379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9C0A1E-7B62-9296-2DA9-BAACFE506A68}"/>
              </a:ext>
            </a:extLst>
          </p:cNvPr>
          <p:cNvSpPr txBox="1"/>
          <p:nvPr/>
        </p:nvSpPr>
        <p:spPr>
          <a:xfrm>
            <a:off x="4067628" y="3752448"/>
            <a:ext cx="4299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Bird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01D236-81CF-52E7-E341-CA649102646F}"/>
              </a:ext>
            </a:extLst>
          </p:cNvPr>
          <p:cNvSpPr/>
          <p:nvPr/>
        </p:nvSpPr>
        <p:spPr>
          <a:xfrm>
            <a:off x="4092777" y="3791379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FC35811-11C4-136E-F99E-60E2AAA93D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4064" y="3371787"/>
            <a:ext cx="360000" cy="360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D4287C2-1AC3-9415-90D4-5C3F9029AC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1946" y="3359247"/>
            <a:ext cx="360000" cy="35984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D13C2AC-78B1-888D-CB0B-A2D0899FD8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7861" y="3359247"/>
            <a:ext cx="360000" cy="35984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EDB0020-0507-C7C1-1121-4C834CE54E9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71508" y="3359247"/>
            <a:ext cx="360000" cy="35984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2B53EB1-B5D6-8AEA-2A48-DA8D3F10D49E}"/>
              </a:ext>
            </a:extLst>
          </p:cNvPr>
          <p:cNvSpPr txBox="1"/>
          <p:nvPr/>
        </p:nvSpPr>
        <p:spPr>
          <a:xfrm>
            <a:off x="2346140" y="3739832"/>
            <a:ext cx="446602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Ship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0D96417-3DD9-DB32-72C6-3EC8AB788B5F}"/>
              </a:ext>
            </a:extLst>
          </p:cNvPr>
          <p:cNvSpPr/>
          <p:nvPr/>
        </p:nvSpPr>
        <p:spPr>
          <a:xfrm>
            <a:off x="2376484" y="377876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5AE63D-5317-3533-37B2-EF4D3210DC92}"/>
              </a:ext>
            </a:extLst>
          </p:cNvPr>
          <p:cNvSpPr txBox="1"/>
          <p:nvPr/>
        </p:nvSpPr>
        <p:spPr>
          <a:xfrm>
            <a:off x="1926040" y="3739832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502BDA-5508-D63E-FC82-6FE8ABDBDD99}"/>
              </a:ext>
            </a:extLst>
          </p:cNvPr>
          <p:cNvSpPr/>
          <p:nvPr/>
        </p:nvSpPr>
        <p:spPr>
          <a:xfrm>
            <a:off x="1930409" y="377876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EF73AD-C98D-57B9-94D0-97460C8BC0E1}"/>
              </a:ext>
            </a:extLst>
          </p:cNvPr>
          <p:cNvSpPr txBox="1"/>
          <p:nvPr/>
        </p:nvSpPr>
        <p:spPr>
          <a:xfrm>
            <a:off x="1451832" y="3739832"/>
            <a:ext cx="4221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Dog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C3D3CD8-45FC-287C-50DD-9437EBCB41C7}"/>
              </a:ext>
            </a:extLst>
          </p:cNvPr>
          <p:cNvSpPr/>
          <p:nvPr/>
        </p:nvSpPr>
        <p:spPr>
          <a:xfrm>
            <a:off x="1476981" y="377876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18C632C-AD74-E639-B538-0B97481EE5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7110" y="3359247"/>
            <a:ext cx="360000" cy="35984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C6655A0-6EE3-F5F8-516D-7D4E2A4B9E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409" y="3359247"/>
            <a:ext cx="360000" cy="35984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2E871A58-A0D3-D831-401F-A07F16CE193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6661271" y="3359247"/>
            <a:ext cx="360000" cy="35984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2F310927-2159-4FBC-FF80-4F67865A4801}"/>
              </a:ext>
            </a:extLst>
          </p:cNvPr>
          <p:cNvSpPr txBox="1"/>
          <p:nvPr/>
        </p:nvSpPr>
        <p:spPr>
          <a:xfrm>
            <a:off x="5752743" y="3739832"/>
            <a:ext cx="3593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900" b="1" dirty="0"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48131C9-3DE3-4DEB-4A55-78BE4B012215}"/>
              </a:ext>
            </a:extLst>
          </p:cNvPr>
          <p:cNvSpPr/>
          <p:nvPr/>
        </p:nvSpPr>
        <p:spPr>
          <a:xfrm>
            <a:off x="5757110" y="3778763"/>
            <a:ext cx="355027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1E25C99-C8E7-BF0A-783C-F3EB38B0193F}"/>
              </a:ext>
            </a:extLst>
          </p:cNvPr>
          <p:cNvSpPr txBox="1"/>
          <p:nvPr/>
        </p:nvSpPr>
        <p:spPr>
          <a:xfrm>
            <a:off x="6139641" y="3739832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Plane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D229C8F-D1A6-B6D6-C4CE-8BBB535B41B5}"/>
              </a:ext>
            </a:extLst>
          </p:cNvPr>
          <p:cNvSpPr/>
          <p:nvPr/>
        </p:nvSpPr>
        <p:spPr>
          <a:xfrm>
            <a:off x="6216382" y="377876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342B651-6E25-B6DB-F6A7-101E77910FFE}"/>
              </a:ext>
            </a:extLst>
          </p:cNvPr>
          <p:cNvSpPr txBox="1"/>
          <p:nvPr/>
        </p:nvSpPr>
        <p:spPr>
          <a:xfrm>
            <a:off x="6588561" y="3739832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Truck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6161EA8-1DE1-6B23-8302-FCA6F5A9EE7F}"/>
              </a:ext>
            </a:extLst>
          </p:cNvPr>
          <p:cNvSpPr/>
          <p:nvPr/>
        </p:nvSpPr>
        <p:spPr>
          <a:xfrm>
            <a:off x="6665302" y="3778763"/>
            <a:ext cx="355969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Graphic 110" descr="Laptop with solid fill">
            <a:extLst>
              <a:ext uri="{FF2B5EF4-FFF2-40B4-BE49-F238E27FC236}">
                <a16:creationId xmlns:a16="http://schemas.microsoft.com/office/drawing/2014/main" id="{B21EA407-7CEA-3544-5CF5-01F5D101E1F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3979" y="3278187"/>
            <a:ext cx="547200" cy="547200"/>
          </a:xfrm>
          <a:prstGeom prst="rect">
            <a:avLst/>
          </a:prstGeom>
        </p:spPr>
      </p:pic>
      <p:pic>
        <p:nvPicPr>
          <p:cNvPr id="113" name="Picture 112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A9DD6B11-FF7F-E3FE-EE05-A53F0AEA246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84802" y="3534573"/>
            <a:ext cx="517555" cy="517555"/>
          </a:xfrm>
          <a:prstGeom prst="rect">
            <a:avLst/>
          </a:prstGeom>
        </p:spPr>
      </p:pic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A94966B-B1D4-76A5-653F-A6C4EBD57B25}"/>
              </a:ext>
            </a:extLst>
          </p:cNvPr>
          <p:cNvCxnSpPr>
            <a:cxnSpLocks/>
          </p:cNvCxnSpPr>
          <p:nvPr/>
        </p:nvCxnSpPr>
        <p:spPr>
          <a:xfrm>
            <a:off x="7215266" y="4295977"/>
            <a:ext cx="482392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49F41289-BBD4-601D-60A2-557589253EAA}"/>
              </a:ext>
            </a:extLst>
          </p:cNvPr>
          <p:cNvSpPr txBox="1"/>
          <p:nvPr/>
        </p:nvSpPr>
        <p:spPr>
          <a:xfrm>
            <a:off x="7215266" y="3952280"/>
            <a:ext cx="423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Sell</a:t>
            </a:r>
          </a:p>
        </p:txBody>
      </p:sp>
      <p:pic>
        <p:nvPicPr>
          <p:cNvPr id="82" name="Graphic 81" descr="Fingerprint with solid fill">
            <a:extLst>
              <a:ext uri="{FF2B5EF4-FFF2-40B4-BE49-F238E27FC236}">
                <a16:creationId xmlns:a16="http://schemas.microsoft.com/office/drawing/2014/main" id="{6751AB0F-DABF-1CB7-829A-7E03164D3CE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45261" y="5535893"/>
            <a:ext cx="314694" cy="314694"/>
          </a:xfrm>
          <a:prstGeom prst="rect">
            <a:avLst/>
          </a:prstGeom>
        </p:spPr>
      </p:pic>
      <p:pic>
        <p:nvPicPr>
          <p:cNvPr id="83" name="Graphic 82" descr="Fingerprint with solid fill">
            <a:extLst>
              <a:ext uri="{FF2B5EF4-FFF2-40B4-BE49-F238E27FC236}">
                <a16:creationId xmlns:a16="http://schemas.microsoft.com/office/drawing/2014/main" id="{149968A7-472A-B8B8-E552-4E2FC53ECB5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69691" y="4050884"/>
            <a:ext cx="314694" cy="314694"/>
          </a:xfrm>
          <a:prstGeom prst="rect">
            <a:avLst/>
          </a:prstGeom>
        </p:spPr>
      </p:pic>
      <p:pic>
        <p:nvPicPr>
          <p:cNvPr id="85" name="Graphic 84" descr="Fingerprint with solid fill">
            <a:extLst>
              <a:ext uri="{FF2B5EF4-FFF2-40B4-BE49-F238E27FC236}">
                <a16:creationId xmlns:a16="http://schemas.microsoft.com/office/drawing/2014/main" id="{02DD241B-5A68-AF7B-6D7D-CAA99052E11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38249" y="4070584"/>
            <a:ext cx="314694" cy="314694"/>
          </a:xfrm>
          <a:prstGeom prst="rect">
            <a:avLst/>
          </a:prstGeom>
        </p:spPr>
      </p:pic>
      <p:pic>
        <p:nvPicPr>
          <p:cNvPr id="86" name="Graphic 85" descr="Fingerprint with solid fill">
            <a:extLst>
              <a:ext uri="{FF2B5EF4-FFF2-40B4-BE49-F238E27FC236}">
                <a16:creationId xmlns:a16="http://schemas.microsoft.com/office/drawing/2014/main" id="{48BD930A-4E28-8367-AF52-043E999594E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63352" y="4050884"/>
            <a:ext cx="314694" cy="314694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0266BCDF-DE5D-D097-4028-636AE5710F5C}"/>
              </a:ext>
            </a:extLst>
          </p:cNvPr>
          <p:cNvSpPr txBox="1"/>
          <p:nvPr/>
        </p:nvSpPr>
        <p:spPr>
          <a:xfrm>
            <a:off x="6386569" y="5340944"/>
            <a:ext cx="1123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cs typeface="Times New Roman" panose="02020603050405020304" pitchFamily="18" charset="0"/>
              </a:rPr>
              <a:t>⑤ Watermark injection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EE8D20A5-DC35-95D8-1293-38439879E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8740" y="5596929"/>
            <a:ext cx="396166" cy="396000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07F538F-4626-A5F4-CC0D-C1849A6CCE57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5570911" y="5794929"/>
            <a:ext cx="407829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96" name="Graphic 95" descr="Devil face outline with solid fill">
            <a:extLst>
              <a:ext uri="{FF2B5EF4-FFF2-40B4-BE49-F238E27FC236}">
                <a16:creationId xmlns:a16="http://schemas.microsoft.com/office/drawing/2014/main" id="{AA017B81-E0F3-2697-BF88-F815D6E40C7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52304" y="2696584"/>
            <a:ext cx="346840" cy="346695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E059D58A-FF10-C50B-AFD3-0B0CF0018661}"/>
              </a:ext>
            </a:extLst>
          </p:cNvPr>
          <p:cNvSpPr/>
          <p:nvPr/>
        </p:nvSpPr>
        <p:spPr>
          <a:xfrm>
            <a:off x="8771885" y="2416932"/>
            <a:ext cx="3118519" cy="1879045"/>
          </a:xfrm>
          <a:custGeom>
            <a:avLst/>
            <a:gdLst>
              <a:gd name="connsiteX0" fmla="*/ 0 w 3118519"/>
              <a:gd name="connsiteY0" fmla="*/ 0 h 1879045"/>
              <a:gd name="connsiteX1" fmla="*/ 592519 w 3118519"/>
              <a:gd name="connsiteY1" fmla="*/ 0 h 1879045"/>
              <a:gd name="connsiteX2" fmla="*/ 1122667 w 3118519"/>
              <a:gd name="connsiteY2" fmla="*/ 0 h 1879045"/>
              <a:gd name="connsiteX3" fmla="*/ 1808741 w 3118519"/>
              <a:gd name="connsiteY3" fmla="*/ 0 h 1879045"/>
              <a:gd name="connsiteX4" fmla="*/ 2401260 w 3118519"/>
              <a:gd name="connsiteY4" fmla="*/ 0 h 1879045"/>
              <a:gd name="connsiteX5" fmla="*/ 3118519 w 3118519"/>
              <a:gd name="connsiteY5" fmla="*/ 0 h 1879045"/>
              <a:gd name="connsiteX6" fmla="*/ 3118519 w 3118519"/>
              <a:gd name="connsiteY6" fmla="*/ 663929 h 1879045"/>
              <a:gd name="connsiteX7" fmla="*/ 3118519 w 3118519"/>
              <a:gd name="connsiteY7" fmla="*/ 1290278 h 1879045"/>
              <a:gd name="connsiteX8" fmla="*/ 3118519 w 3118519"/>
              <a:gd name="connsiteY8" fmla="*/ 1879045 h 1879045"/>
              <a:gd name="connsiteX9" fmla="*/ 2557186 w 3118519"/>
              <a:gd name="connsiteY9" fmla="*/ 1879045 h 1879045"/>
              <a:gd name="connsiteX10" fmla="*/ 1933482 w 3118519"/>
              <a:gd name="connsiteY10" fmla="*/ 1879045 h 1879045"/>
              <a:gd name="connsiteX11" fmla="*/ 1309778 w 3118519"/>
              <a:gd name="connsiteY11" fmla="*/ 1879045 h 1879045"/>
              <a:gd name="connsiteX12" fmla="*/ 717259 w 3118519"/>
              <a:gd name="connsiteY12" fmla="*/ 1879045 h 1879045"/>
              <a:gd name="connsiteX13" fmla="*/ 0 w 3118519"/>
              <a:gd name="connsiteY13" fmla="*/ 1879045 h 1879045"/>
              <a:gd name="connsiteX14" fmla="*/ 0 w 3118519"/>
              <a:gd name="connsiteY14" fmla="*/ 1215116 h 1879045"/>
              <a:gd name="connsiteX15" fmla="*/ 0 w 3118519"/>
              <a:gd name="connsiteY15" fmla="*/ 551187 h 1879045"/>
              <a:gd name="connsiteX16" fmla="*/ 0 w 3118519"/>
              <a:gd name="connsiteY16" fmla="*/ 0 h 187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18519" h="1879045" extrusionOk="0">
                <a:moveTo>
                  <a:pt x="0" y="0"/>
                </a:moveTo>
                <a:cubicBezTo>
                  <a:pt x="192871" y="-28611"/>
                  <a:pt x="345275" y="-24886"/>
                  <a:pt x="592519" y="0"/>
                </a:cubicBezTo>
                <a:cubicBezTo>
                  <a:pt x="839763" y="24886"/>
                  <a:pt x="932461" y="-20735"/>
                  <a:pt x="1122667" y="0"/>
                </a:cubicBezTo>
                <a:cubicBezTo>
                  <a:pt x="1312873" y="20735"/>
                  <a:pt x="1473966" y="26143"/>
                  <a:pt x="1808741" y="0"/>
                </a:cubicBezTo>
                <a:cubicBezTo>
                  <a:pt x="2143516" y="-26143"/>
                  <a:pt x="2224892" y="-5155"/>
                  <a:pt x="2401260" y="0"/>
                </a:cubicBezTo>
                <a:cubicBezTo>
                  <a:pt x="2577628" y="5155"/>
                  <a:pt x="2899299" y="-19149"/>
                  <a:pt x="3118519" y="0"/>
                </a:cubicBezTo>
                <a:cubicBezTo>
                  <a:pt x="3125057" y="207900"/>
                  <a:pt x="3089809" y="373255"/>
                  <a:pt x="3118519" y="663929"/>
                </a:cubicBezTo>
                <a:cubicBezTo>
                  <a:pt x="3147229" y="954603"/>
                  <a:pt x="3128762" y="1110084"/>
                  <a:pt x="3118519" y="1290278"/>
                </a:cubicBezTo>
                <a:cubicBezTo>
                  <a:pt x="3108276" y="1470472"/>
                  <a:pt x="3143397" y="1626478"/>
                  <a:pt x="3118519" y="1879045"/>
                </a:cubicBezTo>
                <a:cubicBezTo>
                  <a:pt x="2957710" y="1871323"/>
                  <a:pt x="2828660" y="1856688"/>
                  <a:pt x="2557186" y="1879045"/>
                </a:cubicBezTo>
                <a:cubicBezTo>
                  <a:pt x="2285712" y="1901402"/>
                  <a:pt x="2112954" y="1893650"/>
                  <a:pt x="1933482" y="1879045"/>
                </a:cubicBezTo>
                <a:cubicBezTo>
                  <a:pt x="1754010" y="1864440"/>
                  <a:pt x="1522622" y="1862179"/>
                  <a:pt x="1309778" y="1879045"/>
                </a:cubicBezTo>
                <a:cubicBezTo>
                  <a:pt x="1096934" y="1895911"/>
                  <a:pt x="990690" y="1866854"/>
                  <a:pt x="717259" y="1879045"/>
                </a:cubicBezTo>
                <a:cubicBezTo>
                  <a:pt x="443828" y="1891236"/>
                  <a:pt x="260755" y="1875007"/>
                  <a:pt x="0" y="1879045"/>
                </a:cubicBezTo>
                <a:cubicBezTo>
                  <a:pt x="8122" y="1607442"/>
                  <a:pt x="-9184" y="1440039"/>
                  <a:pt x="0" y="1215116"/>
                </a:cubicBezTo>
                <a:cubicBezTo>
                  <a:pt x="9184" y="990193"/>
                  <a:pt x="-22428" y="838524"/>
                  <a:pt x="0" y="551187"/>
                </a:cubicBezTo>
                <a:cubicBezTo>
                  <a:pt x="22428" y="263850"/>
                  <a:pt x="18158" y="139322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D8E2850-DA1A-0677-82E0-E08C0753ACB3}"/>
              </a:ext>
            </a:extLst>
          </p:cNvPr>
          <p:cNvSpPr txBox="1"/>
          <p:nvPr/>
        </p:nvSpPr>
        <p:spPr>
          <a:xfrm>
            <a:off x="8833694" y="2481717"/>
            <a:ext cx="2018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Watermark detection</a:t>
            </a:r>
          </a:p>
        </p:txBody>
      </p:sp>
      <p:pic>
        <p:nvPicPr>
          <p:cNvPr id="100" name="Graphic 99" descr="Fingerprint with solid fill">
            <a:extLst>
              <a:ext uri="{FF2B5EF4-FFF2-40B4-BE49-F238E27FC236}">
                <a16:creationId xmlns:a16="http://schemas.microsoft.com/office/drawing/2014/main" id="{E0EEEE54-041A-8195-D0B0-96BEC3B375D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41767" y="3106662"/>
            <a:ext cx="314694" cy="314694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EC9D8FD6-CB28-D789-CC82-C79067127FC8}"/>
              </a:ext>
            </a:extLst>
          </p:cNvPr>
          <p:cNvSpPr txBox="1"/>
          <p:nvPr/>
        </p:nvSpPr>
        <p:spPr>
          <a:xfrm>
            <a:off x="9347749" y="2844341"/>
            <a:ext cx="953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cs typeface="Times New Roman" panose="02020603050405020304" pitchFamily="18" charset="0"/>
              </a:rPr>
              <a:t>Watermark extraction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47EC1E5-EA1F-1071-95D4-2F44C81B4B51}"/>
              </a:ext>
            </a:extLst>
          </p:cNvPr>
          <p:cNvCxnSpPr>
            <a:cxnSpLocks/>
          </p:cNvCxnSpPr>
          <p:nvPr/>
        </p:nvCxnSpPr>
        <p:spPr>
          <a:xfrm flipV="1">
            <a:off x="9347749" y="3372463"/>
            <a:ext cx="900000" cy="4704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104" name="Graphic 103" descr="Fingerprint with solid fill">
            <a:extLst>
              <a:ext uri="{FF2B5EF4-FFF2-40B4-BE49-F238E27FC236}">
                <a16:creationId xmlns:a16="http://schemas.microsoft.com/office/drawing/2014/main" id="{52C0236C-1893-B0A6-65D4-CC10A0B3898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221897" y="3114337"/>
            <a:ext cx="449795" cy="449795"/>
          </a:xfrm>
          <a:prstGeom prst="rect">
            <a:avLst/>
          </a:prstGeom>
        </p:spPr>
      </p:pic>
      <p:pic>
        <p:nvPicPr>
          <p:cNvPr id="112" name="Picture 111" descr="A yellow network with circles and lines&#10;&#10;Description automatically generated with medium confidence">
            <a:extLst>
              <a:ext uri="{FF2B5EF4-FFF2-40B4-BE49-F238E27FC236}">
                <a16:creationId xmlns:a16="http://schemas.microsoft.com/office/drawing/2014/main" id="{EFDAA494-E8D4-ACCD-F079-0BC643C12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493" y="4101886"/>
            <a:ext cx="396000" cy="396000"/>
          </a:xfrm>
          <a:prstGeom prst="rect">
            <a:avLst/>
          </a:prstGeom>
        </p:spPr>
      </p:pic>
      <p:pic>
        <p:nvPicPr>
          <p:cNvPr id="114" name="Graphic 113" descr="Fingerprint with solid fill">
            <a:extLst>
              <a:ext uri="{FF2B5EF4-FFF2-40B4-BE49-F238E27FC236}">
                <a16:creationId xmlns:a16="http://schemas.microsoft.com/office/drawing/2014/main" id="{1A68C626-05E8-4EFD-1435-CCE204363E4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28142" y="4026626"/>
            <a:ext cx="314694" cy="314694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8B224228-80B4-C8AE-2D3A-45FE602F44CA}"/>
              </a:ext>
            </a:extLst>
          </p:cNvPr>
          <p:cNvSpPr txBox="1"/>
          <p:nvPr/>
        </p:nvSpPr>
        <p:spPr>
          <a:xfrm>
            <a:off x="11016926" y="3403042"/>
            <a:ext cx="953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cs typeface="Times New Roman" panose="02020603050405020304" pitchFamily="18" charset="0"/>
              </a:rPr>
              <a:t>Copyright verification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A2C0100-F14B-2AB1-5379-0B33F4BD5906}"/>
              </a:ext>
            </a:extLst>
          </p:cNvPr>
          <p:cNvCxnSpPr>
            <a:cxnSpLocks/>
            <a:stCxn id="104" idx="2"/>
          </p:cNvCxnSpPr>
          <p:nvPr/>
        </p:nvCxnSpPr>
        <p:spPr>
          <a:xfrm flipH="1">
            <a:off x="9957817" y="3564132"/>
            <a:ext cx="488978" cy="38298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BB8CB1B0-4842-1676-A04A-9784FF9EF5F9}"/>
              </a:ext>
            </a:extLst>
          </p:cNvPr>
          <p:cNvCxnSpPr>
            <a:cxnSpLocks/>
            <a:stCxn id="104" idx="2"/>
          </p:cNvCxnSpPr>
          <p:nvPr/>
        </p:nvCxnSpPr>
        <p:spPr>
          <a:xfrm>
            <a:off x="10446795" y="3564132"/>
            <a:ext cx="488977" cy="38298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B2135559-F6FF-7888-D4E3-DE5241AFAFF4}"/>
              </a:ext>
            </a:extLst>
          </p:cNvPr>
          <p:cNvSpPr txBox="1"/>
          <p:nvPr/>
        </p:nvSpPr>
        <p:spPr>
          <a:xfrm>
            <a:off x="9877623" y="3495375"/>
            <a:ext cx="423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F9A3ACF-7404-F473-34BD-5A26147EEA43}"/>
              </a:ext>
            </a:extLst>
          </p:cNvPr>
          <p:cNvSpPr txBox="1"/>
          <p:nvPr/>
        </p:nvSpPr>
        <p:spPr>
          <a:xfrm>
            <a:off x="10630658" y="3495375"/>
            <a:ext cx="423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818F904-CD13-24B4-FF73-50FDABB01A6B}"/>
              </a:ext>
            </a:extLst>
          </p:cNvPr>
          <p:cNvSpPr txBox="1"/>
          <p:nvPr/>
        </p:nvSpPr>
        <p:spPr>
          <a:xfrm>
            <a:off x="9041023" y="3969892"/>
            <a:ext cx="1153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L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eaked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 from FL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E8BF866-392B-3B56-A840-86CC0C16672A}"/>
              </a:ext>
            </a:extLst>
          </p:cNvPr>
          <p:cNvSpPr txBox="1"/>
          <p:nvPr/>
        </p:nvSpPr>
        <p:spPr>
          <a:xfrm>
            <a:off x="10446990" y="3949110"/>
            <a:ext cx="1402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Not leaked from FL</a:t>
            </a:r>
          </a:p>
        </p:txBody>
      </p: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7F260E3A-8B44-86D2-80A8-73DE166762F4}"/>
              </a:ext>
            </a:extLst>
          </p:cNvPr>
          <p:cNvSpPr txBox="1">
            <a:spLocks/>
          </p:cNvSpPr>
          <p:nvPr/>
        </p:nvSpPr>
        <p:spPr>
          <a:xfrm>
            <a:off x="403524" y="6313902"/>
            <a:ext cx="7456432" cy="308571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latin typeface="+mn-lt"/>
              </a:rPr>
              <a:t>Jiahao et al., “</a:t>
            </a:r>
            <a:r>
              <a:rPr lang="en-US" sz="1400" b="1" i="1" dirty="0">
                <a:latin typeface="+mn-lt"/>
              </a:rPr>
              <a:t>Traceable Black-box Watermarks for Federated Learning</a:t>
            </a:r>
            <a:r>
              <a:rPr lang="en-US" sz="1400" b="1" dirty="0">
                <a:latin typeface="+mn-lt"/>
              </a:rPr>
              <a:t>”, preprint, under review.</a:t>
            </a:r>
          </a:p>
        </p:txBody>
      </p: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D8162783-FCDA-09A6-F0D7-4704743FF4E3}"/>
              </a:ext>
            </a:extLst>
          </p:cNvPr>
          <p:cNvSpPr txBox="1">
            <a:spLocks/>
          </p:cNvSpPr>
          <p:nvPr/>
        </p:nvSpPr>
        <p:spPr>
          <a:xfrm>
            <a:off x="8184493" y="4877755"/>
            <a:ext cx="3705911" cy="13148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b="1" dirty="0">
                <a:latin typeface="+mn-lt"/>
              </a:rPr>
              <a:t>Ownership verification </a:t>
            </a:r>
            <a:r>
              <a:rPr lang="en-US" sz="2400" dirty="0">
                <a:latin typeface="+mn-lt"/>
              </a:rPr>
              <a:t>is not enough. </a:t>
            </a:r>
            <a:r>
              <a:rPr lang="en-US" sz="2400" b="1" dirty="0">
                <a:latin typeface="+mn-lt"/>
              </a:rPr>
              <a:t>We want to find the model leaker!</a:t>
            </a:r>
          </a:p>
        </p:txBody>
      </p:sp>
    </p:spTree>
    <p:extLst>
      <p:ext uri="{BB962C8B-B14F-4D97-AF65-F5344CB8AC3E}">
        <p14:creationId xmlns:p14="http://schemas.microsoft.com/office/powerpoint/2010/main" val="405325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 descr="A yellow network with circles and lines&#10;&#10;Description automatically generated with medium confidence">
            <a:extLst>
              <a:ext uri="{FF2B5EF4-FFF2-40B4-BE49-F238E27FC236}">
                <a16:creationId xmlns:a16="http://schemas.microsoft.com/office/drawing/2014/main" id="{1CBFF997-A158-E296-91C8-323442F55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027" y="2561413"/>
            <a:ext cx="396000" cy="396000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0"/>
            <a:ext cx="1075766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Mitigating Model Stealing Attack — Cont.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6838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Injecting a distinct watermark into the global model for different clients! </a:t>
            </a:r>
            <a:endParaRPr lang="en-US" dirty="0">
              <a:latin typeface="+mn-lt"/>
            </a:endParaRP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E128C0CF-F081-4772-2F5A-C97B069DDC75}"/>
              </a:ext>
            </a:extLst>
          </p:cNvPr>
          <p:cNvSpPr/>
          <p:nvPr/>
        </p:nvSpPr>
        <p:spPr>
          <a:xfrm rot="16200000">
            <a:off x="4408418" y="4278287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372EDCB-6479-8739-F304-ECE279B46D77}"/>
              </a:ext>
            </a:extLst>
          </p:cNvPr>
          <p:cNvSpPr/>
          <p:nvPr/>
        </p:nvSpPr>
        <p:spPr>
          <a:xfrm rot="5400000">
            <a:off x="4612764" y="4278287"/>
            <a:ext cx="366406" cy="148013"/>
          </a:xfrm>
          <a:prstGeom prst="rightArrow">
            <a:avLst>
              <a:gd name="adj1" fmla="val 50000"/>
              <a:gd name="adj2" fmla="val 83242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54ABD0-CD74-1B8F-BC08-455A780B3B37}"/>
              </a:ext>
            </a:extLst>
          </p:cNvPr>
          <p:cNvSpPr/>
          <p:nvPr/>
        </p:nvSpPr>
        <p:spPr>
          <a:xfrm>
            <a:off x="403524" y="1796422"/>
            <a:ext cx="7934876" cy="2235283"/>
          </a:xfrm>
          <a:custGeom>
            <a:avLst/>
            <a:gdLst>
              <a:gd name="connsiteX0" fmla="*/ 0 w 7934876"/>
              <a:gd name="connsiteY0" fmla="*/ 0 h 2235283"/>
              <a:gd name="connsiteX1" fmla="*/ 581891 w 7934876"/>
              <a:gd name="connsiteY1" fmla="*/ 0 h 2235283"/>
              <a:gd name="connsiteX2" fmla="*/ 1005084 w 7934876"/>
              <a:gd name="connsiteY2" fmla="*/ 0 h 2235283"/>
              <a:gd name="connsiteX3" fmla="*/ 1825021 w 7934876"/>
              <a:gd name="connsiteY3" fmla="*/ 0 h 2235283"/>
              <a:gd name="connsiteX4" fmla="*/ 2406912 w 7934876"/>
              <a:gd name="connsiteY4" fmla="*/ 0 h 2235283"/>
              <a:gd name="connsiteX5" fmla="*/ 2988803 w 7934876"/>
              <a:gd name="connsiteY5" fmla="*/ 0 h 2235283"/>
              <a:gd name="connsiteX6" fmla="*/ 3808740 w 7934876"/>
              <a:gd name="connsiteY6" fmla="*/ 0 h 2235283"/>
              <a:gd name="connsiteX7" fmla="*/ 4311283 w 7934876"/>
              <a:gd name="connsiteY7" fmla="*/ 0 h 2235283"/>
              <a:gd name="connsiteX8" fmla="*/ 5131220 w 7934876"/>
              <a:gd name="connsiteY8" fmla="*/ 0 h 2235283"/>
              <a:gd name="connsiteX9" fmla="*/ 5951157 w 7934876"/>
              <a:gd name="connsiteY9" fmla="*/ 0 h 2235283"/>
              <a:gd name="connsiteX10" fmla="*/ 6612397 w 7934876"/>
              <a:gd name="connsiteY10" fmla="*/ 0 h 2235283"/>
              <a:gd name="connsiteX11" fmla="*/ 7934876 w 7934876"/>
              <a:gd name="connsiteY11" fmla="*/ 0 h 2235283"/>
              <a:gd name="connsiteX12" fmla="*/ 7934876 w 7934876"/>
              <a:gd name="connsiteY12" fmla="*/ 536468 h 2235283"/>
              <a:gd name="connsiteX13" fmla="*/ 7934876 w 7934876"/>
              <a:gd name="connsiteY13" fmla="*/ 1028230 h 2235283"/>
              <a:gd name="connsiteX14" fmla="*/ 7934876 w 7934876"/>
              <a:gd name="connsiteY14" fmla="*/ 1587051 h 2235283"/>
              <a:gd name="connsiteX15" fmla="*/ 7934876 w 7934876"/>
              <a:gd name="connsiteY15" fmla="*/ 2235283 h 2235283"/>
              <a:gd name="connsiteX16" fmla="*/ 7273636 w 7934876"/>
              <a:gd name="connsiteY16" fmla="*/ 2235283 h 2235283"/>
              <a:gd name="connsiteX17" fmla="*/ 6453699 w 7934876"/>
              <a:gd name="connsiteY17" fmla="*/ 2235283 h 2235283"/>
              <a:gd name="connsiteX18" fmla="*/ 5792459 w 7934876"/>
              <a:gd name="connsiteY18" fmla="*/ 2235283 h 2235283"/>
              <a:gd name="connsiteX19" fmla="*/ 5369266 w 7934876"/>
              <a:gd name="connsiteY19" fmla="*/ 2235283 h 2235283"/>
              <a:gd name="connsiteX20" fmla="*/ 4866724 w 7934876"/>
              <a:gd name="connsiteY20" fmla="*/ 2235283 h 2235283"/>
              <a:gd name="connsiteX21" fmla="*/ 4046787 w 7934876"/>
              <a:gd name="connsiteY21" fmla="*/ 2235283 h 2235283"/>
              <a:gd name="connsiteX22" fmla="*/ 3385547 w 7934876"/>
              <a:gd name="connsiteY22" fmla="*/ 2235283 h 2235283"/>
              <a:gd name="connsiteX23" fmla="*/ 2883005 w 7934876"/>
              <a:gd name="connsiteY23" fmla="*/ 2235283 h 2235283"/>
              <a:gd name="connsiteX24" fmla="*/ 2221765 w 7934876"/>
              <a:gd name="connsiteY24" fmla="*/ 2235283 h 2235283"/>
              <a:gd name="connsiteX25" fmla="*/ 1798572 w 7934876"/>
              <a:gd name="connsiteY25" fmla="*/ 2235283 h 2235283"/>
              <a:gd name="connsiteX26" fmla="*/ 1375379 w 7934876"/>
              <a:gd name="connsiteY26" fmla="*/ 2235283 h 2235283"/>
              <a:gd name="connsiteX27" fmla="*/ 714139 w 7934876"/>
              <a:gd name="connsiteY27" fmla="*/ 2235283 h 2235283"/>
              <a:gd name="connsiteX28" fmla="*/ 0 w 7934876"/>
              <a:gd name="connsiteY28" fmla="*/ 2235283 h 2235283"/>
              <a:gd name="connsiteX29" fmla="*/ 0 w 7934876"/>
              <a:gd name="connsiteY29" fmla="*/ 1654109 h 2235283"/>
              <a:gd name="connsiteX30" fmla="*/ 0 w 7934876"/>
              <a:gd name="connsiteY30" fmla="*/ 1117642 h 2235283"/>
              <a:gd name="connsiteX31" fmla="*/ 0 w 7934876"/>
              <a:gd name="connsiteY31" fmla="*/ 625879 h 2235283"/>
              <a:gd name="connsiteX32" fmla="*/ 0 w 7934876"/>
              <a:gd name="connsiteY32" fmla="*/ 0 h 2235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934876" h="2235283" extrusionOk="0">
                <a:moveTo>
                  <a:pt x="0" y="0"/>
                </a:moveTo>
                <a:cubicBezTo>
                  <a:pt x="225383" y="22305"/>
                  <a:pt x="388817" y="-20230"/>
                  <a:pt x="581891" y="0"/>
                </a:cubicBezTo>
                <a:cubicBezTo>
                  <a:pt x="774965" y="20230"/>
                  <a:pt x="896203" y="19878"/>
                  <a:pt x="1005084" y="0"/>
                </a:cubicBezTo>
                <a:cubicBezTo>
                  <a:pt x="1113965" y="-19878"/>
                  <a:pt x="1629826" y="-29724"/>
                  <a:pt x="1825021" y="0"/>
                </a:cubicBezTo>
                <a:cubicBezTo>
                  <a:pt x="2020216" y="29724"/>
                  <a:pt x="2149268" y="12113"/>
                  <a:pt x="2406912" y="0"/>
                </a:cubicBezTo>
                <a:cubicBezTo>
                  <a:pt x="2664556" y="-12113"/>
                  <a:pt x="2850823" y="23528"/>
                  <a:pt x="2988803" y="0"/>
                </a:cubicBezTo>
                <a:cubicBezTo>
                  <a:pt x="3126783" y="-23528"/>
                  <a:pt x="3565776" y="11129"/>
                  <a:pt x="3808740" y="0"/>
                </a:cubicBezTo>
                <a:cubicBezTo>
                  <a:pt x="4051704" y="-11129"/>
                  <a:pt x="4100103" y="-21581"/>
                  <a:pt x="4311283" y="0"/>
                </a:cubicBezTo>
                <a:cubicBezTo>
                  <a:pt x="4522463" y="21581"/>
                  <a:pt x="4891064" y="12094"/>
                  <a:pt x="5131220" y="0"/>
                </a:cubicBezTo>
                <a:cubicBezTo>
                  <a:pt x="5371376" y="-12094"/>
                  <a:pt x="5574463" y="-21526"/>
                  <a:pt x="5951157" y="0"/>
                </a:cubicBezTo>
                <a:cubicBezTo>
                  <a:pt x="6327851" y="21526"/>
                  <a:pt x="6308849" y="-17741"/>
                  <a:pt x="6612397" y="0"/>
                </a:cubicBezTo>
                <a:cubicBezTo>
                  <a:pt x="6915945" y="17741"/>
                  <a:pt x="7512996" y="-61800"/>
                  <a:pt x="7934876" y="0"/>
                </a:cubicBezTo>
                <a:cubicBezTo>
                  <a:pt x="7947673" y="157723"/>
                  <a:pt x="7958028" y="306798"/>
                  <a:pt x="7934876" y="536468"/>
                </a:cubicBezTo>
                <a:cubicBezTo>
                  <a:pt x="7911724" y="766138"/>
                  <a:pt x="7937525" y="926711"/>
                  <a:pt x="7934876" y="1028230"/>
                </a:cubicBezTo>
                <a:cubicBezTo>
                  <a:pt x="7932227" y="1129749"/>
                  <a:pt x="7920553" y="1462475"/>
                  <a:pt x="7934876" y="1587051"/>
                </a:cubicBezTo>
                <a:cubicBezTo>
                  <a:pt x="7949199" y="1711627"/>
                  <a:pt x="7944743" y="1978429"/>
                  <a:pt x="7934876" y="2235283"/>
                </a:cubicBezTo>
                <a:cubicBezTo>
                  <a:pt x="7700652" y="2241806"/>
                  <a:pt x="7418244" y="2247762"/>
                  <a:pt x="7273636" y="2235283"/>
                </a:cubicBezTo>
                <a:cubicBezTo>
                  <a:pt x="7129028" y="2222804"/>
                  <a:pt x="6858982" y="2271566"/>
                  <a:pt x="6453699" y="2235283"/>
                </a:cubicBezTo>
                <a:cubicBezTo>
                  <a:pt x="6048416" y="2199000"/>
                  <a:pt x="5954557" y="2260015"/>
                  <a:pt x="5792459" y="2235283"/>
                </a:cubicBezTo>
                <a:cubicBezTo>
                  <a:pt x="5630361" y="2210551"/>
                  <a:pt x="5490224" y="2243952"/>
                  <a:pt x="5369266" y="2235283"/>
                </a:cubicBezTo>
                <a:cubicBezTo>
                  <a:pt x="5248308" y="2226614"/>
                  <a:pt x="4982228" y="2236754"/>
                  <a:pt x="4866724" y="2235283"/>
                </a:cubicBezTo>
                <a:cubicBezTo>
                  <a:pt x="4751220" y="2233812"/>
                  <a:pt x="4332511" y="2222250"/>
                  <a:pt x="4046787" y="2235283"/>
                </a:cubicBezTo>
                <a:cubicBezTo>
                  <a:pt x="3761063" y="2248316"/>
                  <a:pt x="3606046" y="2221434"/>
                  <a:pt x="3385547" y="2235283"/>
                </a:cubicBezTo>
                <a:cubicBezTo>
                  <a:pt x="3165048" y="2249132"/>
                  <a:pt x="3022449" y="2218046"/>
                  <a:pt x="2883005" y="2235283"/>
                </a:cubicBezTo>
                <a:cubicBezTo>
                  <a:pt x="2743561" y="2252520"/>
                  <a:pt x="2442240" y="2226083"/>
                  <a:pt x="2221765" y="2235283"/>
                </a:cubicBezTo>
                <a:cubicBezTo>
                  <a:pt x="2001290" y="2244483"/>
                  <a:pt x="1967356" y="2240008"/>
                  <a:pt x="1798572" y="2235283"/>
                </a:cubicBezTo>
                <a:cubicBezTo>
                  <a:pt x="1629788" y="2230558"/>
                  <a:pt x="1481136" y="2236922"/>
                  <a:pt x="1375379" y="2235283"/>
                </a:cubicBezTo>
                <a:cubicBezTo>
                  <a:pt x="1269622" y="2233644"/>
                  <a:pt x="944804" y="2228517"/>
                  <a:pt x="714139" y="2235283"/>
                </a:cubicBezTo>
                <a:cubicBezTo>
                  <a:pt x="483474" y="2242049"/>
                  <a:pt x="286362" y="2215650"/>
                  <a:pt x="0" y="2235283"/>
                </a:cubicBezTo>
                <a:cubicBezTo>
                  <a:pt x="5020" y="2055001"/>
                  <a:pt x="11066" y="1868731"/>
                  <a:pt x="0" y="1654109"/>
                </a:cubicBezTo>
                <a:cubicBezTo>
                  <a:pt x="-11066" y="1439487"/>
                  <a:pt x="746" y="1240026"/>
                  <a:pt x="0" y="1117642"/>
                </a:cubicBezTo>
                <a:cubicBezTo>
                  <a:pt x="-746" y="995258"/>
                  <a:pt x="14391" y="839490"/>
                  <a:pt x="0" y="625879"/>
                </a:cubicBezTo>
                <a:cubicBezTo>
                  <a:pt x="-14391" y="412268"/>
                  <a:pt x="29180" y="256057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08AC11-D4B5-8E5F-904B-7635C9E7CCF8}"/>
              </a:ext>
            </a:extLst>
          </p:cNvPr>
          <p:cNvSpPr/>
          <p:nvPr/>
        </p:nvSpPr>
        <p:spPr>
          <a:xfrm>
            <a:off x="5505146" y="2396661"/>
            <a:ext cx="1742324" cy="15475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A12A60-ECF8-A776-EBC4-33F0971507C7}"/>
              </a:ext>
            </a:extLst>
          </p:cNvPr>
          <p:cNvSpPr/>
          <p:nvPr/>
        </p:nvSpPr>
        <p:spPr>
          <a:xfrm>
            <a:off x="3386094" y="2392105"/>
            <a:ext cx="1728248" cy="15521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AFB76-9915-B602-618A-64556EC1967A}"/>
              </a:ext>
            </a:extLst>
          </p:cNvPr>
          <p:cNvSpPr txBox="1"/>
          <p:nvPr/>
        </p:nvSpPr>
        <p:spPr>
          <a:xfrm>
            <a:off x="1160090" y="1796422"/>
            <a:ext cx="1370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04D06-2B5B-FA96-A28F-732272CACE8F}"/>
              </a:ext>
            </a:extLst>
          </p:cNvPr>
          <p:cNvSpPr txBox="1"/>
          <p:nvPr/>
        </p:nvSpPr>
        <p:spPr>
          <a:xfrm>
            <a:off x="5759411" y="2119660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Malicious client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17E4A-7327-0035-12F8-46AB6465A3C6}"/>
              </a:ext>
            </a:extLst>
          </p:cNvPr>
          <p:cNvSpPr txBox="1"/>
          <p:nvPr/>
        </p:nvSpPr>
        <p:spPr>
          <a:xfrm>
            <a:off x="2949885" y="285793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C540C-7198-2003-1D26-A1A3D1E8541F}"/>
              </a:ext>
            </a:extLst>
          </p:cNvPr>
          <p:cNvSpPr txBox="1"/>
          <p:nvPr/>
        </p:nvSpPr>
        <p:spPr>
          <a:xfrm>
            <a:off x="5083535" y="2846477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E55AD16A-ED69-8E8B-0B78-2F6286D2EB46}"/>
              </a:ext>
            </a:extLst>
          </p:cNvPr>
          <p:cNvSpPr txBox="1"/>
          <p:nvPr/>
        </p:nvSpPr>
        <p:spPr>
          <a:xfrm>
            <a:off x="369018" y="3084991"/>
            <a:ext cx="72240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Clients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A8ABD1-B369-7B8E-D2A5-406CD0060416}"/>
              </a:ext>
            </a:extLst>
          </p:cNvPr>
          <p:cNvCxnSpPr>
            <a:cxnSpLocks/>
          </p:cNvCxnSpPr>
          <p:nvPr/>
        </p:nvCxnSpPr>
        <p:spPr>
          <a:xfrm flipH="1">
            <a:off x="1052273" y="1859922"/>
            <a:ext cx="4022" cy="2199414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191FA6E-67BE-3BC1-9664-97FF3639E970}"/>
              </a:ext>
            </a:extLst>
          </p:cNvPr>
          <p:cNvSpPr/>
          <p:nvPr/>
        </p:nvSpPr>
        <p:spPr>
          <a:xfrm>
            <a:off x="1231781" y="2396661"/>
            <a:ext cx="1737732" cy="1547575"/>
          </a:xfrm>
          <a:prstGeom prst="roundRect">
            <a:avLst/>
          </a:prstGeom>
          <a:solidFill>
            <a:srgbClr val="70AD47">
              <a:lumMod val="20000"/>
              <a:lumOff val="80000"/>
            </a:srgb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C7D6A-5002-0E4A-FE30-0ED78FB8E9EC}"/>
              </a:ext>
            </a:extLst>
          </p:cNvPr>
          <p:cNvSpPr txBox="1"/>
          <p:nvPr/>
        </p:nvSpPr>
        <p:spPr>
          <a:xfrm>
            <a:off x="1661646" y="2120816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FE84DDA-CB4F-B73F-2489-C071253EE9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2966" y="3492599"/>
            <a:ext cx="396166" cy="396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154874-5D0C-0443-3AB6-70E8B5F9A3CB}"/>
              </a:ext>
            </a:extLst>
          </p:cNvPr>
          <p:cNvSpPr txBox="1"/>
          <p:nvPr/>
        </p:nvSpPr>
        <p:spPr>
          <a:xfrm>
            <a:off x="1282118" y="3489945"/>
            <a:ext cx="76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2C985C-ECFE-88D1-052D-A3E78A910370}"/>
              </a:ext>
            </a:extLst>
          </p:cNvPr>
          <p:cNvSpPr txBox="1"/>
          <p:nvPr/>
        </p:nvSpPr>
        <p:spPr>
          <a:xfrm>
            <a:off x="3476399" y="3460475"/>
            <a:ext cx="835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38DE812-176D-8A26-3781-DCCE29E1D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0657" y="3484030"/>
            <a:ext cx="396166" cy="396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8CA9869-810E-4578-692E-7B3CB8BFBB53}"/>
              </a:ext>
            </a:extLst>
          </p:cNvPr>
          <p:cNvSpPr txBox="1"/>
          <p:nvPr/>
        </p:nvSpPr>
        <p:spPr>
          <a:xfrm>
            <a:off x="5559809" y="3481376"/>
            <a:ext cx="1020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cs typeface="Times New Roman" panose="02020603050405020304" pitchFamily="18" charset="0"/>
              </a:rPr>
              <a:t>②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training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362321-E2F0-1B91-C388-2A617F279BA4}"/>
              </a:ext>
            </a:extLst>
          </p:cNvPr>
          <p:cNvSpPr txBox="1"/>
          <p:nvPr/>
        </p:nvSpPr>
        <p:spPr>
          <a:xfrm>
            <a:off x="3776308" y="2119661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Local client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349FDAD-CF24-92E8-83BC-908304669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9030" y="3492599"/>
            <a:ext cx="396166" cy="396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1EEED0C-B8C0-696C-8E39-58DDAD2AA232}"/>
              </a:ext>
            </a:extLst>
          </p:cNvPr>
          <p:cNvSpPr/>
          <p:nvPr/>
        </p:nvSpPr>
        <p:spPr>
          <a:xfrm>
            <a:off x="403524" y="4583501"/>
            <a:ext cx="9147934" cy="911496"/>
          </a:xfrm>
          <a:custGeom>
            <a:avLst/>
            <a:gdLst>
              <a:gd name="connsiteX0" fmla="*/ 0 w 9147934"/>
              <a:gd name="connsiteY0" fmla="*/ 0 h 911496"/>
              <a:gd name="connsiteX1" fmla="*/ 480267 w 9147934"/>
              <a:gd name="connsiteY1" fmla="*/ 0 h 911496"/>
              <a:gd name="connsiteX2" fmla="*/ 777574 w 9147934"/>
              <a:gd name="connsiteY2" fmla="*/ 0 h 911496"/>
              <a:gd name="connsiteX3" fmla="*/ 1532279 w 9147934"/>
              <a:gd name="connsiteY3" fmla="*/ 0 h 911496"/>
              <a:gd name="connsiteX4" fmla="*/ 2012545 w 9147934"/>
              <a:gd name="connsiteY4" fmla="*/ 0 h 911496"/>
              <a:gd name="connsiteX5" fmla="*/ 2492812 w 9147934"/>
              <a:gd name="connsiteY5" fmla="*/ 0 h 911496"/>
              <a:gd name="connsiteX6" fmla="*/ 3247517 w 9147934"/>
              <a:gd name="connsiteY6" fmla="*/ 0 h 911496"/>
              <a:gd name="connsiteX7" fmla="*/ 3636304 w 9147934"/>
              <a:gd name="connsiteY7" fmla="*/ 0 h 911496"/>
              <a:gd name="connsiteX8" fmla="*/ 4391008 w 9147934"/>
              <a:gd name="connsiteY8" fmla="*/ 0 h 911496"/>
              <a:gd name="connsiteX9" fmla="*/ 5145713 w 9147934"/>
              <a:gd name="connsiteY9" fmla="*/ 0 h 911496"/>
              <a:gd name="connsiteX10" fmla="*/ 5717459 w 9147934"/>
              <a:gd name="connsiteY10" fmla="*/ 0 h 911496"/>
              <a:gd name="connsiteX11" fmla="*/ 6472163 w 9147934"/>
              <a:gd name="connsiteY11" fmla="*/ 0 h 911496"/>
              <a:gd name="connsiteX12" fmla="*/ 6952430 w 9147934"/>
              <a:gd name="connsiteY12" fmla="*/ 0 h 911496"/>
              <a:gd name="connsiteX13" fmla="*/ 7432696 w 9147934"/>
              <a:gd name="connsiteY13" fmla="*/ 0 h 911496"/>
              <a:gd name="connsiteX14" fmla="*/ 8095922 w 9147934"/>
              <a:gd name="connsiteY14" fmla="*/ 0 h 911496"/>
              <a:gd name="connsiteX15" fmla="*/ 8576188 w 9147934"/>
              <a:gd name="connsiteY15" fmla="*/ 0 h 911496"/>
              <a:gd name="connsiteX16" fmla="*/ 9147934 w 9147934"/>
              <a:gd name="connsiteY16" fmla="*/ 0 h 911496"/>
              <a:gd name="connsiteX17" fmla="*/ 9147934 w 9147934"/>
              <a:gd name="connsiteY17" fmla="*/ 473978 h 911496"/>
              <a:gd name="connsiteX18" fmla="*/ 9147934 w 9147934"/>
              <a:gd name="connsiteY18" fmla="*/ 911496 h 911496"/>
              <a:gd name="connsiteX19" fmla="*/ 8484709 w 9147934"/>
              <a:gd name="connsiteY19" fmla="*/ 911496 h 911496"/>
              <a:gd name="connsiteX20" fmla="*/ 8095922 w 9147934"/>
              <a:gd name="connsiteY20" fmla="*/ 911496 h 911496"/>
              <a:gd name="connsiteX21" fmla="*/ 7341217 w 9147934"/>
              <a:gd name="connsiteY21" fmla="*/ 911496 h 911496"/>
              <a:gd name="connsiteX22" fmla="*/ 6769471 w 9147934"/>
              <a:gd name="connsiteY22" fmla="*/ 911496 h 911496"/>
              <a:gd name="connsiteX23" fmla="*/ 6380684 w 9147934"/>
              <a:gd name="connsiteY23" fmla="*/ 911496 h 911496"/>
              <a:gd name="connsiteX24" fmla="*/ 5808938 w 9147934"/>
              <a:gd name="connsiteY24" fmla="*/ 911496 h 911496"/>
              <a:gd name="connsiteX25" fmla="*/ 5511630 w 9147934"/>
              <a:gd name="connsiteY25" fmla="*/ 911496 h 911496"/>
              <a:gd name="connsiteX26" fmla="*/ 5214322 w 9147934"/>
              <a:gd name="connsiteY26" fmla="*/ 911496 h 911496"/>
              <a:gd name="connsiteX27" fmla="*/ 4642577 w 9147934"/>
              <a:gd name="connsiteY27" fmla="*/ 911496 h 911496"/>
              <a:gd name="connsiteX28" fmla="*/ 4253789 w 9147934"/>
              <a:gd name="connsiteY28" fmla="*/ 911496 h 911496"/>
              <a:gd name="connsiteX29" fmla="*/ 3590564 w 9147934"/>
              <a:gd name="connsiteY29" fmla="*/ 911496 h 911496"/>
              <a:gd name="connsiteX30" fmla="*/ 3201777 w 9147934"/>
              <a:gd name="connsiteY30" fmla="*/ 911496 h 911496"/>
              <a:gd name="connsiteX31" fmla="*/ 2538552 w 9147934"/>
              <a:gd name="connsiteY31" fmla="*/ 911496 h 911496"/>
              <a:gd name="connsiteX32" fmla="*/ 2241244 w 9147934"/>
              <a:gd name="connsiteY32" fmla="*/ 911496 h 911496"/>
              <a:gd name="connsiteX33" fmla="*/ 1578019 w 9147934"/>
              <a:gd name="connsiteY33" fmla="*/ 911496 h 911496"/>
              <a:gd name="connsiteX34" fmla="*/ 1189231 w 9147934"/>
              <a:gd name="connsiteY34" fmla="*/ 911496 h 911496"/>
              <a:gd name="connsiteX35" fmla="*/ 891924 w 9147934"/>
              <a:gd name="connsiteY35" fmla="*/ 911496 h 911496"/>
              <a:gd name="connsiteX36" fmla="*/ 503136 w 9147934"/>
              <a:gd name="connsiteY36" fmla="*/ 911496 h 911496"/>
              <a:gd name="connsiteX37" fmla="*/ 0 w 9147934"/>
              <a:gd name="connsiteY37" fmla="*/ 911496 h 911496"/>
              <a:gd name="connsiteX38" fmla="*/ 0 w 9147934"/>
              <a:gd name="connsiteY38" fmla="*/ 473978 h 911496"/>
              <a:gd name="connsiteX39" fmla="*/ 0 w 9147934"/>
              <a:gd name="connsiteY39" fmla="*/ 0 h 9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147934" h="911496" extrusionOk="0">
                <a:moveTo>
                  <a:pt x="0" y="0"/>
                </a:moveTo>
                <a:cubicBezTo>
                  <a:pt x="102372" y="-26591"/>
                  <a:pt x="267230" y="8488"/>
                  <a:pt x="480267" y="0"/>
                </a:cubicBezTo>
                <a:cubicBezTo>
                  <a:pt x="693304" y="-8488"/>
                  <a:pt x="708877" y="8047"/>
                  <a:pt x="777574" y="0"/>
                </a:cubicBezTo>
                <a:cubicBezTo>
                  <a:pt x="846271" y="-8047"/>
                  <a:pt x="1321827" y="55825"/>
                  <a:pt x="1532279" y="0"/>
                </a:cubicBezTo>
                <a:cubicBezTo>
                  <a:pt x="1742732" y="-55825"/>
                  <a:pt x="1834322" y="27908"/>
                  <a:pt x="2012545" y="0"/>
                </a:cubicBezTo>
                <a:cubicBezTo>
                  <a:pt x="2190768" y="-27908"/>
                  <a:pt x="2383362" y="7634"/>
                  <a:pt x="2492812" y="0"/>
                </a:cubicBezTo>
                <a:cubicBezTo>
                  <a:pt x="2602262" y="-7634"/>
                  <a:pt x="2880265" y="54496"/>
                  <a:pt x="3247517" y="0"/>
                </a:cubicBezTo>
                <a:cubicBezTo>
                  <a:pt x="3614769" y="-54496"/>
                  <a:pt x="3503784" y="21225"/>
                  <a:pt x="3636304" y="0"/>
                </a:cubicBezTo>
                <a:cubicBezTo>
                  <a:pt x="3768824" y="-21225"/>
                  <a:pt x="4161305" y="56230"/>
                  <a:pt x="4391008" y="0"/>
                </a:cubicBezTo>
                <a:cubicBezTo>
                  <a:pt x="4620711" y="-56230"/>
                  <a:pt x="4857281" y="85999"/>
                  <a:pt x="5145713" y="0"/>
                </a:cubicBezTo>
                <a:cubicBezTo>
                  <a:pt x="5434146" y="-85999"/>
                  <a:pt x="5436459" y="53758"/>
                  <a:pt x="5717459" y="0"/>
                </a:cubicBezTo>
                <a:cubicBezTo>
                  <a:pt x="5998459" y="-53758"/>
                  <a:pt x="6269029" y="4289"/>
                  <a:pt x="6472163" y="0"/>
                </a:cubicBezTo>
                <a:cubicBezTo>
                  <a:pt x="6675297" y="-4289"/>
                  <a:pt x="6811251" y="39603"/>
                  <a:pt x="6952430" y="0"/>
                </a:cubicBezTo>
                <a:cubicBezTo>
                  <a:pt x="7093609" y="-39603"/>
                  <a:pt x="7323489" y="56601"/>
                  <a:pt x="7432696" y="0"/>
                </a:cubicBezTo>
                <a:cubicBezTo>
                  <a:pt x="7541903" y="-56601"/>
                  <a:pt x="7861597" y="20614"/>
                  <a:pt x="8095922" y="0"/>
                </a:cubicBezTo>
                <a:cubicBezTo>
                  <a:pt x="8330247" y="-20614"/>
                  <a:pt x="8340229" y="3236"/>
                  <a:pt x="8576188" y="0"/>
                </a:cubicBezTo>
                <a:cubicBezTo>
                  <a:pt x="8812147" y="-3236"/>
                  <a:pt x="9008530" y="41931"/>
                  <a:pt x="9147934" y="0"/>
                </a:cubicBezTo>
                <a:cubicBezTo>
                  <a:pt x="9195882" y="211747"/>
                  <a:pt x="9126355" y="302787"/>
                  <a:pt x="9147934" y="473978"/>
                </a:cubicBezTo>
                <a:cubicBezTo>
                  <a:pt x="9169513" y="645169"/>
                  <a:pt x="9122885" y="695405"/>
                  <a:pt x="9147934" y="911496"/>
                </a:cubicBezTo>
                <a:cubicBezTo>
                  <a:pt x="8840910" y="941172"/>
                  <a:pt x="8716730" y="857279"/>
                  <a:pt x="8484709" y="911496"/>
                </a:cubicBezTo>
                <a:cubicBezTo>
                  <a:pt x="8252689" y="965713"/>
                  <a:pt x="8286102" y="889643"/>
                  <a:pt x="8095922" y="911496"/>
                </a:cubicBezTo>
                <a:cubicBezTo>
                  <a:pt x="7905742" y="933349"/>
                  <a:pt x="7610321" y="849044"/>
                  <a:pt x="7341217" y="911496"/>
                </a:cubicBezTo>
                <a:cubicBezTo>
                  <a:pt x="7072113" y="973948"/>
                  <a:pt x="6980022" y="871949"/>
                  <a:pt x="6769471" y="911496"/>
                </a:cubicBezTo>
                <a:cubicBezTo>
                  <a:pt x="6558920" y="951043"/>
                  <a:pt x="6537043" y="884663"/>
                  <a:pt x="6380684" y="911496"/>
                </a:cubicBezTo>
                <a:cubicBezTo>
                  <a:pt x="6224325" y="938329"/>
                  <a:pt x="5953015" y="875313"/>
                  <a:pt x="5808938" y="911496"/>
                </a:cubicBezTo>
                <a:cubicBezTo>
                  <a:pt x="5664861" y="947679"/>
                  <a:pt x="5590679" y="884234"/>
                  <a:pt x="5511630" y="911496"/>
                </a:cubicBezTo>
                <a:cubicBezTo>
                  <a:pt x="5432581" y="938758"/>
                  <a:pt x="5283385" y="888705"/>
                  <a:pt x="5214322" y="911496"/>
                </a:cubicBezTo>
                <a:cubicBezTo>
                  <a:pt x="5145259" y="934287"/>
                  <a:pt x="4811782" y="901690"/>
                  <a:pt x="4642577" y="911496"/>
                </a:cubicBezTo>
                <a:cubicBezTo>
                  <a:pt x="4473372" y="921302"/>
                  <a:pt x="4349023" y="877327"/>
                  <a:pt x="4253789" y="911496"/>
                </a:cubicBezTo>
                <a:cubicBezTo>
                  <a:pt x="4158555" y="945665"/>
                  <a:pt x="3732762" y="881146"/>
                  <a:pt x="3590564" y="911496"/>
                </a:cubicBezTo>
                <a:cubicBezTo>
                  <a:pt x="3448367" y="941846"/>
                  <a:pt x="3294426" y="882242"/>
                  <a:pt x="3201777" y="911496"/>
                </a:cubicBezTo>
                <a:cubicBezTo>
                  <a:pt x="3109128" y="940750"/>
                  <a:pt x="2868325" y="901461"/>
                  <a:pt x="2538552" y="911496"/>
                </a:cubicBezTo>
                <a:cubicBezTo>
                  <a:pt x="2208780" y="921531"/>
                  <a:pt x="2331304" y="886052"/>
                  <a:pt x="2241244" y="911496"/>
                </a:cubicBezTo>
                <a:cubicBezTo>
                  <a:pt x="2151184" y="936940"/>
                  <a:pt x="1828114" y="836285"/>
                  <a:pt x="1578019" y="911496"/>
                </a:cubicBezTo>
                <a:cubicBezTo>
                  <a:pt x="1327925" y="986707"/>
                  <a:pt x="1373300" y="886182"/>
                  <a:pt x="1189231" y="911496"/>
                </a:cubicBezTo>
                <a:cubicBezTo>
                  <a:pt x="1005162" y="936810"/>
                  <a:pt x="960488" y="886405"/>
                  <a:pt x="891924" y="911496"/>
                </a:cubicBezTo>
                <a:cubicBezTo>
                  <a:pt x="823360" y="936587"/>
                  <a:pt x="588231" y="865087"/>
                  <a:pt x="503136" y="911496"/>
                </a:cubicBezTo>
                <a:cubicBezTo>
                  <a:pt x="418041" y="957905"/>
                  <a:pt x="122463" y="867961"/>
                  <a:pt x="0" y="911496"/>
                </a:cubicBezTo>
                <a:cubicBezTo>
                  <a:pt x="-5166" y="781858"/>
                  <a:pt x="23197" y="631889"/>
                  <a:pt x="0" y="473978"/>
                </a:cubicBezTo>
                <a:cubicBezTo>
                  <a:pt x="-23197" y="316067"/>
                  <a:pt x="28300" y="231730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Graphic 25" descr="Server with solid fill">
            <a:extLst>
              <a:ext uri="{FF2B5EF4-FFF2-40B4-BE49-F238E27FC236}">
                <a16:creationId xmlns:a16="http://schemas.microsoft.com/office/drawing/2014/main" id="{F8FF9908-3744-8629-FAF9-BFC3084B47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314" y="4707240"/>
            <a:ext cx="545563" cy="5455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CC06155-D630-F61C-6400-B386FBD40B7D}"/>
              </a:ext>
            </a:extLst>
          </p:cNvPr>
          <p:cNvSpPr txBox="1"/>
          <p:nvPr/>
        </p:nvSpPr>
        <p:spPr>
          <a:xfrm>
            <a:off x="453711" y="5187220"/>
            <a:ext cx="666937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Server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3DB75C-3598-45E6-2C02-02C28A4A780C}"/>
              </a:ext>
            </a:extLst>
          </p:cNvPr>
          <p:cNvCxnSpPr>
            <a:cxnSpLocks/>
          </p:cNvCxnSpPr>
          <p:nvPr/>
        </p:nvCxnSpPr>
        <p:spPr>
          <a:xfrm>
            <a:off x="1118201" y="4636280"/>
            <a:ext cx="0" cy="82800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8EB293D-E481-3136-3D89-139BC6E306EF}"/>
              </a:ext>
            </a:extLst>
          </p:cNvPr>
          <p:cNvSpPr txBox="1"/>
          <p:nvPr/>
        </p:nvSpPr>
        <p:spPr>
          <a:xfrm>
            <a:off x="1189419" y="4606684"/>
            <a:ext cx="2244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Server-side Aggregation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43CF73-FFED-BC49-CEC2-55387D0BDFB3}"/>
              </a:ext>
            </a:extLst>
          </p:cNvPr>
          <p:cNvSpPr txBox="1"/>
          <p:nvPr/>
        </p:nvSpPr>
        <p:spPr>
          <a:xfrm>
            <a:off x="2940703" y="485425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3AAB23-25CE-AB20-2313-F4EF219D16E9}"/>
              </a:ext>
            </a:extLst>
          </p:cNvPr>
          <p:cNvSpPr txBox="1"/>
          <p:nvPr/>
        </p:nvSpPr>
        <p:spPr>
          <a:xfrm>
            <a:off x="3945201" y="485425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379291-6604-B268-79B8-DC59BCA5E510}"/>
              </a:ext>
            </a:extLst>
          </p:cNvPr>
          <p:cNvCxnSpPr>
            <a:cxnSpLocks/>
          </p:cNvCxnSpPr>
          <p:nvPr/>
        </p:nvCxnSpPr>
        <p:spPr>
          <a:xfrm>
            <a:off x="5829757" y="5146958"/>
            <a:ext cx="974594" cy="6791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33" name="Graphic 32">
            <a:extLst>
              <a:ext uri="{FF2B5EF4-FFF2-40B4-BE49-F238E27FC236}">
                <a16:creationId xmlns:a16="http://schemas.microsoft.com/office/drawing/2014/main" id="{D8416523-BB18-83E3-81B2-3C2A1FD36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517" y="4955749"/>
            <a:ext cx="396000" cy="396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3946BD93-6672-AD73-00D8-7BB09B301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9075" y="4955749"/>
            <a:ext cx="396000" cy="396000"/>
          </a:xfrm>
          <a:prstGeom prst="rect">
            <a:avLst/>
          </a:prstGeom>
        </p:spPr>
      </p:pic>
      <p:sp>
        <p:nvSpPr>
          <p:cNvPr id="35" name="Double Bracket 34">
            <a:extLst>
              <a:ext uri="{FF2B5EF4-FFF2-40B4-BE49-F238E27FC236}">
                <a16:creationId xmlns:a16="http://schemas.microsoft.com/office/drawing/2014/main" id="{A44A4EBB-EA45-49F8-BA58-8B7C07B6F06F}"/>
              </a:ext>
            </a:extLst>
          </p:cNvPr>
          <p:cNvSpPr/>
          <p:nvPr/>
        </p:nvSpPr>
        <p:spPr>
          <a:xfrm>
            <a:off x="2333593" y="4936297"/>
            <a:ext cx="2573093" cy="430944"/>
          </a:xfrm>
          <a:prstGeom prst="bracketPair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31C55F-4D26-37BB-823D-786FB80194AA}"/>
              </a:ext>
            </a:extLst>
          </p:cNvPr>
          <p:cNvSpPr txBox="1"/>
          <p:nvPr/>
        </p:nvSpPr>
        <p:spPr>
          <a:xfrm>
            <a:off x="1173992" y="4985390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cs typeface="Times New Roman" panose="02020603050405020304" pitchFamily="18" charset="0"/>
              </a:rPr>
              <a:t>④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Aggregate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041D01F-2059-7356-F1E1-E5B2CBE17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9553" y="4955749"/>
            <a:ext cx="396166" cy="396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2EC7A20-8450-B2F8-9514-1A4D42C9E7A1}"/>
              </a:ext>
            </a:extLst>
          </p:cNvPr>
          <p:cNvSpPr txBox="1"/>
          <p:nvPr/>
        </p:nvSpPr>
        <p:spPr>
          <a:xfrm>
            <a:off x="2231273" y="4186596"/>
            <a:ext cx="2144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Times New Roman" panose="02020603050405020304" pitchFamily="18" charset="0"/>
              </a:rPr>
              <a:t>①</a:t>
            </a:r>
            <a:r>
              <a:rPr lang="en-US" sz="1400" b="1" dirty="0">
                <a:cs typeface="Times New Roman" panose="02020603050405020304" pitchFamily="18" charset="0"/>
              </a:rPr>
              <a:t> Broadcast global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6DBCC-5E88-C4A5-E7B2-51BB30050D98}"/>
              </a:ext>
            </a:extLst>
          </p:cNvPr>
          <p:cNvSpPr txBox="1"/>
          <p:nvPr/>
        </p:nvSpPr>
        <p:spPr>
          <a:xfrm>
            <a:off x="5011378" y="4198406"/>
            <a:ext cx="2441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cs typeface="Times New Roman" panose="02020603050405020304" pitchFamily="18" charset="0"/>
              </a:rPr>
              <a:t>③</a:t>
            </a:r>
            <a:r>
              <a:rPr lang="zh-CN" altLang="en-US" sz="1400" b="1" dirty="0">
                <a:cs typeface="Times New Roman" panose="02020603050405020304" pitchFamily="18" charset="0"/>
              </a:rPr>
              <a:t> </a:t>
            </a:r>
            <a:r>
              <a:rPr lang="en-US" sz="1400" b="1" dirty="0">
                <a:cs typeface="Times New Roman" panose="02020603050405020304" pitchFamily="18" charset="0"/>
              </a:rPr>
              <a:t>Upload local model update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5BE0F1-E639-65E4-1C91-C9B2C0A503FA}"/>
              </a:ext>
            </a:extLst>
          </p:cNvPr>
          <p:cNvSpPr/>
          <p:nvPr/>
        </p:nvSpPr>
        <p:spPr>
          <a:xfrm>
            <a:off x="1396145" y="2512864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C6867D-49FE-6120-D930-8E1C84BBDE6F}"/>
              </a:ext>
            </a:extLst>
          </p:cNvPr>
          <p:cNvSpPr txBox="1"/>
          <p:nvPr/>
        </p:nvSpPr>
        <p:spPr>
          <a:xfrm>
            <a:off x="1651282" y="2502095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989D64C-8841-9C4C-FD05-272E9F8F9CFC}"/>
              </a:ext>
            </a:extLst>
          </p:cNvPr>
          <p:cNvSpPr/>
          <p:nvPr/>
        </p:nvSpPr>
        <p:spPr>
          <a:xfrm>
            <a:off x="5678896" y="2516338"/>
            <a:ext cx="1407886" cy="8767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88D560-E6C0-C21E-F562-46D9A7FA1AF9}"/>
              </a:ext>
            </a:extLst>
          </p:cNvPr>
          <p:cNvSpPr txBox="1"/>
          <p:nvPr/>
        </p:nvSpPr>
        <p:spPr>
          <a:xfrm>
            <a:off x="5909500" y="2500434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724495-A37E-E04D-83F4-DA56B3FEB81E}"/>
              </a:ext>
            </a:extLst>
          </p:cNvPr>
          <p:cNvSpPr/>
          <p:nvPr/>
        </p:nvSpPr>
        <p:spPr>
          <a:xfrm>
            <a:off x="3544903" y="2521677"/>
            <a:ext cx="1407886" cy="879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E2071B-2B99-91E9-48BB-CA7D7413F00C}"/>
              </a:ext>
            </a:extLst>
          </p:cNvPr>
          <p:cNvSpPr txBox="1"/>
          <p:nvPr/>
        </p:nvSpPr>
        <p:spPr>
          <a:xfrm>
            <a:off x="3789344" y="2506642"/>
            <a:ext cx="950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cs typeface="Times New Roman" panose="02020603050405020304" pitchFamily="18" charset="0"/>
              </a:rPr>
              <a:t>Private data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2DE3ADE-6F2C-0E82-AB90-2947615351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0376" y="2751353"/>
            <a:ext cx="360000" cy="35984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7F932BD-D925-95E5-C9CA-A67070A5AE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6729" y="2751353"/>
            <a:ext cx="360000" cy="35984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1AC4A99-E965-0636-9096-DEBF8DE910EA}"/>
              </a:ext>
            </a:extLst>
          </p:cNvPr>
          <p:cNvSpPr txBox="1"/>
          <p:nvPr/>
        </p:nvSpPr>
        <p:spPr>
          <a:xfrm>
            <a:off x="4506678" y="3131938"/>
            <a:ext cx="434388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Car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78A5D73-7AEF-E506-19DA-0B7E5568A702}"/>
              </a:ext>
            </a:extLst>
          </p:cNvPr>
          <p:cNvSpPr/>
          <p:nvPr/>
        </p:nvSpPr>
        <p:spPr>
          <a:xfrm>
            <a:off x="4540103" y="3170869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E16277-48FE-B5E3-98E9-A6286AFD3F33}"/>
              </a:ext>
            </a:extLst>
          </p:cNvPr>
          <p:cNvSpPr txBox="1"/>
          <p:nvPr/>
        </p:nvSpPr>
        <p:spPr>
          <a:xfrm>
            <a:off x="3563619" y="3131938"/>
            <a:ext cx="5105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Horse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2CCCAE0-9CD4-E932-CCC7-748235CA6817}"/>
              </a:ext>
            </a:extLst>
          </p:cNvPr>
          <p:cNvSpPr/>
          <p:nvPr/>
        </p:nvSpPr>
        <p:spPr>
          <a:xfrm>
            <a:off x="3632875" y="3170869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9C0A1E-7B62-9296-2DA9-BAACFE506A68}"/>
              </a:ext>
            </a:extLst>
          </p:cNvPr>
          <p:cNvSpPr txBox="1"/>
          <p:nvPr/>
        </p:nvSpPr>
        <p:spPr>
          <a:xfrm>
            <a:off x="4067627" y="3131938"/>
            <a:ext cx="4299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Bird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01D236-81CF-52E7-E341-CA649102646F}"/>
              </a:ext>
            </a:extLst>
          </p:cNvPr>
          <p:cNvSpPr/>
          <p:nvPr/>
        </p:nvSpPr>
        <p:spPr>
          <a:xfrm>
            <a:off x="4092776" y="3170869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FC35811-11C4-136E-F99E-60E2AAA93D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4063" y="2751277"/>
            <a:ext cx="360000" cy="360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D4287C2-1AC3-9415-90D4-5C3F9029AC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1945" y="2738737"/>
            <a:ext cx="360000" cy="35984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D13C2AC-78B1-888D-CB0B-A2D0899FD8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7860" y="2738737"/>
            <a:ext cx="360000" cy="35984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EDB0020-0507-C7C1-1121-4C834CE54E9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71507" y="2738737"/>
            <a:ext cx="360000" cy="35984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2B53EB1-B5D6-8AEA-2A48-DA8D3F10D49E}"/>
              </a:ext>
            </a:extLst>
          </p:cNvPr>
          <p:cNvSpPr txBox="1"/>
          <p:nvPr/>
        </p:nvSpPr>
        <p:spPr>
          <a:xfrm>
            <a:off x="2346139" y="3119322"/>
            <a:ext cx="446602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Ship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0D96417-3DD9-DB32-72C6-3EC8AB788B5F}"/>
              </a:ext>
            </a:extLst>
          </p:cNvPr>
          <p:cNvSpPr/>
          <p:nvPr/>
        </p:nvSpPr>
        <p:spPr>
          <a:xfrm>
            <a:off x="2376483" y="315825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5AE63D-5317-3533-37B2-EF4D3210DC92}"/>
              </a:ext>
            </a:extLst>
          </p:cNvPr>
          <p:cNvSpPr txBox="1"/>
          <p:nvPr/>
        </p:nvSpPr>
        <p:spPr>
          <a:xfrm>
            <a:off x="1926039" y="3119322"/>
            <a:ext cx="381461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502BDA-5508-D63E-FC82-6FE8ABDBDD99}"/>
              </a:ext>
            </a:extLst>
          </p:cNvPr>
          <p:cNvSpPr/>
          <p:nvPr/>
        </p:nvSpPr>
        <p:spPr>
          <a:xfrm>
            <a:off x="1930408" y="315825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EF73AD-C98D-57B9-94D0-97460C8BC0E1}"/>
              </a:ext>
            </a:extLst>
          </p:cNvPr>
          <p:cNvSpPr txBox="1"/>
          <p:nvPr/>
        </p:nvSpPr>
        <p:spPr>
          <a:xfrm>
            <a:off x="1451831" y="3119322"/>
            <a:ext cx="4221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Dog</a:t>
            </a:r>
            <a:endParaRPr lang="en-US" sz="1050" b="1" dirty="0"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C3D3CD8-45FC-287C-50DD-9437EBCB41C7}"/>
              </a:ext>
            </a:extLst>
          </p:cNvPr>
          <p:cNvSpPr/>
          <p:nvPr/>
        </p:nvSpPr>
        <p:spPr>
          <a:xfrm>
            <a:off x="1476980" y="315825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18C632C-AD74-E639-B538-0B97481EE5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7109" y="2738737"/>
            <a:ext cx="360000" cy="35984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C6655A0-6EE3-F5F8-516D-7D4E2A4B9E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408" y="2738737"/>
            <a:ext cx="360000" cy="35984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2E871A58-A0D3-D831-401F-A07F16CE193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6661270" y="2738737"/>
            <a:ext cx="360000" cy="35984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2F310927-2159-4FBC-FF80-4F67865A4801}"/>
              </a:ext>
            </a:extLst>
          </p:cNvPr>
          <p:cNvSpPr txBox="1"/>
          <p:nvPr/>
        </p:nvSpPr>
        <p:spPr>
          <a:xfrm>
            <a:off x="5752742" y="3119322"/>
            <a:ext cx="359394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Cat</a:t>
            </a:r>
            <a:endParaRPr lang="en-US" sz="900" b="1" dirty="0"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48131C9-3DE3-4DEB-4A55-78BE4B012215}"/>
              </a:ext>
            </a:extLst>
          </p:cNvPr>
          <p:cNvSpPr/>
          <p:nvPr/>
        </p:nvSpPr>
        <p:spPr>
          <a:xfrm>
            <a:off x="5757109" y="3158253"/>
            <a:ext cx="355027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1E25C99-C8E7-BF0A-783C-F3EB38B0193F}"/>
              </a:ext>
            </a:extLst>
          </p:cNvPr>
          <p:cNvSpPr txBox="1"/>
          <p:nvPr/>
        </p:nvSpPr>
        <p:spPr>
          <a:xfrm>
            <a:off x="6139640" y="3119322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Plane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D229C8F-D1A6-B6D6-C4CE-8BBB535B41B5}"/>
              </a:ext>
            </a:extLst>
          </p:cNvPr>
          <p:cNvSpPr/>
          <p:nvPr/>
        </p:nvSpPr>
        <p:spPr>
          <a:xfrm>
            <a:off x="6216381" y="3158253"/>
            <a:ext cx="360000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342B651-6E25-B6DB-F6A7-101E77910FFE}"/>
              </a:ext>
            </a:extLst>
          </p:cNvPr>
          <p:cNvSpPr txBox="1"/>
          <p:nvPr/>
        </p:nvSpPr>
        <p:spPr>
          <a:xfrm>
            <a:off x="6588560" y="3119322"/>
            <a:ext cx="51755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cs typeface="Times New Roman" panose="02020603050405020304" pitchFamily="18" charset="0"/>
              </a:rPr>
              <a:t>Truck</a:t>
            </a:r>
            <a:endParaRPr lang="en-US" sz="700" b="1" dirty="0"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6161EA8-1DE1-6B23-8302-FCA6F5A9EE7F}"/>
              </a:ext>
            </a:extLst>
          </p:cNvPr>
          <p:cNvSpPr/>
          <p:nvPr/>
        </p:nvSpPr>
        <p:spPr>
          <a:xfrm>
            <a:off x="6665301" y="3158253"/>
            <a:ext cx="355969" cy="16835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Graphic 110" descr="Laptop with solid fill">
            <a:extLst>
              <a:ext uri="{FF2B5EF4-FFF2-40B4-BE49-F238E27FC236}">
                <a16:creationId xmlns:a16="http://schemas.microsoft.com/office/drawing/2014/main" id="{B21EA407-7CEA-3544-5CF5-01F5D101E1F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3978" y="2657677"/>
            <a:ext cx="547200" cy="547200"/>
          </a:xfrm>
          <a:prstGeom prst="rect">
            <a:avLst/>
          </a:prstGeom>
        </p:spPr>
      </p:pic>
      <p:pic>
        <p:nvPicPr>
          <p:cNvPr id="113" name="Picture 112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A9DD6B11-FF7F-E3FE-EE05-A53F0AEA246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84801" y="2914063"/>
            <a:ext cx="517555" cy="517555"/>
          </a:xfrm>
          <a:prstGeom prst="rect">
            <a:avLst/>
          </a:prstGeom>
        </p:spPr>
      </p:pic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A94966B-B1D4-76A5-653F-A6C4EBD57B25}"/>
              </a:ext>
            </a:extLst>
          </p:cNvPr>
          <p:cNvCxnSpPr>
            <a:cxnSpLocks/>
          </p:cNvCxnSpPr>
          <p:nvPr/>
        </p:nvCxnSpPr>
        <p:spPr>
          <a:xfrm>
            <a:off x="7215265" y="3675467"/>
            <a:ext cx="482392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49F41289-BBD4-601D-60A2-557589253EAA}"/>
              </a:ext>
            </a:extLst>
          </p:cNvPr>
          <p:cNvSpPr txBox="1"/>
          <p:nvPr/>
        </p:nvSpPr>
        <p:spPr>
          <a:xfrm>
            <a:off x="7215265" y="3331770"/>
            <a:ext cx="423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Sell</a:t>
            </a:r>
          </a:p>
        </p:txBody>
      </p:sp>
      <p:pic>
        <p:nvPicPr>
          <p:cNvPr id="83" name="Graphic 82" descr="Fingerprint with solid fill">
            <a:extLst>
              <a:ext uri="{FF2B5EF4-FFF2-40B4-BE49-F238E27FC236}">
                <a16:creationId xmlns:a16="http://schemas.microsoft.com/office/drawing/2014/main" id="{149968A7-472A-B8B8-E552-4E2FC53ECB5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69690" y="3430374"/>
            <a:ext cx="314694" cy="314694"/>
          </a:xfrm>
          <a:prstGeom prst="rect">
            <a:avLst/>
          </a:prstGeom>
        </p:spPr>
      </p:pic>
      <p:pic>
        <p:nvPicPr>
          <p:cNvPr id="85" name="Graphic 84" descr="Fingerprint with solid fill">
            <a:extLst>
              <a:ext uri="{FF2B5EF4-FFF2-40B4-BE49-F238E27FC236}">
                <a16:creationId xmlns:a16="http://schemas.microsoft.com/office/drawing/2014/main" id="{02DD241B-5A68-AF7B-6D7D-CAA99052E11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738248" y="3450074"/>
            <a:ext cx="314694" cy="314694"/>
          </a:xfrm>
          <a:prstGeom prst="rect">
            <a:avLst/>
          </a:prstGeom>
        </p:spPr>
      </p:pic>
      <p:pic>
        <p:nvPicPr>
          <p:cNvPr id="86" name="Graphic 85" descr="Fingerprint with solid fill">
            <a:extLst>
              <a:ext uri="{FF2B5EF4-FFF2-40B4-BE49-F238E27FC236}">
                <a16:creationId xmlns:a16="http://schemas.microsoft.com/office/drawing/2014/main" id="{48BD930A-4E28-8367-AF52-043E999594E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863351" y="3430374"/>
            <a:ext cx="314694" cy="314694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0266BCDF-DE5D-D097-4028-636AE5710F5C}"/>
              </a:ext>
            </a:extLst>
          </p:cNvPr>
          <p:cNvSpPr txBox="1"/>
          <p:nvPr/>
        </p:nvSpPr>
        <p:spPr>
          <a:xfrm>
            <a:off x="5778914" y="4685293"/>
            <a:ext cx="1123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cs typeface="Times New Roman" panose="02020603050405020304" pitchFamily="18" charset="0"/>
              </a:rPr>
              <a:t>⑤ Watermark injection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EE8D20A5-DC35-95D8-1293-38439879E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1085" y="4941278"/>
            <a:ext cx="396166" cy="396000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07F538F-4626-A5F4-CC0D-C1849A6CCE57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4963256" y="5139278"/>
            <a:ext cx="407829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96" name="Graphic 95" descr="Devil face outline with solid fill">
            <a:extLst>
              <a:ext uri="{FF2B5EF4-FFF2-40B4-BE49-F238E27FC236}">
                <a16:creationId xmlns:a16="http://schemas.microsoft.com/office/drawing/2014/main" id="{AA017B81-E0F3-2697-BF88-F815D6E40C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952303" y="2076074"/>
            <a:ext cx="346840" cy="346695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E059D58A-FF10-C50B-AFD3-0B0CF0018661}"/>
              </a:ext>
            </a:extLst>
          </p:cNvPr>
          <p:cNvSpPr/>
          <p:nvPr/>
        </p:nvSpPr>
        <p:spPr>
          <a:xfrm>
            <a:off x="8577794" y="1796422"/>
            <a:ext cx="3458706" cy="2509899"/>
          </a:xfrm>
          <a:custGeom>
            <a:avLst/>
            <a:gdLst>
              <a:gd name="connsiteX0" fmla="*/ 0 w 3458706"/>
              <a:gd name="connsiteY0" fmla="*/ 0 h 2509899"/>
              <a:gd name="connsiteX1" fmla="*/ 657154 w 3458706"/>
              <a:gd name="connsiteY1" fmla="*/ 0 h 2509899"/>
              <a:gd name="connsiteX2" fmla="*/ 1245134 w 3458706"/>
              <a:gd name="connsiteY2" fmla="*/ 0 h 2509899"/>
              <a:gd name="connsiteX3" fmla="*/ 2006049 w 3458706"/>
              <a:gd name="connsiteY3" fmla="*/ 0 h 2509899"/>
              <a:gd name="connsiteX4" fmla="*/ 2663204 w 3458706"/>
              <a:gd name="connsiteY4" fmla="*/ 0 h 2509899"/>
              <a:gd name="connsiteX5" fmla="*/ 3458706 w 3458706"/>
              <a:gd name="connsiteY5" fmla="*/ 0 h 2509899"/>
              <a:gd name="connsiteX6" fmla="*/ 3458706 w 3458706"/>
              <a:gd name="connsiteY6" fmla="*/ 677673 h 2509899"/>
              <a:gd name="connsiteX7" fmla="*/ 3458706 w 3458706"/>
              <a:gd name="connsiteY7" fmla="*/ 1305147 h 2509899"/>
              <a:gd name="connsiteX8" fmla="*/ 3458706 w 3458706"/>
              <a:gd name="connsiteY8" fmla="*/ 1932622 h 2509899"/>
              <a:gd name="connsiteX9" fmla="*/ 3458706 w 3458706"/>
              <a:gd name="connsiteY9" fmla="*/ 2509899 h 2509899"/>
              <a:gd name="connsiteX10" fmla="*/ 2836139 w 3458706"/>
              <a:gd name="connsiteY10" fmla="*/ 2509899 h 2509899"/>
              <a:gd name="connsiteX11" fmla="*/ 2144398 w 3458706"/>
              <a:gd name="connsiteY11" fmla="*/ 2509899 h 2509899"/>
              <a:gd name="connsiteX12" fmla="*/ 1487244 w 3458706"/>
              <a:gd name="connsiteY12" fmla="*/ 2509899 h 2509899"/>
              <a:gd name="connsiteX13" fmla="*/ 726328 w 3458706"/>
              <a:gd name="connsiteY13" fmla="*/ 2509899 h 2509899"/>
              <a:gd name="connsiteX14" fmla="*/ 0 w 3458706"/>
              <a:gd name="connsiteY14" fmla="*/ 2509899 h 2509899"/>
              <a:gd name="connsiteX15" fmla="*/ 0 w 3458706"/>
              <a:gd name="connsiteY15" fmla="*/ 1932622 h 2509899"/>
              <a:gd name="connsiteX16" fmla="*/ 0 w 3458706"/>
              <a:gd name="connsiteY16" fmla="*/ 1305147 h 2509899"/>
              <a:gd name="connsiteX17" fmla="*/ 0 w 3458706"/>
              <a:gd name="connsiteY17" fmla="*/ 702772 h 2509899"/>
              <a:gd name="connsiteX18" fmla="*/ 0 w 3458706"/>
              <a:gd name="connsiteY18" fmla="*/ 0 h 2509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8706" h="2509899" extrusionOk="0">
                <a:moveTo>
                  <a:pt x="0" y="0"/>
                </a:moveTo>
                <a:cubicBezTo>
                  <a:pt x="135447" y="-23032"/>
                  <a:pt x="490371" y="-21714"/>
                  <a:pt x="657154" y="0"/>
                </a:cubicBezTo>
                <a:cubicBezTo>
                  <a:pt x="823937" y="21714"/>
                  <a:pt x="1127412" y="3298"/>
                  <a:pt x="1245134" y="0"/>
                </a:cubicBezTo>
                <a:cubicBezTo>
                  <a:pt x="1362856" y="-3298"/>
                  <a:pt x="1753764" y="24011"/>
                  <a:pt x="2006049" y="0"/>
                </a:cubicBezTo>
                <a:cubicBezTo>
                  <a:pt x="2258334" y="-24011"/>
                  <a:pt x="2389533" y="11044"/>
                  <a:pt x="2663204" y="0"/>
                </a:cubicBezTo>
                <a:cubicBezTo>
                  <a:pt x="2936876" y="-11044"/>
                  <a:pt x="3248279" y="-37695"/>
                  <a:pt x="3458706" y="0"/>
                </a:cubicBezTo>
                <a:cubicBezTo>
                  <a:pt x="3484759" y="187896"/>
                  <a:pt x="3461181" y="351536"/>
                  <a:pt x="3458706" y="677673"/>
                </a:cubicBezTo>
                <a:cubicBezTo>
                  <a:pt x="3456231" y="1003810"/>
                  <a:pt x="3477316" y="1090038"/>
                  <a:pt x="3458706" y="1305147"/>
                </a:cubicBezTo>
                <a:cubicBezTo>
                  <a:pt x="3440096" y="1520256"/>
                  <a:pt x="3445872" y="1806298"/>
                  <a:pt x="3458706" y="1932622"/>
                </a:cubicBezTo>
                <a:cubicBezTo>
                  <a:pt x="3471540" y="2058947"/>
                  <a:pt x="3471459" y="2359063"/>
                  <a:pt x="3458706" y="2509899"/>
                </a:cubicBezTo>
                <a:cubicBezTo>
                  <a:pt x="3237387" y="2511126"/>
                  <a:pt x="3097588" y="2484140"/>
                  <a:pt x="2836139" y="2509899"/>
                </a:cubicBezTo>
                <a:cubicBezTo>
                  <a:pt x="2574690" y="2535658"/>
                  <a:pt x="2442597" y="2542832"/>
                  <a:pt x="2144398" y="2509899"/>
                </a:cubicBezTo>
                <a:cubicBezTo>
                  <a:pt x="1846199" y="2476966"/>
                  <a:pt x="1644361" y="2502839"/>
                  <a:pt x="1487244" y="2509899"/>
                </a:cubicBezTo>
                <a:cubicBezTo>
                  <a:pt x="1330127" y="2516959"/>
                  <a:pt x="906543" y="2478880"/>
                  <a:pt x="726328" y="2509899"/>
                </a:cubicBezTo>
                <a:cubicBezTo>
                  <a:pt x="546113" y="2540918"/>
                  <a:pt x="361444" y="2517104"/>
                  <a:pt x="0" y="2509899"/>
                </a:cubicBezTo>
                <a:cubicBezTo>
                  <a:pt x="-27343" y="2308010"/>
                  <a:pt x="7510" y="2056619"/>
                  <a:pt x="0" y="1932622"/>
                </a:cubicBezTo>
                <a:cubicBezTo>
                  <a:pt x="-7510" y="1808625"/>
                  <a:pt x="27779" y="1519584"/>
                  <a:pt x="0" y="1305147"/>
                </a:cubicBezTo>
                <a:cubicBezTo>
                  <a:pt x="-27779" y="1090711"/>
                  <a:pt x="-11349" y="849955"/>
                  <a:pt x="0" y="702772"/>
                </a:cubicBezTo>
                <a:cubicBezTo>
                  <a:pt x="11349" y="555590"/>
                  <a:pt x="21414" y="273332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D8E2850-DA1A-0677-82E0-E08C0753ACB3}"/>
              </a:ext>
            </a:extLst>
          </p:cNvPr>
          <p:cNvSpPr txBox="1"/>
          <p:nvPr/>
        </p:nvSpPr>
        <p:spPr>
          <a:xfrm>
            <a:off x="8639603" y="1861208"/>
            <a:ext cx="2018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Watermark detection</a:t>
            </a:r>
          </a:p>
        </p:txBody>
      </p:sp>
      <p:pic>
        <p:nvPicPr>
          <p:cNvPr id="100" name="Graphic 99" descr="Fingerprint with solid fill">
            <a:extLst>
              <a:ext uri="{FF2B5EF4-FFF2-40B4-BE49-F238E27FC236}">
                <a16:creationId xmlns:a16="http://schemas.microsoft.com/office/drawing/2014/main" id="{E0EEEE54-041A-8195-D0B0-96BEC3B375D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847676" y="2486153"/>
            <a:ext cx="314694" cy="314694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EC9D8FD6-CB28-D789-CC82-C79067127FC8}"/>
              </a:ext>
            </a:extLst>
          </p:cNvPr>
          <p:cNvSpPr txBox="1"/>
          <p:nvPr/>
        </p:nvSpPr>
        <p:spPr>
          <a:xfrm>
            <a:off x="9153658" y="2223832"/>
            <a:ext cx="953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cs typeface="Times New Roman" panose="02020603050405020304" pitchFamily="18" charset="0"/>
              </a:rPr>
              <a:t>Watermark extraction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47EC1E5-EA1F-1071-95D4-2F44C81B4B51}"/>
              </a:ext>
            </a:extLst>
          </p:cNvPr>
          <p:cNvCxnSpPr>
            <a:cxnSpLocks/>
          </p:cNvCxnSpPr>
          <p:nvPr/>
        </p:nvCxnSpPr>
        <p:spPr>
          <a:xfrm flipV="1">
            <a:off x="9153658" y="2751954"/>
            <a:ext cx="900000" cy="4704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104" name="Graphic 103" descr="Fingerprint with solid fill">
            <a:extLst>
              <a:ext uri="{FF2B5EF4-FFF2-40B4-BE49-F238E27FC236}">
                <a16:creationId xmlns:a16="http://schemas.microsoft.com/office/drawing/2014/main" id="{52C0236C-1893-B0A6-65D4-CC10A0B3898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027806" y="2493828"/>
            <a:ext cx="449795" cy="449795"/>
          </a:xfrm>
          <a:prstGeom prst="rect">
            <a:avLst/>
          </a:prstGeom>
        </p:spPr>
      </p:pic>
      <p:pic>
        <p:nvPicPr>
          <p:cNvPr id="112" name="Picture 111" descr="A yellow network with circles and lines&#10;&#10;Description automatically generated with medium confidence">
            <a:extLst>
              <a:ext uri="{FF2B5EF4-FFF2-40B4-BE49-F238E27FC236}">
                <a16:creationId xmlns:a16="http://schemas.microsoft.com/office/drawing/2014/main" id="{EFDAA494-E8D4-ACCD-F079-0BC643C12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492" y="3481376"/>
            <a:ext cx="396000" cy="396000"/>
          </a:xfrm>
          <a:prstGeom prst="rect">
            <a:avLst/>
          </a:prstGeom>
        </p:spPr>
      </p:pic>
      <p:pic>
        <p:nvPicPr>
          <p:cNvPr id="114" name="Graphic 113" descr="Fingerprint with solid fill">
            <a:extLst>
              <a:ext uri="{FF2B5EF4-FFF2-40B4-BE49-F238E27FC236}">
                <a16:creationId xmlns:a16="http://schemas.microsoft.com/office/drawing/2014/main" id="{1A68C626-05E8-4EFD-1435-CCE204363E4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928141" y="3406116"/>
            <a:ext cx="314694" cy="314694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8B224228-80B4-C8AE-2D3A-45FE602F44CA}"/>
              </a:ext>
            </a:extLst>
          </p:cNvPr>
          <p:cNvSpPr txBox="1"/>
          <p:nvPr/>
        </p:nvSpPr>
        <p:spPr>
          <a:xfrm>
            <a:off x="10822835" y="2782533"/>
            <a:ext cx="953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cs typeface="Times New Roman" panose="02020603050405020304" pitchFamily="18" charset="0"/>
              </a:rPr>
              <a:t>Traceability verification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A2C0100-F14B-2AB1-5379-0B33F4BD5906}"/>
              </a:ext>
            </a:extLst>
          </p:cNvPr>
          <p:cNvCxnSpPr>
            <a:cxnSpLocks/>
            <a:stCxn id="104" idx="2"/>
            <a:endCxn id="93" idx="0"/>
          </p:cNvCxnSpPr>
          <p:nvPr/>
        </p:nvCxnSpPr>
        <p:spPr>
          <a:xfrm flipH="1">
            <a:off x="9238510" y="2943623"/>
            <a:ext cx="1014194" cy="483754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BB8CB1B0-4842-1676-A04A-9784FF9EF5F9}"/>
              </a:ext>
            </a:extLst>
          </p:cNvPr>
          <p:cNvCxnSpPr>
            <a:cxnSpLocks/>
            <a:stCxn id="104" idx="2"/>
            <a:endCxn id="94" idx="0"/>
          </p:cNvCxnSpPr>
          <p:nvPr/>
        </p:nvCxnSpPr>
        <p:spPr>
          <a:xfrm>
            <a:off x="10252704" y="2943623"/>
            <a:ext cx="30342" cy="494677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7F260E3A-8B44-86D2-80A8-73DE166762F4}"/>
              </a:ext>
            </a:extLst>
          </p:cNvPr>
          <p:cNvSpPr txBox="1">
            <a:spLocks/>
          </p:cNvSpPr>
          <p:nvPr/>
        </p:nvSpPr>
        <p:spPr>
          <a:xfrm>
            <a:off x="403524" y="6313902"/>
            <a:ext cx="7456432" cy="308571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latin typeface="+mn-lt"/>
              </a:rPr>
              <a:t>Jiahao et al., “</a:t>
            </a:r>
            <a:r>
              <a:rPr lang="en-US" sz="1400" b="1" i="1" dirty="0">
                <a:latin typeface="+mn-lt"/>
              </a:rPr>
              <a:t>Traceable Black-box Watermarks for Federated Learning</a:t>
            </a:r>
            <a:r>
              <a:rPr lang="en-US" sz="1400" b="1" dirty="0">
                <a:latin typeface="+mn-lt"/>
              </a:rPr>
              <a:t>”, preprint, under review.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D467DC-06FF-0FEE-43C4-F3EECC5B8C6A}"/>
              </a:ext>
            </a:extLst>
          </p:cNvPr>
          <p:cNvSpPr txBox="1"/>
          <p:nvPr/>
        </p:nvSpPr>
        <p:spPr>
          <a:xfrm>
            <a:off x="7436982" y="484429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EFB019-595F-CF6E-41DB-728A8BC69A59}"/>
              </a:ext>
            </a:extLst>
          </p:cNvPr>
          <p:cNvSpPr txBox="1"/>
          <p:nvPr/>
        </p:nvSpPr>
        <p:spPr>
          <a:xfrm>
            <a:off x="8441480" y="484429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Times New Roman" panose="02020603050405020304" pitchFamily="18" charset="0"/>
              </a:rPr>
              <a:t>…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F86C858-0441-E98E-A573-A93FB775B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9796" y="4945789"/>
            <a:ext cx="396000" cy="3960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D9C82568-11B2-7E9B-1EA2-5C6E2B85C7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5354" y="4945789"/>
            <a:ext cx="396000" cy="396000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50F4E758-483C-1BA8-E8ED-681181C2F9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5832" y="4945789"/>
            <a:ext cx="396166" cy="396000"/>
          </a:xfrm>
          <a:prstGeom prst="rect">
            <a:avLst/>
          </a:prstGeom>
        </p:spPr>
      </p:pic>
      <p:sp>
        <p:nvSpPr>
          <p:cNvPr id="76" name="Double Bracket 75">
            <a:extLst>
              <a:ext uri="{FF2B5EF4-FFF2-40B4-BE49-F238E27FC236}">
                <a16:creationId xmlns:a16="http://schemas.microsoft.com/office/drawing/2014/main" id="{54CF2496-E628-3683-D68B-68797F1E36ED}"/>
              </a:ext>
            </a:extLst>
          </p:cNvPr>
          <p:cNvSpPr/>
          <p:nvPr/>
        </p:nvSpPr>
        <p:spPr>
          <a:xfrm>
            <a:off x="6843960" y="4920805"/>
            <a:ext cx="2573093" cy="430944"/>
          </a:xfrm>
          <a:prstGeom prst="bracketPair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7" name="Graphic 76" descr="Fingerprint with solid fill">
            <a:extLst>
              <a:ext uri="{FF2B5EF4-FFF2-40B4-BE49-F238E27FC236}">
                <a16:creationId xmlns:a16="http://schemas.microsoft.com/office/drawing/2014/main" id="{ABFBF4DB-112E-EFED-94FF-7F1F01AD096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064112" y="4881902"/>
            <a:ext cx="314694" cy="314694"/>
          </a:xfrm>
          <a:prstGeom prst="rect">
            <a:avLst/>
          </a:prstGeom>
        </p:spPr>
      </p:pic>
      <p:pic>
        <p:nvPicPr>
          <p:cNvPr id="78" name="Graphic 77" descr="Fingerprint with solid fill">
            <a:extLst>
              <a:ext uri="{FF2B5EF4-FFF2-40B4-BE49-F238E27FC236}">
                <a16:creationId xmlns:a16="http://schemas.microsoft.com/office/drawing/2014/main" id="{BD1092CA-B8D9-22DB-6F2A-DBD723D23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108648" y="4892825"/>
            <a:ext cx="314694" cy="314694"/>
          </a:xfrm>
          <a:prstGeom prst="rect">
            <a:avLst/>
          </a:prstGeom>
        </p:spPr>
      </p:pic>
      <p:pic>
        <p:nvPicPr>
          <p:cNvPr id="79" name="Graphic 78" descr="Fingerprint with solid fill">
            <a:extLst>
              <a:ext uri="{FF2B5EF4-FFF2-40B4-BE49-F238E27FC236}">
                <a16:creationId xmlns:a16="http://schemas.microsoft.com/office/drawing/2014/main" id="{71E31AD7-E63C-901C-C278-69BDFDE7EFD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07312" y="4870736"/>
            <a:ext cx="314694" cy="314694"/>
          </a:xfrm>
          <a:prstGeom prst="rect">
            <a:avLst/>
          </a:prstGeom>
        </p:spPr>
      </p:pic>
      <p:pic>
        <p:nvPicPr>
          <p:cNvPr id="93" name="Graphic 92" descr="Fingerprint with solid fill">
            <a:extLst>
              <a:ext uri="{FF2B5EF4-FFF2-40B4-BE49-F238E27FC236}">
                <a16:creationId xmlns:a16="http://schemas.microsoft.com/office/drawing/2014/main" id="{D31E5658-BAE2-6C08-A86D-505CD63DE2D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13510" y="3427377"/>
            <a:ext cx="450000" cy="450000"/>
          </a:xfrm>
          <a:prstGeom prst="rect">
            <a:avLst/>
          </a:prstGeom>
        </p:spPr>
      </p:pic>
      <p:pic>
        <p:nvPicPr>
          <p:cNvPr id="94" name="Graphic 93" descr="Fingerprint with solid fill">
            <a:extLst>
              <a:ext uri="{FF2B5EF4-FFF2-40B4-BE49-F238E27FC236}">
                <a16:creationId xmlns:a16="http://schemas.microsoft.com/office/drawing/2014/main" id="{FC4CA0BC-5145-E426-1EBB-26EF4CD7336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58046" y="3438300"/>
            <a:ext cx="450000" cy="450000"/>
          </a:xfrm>
          <a:prstGeom prst="rect">
            <a:avLst/>
          </a:prstGeom>
        </p:spPr>
      </p:pic>
      <p:pic>
        <p:nvPicPr>
          <p:cNvPr id="95" name="Graphic 94" descr="Fingerprint with solid fill">
            <a:extLst>
              <a:ext uri="{FF2B5EF4-FFF2-40B4-BE49-F238E27FC236}">
                <a16:creationId xmlns:a16="http://schemas.microsoft.com/office/drawing/2014/main" id="{BCB8B9D8-F613-7685-EDFF-E81791358EB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56710" y="3416211"/>
            <a:ext cx="450000" cy="450000"/>
          </a:xfrm>
          <a:prstGeom prst="rect">
            <a:avLst/>
          </a:prstGeom>
        </p:spPr>
      </p:pic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1EB2965-B2E5-AEEA-0766-A64C8AE075EC}"/>
              </a:ext>
            </a:extLst>
          </p:cNvPr>
          <p:cNvCxnSpPr>
            <a:cxnSpLocks/>
            <a:stCxn id="104" idx="2"/>
            <a:endCxn id="95" idx="0"/>
          </p:cNvCxnSpPr>
          <p:nvPr/>
        </p:nvCxnSpPr>
        <p:spPr>
          <a:xfrm>
            <a:off x="10252704" y="2943623"/>
            <a:ext cx="1029006" cy="472588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C69994F2-E930-E21C-F412-CDBD01684FB8}"/>
              </a:ext>
            </a:extLst>
          </p:cNvPr>
          <p:cNvSpPr txBox="1"/>
          <p:nvPr/>
        </p:nvSpPr>
        <p:spPr>
          <a:xfrm rot="16200000">
            <a:off x="8391438" y="3755349"/>
            <a:ext cx="824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cs typeface="Times New Roman" panose="02020603050405020304" pitchFamily="18" charset="0"/>
              </a:rPr>
              <a:t>Similarity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4D447C4-A306-36DD-B59A-E351FA880808}"/>
              </a:ext>
            </a:extLst>
          </p:cNvPr>
          <p:cNvSpPr txBox="1"/>
          <p:nvPr/>
        </p:nvSpPr>
        <p:spPr>
          <a:xfrm>
            <a:off x="8978599" y="3908450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0.25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7C72A06-E223-C614-142F-A07131DA5C2A}"/>
              </a:ext>
            </a:extLst>
          </p:cNvPr>
          <p:cNvSpPr txBox="1"/>
          <p:nvPr/>
        </p:nvSpPr>
        <p:spPr>
          <a:xfrm>
            <a:off x="10014593" y="3905933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0.03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E265C42-CCAA-CD48-78FC-86348C719614}"/>
              </a:ext>
            </a:extLst>
          </p:cNvPr>
          <p:cNvSpPr txBox="1"/>
          <p:nvPr/>
        </p:nvSpPr>
        <p:spPr>
          <a:xfrm>
            <a:off x="11049771" y="3888300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0.99</a:t>
            </a:r>
          </a:p>
        </p:txBody>
      </p:sp>
      <p:pic>
        <p:nvPicPr>
          <p:cNvPr id="123" name="Graphic 122" descr="Badge Tick1 with solid fill">
            <a:extLst>
              <a:ext uri="{FF2B5EF4-FFF2-40B4-BE49-F238E27FC236}">
                <a16:creationId xmlns:a16="http://schemas.microsoft.com/office/drawing/2014/main" id="{D44AD859-0D21-4F8F-734B-8CC4615B117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37690" y="3429448"/>
            <a:ext cx="476485" cy="47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0"/>
            <a:ext cx="1075766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5" y="178972"/>
            <a:ext cx="10950274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403525" y="1015004"/>
            <a:ext cx="11384948" cy="53413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The era of AI is alive.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Federated Learning ensures </a:t>
            </a:r>
            <a:r>
              <a:rPr lang="en-US" b="1" dirty="0">
                <a:latin typeface="+mn-lt"/>
              </a:rPr>
              <a:t>privacy-preserving training </a:t>
            </a:r>
            <a:r>
              <a:rPr lang="en-US" dirty="0">
                <a:latin typeface="+mn-lt"/>
              </a:rPr>
              <a:t>of AI models.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We explore the </a:t>
            </a:r>
            <a:r>
              <a:rPr lang="en-US" b="1" dirty="0">
                <a:latin typeface="+mn-lt"/>
              </a:rPr>
              <a:t>vulnerability</a:t>
            </a:r>
            <a:r>
              <a:rPr lang="en-US" dirty="0">
                <a:latin typeface="+mn-lt"/>
              </a:rPr>
              <a:t> of federated learning under the two perspectives: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latin typeface="+mn-lt"/>
              </a:rPr>
              <a:t>Untrusted server</a:t>
            </a:r>
            <a:r>
              <a:rPr lang="en-US" dirty="0">
                <a:latin typeface="+mn-lt"/>
              </a:rPr>
              <a:t>: Model inversion attack.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latin typeface="+mn-lt"/>
              </a:rPr>
              <a:t>Untrusted clients</a:t>
            </a:r>
            <a:r>
              <a:rPr lang="en-US" dirty="0">
                <a:latin typeface="+mn-lt"/>
              </a:rPr>
              <a:t>: Byzantine, backdoor, model stealing attacks.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+mn-lt"/>
              </a:rPr>
              <a:t>We also explore the high-level idea of how to defend (mitigate) these attacks for a robust federated learning system.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+mn-lt"/>
              </a:rPr>
              <a:t>Robust Federated Learning is a promising solution to secure AI!</a:t>
            </a:r>
          </a:p>
          <a:p>
            <a:pPr>
              <a:lnSpc>
                <a:spcPct val="120000"/>
              </a:lnSpc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467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0"/>
            <a:ext cx="1075766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4B63A3-8ED0-DC9F-BAEC-F85823AD2E24}"/>
              </a:ext>
            </a:extLst>
          </p:cNvPr>
          <p:cNvSpPr txBox="1">
            <a:spLocks/>
          </p:cNvSpPr>
          <p:nvPr/>
        </p:nvSpPr>
        <p:spPr>
          <a:xfrm>
            <a:off x="403524" y="178972"/>
            <a:ext cx="12267447" cy="1009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Heads up! We are Recruiting Undergrads!</a:t>
            </a: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362139-A04F-7EBE-9DDA-7B2A5E823D02}"/>
              </a:ext>
            </a:extLst>
          </p:cNvPr>
          <p:cNvSpPr txBox="1">
            <a:spLocks/>
          </p:cNvSpPr>
          <p:nvPr/>
        </p:nvSpPr>
        <p:spPr>
          <a:xfrm>
            <a:off x="143434" y="1015003"/>
            <a:ext cx="11905131" cy="58429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1E4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041D42"/>
                </a:solidFill>
                <a:latin typeface="+mn-lt"/>
              </a:rPr>
              <a:t> </a:t>
            </a:r>
            <a:r>
              <a:rPr lang="en-US" sz="2400" b="1" dirty="0">
                <a:solidFill>
                  <a:srgbClr val="041D42"/>
                </a:solidFill>
                <a:latin typeface="+mn-lt"/>
              </a:rPr>
              <a:t>What you’ll do: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Explore </a:t>
            </a:r>
            <a:r>
              <a:rPr lang="en-US" b="1" dirty="0">
                <a:solidFill>
                  <a:srgbClr val="041D42"/>
                </a:solidFill>
                <a:latin typeface="+mn-lt"/>
              </a:rPr>
              <a:t>generative AI 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— Large Language Models, Vision-Language Models, more.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Learn </a:t>
            </a:r>
            <a:r>
              <a:rPr lang="en-US" b="1" dirty="0">
                <a:solidFill>
                  <a:srgbClr val="041D42"/>
                </a:solidFill>
                <a:latin typeface="+mn-lt"/>
              </a:rPr>
              <a:t>attacking and defending 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generative AI based systems such as LLM-assisted robots.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Turn your innovative ideas into your </a:t>
            </a:r>
            <a:r>
              <a:rPr lang="en-US" b="1" dirty="0">
                <a:solidFill>
                  <a:srgbClr val="041D42"/>
                </a:solidFill>
                <a:latin typeface="+mn-lt"/>
              </a:rPr>
              <a:t>senior projects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41D42"/>
                </a:solidFill>
                <a:latin typeface="+mn-lt"/>
              </a:rPr>
              <a:t>Our research group: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rgbClr val="041D42"/>
                </a:solidFill>
                <a:latin typeface="+mn-lt"/>
              </a:rPr>
              <a:t>10+ active students 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working on cutting-edge AI security topics.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rgbClr val="041D42"/>
                </a:solidFill>
                <a:latin typeface="+mn-lt"/>
              </a:rPr>
              <a:t>Dedicated GPU servers 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available for training and evaluation.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rgbClr val="041D42"/>
                </a:solidFill>
                <a:latin typeface="+mn-lt"/>
              </a:rPr>
              <a:t>Mentorship </a:t>
            </a:r>
            <a:r>
              <a:rPr lang="en-US" dirty="0">
                <a:solidFill>
                  <a:srgbClr val="041D42"/>
                </a:solidFill>
                <a:latin typeface="+mn-lt"/>
              </a:rPr>
              <a:t>on paper writing, benchmarking, and open-source contributions.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41D42"/>
                </a:solidFill>
                <a:latin typeface="+mn-lt"/>
              </a:rPr>
              <a:t>Join us!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041D42"/>
                </a:solidFill>
                <a:latin typeface="+mn-lt"/>
              </a:rPr>
              <a:t>Gain experience, collaborate with peers, and even publish your work in top venues.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41D42"/>
                </a:solidFill>
                <a:latin typeface="+mn-lt"/>
              </a:rPr>
              <a:t>Contact: Dr. Rui (Zoey) Hu via ruihu@unr.edu, see her website for more details.</a:t>
            </a:r>
          </a:p>
        </p:txBody>
      </p:sp>
    </p:spTree>
    <p:extLst>
      <p:ext uri="{BB962C8B-B14F-4D97-AF65-F5344CB8AC3E}">
        <p14:creationId xmlns:p14="http://schemas.microsoft.com/office/powerpoint/2010/main" val="4133632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035A1C8-A4DF-8F34-09DB-9DE7A1D1930C}"/>
              </a:ext>
            </a:extLst>
          </p:cNvPr>
          <p:cNvSpPr txBox="1">
            <a:spLocks/>
          </p:cNvSpPr>
          <p:nvPr/>
        </p:nvSpPr>
        <p:spPr>
          <a:xfrm>
            <a:off x="0" y="1949857"/>
            <a:ext cx="12192000" cy="14791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Thank you! Any questions?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C1D2EBB-FB0C-8793-7E97-4A0A32C9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5652" y="6356350"/>
            <a:ext cx="452914" cy="365125"/>
          </a:xfrm>
        </p:spPr>
        <p:txBody>
          <a:bodyPr/>
          <a:lstStyle/>
          <a:p>
            <a:fld id="{B9FBA2CA-E704-4C36-8314-3D9FE3F58D71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2" name="图片 11" descr="蓝色的标志&#10;&#10;描述已自动生成">
            <a:extLst>
              <a:ext uri="{FF2B5EF4-FFF2-40B4-BE49-F238E27FC236}">
                <a16:creationId xmlns:a16="http://schemas.microsoft.com/office/drawing/2014/main" id="{9C0113C1-6863-BAFB-E417-E51E5A9B1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60" y="6125227"/>
            <a:ext cx="4295940" cy="55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4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2445</Words>
  <Application>Microsoft Macintosh PowerPoint</Application>
  <PresentationFormat>Widescreen</PresentationFormat>
  <Paragraphs>456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Jiahao Xu</dc:creator>
  <cp:lastModifiedBy>Jiahao Xu</cp:lastModifiedBy>
  <cp:revision>40</cp:revision>
  <dcterms:created xsi:type="dcterms:W3CDTF">2025-10-24T17:11:55Z</dcterms:created>
  <dcterms:modified xsi:type="dcterms:W3CDTF">2025-11-04T17:21:42Z</dcterms:modified>
</cp:coreProperties>
</file>