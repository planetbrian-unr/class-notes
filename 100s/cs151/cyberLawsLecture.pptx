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70" r:id="rId4"/>
    <p:sldId id="281" r:id="rId5"/>
    <p:sldId id="283" r:id="rId6"/>
    <p:sldId id="276" r:id="rId7"/>
    <p:sldId id="285" r:id="rId8"/>
    <p:sldId id="335" r:id="rId9"/>
    <p:sldId id="282" r:id="rId10"/>
    <p:sldId id="277" r:id="rId11"/>
    <p:sldId id="275" r:id="rId12"/>
    <p:sldId id="262" r:id="rId13"/>
    <p:sldId id="278" r:id="rId14"/>
    <p:sldId id="286" r:id="rId15"/>
    <p:sldId id="287" r:id="rId16"/>
    <p:sldId id="284" r:id="rId17"/>
    <p:sldId id="289" r:id="rId18"/>
    <p:sldId id="259" r:id="rId19"/>
    <p:sldId id="272" r:id="rId20"/>
    <p:sldId id="288"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p:clrMru>
    <a:srgbClr val="B3B3B3"/>
    <a:srgbClr val="8E9295"/>
    <a:srgbClr val="002E62"/>
    <a:srgbClr val="00008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706"/>
    <p:restoredTop sz="82857" autoAdjust="0"/>
  </p:normalViewPr>
  <p:slideViewPr>
    <p:cSldViewPr snapToGrid="0" snapToObjects="1">
      <p:cViewPr varScale="1">
        <p:scale>
          <a:sx n="103" d="100"/>
          <a:sy n="103" d="100"/>
        </p:scale>
        <p:origin x="184" y="2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8F75F0-0DC9-D244-9C65-78173ACB23B3}" type="datetimeFigureOut">
              <a:rPr lang="en-US" smtClean="0"/>
              <a:t>1/13/20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FA223D-0791-B949-A37D-68CC0DDCFA78}" type="slidenum">
              <a:rPr lang="en-US" smtClean="0"/>
              <a:t>‹#›</a:t>
            </a:fld>
            <a:endParaRPr lang="en-US" dirty="0"/>
          </a:p>
        </p:txBody>
      </p:sp>
    </p:spTree>
    <p:extLst>
      <p:ext uri="{BB962C8B-B14F-4D97-AF65-F5344CB8AC3E}">
        <p14:creationId xmlns:p14="http://schemas.microsoft.com/office/powerpoint/2010/main" val="358688231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eur-lex.europa.eu/legal-content/en/TXT/?uri=CELEX:31995L0046"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eur-lex.europa.eu/legal-content/en/TXT/?uri=CELEX:31995L0046"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FA223D-0791-B949-A37D-68CC0DDCFA78}" type="slidenum">
              <a:rPr lang="en-US" smtClean="0"/>
              <a:t>1</a:t>
            </a:fld>
            <a:endParaRPr lang="en-US" dirty="0"/>
          </a:p>
        </p:txBody>
      </p:sp>
    </p:spTree>
    <p:extLst>
      <p:ext uri="{BB962C8B-B14F-4D97-AF65-F5344CB8AC3E}">
        <p14:creationId xmlns:p14="http://schemas.microsoft.com/office/powerpoint/2010/main" val="3444666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endParaRPr lang="en-US" sz="1400" dirty="0">
              <a:latin typeface="Verdana"/>
              <a:cs typeface="Verdana"/>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2</a:t>
            </a:fld>
            <a:endParaRPr lang="en-US" dirty="0"/>
          </a:p>
        </p:txBody>
      </p:sp>
    </p:spTree>
    <p:extLst>
      <p:ext uri="{BB962C8B-B14F-4D97-AF65-F5344CB8AC3E}">
        <p14:creationId xmlns:p14="http://schemas.microsoft.com/office/powerpoint/2010/main" val="3683429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arenBoth"/>
            </a:pPr>
            <a:endParaRPr lang="en-US" sz="1200" kern="1200" dirty="0">
              <a:solidFill>
                <a:schemeClr val="tx1"/>
              </a:solidFill>
              <a:effectLst/>
              <a:latin typeface="Verdana"/>
              <a:ea typeface="+mn-ea"/>
              <a:cs typeface="Verdana"/>
            </a:endParaRPr>
          </a:p>
          <a:p>
            <a:pPr marL="342900" indent="-342900">
              <a:buAutoNum type="arabicParenBoth"/>
            </a:pPr>
            <a:r>
              <a:rPr lang="en-US" sz="1200" kern="1200" dirty="0">
                <a:solidFill>
                  <a:schemeClr val="tx1"/>
                </a:solidFill>
                <a:effectLst/>
                <a:latin typeface="Verdana"/>
                <a:ea typeface="+mn-ea"/>
                <a:cs typeface="Verdana"/>
              </a:rPr>
              <a:t>Repealed in 2002 and replaced with FISMA</a:t>
            </a:r>
          </a:p>
          <a:p>
            <a:pPr marL="342900" indent="-342900">
              <a:buAutoNum type="arabicParenBoth"/>
            </a:pPr>
            <a:r>
              <a:rPr lang="en-US" sz="1200" kern="1200" dirty="0">
                <a:solidFill>
                  <a:schemeClr val="tx1"/>
                </a:solidFill>
                <a:effectLst/>
                <a:latin typeface="Verdana"/>
                <a:ea typeface="+mn-ea"/>
                <a:cs typeface="Verdana"/>
              </a:rPr>
              <a:t>NIST then known as National Bureau of Standards</a:t>
            </a:r>
          </a:p>
          <a:p>
            <a:pPr marL="342900" indent="-342900">
              <a:buAutoNum type="arabicParenBoth"/>
            </a:pPr>
            <a:r>
              <a:rPr lang="en-US" sz="1200" b="0" i="0" u="none" strike="noStrike" kern="1200" dirty="0">
                <a:solidFill>
                  <a:schemeClr val="tx1"/>
                </a:solidFill>
                <a:effectLst/>
                <a:latin typeface="+mn-lt"/>
                <a:ea typeface="+mn-ea"/>
                <a:cs typeface="+mn-cs"/>
              </a:rPr>
              <a:t>The Rainbow Series (1980s – 1990s) is a library of documents about computer security. Topics range from password management to configuration management and audits to covert channels.</a:t>
            </a:r>
            <a:endParaRPr lang="en-US" sz="1200" dirty="0">
              <a:effectLst/>
              <a:latin typeface="Verdana"/>
              <a:cs typeface="Verdana"/>
            </a:endParaRPr>
          </a:p>
          <a:p>
            <a:pPr marL="342900" indent="-342900">
              <a:buAutoNum type="arabicParenBoth"/>
            </a:pPr>
            <a:r>
              <a:rPr lang="en-US" sz="1400" dirty="0"/>
              <a:t>Rainbow Series: https://fas.org/irp/nsa/rainbow.htm</a:t>
            </a:r>
          </a:p>
        </p:txBody>
      </p:sp>
      <p:sp>
        <p:nvSpPr>
          <p:cNvPr id="4" name="Slide Number Placeholder 3"/>
          <p:cNvSpPr>
            <a:spLocks noGrp="1"/>
          </p:cNvSpPr>
          <p:nvPr>
            <p:ph type="sldNum" sz="quarter" idx="10"/>
          </p:nvPr>
        </p:nvSpPr>
        <p:spPr/>
        <p:txBody>
          <a:bodyPr/>
          <a:lstStyle/>
          <a:p>
            <a:fld id="{62FA223D-0791-B949-A37D-68CC0DDCFA78}" type="slidenum">
              <a:rPr lang="en-US" smtClean="0"/>
              <a:t>3</a:t>
            </a:fld>
            <a:endParaRPr lang="en-US" dirty="0"/>
          </a:p>
        </p:txBody>
      </p:sp>
    </p:spTree>
    <p:extLst>
      <p:ext uri="{BB962C8B-B14F-4D97-AF65-F5344CB8AC3E}">
        <p14:creationId xmlns:p14="http://schemas.microsoft.com/office/powerpoint/2010/main" val="6296935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arenBoth"/>
            </a:pPr>
            <a:r>
              <a:rPr lang="en-US" sz="1200" kern="1200" dirty="0">
                <a:solidFill>
                  <a:schemeClr val="tx1"/>
                </a:solidFill>
                <a:effectLst/>
                <a:latin typeface="Verdana"/>
                <a:ea typeface="+mn-ea"/>
                <a:cs typeface="Verdana"/>
              </a:rPr>
              <a:t>FISMA signed into law 2002.</a:t>
            </a:r>
          </a:p>
          <a:p>
            <a:pPr marL="342900" indent="-342900">
              <a:buAutoNum type="arabicParenBoth"/>
            </a:pPr>
            <a:r>
              <a:rPr lang="en-US" sz="1200" kern="1200" dirty="0">
                <a:solidFill>
                  <a:schemeClr val="tx1"/>
                </a:solidFill>
                <a:effectLst/>
                <a:latin typeface="Verdana"/>
                <a:ea typeface="+mn-ea"/>
                <a:cs typeface="Verdana"/>
              </a:rPr>
              <a:t>Updated 2014.</a:t>
            </a:r>
          </a:p>
          <a:p>
            <a:pPr marL="342900" indent="-342900">
              <a:buAutoNum type="arabicParenBoth"/>
            </a:pPr>
            <a:r>
              <a:rPr lang="en-US" sz="1200" b="0" i="0" u="none" strike="noStrike" kern="1200" dirty="0">
                <a:solidFill>
                  <a:schemeClr val="tx1"/>
                </a:solidFill>
                <a:effectLst/>
                <a:latin typeface="Verdana"/>
                <a:ea typeface="+mn-ea"/>
                <a:cs typeface="Verdana"/>
              </a:rPr>
              <a:t>NIST</a:t>
            </a:r>
            <a:r>
              <a:rPr lang="en-US" sz="1200" b="0" i="0" u="none" strike="noStrike" kern="1200" dirty="0">
                <a:solidFill>
                  <a:schemeClr val="tx1"/>
                </a:solidFill>
                <a:effectLst/>
                <a:latin typeface="+mn-lt"/>
                <a:ea typeface="+mn-ea"/>
                <a:cs typeface="+mn-cs"/>
              </a:rPr>
              <a:t> is responsible for developing standards, guidelines, and associated methods and techniques</a:t>
            </a:r>
            <a:endParaRPr lang="en-US" sz="1400" dirty="0"/>
          </a:p>
        </p:txBody>
      </p:sp>
      <p:sp>
        <p:nvSpPr>
          <p:cNvPr id="4" name="Slide Number Placeholder 3"/>
          <p:cNvSpPr>
            <a:spLocks noGrp="1"/>
          </p:cNvSpPr>
          <p:nvPr>
            <p:ph type="sldNum" sz="quarter" idx="10"/>
          </p:nvPr>
        </p:nvSpPr>
        <p:spPr/>
        <p:txBody>
          <a:bodyPr/>
          <a:lstStyle/>
          <a:p>
            <a:fld id="{62FA223D-0791-B949-A37D-68CC0DDCFA78}" type="slidenum">
              <a:rPr lang="en-US" smtClean="0"/>
              <a:t>4</a:t>
            </a:fld>
            <a:endParaRPr lang="en-US" dirty="0"/>
          </a:p>
        </p:txBody>
      </p:sp>
    </p:spTree>
    <p:extLst>
      <p:ext uri="{BB962C8B-B14F-4D97-AF65-F5344CB8AC3E}">
        <p14:creationId xmlns:p14="http://schemas.microsoft.com/office/powerpoint/2010/main" val="3277541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arenBoth"/>
            </a:pPr>
            <a:r>
              <a:rPr lang="en-US" sz="1200" kern="1200" dirty="0">
                <a:solidFill>
                  <a:schemeClr val="tx1"/>
                </a:solidFill>
                <a:effectLst/>
                <a:latin typeface="Verdana"/>
                <a:ea typeface="+mn-ea"/>
                <a:cs typeface="Verdana"/>
              </a:rPr>
              <a:t>Risk assessment conducted at organizational level, business process level, and information system level.</a:t>
            </a:r>
          </a:p>
        </p:txBody>
      </p:sp>
      <p:sp>
        <p:nvSpPr>
          <p:cNvPr id="4" name="Slide Number Placeholder 3"/>
          <p:cNvSpPr>
            <a:spLocks noGrp="1"/>
          </p:cNvSpPr>
          <p:nvPr>
            <p:ph type="sldNum" sz="quarter" idx="10"/>
          </p:nvPr>
        </p:nvSpPr>
        <p:spPr/>
        <p:txBody>
          <a:bodyPr/>
          <a:lstStyle/>
          <a:p>
            <a:fld id="{62FA223D-0791-B949-A37D-68CC0DDCFA78}" type="slidenum">
              <a:rPr lang="en-US" smtClean="0"/>
              <a:t>5</a:t>
            </a:fld>
            <a:endParaRPr lang="en-US" dirty="0"/>
          </a:p>
        </p:txBody>
      </p:sp>
    </p:spTree>
    <p:extLst>
      <p:ext uri="{BB962C8B-B14F-4D97-AF65-F5344CB8AC3E}">
        <p14:creationId xmlns:p14="http://schemas.microsoft.com/office/powerpoint/2010/main" val="1052623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arenBoth"/>
            </a:pPr>
            <a:endParaRPr lang="en-US" sz="1200" i="1" dirty="0">
              <a:latin typeface="Verdana"/>
              <a:cs typeface="Verdana"/>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6</a:t>
            </a:fld>
            <a:endParaRPr lang="en-US" dirty="0"/>
          </a:p>
        </p:txBody>
      </p:sp>
    </p:spTree>
    <p:extLst>
      <p:ext uri="{BB962C8B-B14F-4D97-AF65-F5344CB8AC3E}">
        <p14:creationId xmlns:p14="http://schemas.microsoft.com/office/powerpoint/2010/main" val="329788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arenBoth"/>
            </a:pPr>
            <a:endParaRPr lang="en-US" sz="1200" i="1" dirty="0">
              <a:latin typeface="Verdana"/>
              <a:cs typeface="Verdana"/>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7</a:t>
            </a:fld>
            <a:endParaRPr lang="en-US" dirty="0"/>
          </a:p>
        </p:txBody>
      </p:sp>
    </p:spTree>
    <p:extLst>
      <p:ext uri="{BB962C8B-B14F-4D97-AF65-F5344CB8AC3E}">
        <p14:creationId xmlns:p14="http://schemas.microsoft.com/office/powerpoint/2010/main" val="1606069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indent="-228600" algn="l" defTabSz="914400" rtl="0" eaLnBrk="1" fontAlgn="auto" latinLnBrk="0" hangingPunct="1">
              <a:lnSpc>
                <a:spcPct val="100000"/>
              </a:lnSpc>
              <a:spcBef>
                <a:spcPts val="0"/>
              </a:spcBef>
              <a:spcAft>
                <a:spcPts val="0"/>
              </a:spcAft>
              <a:buClrTx/>
              <a:buSzTx/>
              <a:buFont typeface="Arial"/>
              <a:buAutoNum type="arabicPeriod"/>
              <a:tabLst/>
              <a:defRPr/>
            </a:pPr>
            <a:r>
              <a:rPr lang="en-US" sz="1200" dirty="0"/>
              <a:t>First pub was the Orange Book in 1983 – Trusted Computer System Evaluation Criteria (TCSEC). Focused primarily on protecting information confidentiality.</a:t>
            </a:r>
          </a:p>
          <a:p>
            <a:pPr marL="228600" marR="0" lvl="0" indent="-228600" algn="l" defTabSz="914400" rtl="0" eaLnBrk="1" fontAlgn="auto" latinLnBrk="0" hangingPunct="1">
              <a:lnSpc>
                <a:spcPct val="100000"/>
              </a:lnSpc>
              <a:spcBef>
                <a:spcPts val="0"/>
              </a:spcBef>
              <a:spcAft>
                <a:spcPts val="0"/>
              </a:spcAft>
              <a:buClrTx/>
              <a:buSzTx/>
              <a:buFont typeface="Arial"/>
              <a:buAutoNum type="arabicPeriod"/>
              <a:tabLst/>
              <a:defRPr/>
            </a:pPr>
            <a:r>
              <a:rPr lang="en-US" sz="1200" dirty="0"/>
              <a:t>Rainbow Series: https://</a:t>
            </a:r>
            <a:r>
              <a:rPr lang="en-US" sz="1200" dirty="0" err="1"/>
              <a:t>fas.org</a:t>
            </a:r>
            <a:r>
              <a:rPr lang="en-US" sz="1200" dirty="0"/>
              <a:t>/</a:t>
            </a:r>
            <a:r>
              <a:rPr lang="en-US" sz="1200" dirty="0" err="1"/>
              <a:t>irp</a:t>
            </a:r>
            <a:r>
              <a:rPr lang="en-US" sz="1200" dirty="0"/>
              <a:t>/</a:t>
            </a:r>
            <a:r>
              <a:rPr lang="en-US" sz="1200" dirty="0" err="1"/>
              <a:t>nsa</a:t>
            </a:r>
            <a:r>
              <a:rPr lang="en-US" sz="1200" dirty="0"/>
              <a:t>/</a:t>
            </a:r>
            <a:r>
              <a:rPr lang="en-US" sz="1200" dirty="0" err="1"/>
              <a:t>rainbow.htm</a:t>
            </a:r>
            <a:endParaRPr lang="en-US" sz="1200" dirty="0"/>
          </a:p>
          <a:p>
            <a:pPr marL="228600" marR="0" lvl="0" indent="-228600" algn="l" defTabSz="914400" rtl="0" eaLnBrk="1" fontAlgn="auto" latinLnBrk="0" hangingPunct="1">
              <a:lnSpc>
                <a:spcPct val="100000"/>
              </a:lnSpc>
              <a:spcBef>
                <a:spcPts val="0"/>
              </a:spcBef>
              <a:spcAft>
                <a:spcPts val="0"/>
              </a:spcAft>
              <a:buClrTx/>
              <a:buSzTx/>
              <a:buFont typeface="Arial"/>
              <a:buAutoNum type="arabicPeriod"/>
              <a:tabLst/>
              <a:defRPr/>
            </a:pPr>
            <a:r>
              <a:rPr lang="en-US" sz="1200" dirty="0"/>
              <a:t>Information based on Computer Security Principles and Practices, Stallings &amp; Brown, 4</a:t>
            </a:r>
            <a:r>
              <a:rPr lang="en-US" sz="1200" baseline="30000" dirty="0"/>
              <a:t>th</a:t>
            </a:r>
            <a:r>
              <a:rPr lang="en-US" sz="1200" dirty="0"/>
              <a:t> Edition.</a:t>
            </a:r>
          </a:p>
        </p:txBody>
      </p:sp>
      <p:sp>
        <p:nvSpPr>
          <p:cNvPr id="4" name="Slide Number Placeholder 3"/>
          <p:cNvSpPr>
            <a:spLocks noGrp="1"/>
          </p:cNvSpPr>
          <p:nvPr>
            <p:ph type="sldNum" sz="quarter" idx="10"/>
          </p:nvPr>
        </p:nvSpPr>
        <p:spPr/>
        <p:txBody>
          <a:bodyPr/>
          <a:lstStyle/>
          <a:p>
            <a:fld id="{62FA223D-0791-B949-A37D-68CC0DDCFA78}" type="slidenum">
              <a:rPr lang="en-US" smtClean="0"/>
              <a:t>8</a:t>
            </a:fld>
            <a:endParaRPr lang="en-US" dirty="0"/>
          </a:p>
        </p:txBody>
      </p:sp>
    </p:spTree>
    <p:extLst>
      <p:ext uri="{BB962C8B-B14F-4D97-AF65-F5344CB8AC3E}">
        <p14:creationId xmlns:p14="http://schemas.microsoft.com/office/powerpoint/2010/main" val="2964052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arenBoth"/>
            </a:pPr>
            <a:r>
              <a:rPr lang="en-US" sz="1400" dirty="0"/>
              <a:t>Controversial: Privacy vs. Security</a:t>
            </a:r>
          </a:p>
        </p:txBody>
      </p:sp>
      <p:sp>
        <p:nvSpPr>
          <p:cNvPr id="4" name="Slide Number Placeholder 3"/>
          <p:cNvSpPr>
            <a:spLocks noGrp="1"/>
          </p:cNvSpPr>
          <p:nvPr>
            <p:ph type="sldNum" sz="quarter" idx="10"/>
          </p:nvPr>
        </p:nvSpPr>
        <p:spPr/>
        <p:txBody>
          <a:bodyPr/>
          <a:lstStyle/>
          <a:p>
            <a:fld id="{62FA223D-0791-B949-A37D-68CC0DDCFA78}" type="slidenum">
              <a:rPr lang="en-US" smtClean="0"/>
              <a:t>9</a:t>
            </a:fld>
            <a:endParaRPr lang="en-US" dirty="0"/>
          </a:p>
        </p:txBody>
      </p:sp>
    </p:spTree>
    <p:extLst>
      <p:ext uri="{BB962C8B-B14F-4D97-AF65-F5344CB8AC3E}">
        <p14:creationId xmlns:p14="http://schemas.microsoft.com/office/powerpoint/2010/main" val="343900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arenBoth"/>
            </a:pPr>
            <a:r>
              <a:rPr lang="en-US" sz="1200" dirty="0">
                <a:latin typeface="Verdana" panose="020B0604030504040204" pitchFamily="34" charset="0"/>
                <a:ea typeface="Verdana" panose="020B0604030504040204" pitchFamily="34" charset="0"/>
                <a:cs typeface="Verdana" panose="020B0604030504040204" pitchFamily="34" charset="0"/>
              </a:rPr>
              <a:t>Such as participating in an Information Sharing &amp; Analysis Organization (ISAO); no adverse events; remediation within a timeline.</a:t>
            </a:r>
            <a:endParaRPr lang="en-US" sz="1200" baseline="0" dirty="0">
              <a:latin typeface="Verdana"/>
              <a:cs typeface="Verdana"/>
            </a:endParaRPr>
          </a:p>
          <a:p>
            <a:pPr marL="342900" indent="-342900">
              <a:buAutoNum type="arabicParenBoth"/>
            </a:pPr>
            <a:endParaRPr lang="en-US" sz="1200" baseline="0" dirty="0">
              <a:latin typeface="Verdana"/>
              <a:cs typeface="Verdana"/>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10</a:t>
            </a:fld>
            <a:endParaRPr lang="en-US" dirty="0"/>
          </a:p>
        </p:txBody>
      </p:sp>
    </p:spTree>
    <p:extLst>
      <p:ext uri="{BB962C8B-B14F-4D97-AF65-F5344CB8AC3E}">
        <p14:creationId xmlns:p14="http://schemas.microsoft.com/office/powerpoint/2010/main" val="461959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arenBoth"/>
            </a:pPr>
            <a:r>
              <a:rPr lang="en-US" sz="1200" dirty="0">
                <a:latin typeface="Verdana"/>
                <a:cs typeface="Verdana"/>
              </a:rPr>
              <a:t>A discussion on legal</a:t>
            </a:r>
            <a:r>
              <a:rPr lang="en-US" sz="1200" baseline="0" dirty="0">
                <a:latin typeface="Verdana"/>
                <a:cs typeface="Verdana"/>
              </a:rPr>
              <a:t> jurisdictions and transborder flow, especially regarding cloud computing, could occur here.</a:t>
            </a:r>
          </a:p>
          <a:p>
            <a:pPr marL="342900" indent="-342900">
              <a:buAutoNum type="arabicParenBoth"/>
            </a:pPr>
            <a:r>
              <a:rPr lang="en-US" sz="1200" baseline="0" dirty="0">
                <a:latin typeface="Verdana"/>
                <a:cs typeface="Verdana"/>
              </a:rPr>
              <a:t>Relevant paper: https://www.usitc.gov/journals/policy_challenges_of_cross-border_cloud_computing.pdf </a:t>
            </a:r>
          </a:p>
          <a:p>
            <a:pPr marL="342900" indent="-342900">
              <a:buAutoNum type="arabicParenBoth"/>
            </a:pPr>
            <a:r>
              <a:rPr lang="en-US" sz="1200" baseline="0" dirty="0">
                <a:latin typeface="Verdana"/>
                <a:cs typeface="Verdana"/>
              </a:rPr>
              <a:t>Relevant paper: http://www.oecd-ilibrary.org/docserver/download/5kg0s2fk315f.pdf?expires=1470956445&amp;id=id&amp;accname=guest&amp;checksum=6FE096B69FB3A016AF1406EEA531A3CF</a:t>
            </a:r>
          </a:p>
        </p:txBody>
      </p:sp>
      <p:sp>
        <p:nvSpPr>
          <p:cNvPr id="4" name="Slide Number Placeholder 3"/>
          <p:cNvSpPr>
            <a:spLocks noGrp="1"/>
          </p:cNvSpPr>
          <p:nvPr>
            <p:ph type="sldNum" sz="quarter" idx="10"/>
          </p:nvPr>
        </p:nvSpPr>
        <p:spPr/>
        <p:txBody>
          <a:bodyPr/>
          <a:lstStyle/>
          <a:p>
            <a:fld id="{62FA223D-0791-B949-A37D-68CC0DDCFA78}" type="slidenum">
              <a:rPr lang="en-US" smtClean="0"/>
              <a:t>11</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arenBoth"/>
            </a:pPr>
            <a:r>
              <a:rPr lang="en-US" sz="1200" dirty="0">
                <a:latin typeface="Verdana"/>
                <a:cs typeface="Verdana"/>
              </a:rPr>
              <a:t>EU DPD </a:t>
            </a:r>
            <a:r>
              <a:rPr lang="en-US" sz="1200" kern="1200" dirty="0">
                <a:solidFill>
                  <a:schemeClr val="tx1"/>
                </a:solidFill>
                <a:latin typeface="Verdana"/>
                <a:ea typeface="+mn-ea"/>
                <a:cs typeface="Verdana"/>
              </a:rPr>
              <a:t>95/46/EC 1995</a:t>
            </a:r>
            <a:endParaRPr lang="en-US" sz="1200" dirty="0">
              <a:latin typeface="Verdana"/>
              <a:cs typeface="Verdana"/>
            </a:endParaRPr>
          </a:p>
          <a:p>
            <a:pPr marL="342900" indent="-342900">
              <a:buAutoNum type="arabicParenBoth"/>
            </a:pPr>
            <a:r>
              <a:rPr lang="en-US" sz="1200" dirty="0">
                <a:latin typeface="Verdana"/>
                <a:cs typeface="Verdana"/>
              </a:rPr>
              <a:t>EU</a:t>
            </a:r>
            <a:r>
              <a:rPr lang="en-US" sz="1200" baseline="0" dirty="0">
                <a:latin typeface="Verdana"/>
                <a:cs typeface="Verdana"/>
              </a:rPr>
              <a:t> laws regarding data privacy are stricter than US.</a:t>
            </a:r>
          </a:p>
          <a:p>
            <a:pPr marL="342900" indent="-342900">
              <a:buAutoNum type="arabicParenBoth"/>
            </a:pPr>
            <a:r>
              <a:rPr lang="en-US" sz="1200" kern="1200" dirty="0">
                <a:solidFill>
                  <a:schemeClr val="tx1"/>
                </a:solidFill>
                <a:latin typeface="Verdana"/>
                <a:ea typeface="+mn-ea"/>
                <a:cs typeface="Verdana"/>
              </a:rPr>
              <a:t>The EU's  DPD foresees specific rules for transfer of personal data outside the EU for best protection when exported abroad.</a:t>
            </a:r>
          </a:p>
          <a:p>
            <a:pPr marL="342900" indent="-342900">
              <a:buAutoNum type="arabicParenBoth"/>
            </a:pPr>
            <a:r>
              <a:rPr lang="en-US" sz="1200" kern="1200" dirty="0">
                <a:solidFill>
                  <a:schemeClr val="tx1"/>
                </a:solidFill>
                <a:latin typeface="Verdana"/>
                <a:ea typeface="+mn-ea"/>
                <a:cs typeface="Verdana"/>
              </a:rPr>
              <a:t>EU-US Privacy Shield adopted</a:t>
            </a:r>
            <a:r>
              <a:rPr lang="en-US" sz="1200" kern="1200" baseline="0" dirty="0">
                <a:solidFill>
                  <a:schemeClr val="tx1"/>
                </a:solidFill>
                <a:latin typeface="Verdana"/>
                <a:ea typeface="+mn-ea"/>
                <a:cs typeface="Verdana"/>
              </a:rPr>
              <a:t> July 2016 - </a:t>
            </a:r>
            <a:r>
              <a:rPr lang="en-US" sz="1200" kern="1200" dirty="0">
                <a:solidFill>
                  <a:schemeClr val="tx1"/>
                </a:solidFill>
                <a:latin typeface="Verdana"/>
                <a:ea typeface="+mn-ea"/>
                <a:cs typeface="Verdana"/>
              </a:rPr>
              <a:t>strong data protection obligations on companies receiving personal data from the EU</a:t>
            </a:r>
            <a:r>
              <a:rPr lang="en-US" sz="1200" kern="1200" baseline="0" dirty="0">
                <a:solidFill>
                  <a:schemeClr val="tx1"/>
                </a:solidFill>
                <a:latin typeface="Verdana"/>
                <a:ea typeface="+mn-ea"/>
                <a:cs typeface="Verdana"/>
              </a:rPr>
              <a:t> </a:t>
            </a:r>
            <a:r>
              <a:rPr lang="en-US" sz="1200" kern="1200" dirty="0">
                <a:solidFill>
                  <a:schemeClr val="tx1"/>
                </a:solidFill>
                <a:latin typeface="Verdana"/>
                <a:ea typeface="+mn-ea"/>
                <a:cs typeface="Verdana"/>
              </a:rPr>
              <a:t>safeguards on U.S. government access to data;</a:t>
            </a:r>
            <a:r>
              <a:rPr lang="en-US" sz="1200" kern="1200" baseline="0" dirty="0">
                <a:solidFill>
                  <a:schemeClr val="tx1"/>
                </a:solidFill>
                <a:latin typeface="Verdana"/>
                <a:ea typeface="+mn-ea"/>
                <a:cs typeface="Verdana"/>
              </a:rPr>
              <a:t> </a:t>
            </a:r>
            <a:r>
              <a:rPr lang="en-US" sz="1200" kern="1200" dirty="0">
                <a:solidFill>
                  <a:schemeClr val="tx1"/>
                </a:solidFill>
                <a:latin typeface="Verdana"/>
                <a:ea typeface="+mn-ea"/>
                <a:cs typeface="Verdana"/>
              </a:rPr>
              <a:t>effective protection and redress for individuals; annual joint review to monitor the implementation.</a:t>
            </a:r>
          </a:p>
          <a:p>
            <a:pPr marL="342900" indent="-342900">
              <a:buAutoNum type="arabicParenBoth"/>
            </a:pPr>
            <a:r>
              <a:rPr lang="en-US" sz="1200" kern="1200" baseline="0" dirty="0">
                <a:solidFill>
                  <a:schemeClr val="tx1"/>
                </a:solidFill>
                <a:latin typeface="Verdana"/>
                <a:ea typeface="+mn-ea"/>
                <a:cs typeface="Verdana"/>
              </a:rPr>
              <a:t>EU GDP Regulation adopted 2016 but goes into effect 2018.</a:t>
            </a:r>
            <a:endParaRPr lang="en-US" sz="1200" kern="1200" dirty="0">
              <a:solidFill>
                <a:schemeClr val="tx1"/>
              </a:solidFill>
              <a:latin typeface="Verdana"/>
              <a:ea typeface="+mn-ea"/>
              <a:cs typeface="Verdana"/>
            </a:endParaRPr>
          </a:p>
          <a:p>
            <a:pPr marL="0" indent="0">
              <a:buNone/>
            </a:pPr>
            <a:endParaRPr lang="en-US" sz="1200" kern="1200" dirty="0">
              <a:solidFill>
                <a:schemeClr val="tx1"/>
              </a:solidFill>
              <a:latin typeface="+mn-lt"/>
              <a:ea typeface="+mn-ea"/>
              <a:cs typeface="+mn-cs"/>
            </a:endParaRPr>
          </a:p>
          <a:p>
            <a:pPr marL="342900" indent="-342900">
              <a:buAutoNum type="arabicParenBoth"/>
            </a:pPr>
            <a:endParaRPr lang="en-US" sz="1200" b="1" kern="1200" dirty="0">
              <a:solidFill>
                <a:schemeClr val="tx1"/>
              </a:solidFill>
              <a:latin typeface="+mn-lt"/>
              <a:ea typeface="+mn-ea"/>
              <a:cs typeface="+mn-cs"/>
              <a:hlinkClick r:id="rId3"/>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12</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sz="1200" kern="1200" dirty="0">
              <a:solidFill>
                <a:schemeClr val="tx1"/>
              </a:solidFill>
              <a:latin typeface="+mn-lt"/>
              <a:ea typeface="+mn-ea"/>
              <a:cs typeface="+mn-cs"/>
            </a:endParaRPr>
          </a:p>
          <a:p>
            <a:pPr marL="342900" indent="-342900">
              <a:buAutoNum type="arabicParenBoth"/>
            </a:pPr>
            <a:endParaRPr lang="en-US" sz="1200" b="1" kern="1200" dirty="0">
              <a:solidFill>
                <a:schemeClr val="tx1"/>
              </a:solidFill>
              <a:latin typeface="+mn-lt"/>
              <a:ea typeface="+mn-ea"/>
              <a:cs typeface="+mn-cs"/>
              <a:hlinkClick r:id="rId3"/>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13</a:t>
            </a:fld>
            <a:endParaRPr lang="en-US" dirty="0"/>
          </a:p>
        </p:txBody>
      </p:sp>
    </p:spTree>
    <p:extLst>
      <p:ext uri="{BB962C8B-B14F-4D97-AF65-F5344CB8AC3E}">
        <p14:creationId xmlns:p14="http://schemas.microsoft.com/office/powerpoint/2010/main" val="691071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endParaRPr lang="en-US" sz="1400" dirty="0">
              <a:latin typeface="Verdana"/>
              <a:cs typeface="Verdana"/>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14</a:t>
            </a:fld>
            <a:endParaRPr lang="en-US" dirty="0"/>
          </a:p>
        </p:txBody>
      </p:sp>
    </p:spTree>
    <p:extLst>
      <p:ext uri="{BB962C8B-B14F-4D97-AF65-F5344CB8AC3E}">
        <p14:creationId xmlns:p14="http://schemas.microsoft.com/office/powerpoint/2010/main" val="985150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(1) Image: Prosecuting Computer Crimes, Computer Crime and Intellectual Property Section Criminal Division, DOJ, page 3, https://www.justice.gov/sites/default/files/criminal-ccips/legacy/2015/01/14/ccmanual.pdf </a:t>
            </a:r>
            <a:endParaRPr lang="en-US" b="0" dirty="0"/>
          </a:p>
          <a:p>
            <a:pPr marL="342900" indent="-342900">
              <a:buAutoNum type="arabicParenBoth"/>
            </a:pPr>
            <a:endParaRPr lang="en-US" sz="1200" kern="1200" dirty="0">
              <a:solidFill>
                <a:schemeClr val="tx1"/>
              </a:solidFill>
              <a:effectLst/>
              <a:latin typeface="Verdana"/>
              <a:ea typeface="+mn-ea"/>
              <a:cs typeface="Verdana"/>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15</a:t>
            </a:fld>
            <a:endParaRPr lang="en-US" dirty="0"/>
          </a:p>
        </p:txBody>
      </p:sp>
    </p:spTree>
    <p:extLst>
      <p:ext uri="{BB962C8B-B14F-4D97-AF65-F5344CB8AC3E}">
        <p14:creationId xmlns:p14="http://schemas.microsoft.com/office/powerpoint/2010/main" val="528574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arenBoth"/>
            </a:pPr>
            <a:endParaRPr lang="en-US" sz="1200" kern="1200" dirty="0">
              <a:solidFill>
                <a:schemeClr val="tx1"/>
              </a:solidFill>
              <a:effectLst/>
              <a:latin typeface="Verdana"/>
              <a:ea typeface="+mn-ea"/>
              <a:cs typeface="Verdana"/>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16</a:t>
            </a:fld>
            <a:endParaRPr lang="en-US" dirty="0"/>
          </a:p>
        </p:txBody>
      </p:sp>
    </p:spTree>
    <p:extLst>
      <p:ext uri="{BB962C8B-B14F-4D97-AF65-F5344CB8AC3E}">
        <p14:creationId xmlns:p14="http://schemas.microsoft.com/office/powerpoint/2010/main" val="3715436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arenBoth"/>
            </a:pPr>
            <a:endParaRPr lang="en-US" sz="1200" kern="1200" dirty="0">
              <a:solidFill>
                <a:schemeClr val="tx1"/>
              </a:solidFill>
              <a:effectLst/>
              <a:latin typeface="Verdana"/>
              <a:ea typeface="+mn-ea"/>
              <a:cs typeface="Verdana"/>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17</a:t>
            </a:fld>
            <a:endParaRPr lang="en-US" dirty="0"/>
          </a:p>
        </p:txBody>
      </p:sp>
    </p:spTree>
    <p:extLst>
      <p:ext uri="{BB962C8B-B14F-4D97-AF65-F5344CB8AC3E}">
        <p14:creationId xmlns:p14="http://schemas.microsoft.com/office/powerpoint/2010/main" val="28152158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sz="1400" dirty="0"/>
          </a:p>
        </p:txBody>
      </p:sp>
      <p:sp>
        <p:nvSpPr>
          <p:cNvPr id="4" name="Slide Number Placeholder 3"/>
          <p:cNvSpPr>
            <a:spLocks noGrp="1"/>
          </p:cNvSpPr>
          <p:nvPr>
            <p:ph type="sldNum" sz="quarter" idx="10"/>
          </p:nvPr>
        </p:nvSpPr>
        <p:spPr/>
        <p:txBody>
          <a:bodyPr/>
          <a:lstStyle/>
          <a:p>
            <a:fld id="{62FA223D-0791-B949-A37D-68CC0DDCFA78}" type="slidenum">
              <a:rPr lang="en-US" smtClean="0"/>
              <a:t>18</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sz="1400" dirty="0"/>
          </a:p>
        </p:txBody>
      </p:sp>
      <p:sp>
        <p:nvSpPr>
          <p:cNvPr id="4" name="Slide Number Placeholder 3"/>
          <p:cNvSpPr>
            <a:spLocks noGrp="1"/>
          </p:cNvSpPr>
          <p:nvPr>
            <p:ph type="sldNum" sz="quarter" idx="10"/>
          </p:nvPr>
        </p:nvSpPr>
        <p:spPr/>
        <p:txBody>
          <a:bodyPr/>
          <a:lstStyle/>
          <a:p>
            <a:fld id="{62FA223D-0791-B949-A37D-68CC0DDCFA78}" type="slidenum">
              <a:rPr lang="en-US" smtClean="0"/>
              <a:t>19</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sz="1400" dirty="0"/>
          </a:p>
        </p:txBody>
      </p:sp>
      <p:sp>
        <p:nvSpPr>
          <p:cNvPr id="4" name="Slide Number Placeholder 3"/>
          <p:cNvSpPr>
            <a:spLocks noGrp="1"/>
          </p:cNvSpPr>
          <p:nvPr>
            <p:ph type="sldNum" sz="quarter" idx="10"/>
          </p:nvPr>
        </p:nvSpPr>
        <p:spPr/>
        <p:txBody>
          <a:bodyPr/>
          <a:lstStyle/>
          <a:p>
            <a:fld id="{62FA223D-0791-B949-A37D-68CC0DDCFA78}" type="slidenum">
              <a:rPr lang="en-US" smtClean="0"/>
              <a:t>20</a:t>
            </a:fld>
            <a:endParaRPr lang="en-US" dirty="0"/>
          </a:p>
        </p:txBody>
      </p:sp>
    </p:spTree>
    <p:extLst>
      <p:ext uri="{BB962C8B-B14F-4D97-AF65-F5344CB8AC3E}">
        <p14:creationId xmlns:p14="http://schemas.microsoft.com/office/powerpoint/2010/main" val="4227392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7C3D7B5-B83E-7840-8B01-76312A1964D7}" type="datetimeFigureOut">
              <a:rPr lang="en-US" smtClean="0"/>
              <a:t>1/13/20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4273748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C3D7B5-B83E-7840-8B01-76312A1964D7}" type="datetimeFigureOut">
              <a:rPr lang="en-US" smtClean="0"/>
              <a:t>1/13/20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2169593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C3D7B5-B83E-7840-8B01-76312A1964D7}" type="datetimeFigureOut">
              <a:rPr lang="en-US" smtClean="0"/>
              <a:t>1/13/20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727323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7C3D7B5-B83E-7840-8B01-76312A1964D7}" type="datetimeFigureOut">
              <a:rPr lang="en-US" smtClean="0"/>
              <a:t>1/13/20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3420784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7C3D7B5-B83E-7840-8B01-76312A1964D7}" type="datetimeFigureOut">
              <a:rPr lang="en-US" smtClean="0"/>
              <a:t>1/13/20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1394800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7C3D7B5-B83E-7840-8B01-76312A1964D7}" type="datetimeFigureOut">
              <a:rPr lang="en-US" smtClean="0"/>
              <a:t>1/13/20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2054915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C3D7B5-B83E-7840-8B01-76312A1964D7}" type="datetimeFigureOut">
              <a:rPr lang="en-US" smtClean="0"/>
              <a:t>1/13/20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3558326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C3D7B5-B83E-7840-8B01-76312A1964D7}" type="datetimeFigureOut">
              <a:rPr lang="en-US" smtClean="0"/>
              <a:t>1/13/20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2929264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C3D7B5-B83E-7840-8B01-76312A1964D7}" type="datetimeFigureOut">
              <a:rPr lang="en-US" smtClean="0"/>
              <a:t>1/13/20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486578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C3D7B5-B83E-7840-8B01-76312A1964D7}" type="datetimeFigureOut">
              <a:rPr lang="en-US" smtClean="0"/>
              <a:t>1/13/20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2025876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C3D7B5-B83E-7840-8B01-76312A1964D7}" type="datetimeFigureOut">
              <a:rPr lang="en-US" smtClean="0"/>
              <a:t>1/13/20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580878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C3D7B5-B83E-7840-8B01-76312A1964D7}" type="datetimeFigureOut">
              <a:rPr lang="en-US" smtClean="0"/>
              <a:t>1/13/20</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4CCAAD-DDFE-4542-91EE-B3163A1266B1}" type="slidenum">
              <a:rPr lang="en-US" smtClean="0"/>
              <a:t>‹#›</a:t>
            </a:fld>
            <a:endParaRPr lang="en-US" dirty="0"/>
          </a:p>
        </p:txBody>
      </p:sp>
    </p:spTree>
    <p:extLst>
      <p:ext uri="{BB962C8B-B14F-4D97-AF65-F5344CB8AC3E}">
        <p14:creationId xmlns:p14="http://schemas.microsoft.com/office/powerpoint/2010/main" val="5027753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it.ojp.gov/PrivacyLiberty/authorities/statutes/1285" TargetMode="External"/><Relationship Id="rId7" Type="http://schemas.openxmlformats.org/officeDocument/2006/relationships/hyperlink" Target="https://www.congress.gov/bill/107th-congress/house-bill/3482/text"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www.congress.gov/bill/104th-congress/house-bill/4123" TargetMode="External"/><Relationship Id="rId5" Type="http://schemas.openxmlformats.org/officeDocument/2006/relationships/hyperlink" Target="https://www.congress.gov/bill/110th-congress/house-bill/6060" TargetMode="External"/><Relationship Id="rId4" Type="http://schemas.openxmlformats.org/officeDocument/2006/relationships/hyperlink" Target="https://fas.org/sgp/crs/misc/R44036.pdf"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coe.int/en/web/conventions/search-on-treaties/-/conventions/rms/090000168008160f"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www.europol.europa.eu/activities-services/services-support/joint-cybercrime-action-taskforce"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congress.gov/bill/100th-congress/house-bill/145" TargetMode="External"/><Relationship Id="rId7" Type="http://schemas.openxmlformats.org/officeDocument/2006/relationships/hyperlink" Target="https://archives.fbi.gov/archives/news/testimony/computer-provisions-of-the-usa-patriot-act"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digitalguardian.com/blog/what-fisma-compliance-fisma-definition-requirements-penalties-and-more" TargetMode="External"/><Relationship Id="rId5" Type="http://schemas.openxmlformats.org/officeDocument/2006/relationships/hyperlink" Target="https://www.nist.gov/programs-projects/federal-information-security-management-act-fisma-implementation-project" TargetMode="External"/><Relationship Id="rId4" Type="http://schemas.openxmlformats.org/officeDocument/2006/relationships/hyperlink" Target="https://fas.org/irp/nsa/rainbow.htm"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fas.org/sgp/crs/intel/R44042.pdf" TargetMode="External"/><Relationship Id="rId7" Type="http://schemas.openxmlformats.org/officeDocument/2006/relationships/hyperlink" Target="https://www.bakerlaw.com/webfiles/Privacy/2018/Articles/CCPA-GDPR-Chart.pdf"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www.oecd.org/sti/ieconomy/oecdguidelinesontheprotectionofprivacyandtransborderflowsofpersonaldata.htm" TargetMode="External"/><Relationship Id="rId5" Type="http://schemas.openxmlformats.org/officeDocument/2006/relationships/hyperlink" Target="http://eur-lex.europa.eu/legal-content/EN/TXT/?uri=celex:31995L0046" TargetMode="External"/><Relationship Id="rId4" Type="http://schemas.openxmlformats.org/officeDocument/2006/relationships/hyperlink" Target="https://nvlpubs.nist.gov/nistpubs/SpecialPublications/NIST.SP.800-53r4.pdf"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www.ncsl.org/research/telecommunications-and-information-technology/computer-hacking-and-unauthorized-access-laws.aspx" TargetMode="External"/><Relationship Id="rId7" Type="http://schemas.openxmlformats.org/officeDocument/2006/relationships/hyperlink" Target="http://scholarship.law.berkeley.edu/cgi/viewcontent.cgi?article=1416&amp;context=btlj"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www.justice.gov/sites/default/files/ag/legacy/2004/06/08/97Communique.pdf" TargetMode="External"/><Relationship Id="rId5" Type="http://schemas.openxmlformats.org/officeDocument/2006/relationships/hyperlink" Target="https://www.justice.gov/sites/default/files/criminal-ccips/legacy/2015/01/14/ccmanual.pdf" TargetMode="External"/><Relationship Id="rId4" Type="http://schemas.openxmlformats.org/officeDocument/2006/relationships/hyperlink" Target="https://www.sans.org/reading-room/whitepapers/incident/paper/175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E62"/>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1288271"/>
          </a:xfrm>
          <a:solidFill>
            <a:schemeClr val="bg1">
              <a:lumMod val="85000"/>
            </a:schemeClr>
          </a:solidFill>
          <a:effectLst>
            <a:outerShdw blurRad="50800" dist="38100" dir="2700000" algn="tl" rotWithShape="0">
              <a:srgbClr val="000000">
                <a:alpha val="43000"/>
              </a:srgbClr>
            </a:outerShdw>
          </a:effectLst>
        </p:spPr>
        <p:txBody>
          <a:bodyPr>
            <a:normAutofit/>
          </a:bodyPr>
          <a:lstStyle/>
          <a:p>
            <a:r>
              <a:rPr lang="en-US" sz="4000" dirty="0">
                <a:solidFill>
                  <a:srgbClr val="002E62"/>
                </a:solidFill>
                <a:latin typeface="Verdana"/>
                <a:cs typeface="Verdana"/>
              </a:rPr>
              <a:t>Cyber Laws &amp; Regulations</a:t>
            </a:r>
          </a:p>
        </p:txBody>
      </p:sp>
      <p:sp>
        <p:nvSpPr>
          <p:cNvPr id="11" name="Rectangle 10"/>
          <p:cNvSpPr/>
          <p:nvPr/>
        </p:nvSpPr>
        <p:spPr>
          <a:xfrm>
            <a:off x="0" y="6295510"/>
            <a:ext cx="9144000" cy="328462"/>
          </a:xfrm>
          <a:prstGeom prst="rect">
            <a:avLst/>
          </a:prstGeom>
          <a:solidFill>
            <a:schemeClr val="bg1">
              <a:lumMod val="85000"/>
            </a:schemeClr>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2E62"/>
                </a:solidFill>
              </a:rPr>
              <a:t>    </a:t>
            </a:r>
            <a:r>
              <a:rPr lang="en-US" sz="1600" dirty="0">
                <a:solidFill>
                  <a:srgbClr val="002E62"/>
                </a:solidFill>
                <a:latin typeface="Verdana"/>
                <a:cs typeface="Verdana"/>
              </a:rPr>
              <a:t>CS 151 – Introduction to Cybersecurity</a:t>
            </a:r>
          </a:p>
        </p:txBody>
      </p:sp>
      <p:pic>
        <p:nvPicPr>
          <p:cNvPr id="3" name="Picture 2" descr="Nevada_N_blue_revers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1812" y="2228538"/>
            <a:ext cx="2060377" cy="2060377"/>
          </a:xfrm>
          <a:prstGeom prst="rect">
            <a:avLst/>
          </a:prstGeom>
        </p:spPr>
      </p:pic>
      <p:sp>
        <p:nvSpPr>
          <p:cNvPr id="5" name="TextBox 4"/>
          <p:cNvSpPr txBox="1"/>
          <p:nvPr/>
        </p:nvSpPr>
        <p:spPr>
          <a:xfrm>
            <a:off x="2229486" y="4615448"/>
            <a:ext cx="4776484" cy="707886"/>
          </a:xfrm>
          <a:prstGeom prst="rect">
            <a:avLst/>
          </a:prstGeom>
          <a:noFill/>
        </p:spPr>
        <p:txBody>
          <a:bodyPr wrap="square" rtlCol="0">
            <a:spAutoFit/>
          </a:bodyPr>
          <a:lstStyle/>
          <a:p>
            <a:pPr algn="ctr"/>
            <a:r>
              <a:rPr lang="en-US" sz="2000" dirty="0">
                <a:solidFill>
                  <a:schemeClr val="bg1">
                    <a:lumMod val="85000"/>
                  </a:schemeClr>
                </a:solidFill>
                <a:latin typeface="Verdana"/>
                <a:cs typeface="Verdana"/>
              </a:rPr>
              <a:t>Nancy LaTourrette, CISSP</a:t>
            </a:r>
          </a:p>
          <a:p>
            <a:pPr algn="ctr"/>
            <a:r>
              <a:rPr lang="en-US" sz="2000" dirty="0">
                <a:solidFill>
                  <a:schemeClr val="bg1">
                    <a:lumMod val="85000"/>
                  </a:schemeClr>
                </a:solidFill>
                <a:latin typeface="Verdana"/>
                <a:cs typeface="Verdana"/>
              </a:rPr>
              <a:t>Computer Science &amp; Engineering</a:t>
            </a:r>
          </a:p>
        </p:txBody>
      </p:sp>
    </p:spTree>
    <p:extLst>
      <p:ext uri="{BB962C8B-B14F-4D97-AF65-F5344CB8AC3E}">
        <p14:creationId xmlns:p14="http://schemas.microsoft.com/office/powerpoint/2010/main" val="2055808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Security &amp; Privacy Controls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 – Introduction to Cybersecurity</a:t>
            </a:r>
          </a:p>
        </p:txBody>
      </p:sp>
      <p:sp>
        <p:nvSpPr>
          <p:cNvPr id="2" name="TextBox 1"/>
          <p:cNvSpPr txBox="1"/>
          <p:nvPr/>
        </p:nvSpPr>
        <p:spPr>
          <a:xfrm>
            <a:off x="242216" y="1543868"/>
            <a:ext cx="8659567" cy="3770263"/>
          </a:xfrm>
          <a:prstGeom prst="rect">
            <a:avLst/>
          </a:prstGeom>
          <a:noFill/>
        </p:spPr>
        <p:txBody>
          <a:bodyPr wrap="square" rtlCol="0">
            <a:spAutoFit/>
          </a:bodyPr>
          <a:lstStyle/>
          <a:p>
            <a:endParaRPr lang="en-US" sz="2200" dirty="0">
              <a:latin typeface="Verdana"/>
              <a:cs typeface="Verdana"/>
            </a:endParaRPr>
          </a:p>
          <a:p>
            <a:r>
              <a:rPr lang="en-US" sz="2200" i="1" dirty="0">
                <a:latin typeface="Verdana"/>
                <a:cs typeface="Verdana"/>
              </a:rPr>
              <a:t>NIST Special Publication 800-53 </a:t>
            </a:r>
            <a:r>
              <a:rPr lang="en-US" sz="2200" i="1" dirty="0">
                <a:latin typeface="Verdana" panose="020B0604030504040204" pitchFamily="34" charset="0"/>
                <a:ea typeface="Verdana" panose="020B0604030504040204" pitchFamily="34" charset="0"/>
                <a:cs typeface="Verdana" panose="020B0604030504040204" pitchFamily="34" charset="0"/>
              </a:rPr>
              <a:t>provides security and privacy controls and a process for selecting controls to protect organizational assets, individuals, and the Nation from hostile cyber attacks, natural disasters, structural failures, and human errors. The controls are customizable and implemented as part of an organization-wide process. </a:t>
            </a:r>
          </a:p>
          <a:p>
            <a:endParaRPr lang="en-US" sz="2200" i="1" dirty="0">
              <a:latin typeface="Verdana"/>
              <a:cs typeface="Verdana"/>
            </a:endParaRPr>
          </a:p>
          <a:p>
            <a:r>
              <a:rPr lang="en-US" sz="2100" dirty="0">
                <a:latin typeface="Verdana"/>
                <a:cs typeface="Verdana"/>
              </a:rPr>
              <a:t>       -- (NIST) </a:t>
            </a:r>
            <a:r>
              <a:rPr lang="en-US" sz="2000" dirty="0">
                <a:latin typeface="Verdana" panose="020B0604030504040204" pitchFamily="34" charset="0"/>
                <a:ea typeface="Verdana" panose="020B0604030504040204" pitchFamily="34" charset="0"/>
                <a:cs typeface="Verdana" panose="020B0604030504040204" pitchFamily="34" charset="0"/>
              </a:rPr>
              <a:t>Security and Privacy Controls for Federal 				      Information Systems and Organizations, Revision 4, 2013</a:t>
            </a:r>
          </a:p>
          <a:p>
            <a:endParaRPr lang="en-US" sz="2200" dirty="0">
              <a:latin typeface="Verdana"/>
              <a:cs typeface="Verdana"/>
            </a:endParaRPr>
          </a:p>
        </p:txBody>
      </p:sp>
    </p:spTree>
    <p:extLst>
      <p:ext uri="{BB962C8B-B14F-4D97-AF65-F5344CB8AC3E}">
        <p14:creationId xmlns:p14="http://schemas.microsoft.com/office/powerpoint/2010/main" val="1129944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Computer Security Act</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 – Introduction to Cybersecurity</a:t>
            </a:r>
          </a:p>
        </p:txBody>
      </p:sp>
      <p:sp>
        <p:nvSpPr>
          <p:cNvPr id="2" name="TextBox 1"/>
          <p:cNvSpPr txBox="1"/>
          <p:nvPr/>
        </p:nvSpPr>
        <p:spPr>
          <a:xfrm>
            <a:off x="414528" y="1278752"/>
            <a:ext cx="8497824" cy="4693593"/>
          </a:xfrm>
          <a:prstGeom prst="rect">
            <a:avLst/>
          </a:prstGeom>
          <a:noFill/>
        </p:spPr>
        <p:txBody>
          <a:bodyPr wrap="square" rtlCol="0">
            <a:spAutoFit/>
          </a:bodyPr>
          <a:lstStyle/>
          <a:p>
            <a:r>
              <a:rPr lang="en-US" sz="22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The Computer Security Act </a:t>
            </a:r>
            <a:r>
              <a:rPr lang="en-US" sz="2200" i="1" dirty="0">
                <a:latin typeface="Verdana" panose="020B0604030504040204" pitchFamily="34" charset="0"/>
                <a:ea typeface="Verdana" panose="020B0604030504040204" pitchFamily="34" charset="0"/>
                <a:cs typeface="Verdana" panose="020B0604030504040204" pitchFamily="34" charset="0"/>
              </a:rPr>
              <a:t>(1987</a:t>
            </a:r>
            <a:r>
              <a:rPr lang="en-US" sz="2200" i="1" baseline="30000" dirty="0">
                <a:latin typeface="Verdana" panose="020B0604030504040204" pitchFamily="34" charset="0"/>
                <a:ea typeface="Verdana" panose="020B0604030504040204" pitchFamily="34" charset="0"/>
                <a:cs typeface="Verdana" panose="020B0604030504040204" pitchFamily="34" charset="0"/>
              </a:rPr>
              <a:t>1</a:t>
            </a:r>
            <a:r>
              <a:rPr lang="en-US" sz="2200" i="1" dirty="0">
                <a:latin typeface="Verdana" panose="020B0604030504040204" pitchFamily="34" charset="0"/>
                <a:ea typeface="Verdana" panose="020B0604030504040204" pitchFamily="34" charset="0"/>
                <a:cs typeface="Verdana" panose="020B0604030504040204" pitchFamily="34" charset="0"/>
              </a:rPr>
              <a:t>) directed NIST</a:t>
            </a:r>
            <a:r>
              <a:rPr lang="en-US" sz="2200" i="1" baseline="30000" dirty="0">
                <a:latin typeface="Verdana" panose="020B0604030504040204" pitchFamily="34" charset="0"/>
                <a:ea typeface="Verdana" panose="020B0604030504040204" pitchFamily="34" charset="0"/>
                <a:cs typeface="Verdana" panose="020B0604030504040204" pitchFamily="34" charset="0"/>
              </a:rPr>
              <a:t>2</a:t>
            </a:r>
            <a:r>
              <a:rPr lang="en-US" sz="2200" i="1" dirty="0">
                <a:latin typeface="Verdana" panose="020B0604030504040204" pitchFamily="34" charset="0"/>
                <a:ea typeface="Verdana" panose="020B0604030504040204" pitchFamily="34" charset="0"/>
                <a:cs typeface="Verdana" panose="020B0604030504040204" pitchFamily="34" charset="0"/>
              </a:rPr>
              <a:t> to establish a </a:t>
            </a:r>
            <a:r>
              <a:rPr lang="en-US" sz="2200" i="1" dirty="0">
                <a:solidFill>
                  <a:srgbClr val="FF0000"/>
                </a:solidFill>
                <a:latin typeface="Verdana" panose="020B0604030504040204" pitchFamily="34" charset="0"/>
                <a:ea typeface="Verdana" panose="020B0604030504040204" pitchFamily="34" charset="0"/>
                <a:cs typeface="Verdana" panose="020B0604030504040204" pitchFamily="34" charset="0"/>
              </a:rPr>
              <a:t>computer standards program </a:t>
            </a:r>
            <a:r>
              <a:rPr lang="en-US" sz="2200" i="1" dirty="0">
                <a:latin typeface="Verdana" panose="020B0604030504040204" pitchFamily="34" charset="0"/>
                <a:ea typeface="Verdana" panose="020B0604030504040204" pitchFamily="34" charset="0"/>
                <a:cs typeface="Verdana" panose="020B0604030504040204" pitchFamily="34" charset="0"/>
              </a:rPr>
              <a:t>for federal computer systems, including </a:t>
            </a:r>
            <a:r>
              <a:rPr lang="en-US" sz="2200" i="1" dirty="0">
                <a:solidFill>
                  <a:srgbClr val="FF0000"/>
                </a:solidFill>
                <a:latin typeface="Verdana" panose="020B0604030504040204" pitchFamily="34" charset="0"/>
                <a:ea typeface="Verdana" panose="020B0604030504040204" pitchFamily="34" charset="0"/>
                <a:cs typeface="Verdana" panose="020B0604030504040204" pitchFamily="34" charset="0"/>
              </a:rPr>
              <a:t>guidelines for security</a:t>
            </a:r>
            <a:r>
              <a:rPr lang="en-US" sz="2200" i="1" dirty="0">
                <a:latin typeface="Verdana" panose="020B0604030504040204" pitchFamily="34" charset="0"/>
                <a:ea typeface="Verdana" panose="020B0604030504040204" pitchFamily="34" charset="0"/>
                <a:cs typeface="Verdana" panose="020B0604030504040204" pitchFamily="34" charset="0"/>
              </a:rPr>
              <a:t>.</a:t>
            </a:r>
            <a:r>
              <a:rPr lang="en-US" sz="2400" dirty="0"/>
              <a:t> </a:t>
            </a:r>
          </a:p>
          <a:p>
            <a:endParaRPr lang="en-US" sz="21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US" sz="2100" dirty="0">
                <a:latin typeface="Verdana" panose="020B0604030504040204" pitchFamily="34" charset="0"/>
                <a:ea typeface="Verdana" panose="020B0604030504040204" pitchFamily="34" charset="0"/>
                <a:cs typeface="Verdana" panose="020B0604030504040204" pitchFamily="34" charset="0"/>
              </a:rPr>
              <a:t>Use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security guidelines developed by the NSA</a:t>
            </a:r>
            <a:r>
              <a:rPr lang="en-US" sz="2100" baseline="30000" dirty="0">
                <a:latin typeface="Verdana" panose="020B0604030504040204" pitchFamily="34" charset="0"/>
                <a:ea typeface="Verdana" panose="020B0604030504040204" pitchFamily="34" charset="0"/>
                <a:cs typeface="Verdana" panose="020B0604030504040204" pitchFamily="34" charset="0"/>
              </a:rPr>
              <a:t>3</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 </a:t>
            </a:r>
            <a:r>
              <a:rPr lang="en-US" sz="2100" dirty="0">
                <a:latin typeface="Verdana" panose="020B0604030504040204" pitchFamily="34" charset="0"/>
                <a:ea typeface="Verdana" panose="020B0604030504040204" pitchFamily="34" charset="0"/>
                <a:cs typeface="Verdana" panose="020B0604030504040204" pitchFamily="34" charset="0"/>
              </a:rPr>
              <a:t>regarding protecting sensitive information. </a:t>
            </a:r>
          </a:p>
          <a:p>
            <a:endParaRPr lang="en-US" sz="21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US" sz="2100" dirty="0">
                <a:latin typeface="Verdana" panose="020B0604030504040204" pitchFamily="34" charset="0"/>
                <a:ea typeface="Verdana" panose="020B0604030504040204" pitchFamily="34" charset="0"/>
                <a:cs typeface="Verdana" panose="020B0604030504040204" pitchFamily="34" charset="0"/>
              </a:rPr>
              <a:t>Develop standards of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minimum acceptable practices</a:t>
            </a:r>
            <a:r>
              <a:rPr lang="en-US" sz="2100" dirty="0">
                <a:latin typeface="Verdana" panose="020B0604030504040204" pitchFamily="34" charset="0"/>
                <a:ea typeface="Verdana" panose="020B0604030504040204" pitchFamily="34" charset="0"/>
                <a:cs typeface="Verdana" panose="020B0604030504040204" pitchFamily="34" charset="0"/>
              </a:rPr>
              <a:t>.</a:t>
            </a:r>
          </a:p>
          <a:p>
            <a:pPr marL="342900" indent="-342900">
              <a:buFont typeface="Arial" panose="020B0604020202020204" pitchFamily="34" charset="0"/>
              <a:buChar char="•"/>
            </a:pPr>
            <a:endParaRPr lang="en-US" sz="21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US" sz="2100" dirty="0">
                <a:latin typeface="Verdana" panose="020B0604030504040204" pitchFamily="34" charset="0"/>
                <a:ea typeface="Verdana" panose="020B0604030504040204" pitchFamily="34" charset="0"/>
                <a:cs typeface="Verdana" panose="020B0604030504040204" pitchFamily="34" charset="0"/>
              </a:rPr>
              <a:t>Establishment of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security policies </a:t>
            </a:r>
            <a:r>
              <a:rPr lang="en-US" sz="2100" dirty="0">
                <a:latin typeface="Verdana" panose="020B0604030504040204" pitchFamily="34" charset="0"/>
                <a:ea typeface="Verdana" panose="020B0604030504040204" pitchFamily="34" charset="0"/>
                <a:cs typeface="Verdana" panose="020B0604030504040204" pitchFamily="34" charset="0"/>
              </a:rPr>
              <a:t>for federal computer systems that contain sensitive information.</a:t>
            </a:r>
          </a:p>
          <a:p>
            <a:pPr marL="342900" indent="-342900">
              <a:buFont typeface="Arial" panose="020B0604020202020204" pitchFamily="34" charset="0"/>
              <a:buChar char="•"/>
            </a:pPr>
            <a:endParaRPr lang="en-US" sz="21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US" sz="2100" dirty="0">
                <a:latin typeface="Verdana" panose="020B0604030504040204" pitchFamily="34" charset="0"/>
                <a:ea typeface="Verdana" panose="020B0604030504040204" pitchFamily="34" charset="0"/>
                <a:cs typeface="Verdana" panose="020B0604030504040204" pitchFamily="34" charset="0"/>
              </a:rPr>
              <a:t>Mandatory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security awareness training </a:t>
            </a:r>
            <a:r>
              <a:rPr lang="en-US" sz="2100" dirty="0">
                <a:latin typeface="Verdana" panose="020B0604030504040204" pitchFamily="34" charset="0"/>
                <a:ea typeface="Verdana" panose="020B0604030504040204" pitchFamily="34" charset="0"/>
                <a:cs typeface="Verdana" panose="020B0604030504040204" pitchFamily="34" charset="0"/>
              </a:rPr>
              <a:t>for federal employees that use those systems.</a:t>
            </a:r>
          </a:p>
        </p:txBody>
      </p:sp>
    </p:spTree>
    <p:extLst>
      <p:ext uri="{BB962C8B-B14F-4D97-AF65-F5344CB8AC3E}">
        <p14:creationId xmlns:p14="http://schemas.microsoft.com/office/powerpoint/2010/main" val="4275886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234028"/>
            <a:ext cx="9144000" cy="863252"/>
          </a:xfrm>
          <a:solidFill>
            <a:srgbClr val="002E62"/>
          </a:solidFill>
          <a:effectLst>
            <a:outerShdw blurRad="50800" dist="38100" dir="2700000" algn="tl" rotWithShape="0">
              <a:srgbClr val="000000">
                <a:alpha val="43000"/>
              </a:srgbClr>
            </a:outerShdw>
          </a:effectLst>
        </p:spPr>
        <p:txBody>
          <a:bodyPr>
            <a:noAutofit/>
          </a:bodyPr>
          <a:lstStyle/>
          <a:p>
            <a:r>
              <a:rPr lang="en-US" sz="360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FISMA</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 – Introduction to Cybersecurity</a:t>
            </a:r>
          </a:p>
        </p:txBody>
      </p:sp>
      <p:sp>
        <p:nvSpPr>
          <p:cNvPr id="2" name="TextBox 1"/>
          <p:cNvSpPr txBox="1"/>
          <p:nvPr/>
        </p:nvSpPr>
        <p:spPr>
          <a:xfrm>
            <a:off x="304800" y="1165984"/>
            <a:ext cx="8619744" cy="4785926"/>
          </a:xfrm>
          <a:prstGeom prst="rect">
            <a:avLst/>
          </a:prstGeom>
          <a:noFill/>
        </p:spPr>
        <p:txBody>
          <a:bodyPr wrap="square" rtlCol="0">
            <a:spAutoFit/>
          </a:bodyPr>
          <a:lstStyle/>
          <a:p>
            <a:r>
              <a:rPr lang="en-US" sz="22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The Federal Information Security Management Act (FISMA) </a:t>
            </a:r>
            <a:r>
              <a:rPr lang="en-US" sz="2200" dirty="0">
                <a:latin typeface="Verdana" panose="020B0604030504040204" pitchFamily="34" charset="0"/>
                <a:ea typeface="Verdana" panose="020B0604030504040204" pitchFamily="34" charset="0"/>
                <a:cs typeface="Verdana" panose="020B0604030504040204" pitchFamily="34" charset="0"/>
              </a:rPr>
              <a:t>requires federal agencies to develop, document, and implement an information security and protection program.</a:t>
            </a:r>
          </a:p>
          <a:p>
            <a:endParaRPr lang="en-US" sz="10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Reduces the security risk </a:t>
            </a:r>
            <a:r>
              <a:rPr lang="en-US" sz="2100" dirty="0">
                <a:latin typeface="Verdana" panose="020B0604030504040204" pitchFamily="34" charset="0"/>
                <a:ea typeface="Verdana" panose="020B0604030504040204" pitchFamily="34" charset="0"/>
                <a:cs typeface="Verdana" panose="020B0604030504040204" pitchFamily="34" charset="0"/>
              </a:rPr>
              <a:t>to federal data and manages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federal spending </a:t>
            </a:r>
            <a:r>
              <a:rPr lang="en-US" sz="2100" dirty="0">
                <a:latin typeface="Verdana" panose="020B0604030504040204" pitchFamily="34" charset="0"/>
                <a:ea typeface="Verdana" panose="020B0604030504040204" pitchFamily="34" charset="0"/>
                <a:cs typeface="Verdana" panose="020B0604030504040204" pitchFamily="34" charset="0"/>
              </a:rPr>
              <a:t>on information security.</a:t>
            </a:r>
          </a:p>
          <a:p>
            <a:pPr marL="285750" indent="-285750">
              <a:buFont typeface="Arial" panose="020B0604020202020204" pitchFamily="34" charset="0"/>
              <a:buChar char="•"/>
            </a:pPr>
            <a:endParaRPr lang="en-US" sz="10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sz="2100" dirty="0">
                <a:latin typeface="Verdana" panose="020B0604030504040204" pitchFamily="34" charset="0"/>
                <a:ea typeface="Verdana" panose="020B0604030504040204" pitchFamily="34" charset="0"/>
                <a:cs typeface="Verdana" panose="020B0604030504040204" pitchFamily="34" charset="0"/>
              </a:rPr>
              <a:t>Includes information security programs provided or managed by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another agency, contractor, or other sources</a:t>
            </a:r>
            <a:r>
              <a:rPr lang="en-US" sz="2100" dirty="0">
                <a:latin typeface="Verdana" panose="020B0604030504040204" pitchFamily="34" charset="0"/>
                <a:ea typeface="Verdana" panose="020B0604030504040204" pitchFamily="34" charset="0"/>
                <a:cs typeface="Verdana" panose="020B0604030504040204" pitchFamily="34" charset="0"/>
              </a:rPr>
              <a:t>.</a:t>
            </a:r>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 </a:t>
            </a:r>
          </a:p>
          <a:p>
            <a:pPr marL="285750" indent="-285750">
              <a:buFont typeface="Arial" panose="020B0604020202020204" pitchFamily="34" charset="0"/>
              <a:buChar char="•"/>
            </a:pPr>
            <a:endParaRPr lang="en-US" sz="10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Risk-based policy </a:t>
            </a:r>
            <a:r>
              <a:rPr lang="en-US" sz="2100" dirty="0">
                <a:latin typeface="Verdana" panose="020B0604030504040204" pitchFamily="34" charset="0"/>
                <a:ea typeface="Verdana" panose="020B0604030504040204" pitchFamily="34" charset="0"/>
                <a:cs typeface="Verdana" panose="020B0604030504040204" pitchFamily="34" charset="0"/>
              </a:rPr>
              <a:t>for cost-effective security.</a:t>
            </a:r>
          </a:p>
          <a:p>
            <a:pPr marL="285750" indent="-285750">
              <a:buFont typeface="Arial" panose="020B0604020202020204" pitchFamily="34" charset="0"/>
              <a:buChar char="•"/>
            </a:pPr>
            <a:endParaRPr lang="en-US" sz="10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sz="2100" dirty="0">
                <a:latin typeface="Verdana" panose="020B0604030504040204" pitchFamily="34" charset="0"/>
                <a:ea typeface="Verdana" panose="020B0604030504040204" pitchFamily="34" charset="0"/>
                <a:cs typeface="Verdana" panose="020B0604030504040204" pitchFamily="34" charset="0"/>
              </a:rPr>
              <a:t>Conduct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annual review </a:t>
            </a:r>
            <a:r>
              <a:rPr lang="en-US" sz="2100" dirty="0">
                <a:latin typeface="Verdana" panose="020B0604030504040204" pitchFamily="34" charset="0"/>
                <a:ea typeface="Verdana" panose="020B0604030504040204" pitchFamily="34" charset="0"/>
                <a:cs typeface="Verdana" panose="020B0604030504040204" pitchFamily="34" charset="0"/>
              </a:rPr>
              <a:t>of the agency's information security program.</a:t>
            </a:r>
          </a:p>
          <a:p>
            <a:pPr marL="285750" indent="-285750">
              <a:buFont typeface="Arial" panose="020B0604020202020204" pitchFamily="34" charset="0"/>
              <a:buChar char="•"/>
            </a:pPr>
            <a:endParaRPr lang="en-US" sz="10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Expanded to include state agencies </a:t>
            </a:r>
            <a:r>
              <a:rPr lang="en-US" sz="2100" dirty="0">
                <a:latin typeface="Verdana" panose="020B0604030504040204" pitchFamily="34" charset="0"/>
                <a:ea typeface="Verdana" panose="020B0604030504040204" pitchFamily="34" charset="0"/>
                <a:cs typeface="Verdana" panose="020B0604030504040204" pitchFamily="34" charset="0"/>
              </a:rPr>
              <a:t>administering federal programs like Medicare.</a:t>
            </a:r>
          </a:p>
        </p:txBody>
      </p:sp>
    </p:spTree>
    <p:extLst>
      <p:ext uri="{BB962C8B-B14F-4D97-AF65-F5344CB8AC3E}">
        <p14:creationId xmlns:p14="http://schemas.microsoft.com/office/powerpoint/2010/main" val="2841681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234028"/>
            <a:ext cx="9144000" cy="863252"/>
          </a:xfrm>
          <a:solidFill>
            <a:srgbClr val="002E62"/>
          </a:solidFill>
          <a:effectLst>
            <a:outerShdw blurRad="50800" dist="38100" dir="2700000" algn="tl" rotWithShape="0">
              <a:srgbClr val="000000">
                <a:alpha val="43000"/>
              </a:srgbClr>
            </a:outerShdw>
          </a:effectLst>
        </p:spPr>
        <p:txBody>
          <a:bodyPr>
            <a:noAutofit/>
          </a:bodyPr>
          <a:lstStyle/>
          <a:p>
            <a:r>
              <a:rPr lang="en-US" sz="360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FISMA</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 – Introduction to Cybersecurity</a:t>
            </a:r>
          </a:p>
        </p:txBody>
      </p:sp>
      <p:sp>
        <p:nvSpPr>
          <p:cNvPr id="2" name="TextBox 1"/>
          <p:cNvSpPr txBox="1"/>
          <p:nvPr/>
        </p:nvSpPr>
        <p:spPr>
          <a:xfrm>
            <a:off x="262128" y="1369674"/>
            <a:ext cx="8619744" cy="4755148"/>
          </a:xfrm>
          <a:prstGeom prst="rect">
            <a:avLst/>
          </a:prstGeom>
          <a:noFill/>
        </p:spPr>
        <p:txBody>
          <a:bodyPr wrap="square" rtlCol="0">
            <a:spAutoFit/>
          </a:bodyPr>
          <a:lstStyle/>
          <a:p>
            <a:r>
              <a:rPr lang="en-US" sz="2200" i="1" dirty="0">
                <a:latin typeface="Verdana" panose="020B0604030504040204" pitchFamily="34" charset="0"/>
                <a:ea typeface="Verdana" panose="020B0604030504040204" pitchFamily="34" charset="0"/>
                <a:cs typeface="Verdana" panose="020B0604030504040204" pitchFamily="34" charset="0"/>
              </a:rPr>
              <a:t>Top FISMA requirements:</a:t>
            </a:r>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14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Information Security Inventory </a:t>
            </a:r>
            <a:r>
              <a:rPr lang="en-US" sz="2100" dirty="0">
                <a:latin typeface="Verdana" panose="020B0604030504040204" pitchFamily="34" charset="0"/>
                <a:ea typeface="Verdana" panose="020B0604030504040204" pitchFamily="34" charset="0"/>
                <a:cs typeface="Verdana" panose="020B0604030504040204" pitchFamily="34" charset="0"/>
              </a:rPr>
              <a:t>– keep an inventory of all information systems used.</a:t>
            </a:r>
          </a:p>
          <a:p>
            <a:pPr marL="285750" indent="-285750">
              <a:buFont typeface="Arial" panose="020B0604020202020204" pitchFamily="34" charset="0"/>
              <a:buChar char="•"/>
            </a:pPr>
            <a:endParaRPr lang="en-US" sz="10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Risk Categorization </a:t>
            </a:r>
            <a:r>
              <a:rPr lang="en-US" sz="2100" dirty="0">
                <a:latin typeface="Verdana" panose="020B0604030504040204" pitchFamily="34" charset="0"/>
                <a:ea typeface="Verdana" panose="020B0604030504040204" pitchFamily="34" charset="0"/>
                <a:cs typeface="Verdana" panose="020B0604030504040204" pitchFamily="34" charset="0"/>
              </a:rPr>
              <a:t>– categorize information in order or risk (most sensitive).</a:t>
            </a:r>
            <a:endParaRPr lang="en-US" sz="2100" i="1"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endParaRPr lang="en-US" sz="10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Security Plan </a:t>
            </a:r>
            <a:r>
              <a:rPr lang="en-US" sz="2100" dirty="0">
                <a:latin typeface="Verdana" panose="020B0604030504040204" pitchFamily="34" charset="0"/>
                <a:ea typeface="Verdana" panose="020B0604030504040204" pitchFamily="34" charset="0"/>
                <a:cs typeface="Verdana" panose="020B0604030504040204" pitchFamily="34" charset="0"/>
              </a:rPr>
              <a:t>– create and maintain a security plan.</a:t>
            </a:r>
          </a:p>
          <a:p>
            <a:pPr marL="285750" indent="-285750">
              <a:buFont typeface="Arial" panose="020B0604020202020204" pitchFamily="34" charset="0"/>
              <a:buChar char="•"/>
            </a:pPr>
            <a:endParaRPr lang="en-US" sz="10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Security Controls </a:t>
            </a:r>
            <a:r>
              <a:rPr lang="en-US" sz="2100" dirty="0">
                <a:latin typeface="Verdana" panose="020B0604030504040204" pitchFamily="34" charset="0"/>
                <a:ea typeface="Verdana" panose="020B0604030504040204" pitchFamily="34" charset="0"/>
                <a:cs typeface="Verdana" panose="020B0604030504040204" pitchFamily="34" charset="0"/>
              </a:rPr>
              <a:t>– implement NIST 800-53 security controls into security plan.</a:t>
            </a:r>
          </a:p>
          <a:p>
            <a:pPr marL="285750" indent="-285750">
              <a:buFont typeface="Arial" panose="020B0604020202020204" pitchFamily="34" charset="0"/>
              <a:buChar char="•"/>
            </a:pPr>
            <a:endParaRPr lang="en-US" sz="10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Risk Assessments </a:t>
            </a:r>
            <a:r>
              <a:rPr lang="en-US" sz="2100" dirty="0">
                <a:latin typeface="Verdana" panose="020B0604030504040204" pitchFamily="34" charset="0"/>
                <a:ea typeface="Verdana" panose="020B0604030504040204" pitchFamily="34" charset="0"/>
                <a:cs typeface="Verdana" panose="020B0604030504040204" pitchFamily="34" charset="0"/>
              </a:rPr>
              <a:t>– conduct a three-tiered</a:t>
            </a:r>
            <a:r>
              <a:rPr lang="en-US" sz="2100" baseline="30000" dirty="0">
                <a:latin typeface="Verdana" panose="020B0604030504040204" pitchFamily="34" charset="0"/>
                <a:ea typeface="Verdana" panose="020B0604030504040204" pitchFamily="34" charset="0"/>
                <a:cs typeface="Verdana" panose="020B0604030504040204" pitchFamily="34" charset="0"/>
              </a:rPr>
              <a:t>1</a:t>
            </a:r>
            <a:r>
              <a:rPr lang="en-US" sz="2100" dirty="0">
                <a:latin typeface="Verdana" panose="020B0604030504040204" pitchFamily="34" charset="0"/>
                <a:ea typeface="Verdana" panose="020B0604030504040204" pitchFamily="34" charset="0"/>
                <a:cs typeface="Verdana" panose="020B0604030504040204" pitchFamily="34" charset="0"/>
              </a:rPr>
              <a:t> risk assessment.</a:t>
            </a:r>
          </a:p>
          <a:p>
            <a:pPr marL="285750" indent="-285750">
              <a:buFont typeface="Arial" panose="020B0604020202020204" pitchFamily="34" charset="0"/>
              <a:buChar char="•"/>
            </a:pPr>
            <a:endParaRPr lang="en-US" sz="10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Security Reviews </a:t>
            </a:r>
            <a:r>
              <a:rPr lang="en-US" sz="2100" dirty="0">
                <a:latin typeface="Verdana" panose="020B0604030504040204" pitchFamily="34" charset="0"/>
                <a:ea typeface="Verdana" panose="020B0604030504040204" pitchFamily="34" charset="0"/>
                <a:cs typeface="Verdana" panose="020B0604030504040204" pitchFamily="34" charset="0"/>
              </a:rPr>
              <a:t>– conduct an annual security review.</a:t>
            </a:r>
          </a:p>
        </p:txBody>
      </p:sp>
    </p:spTree>
    <p:extLst>
      <p:ext uri="{BB962C8B-B14F-4D97-AF65-F5344CB8AC3E}">
        <p14:creationId xmlns:p14="http://schemas.microsoft.com/office/powerpoint/2010/main" val="457323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NIST 800-53</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dirty="0">
                <a:solidFill>
                  <a:schemeClr val="bg1">
                    <a:lumMod val="85000"/>
                  </a:schemeClr>
                </a:solidFill>
                <a:latin typeface="Verdana"/>
                <a:cs typeface="Verdana"/>
              </a:rPr>
              <a:t>CS 151 – Introduction to Cybersecurity</a:t>
            </a:r>
          </a:p>
        </p:txBody>
      </p:sp>
      <p:sp>
        <p:nvSpPr>
          <p:cNvPr id="2" name="TextBox 1"/>
          <p:cNvSpPr txBox="1"/>
          <p:nvPr/>
        </p:nvSpPr>
        <p:spPr>
          <a:xfrm>
            <a:off x="242216" y="1116769"/>
            <a:ext cx="8659567" cy="5401479"/>
          </a:xfrm>
          <a:prstGeom prst="rect">
            <a:avLst/>
          </a:prstGeom>
          <a:noFill/>
        </p:spPr>
        <p:txBody>
          <a:bodyPr wrap="square" rtlCol="0">
            <a:spAutoFit/>
          </a:bodyPr>
          <a:lstStyle/>
          <a:p>
            <a:r>
              <a:rPr lang="en-US" sz="2200" i="1" dirty="0">
                <a:solidFill>
                  <a:schemeClr val="accent1">
                    <a:lumMod val="75000"/>
                  </a:schemeClr>
                </a:solidFill>
                <a:latin typeface="Verdana"/>
                <a:cs typeface="Verdana"/>
              </a:rPr>
              <a:t>NIST Special Publication 800-53 Revision 4:</a:t>
            </a:r>
          </a:p>
          <a:p>
            <a:endParaRPr lang="en-US" sz="1000" i="1" dirty="0">
              <a:solidFill>
                <a:schemeClr val="accent1">
                  <a:lumMod val="75000"/>
                </a:schemeClr>
              </a:solidFill>
              <a:latin typeface="Verdana"/>
              <a:cs typeface="Verdana"/>
            </a:endParaRPr>
          </a:p>
          <a:p>
            <a:r>
              <a:rPr lang="en-US" sz="2100" dirty="0">
                <a:latin typeface="Verdana" panose="020B0604030504040204" pitchFamily="34" charset="0"/>
                <a:ea typeface="Verdana" panose="020B0604030504040204" pitchFamily="34" charset="0"/>
                <a:cs typeface="Verdana" panose="020B0604030504040204" pitchFamily="34" charset="0"/>
              </a:rPr>
              <a:t>Step 1: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Categorize</a:t>
            </a:r>
            <a:r>
              <a:rPr lang="en-US" sz="2100" dirty="0">
                <a:latin typeface="Verdana" panose="020B0604030504040204" pitchFamily="34" charset="0"/>
                <a:ea typeface="Verdana" panose="020B0604030504040204" pitchFamily="34" charset="0"/>
                <a:cs typeface="Verdana" panose="020B0604030504040204" pitchFamily="34" charset="0"/>
              </a:rPr>
              <a:t> the information system based on impact assessment. </a:t>
            </a:r>
          </a:p>
          <a:p>
            <a:endParaRPr lang="en-US" sz="1000" dirty="0">
              <a:latin typeface="Verdana" panose="020B0604030504040204" pitchFamily="34" charset="0"/>
              <a:ea typeface="Verdana" panose="020B0604030504040204" pitchFamily="34" charset="0"/>
              <a:cs typeface="Verdana" panose="020B0604030504040204" pitchFamily="34" charset="0"/>
            </a:endParaRPr>
          </a:p>
          <a:p>
            <a:r>
              <a:rPr lang="en-US" sz="2100" dirty="0">
                <a:latin typeface="Verdana" panose="020B0604030504040204" pitchFamily="34" charset="0"/>
                <a:ea typeface="Verdana" panose="020B0604030504040204" pitchFamily="34" charset="0"/>
                <a:cs typeface="Verdana" panose="020B0604030504040204" pitchFamily="34" charset="0"/>
              </a:rPr>
              <a:t>Step 2: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Select </a:t>
            </a:r>
            <a:r>
              <a:rPr lang="en-US" sz="2100" dirty="0">
                <a:latin typeface="Verdana" panose="020B0604030504040204" pitchFamily="34" charset="0"/>
                <a:ea typeface="Verdana" panose="020B0604030504040204" pitchFamily="34" charset="0"/>
                <a:cs typeface="Verdana" panose="020B0604030504040204" pitchFamily="34" charset="0"/>
              </a:rPr>
              <a:t>the applicable security control baseline based on security categorization.</a:t>
            </a:r>
          </a:p>
          <a:p>
            <a:endParaRPr lang="en-US" sz="1000" dirty="0">
              <a:latin typeface="Verdana" panose="020B0604030504040204" pitchFamily="34" charset="0"/>
              <a:ea typeface="Verdana" panose="020B0604030504040204" pitchFamily="34" charset="0"/>
              <a:cs typeface="Verdana" panose="020B0604030504040204" pitchFamily="34" charset="0"/>
            </a:endParaRPr>
          </a:p>
          <a:p>
            <a:r>
              <a:rPr lang="en-US" sz="2100" dirty="0">
                <a:latin typeface="Verdana" panose="020B0604030504040204" pitchFamily="34" charset="0"/>
                <a:ea typeface="Verdana" panose="020B0604030504040204" pitchFamily="34" charset="0"/>
                <a:cs typeface="Verdana" panose="020B0604030504040204" pitchFamily="34" charset="0"/>
              </a:rPr>
              <a:t>Step 3: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Implement</a:t>
            </a:r>
            <a:r>
              <a:rPr lang="en-US" sz="2100" dirty="0">
                <a:latin typeface="Verdana" panose="020B0604030504040204" pitchFamily="34" charset="0"/>
                <a:ea typeface="Verdana" panose="020B0604030504040204" pitchFamily="34" charset="0"/>
                <a:cs typeface="Verdana" panose="020B0604030504040204" pitchFamily="34" charset="0"/>
              </a:rPr>
              <a:t> the security controls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and document </a:t>
            </a:r>
            <a:r>
              <a:rPr lang="en-US" sz="2100" dirty="0">
                <a:latin typeface="Verdana" panose="020B0604030504040204" pitchFamily="34" charset="0"/>
                <a:ea typeface="Verdana" panose="020B0604030504040204" pitchFamily="34" charset="0"/>
                <a:cs typeface="Verdana" panose="020B0604030504040204" pitchFamily="34" charset="0"/>
              </a:rPr>
              <a:t>the design, development, and implementation.</a:t>
            </a:r>
          </a:p>
          <a:p>
            <a:endParaRPr lang="en-US" sz="1000" dirty="0">
              <a:latin typeface="Verdana" panose="020B0604030504040204" pitchFamily="34" charset="0"/>
              <a:ea typeface="Verdana" panose="020B0604030504040204" pitchFamily="34" charset="0"/>
              <a:cs typeface="Verdana" panose="020B0604030504040204" pitchFamily="34" charset="0"/>
            </a:endParaRPr>
          </a:p>
          <a:p>
            <a:r>
              <a:rPr lang="en-US" sz="2100" dirty="0">
                <a:latin typeface="Verdana" panose="020B0604030504040204" pitchFamily="34" charset="0"/>
                <a:ea typeface="Verdana" panose="020B0604030504040204" pitchFamily="34" charset="0"/>
                <a:cs typeface="Verdana" panose="020B0604030504040204" pitchFamily="34" charset="0"/>
              </a:rPr>
              <a:t>Step 4: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Assess</a:t>
            </a:r>
            <a:r>
              <a:rPr lang="en-US" sz="2100" dirty="0">
                <a:latin typeface="Verdana" panose="020B0604030504040204" pitchFamily="34" charset="0"/>
                <a:ea typeface="Verdana" panose="020B0604030504040204" pitchFamily="34" charset="0"/>
                <a:cs typeface="Verdana" panose="020B0604030504040204" pitchFamily="34" charset="0"/>
              </a:rPr>
              <a:t> the security controls to determine extent to which the controls are producing the desired outcome.</a:t>
            </a:r>
          </a:p>
          <a:p>
            <a:endParaRPr lang="en-US" sz="1000" dirty="0">
              <a:latin typeface="Verdana" panose="020B0604030504040204" pitchFamily="34" charset="0"/>
              <a:ea typeface="Verdana" panose="020B0604030504040204" pitchFamily="34" charset="0"/>
              <a:cs typeface="Verdana" panose="020B0604030504040204" pitchFamily="34" charset="0"/>
            </a:endParaRPr>
          </a:p>
          <a:p>
            <a:r>
              <a:rPr lang="en-US" sz="2100" dirty="0">
                <a:latin typeface="Verdana" panose="020B0604030504040204" pitchFamily="34" charset="0"/>
                <a:ea typeface="Verdana" panose="020B0604030504040204" pitchFamily="34" charset="0"/>
                <a:cs typeface="Verdana" panose="020B0604030504040204" pitchFamily="34" charset="0"/>
              </a:rPr>
              <a:t>Step 5: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Authorize</a:t>
            </a:r>
            <a:r>
              <a:rPr lang="en-US" sz="2100" dirty="0">
                <a:latin typeface="Verdana" panose="020B0604030504040204" pitchFamily="34" charset="0"/>
                <a:ea typeface="Verdana" panose="020B0604030504040204" pitchFamily="34" charset="0"/>
                <a:cs typeface="Verdana" panose="020B0604030504040204" pitchFamily="34" charset="0"/>
              </a:rPr>
              <a:t> information system operation based on a determination of risk.</a:t>
            </a:r>
          </a:p>
          <a:p>
            <a:endParaRPr lang="en-US" sz="1000" dirty="0">
              <a:latin typeface="Verdana" panose="020B0604030504040204" pitchFamily="34" charset="0"/>
              <a:ea typeface="Verdana" panose="020B0604030504040204" pitchFamily="34" charset="0"/>
              <a:cs typeface="Verdana" panose="020B0604030504040204" pitchFamily="34" charset="0"/>
            </a:endParaRPr>
          </a:p>
          <a:p>
            <a:r>
              <a:rPr lang="en-US" sz="2100" dirty="0">
                <a:latin typeface="Verdana" panose="020B0604030504040204" pitchFamily="34" charset="0"/>
                <a:ea typeface="Verdana" panose="020B0604030504040204" pitchFamily="34" charset="0"/>
                <a:cs typeface="Verdana" panose="020B0604030504040204" pitchFamily="34" charset="0"/>
              </a:rPr>
              <a:t>Step 6: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Monitor</a:t>
            </a:r>
            <a:r>
              <a:rPr lang="en-US" sz="2100" dirty="0">
                <a:latin typeface="Verdana" panose="020B0604030504040204" pitchFamily="34" charset="0"/>
                <a:ea typeface="Verdana" panose="020B0604030504040204" pitchFamily="34" charset="0"/>
                <a:cs typeface="Verdana" panose="020B0604030504040204" pitchFamily="34" charset="0"/>
              </a:rPr>
              <a:t> the security controls on an ongoing basis to determine effectiveness.</a:t>
            </a:r>
            <a:endParaRPr lang="en-US" sz="2100"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64521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NIST 800-53</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dirty="0">
                <a:solidFill>
                  <a:schemeClr val="bg1">
                    <a:lumMod val="85000"/>
                  </a:schemeClr>
                </a:solidFill>
                <a:latin typeface="Verdana"/>
                <a:cs typeface="Verdana"/>
              </a:rPr>
              <a:t>CS 151 – Introduction to Cybersecurity</a:t>
            </a:r>
          </a:p>
        </p:txBody>
      </p:sp>
      <p:pic>
        <p:nvPicPr>
          <p:cNvPr id="5" name="Picture 4">
            <a:extLst>
              <a:ext uri="{FF2B5EF4-FFF2-40B4-BE49-F238E27FC236}">
                <a16:creationId xmlns:a16="http://schemas.microsoft.com/office/drawing/2014/main" id="{E390C818-74CB-694A-A46B-5C8BCD116C0D}"/>
              </a:ext>
            </a:extLst>
          </p:cNvPr>
          <p:cNvPicPr>
            <a:picLocks noChangeAspect="1"/>
          </p:cNvPicPr>
          <p:nvPr/>
        </p:nvPicPr>
        <p:blipFill>
          <a:blip r:embed="rId3"/>
          <a:stretch>
            <a:fillRect/>
          </a:stretch>
        </p:blipFill>
        <p:spPr>
          <a:xfrm>
            <a:off x="1586266" y="1253328"/>
            <a:ext cx="5971468" cy="4905622"/>
          </a:xfrm>
          <a:prstGeom prst="rect">
            <a:avLst/>
          </a:prstGeom>
        </p:spPr>
      </p:pic>
    </p:spTree>
    <p:extLst>
      <p:ext uri="{BB962C8B-B14F-4D97-AF65-F5344CB8AC3E}">
        <p14:creationId xmlns:p14="http://schemas.microsoft.com/office/powerpoint/2010/main" val="350509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Common Criteria</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cap="small" dirty="0">
                <a:solidFill>
                  <a:schemeClr val="bg1">
                    <a:lumMod val="85000"/>
                  </a:schemeClr>
                </a:solidFill>
                <a:latin typeface="Verdana"/>
                <a:cs typeface="Verdana"/>
              </a:rPr>
              <a:t>CS 151 – Introduction to Cybersecurity</a:t>
            </a:r>
            <a:endParaRPr lang="en-US" sz="1600" cap="small" dirty="0">
              <a:solidFill>
                <a:schemeClr val="bg1">
                  <a:lumMod val="85000"/>
                </a:schemeClr>
              </a:solidFill>
              <a:latin typeface="Verdana"/>
              <a:cs typeface="Verdana"/>
            </a:endParaRPr>
          </a:p>
        </p:txBody>
      </p:sp>
      <p:sp>
        <p:nvSpPr>
          <p:cNvPr id="7" name="TextBox 6"/>
          <p:cNvSpPr txBox="1"/>
          <p:nvPr/>
        </p:nvSpPr>
        <p:spPr>
          <a:xfrm>
            <a:off x="242216" y="1463418"/>
            <a:ext cx="8659567" cy="4708981"/>
          </a:xfrm>
          <a:prstGeom prst="rect">
            <a:avLst/>
          </a:prstGeom>
          <a:noFill/>
        </p:spPr>
        <p:txBody>
          <a:bodyPr wrap="square" rtlCol="0">
            <a:spAutoFit/>
          </a:bodyPr>
          <a:lstStyle/>
          <a:p>
            <a:r>
              <a:rPr lang="en-US" i="1" dirty="0">
                <a:latin typeface="Verdana" panose="020B0604030504040204" pitchFamily="34" charset="0"/>
                <a:ea typeface="Verdana" panose="020B0604030504040204" pitchFamily="34" charset="0"/>
                <a:cs typeface="Verdana" panose="020B0604030504040204" pitchFamily="34" charset="0"/>
              </a:rPr>
              <a:t>The Common Criteria for Information Technology and Security evaluation are ISO standards specifying security requirements and evaluation criteria.</a:t>
            </a:r>
            <a:endParaRPr lang="en-US" dirty="0">
              <a:latin typeface="Verdana" panose="020B0604030504040204" pitchFamily="34" charset="0"/>
              <a:ea typeface="Verdana" panose="020B0604030504040204" pitchFamily="34" charset="0"/>
              <a:cs typeface="Verdana" panose="020B0604030504040204" pitchFamily="34" charset="0"/>
            </a:endParaRPr>
          </a:p>
          <a:p>
            <a:r>
              <a:rPr lang="en-US" sz="1000" i="1" dirty="0">
                <a:latin typeface="Verdana" panose="020B0604030504040204" pitchFamily="34" charset="0"/>
                <a:ea typeface="Verdana" panose="020B0604030504040204" pitchFamily="34" charset="0"/>
                <a:cs typeface="Verdana" panose="020B0604030504040204" pitchFamily="34" charset="0"/>
              </a:rPr>
              <a:t>	</a:t>
            </a:r>
            <a:endParaRPr lang="en-US" sz="1000" dirty="0">
              <a:latin typeface="Verdana" panose="020B0604030504040204" pitchFamily="34" charset="0"/>
              <a:ea typeface="Verdana" panose="020B0604030504040204" pitchFamily="34" charset="0"/>
              <a:cs typeface="Verdana" panose="020B0604030504040204" pitchFamily="34" charset="0"/>
            </a:endParaRPr>
          </a:p>
          <a:p>
            <a:r>
              <a:rPr lang="en-US"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Rainbow Series (1980s-1990s) </a:t>
            </a:r>
            <a:r>
              <a:rPr lang="en-US" dirty="0">
                <a:latin typeface="Verdana" panose="020B0604030504040204" pitchFamily="34" charset="0"/>
                <a:ea typeface="Verdana" panose="020B0604030504040204" pitchFamily="34" charset="0"/>
                <a:cs typeface="Verdana" panose="020B0604030504040204" pitchFamily="34" charset="0"/>
              </a:rPr>
              <a:t>– is a </a:t>
            </a:r>
            <a:r>
              <a:rPr lang="en-US" dirty="0">
                <a:solidFill>
                  <a:srgbClr val="FF0000"/>
                </a:solidFill>
                <a:latin typeface="Verdana" panose="020B0604030504040204" pitchFamily="34" charset="0"/>
                <a:ea typeface="Verdana" panose="020B0604030504040204" pitchFamily="34" charset="0"/>
                <a:cs typeface="Verdana" panose="020B0604030504040204" pitchFamily="34" charset="0"/>
              </a:rPr>
              <a:t>library of documents about computer security</a:t>
            </a:r>
            <a:r>
              <a:rPr lang="en-US" dirty="0">
                <a:latin typeface="Verdana" panose="020B0604030504040204" pitchFamily="34" charset="0"/>
                <a:ea typeface="Verdana" panose="020B0604030504040204" pitchFamily="34" charset="0"/>
                <a:cs typeface="Verdana" panose="020B0604030504040204" pitchFamily="34" charset="0"/>
              </a:rPr>
              <a:t>. Topics range from password management to configuration management and audits to covert channels. </a:t>
            </a:r>
          </a:p>
          <a:p>
            <a:r>
              <a:rPr lang="en-US" sz="1000" dirty="0">
                <a:latin typeface="Verdana" panose="020B0604030504040204" pitchFamily="34" charset="0"/>
                <a:ea typeface="Verdana" panose="020B0604030504040204" pitchFamily="34" charset="0"/>
                <a:cs typeface="Verdana" panose="020B0604030504040204" pitchFamily="34" charset="0"/>
              </a:rPr>
              <a:t> </a:t>
            </a:r>
            <a:r>
              <a:rPr lang="en-US" sz="1000" i="1" dirty="0">
                <a:latin typeface="Verdana" panose="020B0604030504040204" pitchFamily="34" charset="0"/>
                <a:ea typeface="Verdana" panose="020B0604030504040204" pitchFamily="34" charset="0"/>
                <a:cs typeface="Verdana" panose="020B0604030504040204" pitchFamily="34" charset="0"/>
              </a:rPr>
              <a:t>	</a:t>
            </a:r>
          </a:p>
          <a:p>
            <a:r>
              <a:rPr lang="en-US"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Common Criteria (late 1990s) </a:t>
            </a:r>
            <a:r>
              <a:rPr lang="en-US" i="1" dirty="0">
                <a:latin typeface="Verdana" panose="020B0604030504040204" pitchFamily="34" charset="0"/>
                <a:ea typeface="Verdana" panose="020B0604030504040204" pitchFamily="34" charset="0"/>
                <a:cs typeface="Verdana" panose="020B0604030504040204" pitchFamily="34" charset="0"/>
              </a:rPr>
              <a:t>– </a:t>
            </a:r>
            <a:r>
              <a:rPr lang="en-US" dirty="0">
                <a:latin typeface="Verdana" panose="020B0604030504040204" pitchFamily="34" charset="0"/>
                <a:ea typeface="Verdana" panose="020B0604030504040204" pitchFamily="34" charset="0"/>
                <a:cs typeface="Verdana" panose="020B0604030504040204" pitchFamily="34" charset="0"/>
              </a:rPr>
              <a:t>goal is to provide increased confidence in information security. Based on Orange Book</a:t>
            </a:r>
            <a:r>
              <a:rPr lang="en-US" baseline="30000" dirty="0">
                <a:latin typeface="Verdana" panose="020B0604030504040204" pitchFamily="34" charset="0"/>
                <a:ea typeface="Verdana" panose="020B0604030504040204" pitchFamily="34" charset="0"/>
                <a:cs typeface="Verdana" panose="020B0604030504040204" pitchFamily="34" charset="0"/>
              </a:rPr>
              <a:t>1</a:t>
            </a:r>
            <a:r>
              <a:rPr lang="en-US" dirty="0">
                <a:latin typeface="Verdana" panose="020B0604030504040204" pitchFamily="34" charset="0"/>
                <a:ea typeface="Verdana" panose="020B0604030504040204" pitchFamily="34" charset="0"/>
                <a:cs typeface="Verdana" panose="020B0604030504040204" pitchFamily="34" charset="0"/>
              </a:rPr>
              <a:t> but more </a:t>
            </a:r>
            <a:r>
              <a:rPr lang="en-US" dirty="0">
                <a:solidFill>
                  <a:srgbClr val="FF0000"/>
                </a:solidFill>
                <a:latin typeface="Verdana" panose="020B0604030504040204" pitchFamily="34" charset="0"/>
                <a:ea typeface="Verdana" panose="020B0604030504040204" pitchFamily="34" charset="0"/>
                <a:cs typeface="Verdana" panose="020B0604030504040204" pitchFamily="34" charset="0"/>
              </a:rPr>
              <a:t>flexible and adaptable</a:t>
            </a:r>
            <a:r>
              <a:rPr lang="en-US" dirty="0">
                <a:latin typeface="Verdana" panose="020B0604030504040204" pitchFamily="34" charset="0"/>
                <a:ea typeface="Verdana" panose="020B0604030504040204" pitchFamily="34" charset="0"/>
                <a:cs typeface="Verdana" panose="020B0604030504040204" pitchFamily="34" charset="0"/>
              </a:rPr>
              <a:t> as information technology evolved.  </a:t>
            </a:r>
          </a:p>
          <a:p>
            <a:endParaRPr lang="en-US" sz="1000" dirty="0">
              <a:latin typeface="Verdana" panose="020B0604030504040204" pitchFamily="34" charset="0"/>
              <a:ea typeface="Verdana" panose="020B0604030504040204" pitchFamily="34" charset="0"/>
              <a:cs typeface="Verdana" panose="020B0604030504040204" pitchFamily="34" charset="0"/>
            </a:endParaRPr>
          </a:p>
          <a:p>
            <a:r>
              <a:rPr lang="en-US"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Formal Actions </a:t>
            </a:r>
            <a:r>
              <a:rPr lang="en-US" dirty="0">
                <a:latin typeface="Verdana" panose="020B0604030504040204" pitchFamily="34" charset="0"/>
                <a:ea typeface="Verdana" panose="020B0604030504040204" pitchFamily="34" charset="0"/>
                <a:cs typeface="Verdana" panose="020B0604030504040204" pitchFamily="34" charset="0"/>
              </a:rPr>
              <a:t>– taken during </a:t>
            </a:r>
            <a:r>
              <a:rPr lang="en-US" dirty="0">
                <a:solidFill>
                  <a:srgbClr val="FF0000"/>
                </a:solidFill>
                <a:latin typeface="Verdana" panose="020B0604030504040204" pitchFamily="34" charset="0"/>
                <a:ea typeface="Verdana" panose="020B0604030504040204" pitchFamily="34" charset="0"/>
                <a:cs typeface="Verdana" panose="020B0604030504040204" pitchFamily="34" charset="0"/>
              </a:rPr>
              <a:t>developing, evaluating and operating </a:t>
            </a:r>
            <a:r>
              <a:rPr lang="en-US" dirty="0">
                <a:latin typeface="Verdana" panose="020B0604030504040204" pitchFamily="34" charset="0"/>
                <a:ea typeface="Verdana" panose="020B0604030504040204" pitchFamily="34" charset="0"/>
                <a:cs typeface="Verdana" panose="020B0604030504040204" pitchFamily="34" charset="0"/>
              </a:rPr>
              <a:t>process. </a:t>
            </a:r>
          </a:p>
          <a:p>
            <a:endParaRPr lang="en-US" sz="1000" dirty="0">
              <a:latin typeface="Verdana" panose="020B0604030504040204" pitchFamily="34" charset="0"/>
              <a:ea typeface="Verdana" panose="020B0604030504040204" pitchFamily="34" charset="0"/>
              <a:cs typeface="Verdana" panose="020B0604030504040204" pitchFamily="34" charset="0"/>
            </a:endParaRPr>
          </a:p>
          <a:p>
            <a:r>
              <a:rPr lang="en-US"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Requirements</a:t>
            </a:r>
            <a:r>
              <a:rPr lang="en-US" dirty="0">
                <a:latin typeface="Verdana" panose="020B0604030504040204" pitchFamily="34" charset="0"/>
                <a:ea typeface="Verdana" panose="020B0604030504040204" pitchFamily="34" charset="0"/>
                <a:cs typeface="Verdana" panose="020B0604030504040204" pitchFamily="34" charset="0"/>
              </a:rPr>
              <a:t> – a common set of security requirements for use in evaluation of systems. </a:t>
            </a:r>
            <a:r>
              <a:rPr lang="en-US" dirty="0">
                <a:solidFill>
                  <a:srgbClr val="FF0000"/>
                </a:solidFill>
                <a:latin typeface="Verdana" panose="020B0604030504040204" pitchFamily="34" charset="0"/>
                <a:ea typeface="Verdana" panose="020B0604030504040204" pitchFamily="34" charset="0"/>
                <a:cs typeface="Verdana" panose="020B0604030504040204" pitchFamily="34" charset="0"/>
              </a:rPr>
              <a:t>Functional and Assurance requirements </a:t>
            </a:r>
            <a:r>
              <a:rPr lang="en-US" dirty="0">
                <a:latin typeface="Verdana" panose="020B0604030504040204" pitchFamily="34" charset="0"/>
                <a:ea typeface="Verdana" panose="020B0604030504040204" pitchFamily="34" charset="0"/>
                <a:cs typeface="Verdana" panose="020B0604030504040204" pitchFamily="34" charset="0"/>
              </a:rPr>
              <a:t>define the desired security behavior and are effective and implemented correctly.</a:t>
            </a:r>
          </a:p>
        </p:txBody>
      </p:sp>
    </p:spTree>
    <p:extLst>
      <p:ext uri="{BB962C8B-B14F-4D97-AF65-F5344CB8AC3E}">
        <p14:creationId xmlns:p14="http://schemas.microsoft.com/office/powerpoint/2010/main" val="1273410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234028"/>
            <a:ext cx="9144000" cy="863252"/>
          </a:xfrm>
          <a:solidFill>
            <a:srgbClr val="002E62"/>
          </a:solidFill>
          <a:effectLst>
            <a:outerShdw blurRad="50800" dist="38100" dir="2700000" algn="tl" rotWithShape="0">
              <a:srgbClr val="000000">
                <a:alpha val="43000"/>
              </a:srgbClr>
            </a:outerShdw>
          </a:effectLst>
        </p:spPr>
        <p:txBody>
          <a:bodyPr>
            <a:noAutofit/>
          </a:bodyPr>
          <a:lstStyle/>
          <a:p>
            <a:r>
              <a:rPr lang="en-US" sz="360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USA Patriot Act</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 – Introduction to Cybersecurity</a:t>
            </a:r>
          </a:p>
        </p:txBody>
      </p:sp>
      <p:sp>
        <p:nvSpPr>
          <p:cNvPr id="2" name="TextBox 1"/>
          <p:cNvSpPr txBox="1"/>
          <p:nvPr/>
        </p:nvSpPr>
        <p:spPr>
          <a:xfrm>
            <a:off x="304800" y="1165984"/>
            <a:ext cx="8619744" cy="5093702"/>
          </a:xfrm>
          <a:prstGeom prst="rect">
            <a:avLst/>
          </a:prstGeom>
          <a:noFill/>
        </p:spPr>
        <p:txBody>
          <a:bodyPr wrap="square" rtlCol="0">
            <a:spAutoFit/>
          </a:bodyPr>
          <a:lstStyle/>
          <a:p>
            <a:r>
              <a:rPr lang="en-US" sz="22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The USA Patriot Act </a:t>
            </a:r>
            <a:r>
              <a:rPr lang="en-US" sz="2200" dirty="0">
                <a:latin typeface="Verdana" panose="020B0604030504040204" pitchFamily="34" charset="0"/>
                <a:ea typeface="Verdana" panose="020B0604030504040204" pitchFamily="34" charset="0"/>
                <a:cs typeface="Verdana" panose="020B0604030504040204" pitchFamily="34" charset="0"/>
              </a:rPr>
              <a:t>was signed into law in 2001 as a response to the 9/11 attacks to improve the ability of law enforcement to detect and deter terrorism.</a:t>
            </a:r>
          </a:p>
          <a:p>
            <a:endParaRPr lang="en-US" sz="10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sz="2100" dirty="0">
                <a:latin typeface="Verdana" panose="020B0604030504040204" pitchFamily="34" charset="0"/>
                <a:ea typeface="Verdana" panose="020B0604030504040204" pitchFamily="34" charset="0"/>
                <a:cs typeface="Verdana" panose="020B0604030504040204" pitchFamily="34" charset="0"/>
              </a:rPr>
              <a:t>Updated laws to reflect technological advancements.</a:t>
            </a:r>
          </a:p>
          <a:p>
            <a:pPr marL="285750" indent="-285750">
              <a:buFont typeface="Arial" panose="020B0604020202020204" pitchFamily="34" charset="0"/>
              <a:buChar char="•"/>
            </a:pPr>
            <a:endParaRPr lang="en-US" sz="10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sz="2100" dirty="0">
                <a:latin typeface="Verdana" panose="020B0604030504040204" pitchFamily="34" charset="0"/>
                <a:ea typeface="Verdana" panose="020B0604030504040204" pitchFamily="34" charset="0"/>
                <a:cs typeface="Verdana" panose="020B0604030504040204" pitchFamily="34" charset="0"/>
              </a:rPr>
              <a:t>Expanded powers of information gathering</a:t>
            </a:r>
            <a:r>
              <a:rPr lang="en-US" sz="2100" baseline="30000" dirty="0">
                <a:latin typeface="Verdana" panose="020B0604030504040204" pitchFamily="34" charset="0"/>
                <a:ea typeface="Verdana" panose="020B0604030504040204" pitchFamily="34" charset="0"/>
                <a:cs typeface="Verdana" panose="020B0604030504040204" pitchFamily="34" charset="0"/>
              </a:rPr>
              <a:t>1</a:t>
            </a:r>
            <a:r>
              <a:rPr lang="en-US" sz="2100" dirty="0">
                <a:latin typeface="Verdana" panose="020B0604030504040204" pitchFamily="34" charset="0"/>
                <a:ea typeface="Verdana" panose="020B0604030504040204" pitchFamily="34" charset="0"/>
                <a:cs typeface="Verdana" panose="020B0604030504040204" pitchFamily="34" charset="0"/>
              </a:rPr>
              <a:t>.</a:t>
            </a:r>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 </a:t>
            </a:r>
          </a:p>
          <a:p>
            <a:pPr marL="285750" indent="-285750">
              <a:buFont typeface="Arial" panose="020B0604020202020204" pitchFamily="34" charset="0"/>
              <a:buChar char="•"/>
            </a:pPr>
            <a:endParaRPr lang="en-US" sz="10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sz="2100" dirty="0">
                <a:latin typeface="Verdana" panose="020B0604030504040204" pitchFamily="34" charset="0"/>
                <a:ea typeface="Verdana" panose="020B0604030504040204" pitchFamily="34" charset="0"/>
                <a:cs typeface="Verdana" panose="020B0604030504040204" pitchFamily="34" charset="0"/>
              </a:rPr>
              <a:t>Sunset Provisions specific to cyber</a:t>
            </a:r>
            <a:r>
              <a:rPr lang="en-US" sz="2100" i="1" dirty="0">
                <a:latin typeface="Verdana" panose="020B0604030504040204" pitchFamily="34" charset="0"/>
                <a:ea typeface="Verdana" panose="020B0604030504040204" pitchFamily="34" charset="0"/>
                <a:cs typeface="Verdana" panose="020B0604030504040204" pitchFamily="34" charset="0"/>
              </a:rPr>
              <a:t>:</a:t>
            </a:r>
          </a:p>
          <a:p>
            <a:pPr marL="285750" indent="-285750">
              <a:buFont typeface="Arial" panose="020B0604020202020204" pitchFamily="34" charset="0"/>
              <a:buChar char="•"/>
            </a:pPr>
            <a:endParaRPr lang="en-US" sz="10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endParaRPr>
          </a:p>
          <a:p>
            <a:pPr marL="742950" lvl="1" indent="-285750">
              <a:buFont typeface="Arial" panose="020B0604020202020204" pitchFamily="34" charset="0"/>
              <a:buChar char="•"/>
            </a:pPr>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Section 209 </a:t>
            </a:r>
            <a:r>
              <a:rPr lang="en-US" sz="2100" i="1" dirty="0">
                <a:latin typeface="Verdana" panose="020B0604030504040204" pitchFamily="34" charset="0"/>
                <a:ea typeface="Verdana" panose="020B0604030504040204" pitchFamily="34" charset="0"/>
                <a:cs typeface="Verdana" panose="020B0604030504040204" pitchFamily="34" charset="0"/>
              </a:rPr>
              <a:t>–</a:t>
            </a:r>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 </a:t>
            </a:r>
            <a:r>
              <a:rPr lang="en-US" sz="2100" dirty="0">
                <a:latin typeface="Verdana" panose="020B0604030504040204" pitchFamily="34" charset="0"/>
                <a:ea typeface="Verdana" panose="020B0604030504040204" pitchFamily="34" charset="0"/>
                <a:cs typeface="Verdana" panose="020B0604030504040204" pitchFamily="34" charset="0"/>
              </a:rPr>
              <a:t>seize voice mail with search warrant vs. surveillance order.</a:t>
            </a:r>
          </a:p>
          <a:p>
            <a:pPr marL="742950" lvl="1" indent="-285750">
              <a:buFont typeface="Arial" panose="020B0604020202020204" pitchFamily="34" charset="0"/>
              <a:buChar char="•"/>
            </a:pPr>
            <a:endParaRPr lang="en-US" sz="1000" dirty="0">
              <a:latin typeface="Verdana" panose="020B0604030504040204" pitchFamily="34" charset="0"/>
              <a:ea typeface="Verdana" panose="020B0604030504040204" pitchFamily="34" charset="0"/>
              <a:cs typeface="Verdana" panose="020B0604030504040204" pitchFamily="34" charset="0"/>
            </a:endParaRPr>
          </a:p>
          <a:p>
            <a:pPr marL="742950" lvl="1" indent="-285750">
              <a:buFont typeface="Arial" panose="020B0604020202020204" pitchFamily="34" charset="0"/>
              <a:buChar char="•"/>
            </a:pPr>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Section 217 </a:t>
            </a:r>
            <a:r>
              <a:rPr lang="en-US" sz="2100" dirty="0">
                <a:latin typeface="Verdana" panose="020B0604030504040204" pitchFamily="34" charset="0"/>
                <a:ea typeface="Verdana" panose="020B0604030504040204" pitchFamily="34" charset="0"/>
                <a:cs typeface="Verdana" panose="020B0604030504040204" pitchFamily="34" charset="0"/>
              </a:rPr>
              <a:t>– treats cyber hackers same as physical intruders.</a:t>
            </a:r>
          </a:p>
          <a:p>
            <a:pPr marL="742950" lvl="1" indent="-285750">
              <a:buFont typeface="Arial" panose="020B0604020202020204" pitchFamily="34" charset="0"/>
              <a:buChar char="•"/>
            </a:pPr>
            <a:endParaRPr lang="en-US" sz="1000" dirty="0">
              <a:latin typeface="Verdana" panose="020B0604030504040204" pitchFamily="34" charset="0"/>
              <a:ea typeface="Verdana" panose="020B0604030504040204" pitchFamily="34" charset="0"/>
              <a:cs typeface="Verdana" panose="020B0604030504040204" pitchFamily="34" charset="0"/>
            </a:endParaRPr>
          </a:p>
          <a:p>
            <a:pPr marL="742950" lvl="1" indent="-285750">
              <a:buFont typeface="Arial" panose="020B0604020202020204" pitchFamily="34" charset="0"/>
              <a:buChar char="•"/>
            </a:pPr>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Section 220 </a:t>
            </a:r>
            <a:r>
              <a:rPr lang="en-US" sz="2100" dirty="0">
                <a:latin typeface="Verdana" panose="020B0604030504040204" pitchFamily="34" charset="0"/>
                <a:ea typeface="Verdana" panose="020B0604030504040204" pitchFamily="34" charset="0"/>
                <a:cs typeface="Verdana" panose="020B0604030504040204" pitchFamily="34" charset="0"/>
              </a:rPr>
              <a:t>– search warrant obtained for ISP outside jurisdiction of courts. </a:t>
            </a:r>
            <a:endParaRPr lang="en-US" sz="10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endParaRPr lang="en-US" sz="1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7738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Federal Cyber Protection Laws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 – Introduction to Cybersecurity</a:t>
            </a:r>
          </a:p>
        </p:txBody>
      </p:sp>
      <p:sp>
        <p:nvSpPr>
          <p:cNvPr id="2" name="TextBox 1"/>
          <p:cNvSpPr txBox="1"/>
          <p:nvPr/>
        </p:nvSpPr>
        <p:spPr>
          <a:xfrm>
            <a:off x="242216" y="1405509"/>
            <a:ext cx="8659567" cy="4431983"/>
          </a:xfrm>
          <a:prstGeom prst="rect">
            <a:avLst/>
          </a:prstGeom>
          <a:noFill/>
        </p:spPr>
        <p:txBody>
          <a:bodyPr wrap="square" rtlCol="0">
            <a:spAutoFit/>
          </a:bodyPr>
          <a:lstStyle/>
          <a:p>
            <a:pPr marL="342900" indent="-342900">
              <a:buFont typeface="Arial" panose="020B0604020202020204" pitchFamily="34" charset="0"/>
              <a:buChar char="•"/>
            </a:pPr>
            <a:r>
              <a:rPr lang="en-US" sz="2100" i="1" dirty="0">
                <a:solidFill>
                  <a:schemeClr val="accent1">
                    <a:lumMod val="75000"/>
                  </a:schemeClr>
                </a:solidFill>
                <a:latin typeface="Verdana"/>
                <a:cs typeface="Verdana"/>
              </a:rPr>
              <a:t>Americans with Disabilities Act (Section 508) </a:t>
            </a:r>
            <a:r>
              <a:rPr lang="en-US" sz="2100" i="1" dirty="0">
                <a:latin typeface="Verdana"/>
                <a:cs typeface="Verdana"/>
              </a:rPr>
              <a:t>– requires federal agencies to make all </a:t>
            </a:r>
            <a:r>
              <a:rPr lang="en-US" sz="2100" i="1" dirty="0">
                <a:solidFill>
                  <a:srgbClr val="FF0000"/>
                </a:solidFill>
                <a:latin typeface="Verdana"/>
                <a:cs typeface="Verdana"/>
              </a:rPr>
              <a:t>public-facing content accessible</a:t>
            </a:r>
            <a:r>
              <a:rPr lang="en-US" sz="2100" i="1" dirty="0">
                <a:latin typeface="Verdana"/>
                <a:cs typeface="Verdana"/>
              </a:rPr>
              <a:t>. Updated to include non public-facing content such as emergency notifications. </a:t>
            </a:r>
          </a:p>
          <a:p>
            <a:pPr marL="342900" indent="-342900">
              <a:buFont typeface="Arial" panose="020B0604020202020204" pitchFamily="34" charset="0"/>
              <a:buChar char="•"/>
            </a:pPr>
            <a:endParaRPr lang="en-US" sz="1000" i="1" dirty="0">
              <a:latin typeface="Verdana"/>
              <a:cs typeface="Verdana"/>
            </a:endParaRPr>
          </a:p>
          <a:p>
            <a:pPr marL="342900" indent="-342900">
              <a:buFont typeface="Arial" panose="020B0604020202020204" pitchFamily="34" charset="0"/>
              <a:buChar char="•"/>
            </a:pPr>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FDA 21 CFR 806</a:t>
            </a:r>
            <a:r>
              <a:rPr lang="en-US" sz="2100" i="1" dirty="0">
                <a:latin typeface="Verdana" panose="020B0604030504040204" pitchFamily="34" charset="0"/>
                <a:ea typeface="Verdana" panose="020B0604030504040204" pitchFamily="34" charset="0"/>
                <a:cs typeface="Verdana" panose="020B0604030504040204" pitchFamily="34" charset="0"/>
              </a:rPr>
              <a:t> – </a:t>
            </a:r>
            <a:r>
              <a:rPr lang="en-US" sz="2100" dirty="0">
                <a:latin typeface="Verdana" panose="020B0604030504040204" pitchFamily="34" charset="0"/>
                <a:ea typeface="Verdana" panose="020B0604030504040204" pitchFamily="34" charset="0"/>
                <a:cs typeface="Verdana" panose="020B0604030504040204" pitchFamily="34" charset="0"/>
              </a:rPr>
              <a:t>requires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reporting of changes in medical devices</a:t>
            </a:r>
            <a:r>
              <a:rPr lang="en-US" sz="2100" dirty="0">
                <a:latin typeface="Verdana" panose="020B0604030504040204" pitchFamily="34" charset="0"/>
                <a:ea typeface="Verdana" panose="020B0604030504040204" pitchFamily="34" charset="0"/>
                <a:cs typeface="Verdana" panose="020B0604030504040204" pitchFamily="34" charset="0"/>
              </a:rPr>
              <a:t> to FDA. Reduced reporting requirements for cybersecurity routine updates, patches and device enhancements with certain provisos</a:t>
            </a:r>
            <a:r>
              <a:rPr lang="en-US" sz="2100" baseline="30000" dirty="0">
                <a:latin typeface="Verdana" panose="020B0604030504040204" pitchFamily="34" charset="0"/>
                <a:ea typeface="Verdana" panose="020B0604030504040204" pitchFamily="34" charset="0"/>
                <a:cs typeface="Verdana" panose="020B0604030504040204" pitchFamily="34" charset="0"/>
              </a:rPr>
              <a:t>1.</a:t>
            </a:r>
            <a:endParaRPr lang="en-US" sz="21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endParaRPr lang="en-US" sz="1000" i="1" dirty="0">
              <a:solidFill>
                <a:schemeClr val="accent1">
                  <a:lumMod val="75000"/>
                </a:schemeClr>
              </a:solidFill>
              <a:latin typeface="Verdana"/>
              <a:cs typeface="Verdana"/>
            </a:endParaRPr>
          </a:p>
          <a:p>
            <a:pPr marL="342900" indent="-342900">
              <a:buFont typeface="Arial" panose="020B0604020202020204" pitchFamily="34" charset="0"/>
              <a:buChar char="•"/>
            </a:pPr>
            <a:r>
              <a:rPr lang="en-US" sz="2100" i="1" dirty="0">
                <a:solidFill>
                  <a:schemeClr val="accent1">
                    <a:lumMod val="75000"/>
                  </a:schemeClr>
                </a:solidFill>
                <a:latin typeface="Verdana"/>
                <a:cs typeface="Verdana"/>
              </a:rPr>
              <a:t>Cybersecurity Information Sharing Act (CISA) </a:t>
            </a:r>
            <a:r>
              <a:rPr lang="en-US" sz="2100" i="1" dirty="0">
                <a:latin typeface="Verdana"/>
                <a:cs typeface="Verdana"/>
              </a:rPr>
              <a:t>- </a:t>
            </a:r>
            <a:r>
              <a:rPr lang="en-US" sz="2100" dirty="0">
                <a:latin typeface="Verdana" panose="020B0604030504040204" pitchFamily="34" charset="0"/>
                <a:ea typeface="Verdana" panose="020B0604030504040204" pitchFamily="34" charset="0"/>
                <a:cs typeface="Verdana" panose="020B0604030504040204" pitchFamily="34" charset="0"/>
              </a:rPr>
              <a:t>allows the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sharing of internet traffic information </a:t>
            </a:r>
            <a:r>
              <a:rPr lang="en-US" sz="2100" dirty="0">
                <a:latin typeface="Verdana" panose="020B0604030504040204" pitchFamily="34" charset="0"/>
                <a:ea typeface="Verdana" panose="020B0604030504040204" pitchFamily="34" charset="0"/>
                <a:cs typeface="Verdana" panose="020B0604030504040204" pitchFamily="34" charset="0"/>
              </a:rPr>
              <a:t>between the U.S. government and technology and manufacturing companies.</a:t>
            </a:r>
          </a:p>
          <a:p>
            <a:pPr marL="342900" indent="-342900">
              <a:buFont typeface="Arial" panose="020B0604020202020204" pitchFamily="34" charset="0"/>
              <a:buChar char="•"/>
            </a:pPr>
            <a:endParaRPr lang="en-US" sz="1000" i="1"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endParaRPr lang="en-US" sz="1000" i="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255482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International Data Privacy</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 – Introduction to Cybersecurity</a:t>
            </a:r>
          </a:p>
        </p:txBody>
      </p:sp>
      <p:sp>
        <p:nvSpPr>
          <p:cNvPr id="2" name="TextBox 1"/>
          <p:cNvSpPr txBox="1"/>
          <p:nvPr/>
        </p:nvSpPr>
        <p:spPr>
          <a:xfrm>
            <a:off x="240848" y="1300023"/>
            <a:ext cx="8659567" cy="4739760"/>
          </a:xfrm>
          <a:prstGeom prst="rect">
            <a:avLst/>
          </a:prstGeom>
          <a:noFill/>
        </p:spPr>
        <p:txBody>
          <a:bodyPr wrap="square" rtlCol="0">
            <a:spAutoFit/>
          </a:bodyPr>
          <a:lstStyle/>
          <a:p>
            <a:r>
              <a:rPr lang="en-US" sz="2200" i="1" dirty="0">
                <a:solidFill>
                  <a:srgbClr val="1F497D"/>
                </a:solidFill>
                <a:latin typeface="Verdana"/>
                <a:cs typeface="Verdana"/>
              </a:rPr>
              <a:t>Organization for Economic Co-Operation and Development (OECD) </a:t>
            </a:r>
            <a:r>
              <a:rPr lang="en-US" sz="2200" i="1" dirty="0">
                <a:latin typeface="Verdana"/>
                <a:cs typeface="Verdana"/>
              </a:rPr>
              <a:t>promotes policies that will improve the economic and social well-being of people around the world.</a:t>
            </a:r>
          </a:p>
          <a:p>
            <a:endParaRPr lang="en-US" sz="1400" dirty="0">
              <a:latin typeface="Verdana"/>
              <a:cs typeface="Verdana"/>
            </a:endParaRPr>
          </a:p>
          <a:p>
            <a:r>
              <a:rPr lang="en-US" sz="2100" dirty="0">
                <a:latin typeface="Verdana"/>
                <a:cs typeface="Verdana"/>
              </a:rPr>
              <a:t>OECD’s guidelines governing the </a:t>
            </a:r>
            <a:r>
              <a:rPr lang="en-US" sz="2100" dirty="0">
                <a:solidFill>
                  <a:srgbClr val="FF0000"/>
                </a:solidFill>
                <a:latin typeface="Verdana"/>
                <a:cs typeface="Verdana"/>
              </a:rPr>
              <a:t>protection of privacy and transborder flow of personal data</a:t>
            </a:r>
            <a:r>
              <a:rPr lang="en-US" sz="2100" dirty="0">
                <a:latin typeface="Verdana"/>
                <a:cs typeface="Verdana"/>
              </a:rPr>
              <a:t>:</a:t>
            </a:r>
          </a:p>
          <a:p>
            <a:endParaRPr lang="en-US" sz="1200" dirty="0">
              <a:latin typeface="Verdana"/>
              <a:cs typeface="Verdana"/>
            </a:endParaRPr>
          </a:p>
          <a:p>
            <a:pPr marL="342900" indent="-342900">
              <a:buFont typeface="Arial"/>
              <a:buChar char="•"/>
            </a:pPr>
            <a:r>
              <a:rPr lang="en-US" sz="2100" dirty="0">
                <a:latin typeface="Verdana"/>
                <a:cs typeface="Verdana"/>
              </a:rPr>
              <a:t>Limit the collection of personal data</a:t>
            </a:r>
          </a:p>
          <a:p>
            <a:pPr marL="342900" indent="-342900">
              <a:buFont typeface="Arial"/>
              <a:buChar char="•"/>
            </a:pPr>
            <a:r>
              <a:rPr lang="en-US" sz="2100" dirty="0">
                <a:latin typeface="Verdana"/>
                <a:cs typeface="Verdana"/>
              </a:rPr>
              <a:t>Collection should be relevant to use</a:t>
            </a:r>
          </a:p>
          <a:p>
            <a:pPr marL="342900" indent="-342900">
              <a:buFont typeface="Arial"/>
              <a:buChar char="•"/>
            </a:pPr>
            <a:r>
              <a:rPr lang="en-US" sz="2100" dirty="0">
                <a:latin typeface="Verdana"/>
                <a:cs typeface="Verdana"/>
              </a:rPr>
              <a:t>Specify purposes for collection </a:t>
            </a:r>
          </a:p>
          <a:p>
            <a:pPr marL="342900" indent="-342900">
              <a:buFont typeface="Arial"/>
              <a:buChar char="•"/>
            </a:pPr>
            <a:r>
              <a:rPr lang="en-US" sz="2100" dirty="0">
                <a:latin typeface="Verdana"/>
                <a:cs typeface="Verdana"/>
              </a:rPr>
              <a:t>Limit data disclosure to purpose specified</a:t>
            </a:r>
          </a:p>
          <a:p>
            <a:pPr marL="342900" indent="-342900">
              <a:buFont typeface="Arial"/>
              <a:buChar char="•"/>
            </a:pPr>
            <a:r>
              <a:rPr lang="en-US" sz="2100" dirty="0">
                <a:latin typeface="Verdana"/>
                <a:cs typeface="Verdana"/>
              </a:rPr>
              <a:t>Protected by reasonable safeguards</a:t>
            </a:r>
          </a:p>
          <a:p>
            <a:pPr marL="342900" indent="-342900">
              <a:buFont typeface="Arial"/>
              <a:buChar char="•"/>
            </a:pPr>
            <a:r>
              <a:rPr lang="en-US" sz="2100" dirty="0">
                <a:latin typeface="Verdana"/>
                <a:cs typeface="Verdana"/>
              </a:rPr>
              <a:t>Transparent practices and policies</a:t>
            </a:r>
          </a:p>
          <a:p>
            <a:pPr marL="342900" indent="-342900">
              <a:buFont typeface="Arial"/>
              <a:buChar char="•"/>
            </a:pPr>
            <a:r>
              <a:rPr lang="en-US" sz="2100" dirty="0">
                <a:latin typeface="Verdana"/>
                <a:cs typeface="Verdana"/>
              </a:rPr>
              <a:t>Individual rights to obtain personal data</a:t>
            </a:r>
          </a:p>
          <a:p>
            <a:pPr marL="342900" indent="-342900">
              <a:buFont typeface="Arial"/>
              <a:buChar char="•"/>
            </a:pPr>
            <a:r>
              <a:rPr lang="en-US" sz="2100" dirty="0">
                <a:latin typeface="Verdana"/>
                <a:cs typeface="Verdana"/>
              </a:rPr>
              <a:t>Data controller responsible for compliance</a:t>
            </a:r>
          </a:p>
        </p:txBody>
      </p:sp>
    </p:spTree>
    <p:extLst>
      <p:ext uri="{BB962C8B-B14F-4D97-AF65-F5344CB8AC3E}">
        <p14:creationId xmlns:p14="http://schemas.microsoft.com/office/powerpoint/2010/main" val="2480897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EU Laws &amp; Regulations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 – Introduction to Cybersecurity</a:t>
            </a:r>
          </a:p>
        </p:txBody>
      </p:sp>
      <p:sp>
        <p:nvSpPr>
          <p:cNvPr id="2" name="TextBox 1"/>
          <p:cNvSpPr txBox="1"/>
          <p:nvPr/>
        </p:nvSpPr>
        <p:spPr>
          <a:xfrm>
            <a:off x="240848" y="1368589"/>
            <a:ext cx="8659567" cy="4785926"/>
          </a:xfrm>
          <a:prstGeom prst="rect">
            <a:avLst/>
          </a:prstGeom>
          <a:noFill/>
        </p:spPr>
        <p:txBody>
          <a:bodyPr wrap="square" rtlCol="0">
            <a:spAutoFit/>
          </a:bodyPr>
          <a:lstStyle/>
          <a:p>
            <a:r>
              <a:rPr lang="en-US" sz="2100" i="1" dirty="0">
                <a:solidFill>
                  <a:schemeClr val="tx2"/>
                </a:solidFill>
                <a:latin typeface="Verdana"/>
                <a:cs typeface="Verdana"/>
              </a:rPr>
              <a:t>EU Data Protection Directive </a:t>
            </a:r>
            <a:r>
              <a:rPr lang="en-US" sz="2100" i="1" dirty="0">
                <a:latin typeface="Verdana"/>
                <a:cs typeface="Verdana"/>
              </a:rPr>
              <a:t>protects the fundamental rights and freedoms of natural persons, and in particular their </a:t>
            </a:r>
            <a:r>
              <a:rPr lang="en-US" sz="2100" i="1" dirty="0">
                <a:solidFill>
                  <a:srgbClr val="FF0000"/>
                </a:solidFill>
                <a:latin typeface="Verdana"/>
                <a:cs typeface="Verdana"/>
              </a:rPr>
              <a:t>right to privacy with respect to the processing of personal data</a:t>
            </a:r>
            <a:r>
              <a:rPr lang="en-US" sz="2100" i="1" dirty="0">
                <a:latin typeface="Verdana"/>
                <a:cs typeface="Verdana"/>
              </a:rPr>
              <a:t>.</a:t>
            </a:r>
          </a:p>
          <a:p>
            <a:endParaRPr lang="en-US" sz="1600" dirty="0">
              <a:latin typeface="Verdana"/>
              <a:cs typeface="Verdana"/>
            </a:endParaRPr>
          </a:p>
          <a:p>
            <a:r>
              <a:rPr lang="en-US" sz="2100" i="1" dirty="0">
                <a:solidFill>
                  <a:srgbClr val="1F497D"/>
                </a:solidFill>
                <a:latin typeface="Verdana"/>
                <a:cs typeface="Verdana"/>
              </a:rPr>
              <a:t>EU-U.S. Privacy Shield </a:t>
            </a:r>
            <a:r>
              <a:rPr lang="en-US" sz="2100" i="1" dirty="0">
                <a:latin typeface="Verdana"/>
                <a:cs typeface="Verdana"/>
              </a:rPr>
              <a:t>protects the fundamental rights of anyone in the </a:t>
            </a:r>
            <a:r>
              <a:rPr lang="en-US" sz="2100" i="1" dirty="0">
                <a:solidFill>
                  <a:srgbClr val="FF0000"/>
                </a:solidFill>
                <a:latin typeface="Verdana"/>
                <a:cs typeface="Verdana"/>
              </a:rPr>
              <a:t>EU whose personal data is transferred to the United States </a:t>
            </a:r>
            <a:r>
              <a:rPr lang="en-US" sz="2100" i="1" dirty="0">
                <a:latin typeface="Verdana"/>
                <a:cs typeface="Verdana"/>
              </a:rPr>
              <a:t>as well as bringing legal clarity for businesses relying on transatlantic data transfers.</a:t>
            </a:r>
          </a:p>
          <a:p>
            <a:endParaRPr lang="en-US" sz="1600" dirty="0">
              <a:latin typeface="Verdana"/>
              <a:cs typeface="Verdana"/>
            </a:endParaRPr>
          </a:p>
          <a:p>
            <a:r>
              <a:rPr lang="en-US" sz="2100" i="1" dirty="0">
                <a:solidFill>
                  <a:srgbClr val="1F497D"/>
                </a:solidFill>
                <a:latin typeface="Verdana"/>
                <a:cs typeface="Verdana"/>
              </a:rPr>
              <a:t>EU General Data Protection Regulation (GDPR) </a:t>
            </a:r>
            <a:r>
              <a:rPr lang="en-US" sz="2100" i="1" dirty="0">
                <a:latin typeface="Verdana"/>
                <a:cs typeface="Verdana"/>
              </a:rPr>
              <a:t>updates the data protection framework to increase individual’s control over their data; unify rules and enforcement throughout the EU; </a:t>
            </a:r>
            <a:r>
              <a:rPr lang="en-US" sz="2100" i="1" dirty="0">
                <a:solidFill>
                  <a:srgbClr val="FF0000"/>
                </a:solidFill>
                <a:latin typeface="Verdana"/>
                <a:cs typeface="Verdana"/>
              </a:rPr>
              <a:t>ensure data protection in a globalized world</a:t>
            </a:r>
            <a:r>
              <a:rPr lang="en-US" sz="2100" i="1" dirty="0">
                <a:latin typeface="Verdana"/>
                <a:cs typeface="Verdana"/>
              </a:rPr>
              <a:t>; and extend the framework to include data use by police and criminal justice operations.</a:t>
            </a:r>
          </a:p>
        </p:txBody>
      </p:sp>
    </p:spTree>
    <p:extLst>
      <p:ext uri="{BB962C8B-B14F-4D97-AF65-F5344CB8AC3E}">
        <p14:creationId xmlns:p14="http://schemas.microsoft.com/office/powerpoint/2010/main" val="643243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Data Breach Laws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 – Introduction to Cybersecurity</a:t>
            </a:r>
          </a:p>
        </p:txBody>
      </p:sp>
      <p:sp>
        <p:nvSpPr>
          <p:cNvPr id="2" name="TextBox 1"/>
          <p:cNvSpPr txBox="1"/>
          <p:nvPr/>
        </p:nvSpPr>
        <p:spPr>
          <a:xfrm>
            <a:off x="242216" y="1234477"/>
            <a:ext cx="8659567" cy="5078313"/>
          </a:xfrm>
          <a:prstGeom prst="rect">
            <a:avLst/>
          </a:prstGeom>
          <a:noFill/>
        </p:spPr>
        <p:txBody>
          <a:bodyPr wrap="square" rtlCol="0">
            <a:spAutoFit/>
          </a:bodyPr>
          <a:lstStyle/>
          <a:p>
            <a:r>
              <a:rPr lang="en-US" sz="2100" i="1" dirty="0">
                <a:solidFill>
                  <a:schemeClr val="accent1">
                    <a:lumMod val="75000"/>
                  </a:schemeClr>
                </a:solidFill>
                <a:latin typeface="Verdana"/>
                <a:cs typeface="Verdana"/>
              </a:rPr>
              <a:t>Data Breach Laws </a:t>
            </a:r>
            <a:r>
              <a:rPr lang="en-US" sz="2100" i="1" dirty="0">
                <a:latin typeface="Verdana"/>
                <a:cs typeface="Verdana"/>
              </a:rPr>
              <a:t>may be dependent on industry, data category, number of records exposed or time since breach. There are national and state laws with several new state data breach laws taking effect in 2020.</a:t>
            </a:r>
          </a:p>
          <a:p>
            <a:r>
              <a:rPr lang="en-US" sz="1000" dirty="0">
                <a:latin typeface="Verdana"/>
                <a:cs typeface="Verdana"/>
              </a:rPr>
              <a:t> </a:t>
            </a:r>
          </a:p>
          <a:p>
            <a:r>
              <a:rPr lang="en-US" sz="2100" i="1" dirty="0">
                <a:solidFill>
                  <a:srgbClr val="1F497D"/>
                </a:solidFill>
                <a:latin typeface="Verdana"/>
                <a:cs typeface="Verdana"/>
              </a:rPr>
              <a:t>General Data Protection Regulation (GDPR) - </a:t>
            </a:r>
            <a:r>
              <a:rPr lang="en-US" sz="2100" dirty="0">
                <a:latin typeface="Verdana" panose="020B0604030504040204" pitchFamily="34" charset="0"/>
                <a:ea typeface="Verdana" panose="020B0604030504040204" pitchFamily="34" charset="0"/>
                <a:cs typeface="Verdana" panose="020B0604030504040204" pitchFamily="34" charset="0"/>
              </a:rPr>
              <a:t>notification to the supervisory authority is made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within 72 hours </a:t>
            </a:r>
            <a:r>
              <a:rPr lang="en-US" sz="2100" dirty="0">
                <a:latin typeface="Verdana" panose="020B0604030504040204" pitchFamily="34" charset="0"/>
                <a:ea typeface="Verdana" panose="020B0604030504040204" pitchFamily="34" charset="0"/>
                <a:cs typeface="Verdana" panose="020B0604030504040204" pitchFamily="34" charset="0"/>
              </a:rPr>
              <a:t>or shall be accompanied by reasons for the delay.</a:t>
            </a:r>
            <a:endParaRPr lang="en-US" sz="2100" i="1" dirty="0">
              <a:solidFill>
                <a:srgbClr val="1F497D"/>
              </a:solidFill>
              <a:latin typeface="Verdana" panose="020B0604030504040204" pitchFamily="34" charset="0"/>
              <a:ea typeface="Verdana" panose="020B0604030504040204" pitchFamily="34" charset="0"/>
              <a:cs typeface="Verdana" panose="020B0604030504040204" pitchFamily="34" charset="0"/>
            </a:endParaRPr>
          </a:p>
          <a:p>
            <a:endParaRPr lang="en-US" sz="1000" i="1" dirty="0">
              <a:latin typeface="Verdana"/>
              <a:cs typeface="Verdana"/>
            </a:endParaRPr>
          </a:p>
          <a:p>
            <a:r>
              <a:rPr lang="en-US" sz="2100" i="1" dirty="0">
                <a:solidFill>
                  <a:schemeClr val="accent1">
                    <a:lumMod val="75000"/>
                  </a:schemeClr>
                </a:solidFill>
                <a:latin typeface="Verdana"/>
                <a:cs typeface="Verdana"/>
              </a:rPr>
              <a:t>California Consumer Privacy Act (CCPA) </a:t>
            </a:r>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consumers can sue </a:t>
            </a:r>
            <a:r>
              <a:rPr lang="en-US" sz="2100" dirty="0">
                <a:latin typeface="Verdana" panose="020B0604030504040204" pitchFamily="34" charset="0"/>
                <a:ea typeface="Verdana" panose="020B0604030504040204" pitchFamily="34" charset="0"/>
                <a:cs typeface="Verdana" panose="020B0604030504040204" pitchFamily="34" charset="0"/>
              </a:rPr>
              <a:t>when unencrypted or nonredacted data exposed as a result of failure to implement and maintain reasonable security procedures.</a:t>
            </a:r>
            <a:endPar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endParaRPr>
          </a:p>
          <a:p>
            <a:endParaRPr lang="en-US" sz="1000" i="1" dirty="0">
              <a:solidFill>
                <a:schemeClr val="accent1">
                  <a:lumMod val="75000"/>
                </a:schemeClr>
              </a:solidFill>
              <a:latin typeface="Verdana"/>
              <a:cs typeface="Verdana"/>
            </a:endParaRPr>
          </a:p>
          <a:p>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Federal Exchange Data Breach Notification Act of 2015 </a:t>
            </a:r>
            <a:r>
              <a:rPr lang="en-US" sz="2100" dirty="0">
                <a:latin typeface="Verdana" panose="020B0604030504040204" pitchFamily="34" charset="0"/>
                <a:ea typeface="Verdana" panose="020B0604030504040204" pitchFamily="34" charset="0"/>
                <a:cs typeface="Verdana" panose="020B0604030504040204" pitchFamily="34" charset="0"/>
              </a:rPr>
              <a:t>– requires a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health insurance exchange </a:t>
            </a:r>
            <a:r>
              <a:rPr lang="en-US" sz="2100" dirty="0">
                <a:latin typeface="Verdana" panose="020B0604030504040204" pitchFamily="34" charset="0"/>
                <a:ea typeface="Verdana" panose="020B0604030504040204" pitchFamily="34" charset="0"/>
                <a:cs typeface="Verdana" panose="020B0604030504040204" pitchFamily="34" charset="0"/>
              </a:rPr>
              <a:t>to notify customers of a cyber breach no later than 60 days.</a:t>
            </a:r>
            <a:endParaRPr lang="en-US" sz="2100" i="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360746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Cybercrime Laws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 – Introduction to Cybersecurity</a:t>
            </a:r>
          </a:p>
        </p:txBody>
      </p:sp>
      <p:sp>
        <p:nvSpPr>
          <p:cNvPr id="2" name="TextBox 1"/>
          <p:cNvSpPr txBox="1"/>
          <p:nvPr/>
        </p:nvSpPr>
        <p:spPr>
          <a:xfrm>
            <a:off x="242216" y="1543868"/>
            <a:ext cx="8779864" cy="4124206"/>
          </a:xfrm>
          <a:prstGeom prst="rect">
            <a:avLst/>
          </a:prstGeom>
          <a:noFill/>
        </p:spPr>
        <p:txBody>
          <a:bodyPr wrap="square" rtlCol="0">
            <a:spAutoFit/>
          </a:bodyPr>
          <a:lstStyle/>
          <a:p>
            <a:endParaRPr lang="en-US" sz="2200" dirty="0">
              <a:latin typeface="Verdana"/>
              <a:cs typeface="Verdana"/>
            </a:endParaRPr>
          </a:p>
          <a:p>
            <a:r>
              <a:rPr lang="en-US" sz="2200" i="1" dirty="0">
                <a:latin typeface="Verdana" panose="020B0604030504040204" pitchFamily="34" charset="0"/>
                <a:ea typeface="Verdana" panose="020B0604030504040204" pitchFamily="34" charset="0"/>
                <a:cs typeface="Verdana" panose="020B0604030504040204" pitchFamily="34" charset="0"/>
              </a:rPr>
              <a:t>“Computer crime laws encompass a variety of actions that destroy or interfere with normal operation of a computer system. All 50 states have computer crime laws; most address unauthorized access or computer trespass. Some state laws also directly address other specific types of computer crime, such as spyware, phishing, denial of service attacks, and ransomware.”</a:t>
            </a:r>
          </a:p>
          <a:p>
            <a:endParaRPr lang="en-US" sz="2200" i="1" dirty="0">
              <a:latin typeface="Verdana"/>
              <a:cs typeface="Verdana"/>
            </a:endParaRPr>
          </a:p>
          <a:p>
            <a:r>
              <a:rPr lang="en-US" sz="2100" dirty="0">
                <a:latin typeface="Verdana"/>
                <a:cs typeface="Verdana"/>
              </a:rPr>
              <a:t>       </a:t>
            </a:r>
            <a:r>
              <a:rPr lang="en-US" sz="2100" dirty="0">
                <a:latin typeface="Verdana" panose="020B0604030504040204" pitchFamily="34" charset="0"/>
                <a:ea typeface="Verdana" panose="020B0604030504040204" pitchFamily="34" charset="0"/>
                <a:cs typeface="Verdana" panose="020B0604030504040204" pitchFamily="34" charset="0"/>
              </a:rPr>
              <a:t>-- Computer Crime Statutes, National Conference of State 		 Legislatures, June 2018 </a:t>
            </a:r>
          </a:p>
          <a:p>
            <a:endParaRPr lang="en-US" sz="2200" dirty="0">
              <a:latin typeface="Verdana"/>
              <a:cs typeface="Verdana"/>
            </a:endParaRPr>
          </a:p>
        </p:txBody>
      </p:sp>
    </p:spTree>
    <p:extLst>
      <p:ext uri="{BB962C8B-B14F-4D97-AF65-F5344CB8AC3E}">
        <p14:creationId xmlns:p14="http://schemas.microsoft.com/office/powerpoint/2010/main" val="2895582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75000"/>
                  </a:schemeClr>
                </a:solidFill>
                <a:latin typeface="Verdana" panose="020B0604030504040204" pitchFamily="34" charset="0"/>
                <a:ea typeface="Verdana" panose="020B0604030504040204" pitchFamily="34" charset="0"/>
                <a:cs typeface="Verdana" panose="020B0604030504040204" pitchFamily="34" charset="0"/>
              </a:rPr>
              <a:t>Computer Fraud and Abuse Act</a:t>
            </a:r>
            <a:endParaRPr lang="en-US" sz="3600" dirty="0">
              <a:solidFill>
                <a:schemeClr val="bg1">
                  <a:lumMod val="75000"/>
                </a:schemeClr>
              </a:solidFill>
              <a:latin typeface="Verdana"/>
              <a:cs typeface="Verdana"/>
            </a:endParaRP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 – Introduction to Cybersecurity</a:t>
            </a:r>
          </a:p>
        </p:txBody>
      </p:sp>
      <p:sp>
        <p:nvSpPr>
          <p:cNvPr id="2" name="TextBox 1"/>
          <p:cNvSpPr txBox="1"/>
          <p:nvPr/>
        </p:nvSpPr>
        <p:spPr>
          <a:xfrm>
            <a:off x="207264" y="1211888"/>
            <a:ext cx="8644128" cy="1384995"/>
          </a:xfrm>
          <a:prstGeom prst="rect">
            <a:avLst/>
          </a:prstGeom>
          <a:noFill/>
        </p:spPr>
        <p:txBody>
          <a:bodyPr wrap="square" rtlCol="0">
            <a:spAutoFit/>
          </a:bodyPr>
          <a:lstStyle/>
          <a:p>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Computer Fraud and Abuse Act (CFAA)</a:t>
            </a:r>
            <a:r>
              <a:rPr lang="en-US" sz="2100" dirty="0">
                <a:latin typeface="Verdana" panose="020B0604030504040204" pitchFamily="34" charset="0"/>
                <a:ea typeface="Verdana" panose="020B0604030504040204" pitchFamily="34" charset="0"/>
                <a:cs typeface="Verdana" panose="020B0604030504040204" pitchFamily="34" charset="0"/>
              </a:rPr>
              <a:t> - This law has been amended and expanded as internet technology has advanced, and it continues to form the basis for federal prosecutions of computer-related criminal activities. </a:t>
            </a:r>
          </a:p>
        </p:txBody>
      </p:sp>
      <p:pic>
        <p:nvPicPr>
          <p:cNvPr id="5" name="Picture 4">
            <a:extLst>
              <a:ext uri="{FF2B5EF4-FFF2-40B4-BE49-F238E27FC236}">
                <a16:creationId xmlns:a16="http://schemas.microsoft.com/office/drawing/2014/main" id="{31285460-532F-A442-9E12-F2AA53A15128}"/>
              </a:ext>
            </a:extLst>
          </p:cNvPr>
          <p:cNvPicPr>
            <a:picLocks noChangeAspect="1"/>
          </p:cNvPicPr>
          <p:nvPr/>
        </p:nvPicPr>
        <p:blipFill>
          <a:blip r:embed="rId3"/>
          <a:stretch>
            <a:fillRect/>
          </a:stretch>
        </p:blipFill>
        <p:spPr>
          <a:xfrm>
            <a:off x="1289304" y="2667374"/>
            <a:ext cx="6565392" cy="3543025"/>
          </a:xfrm>
          <a:prstGeom prst="rect">
            <a:avLst/>
          </a:prstGeom>
        </p:spPr>
      </p:pic>
    </p:spTree>
    <p:extLst>
      <p:ext uri="{BB962C8B-B14F-4D97-AF65-F5344CB8AC3E}">
        <p14:creationId xmlns:p14="http://schemas.microsoft.com/office/powerpoint/2010/main" val="833180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Federal Cybercrime Laws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 – Introduction to Cybersecurity</a:t>
            </a:r>
          </a:p>
        </p:txBody>
      </p:sp>
      <p:sp>
        <p:nvSpPr>
          <p:cNvPr id="2" name="TextBox 1"/>
          <p:cNvSpPr txBox="1"/>
          <p:nvPr/>
        </p:nvSpPr>
        <p:spPr>
          <a:xfrm>
            <a:off x="195072" y="1289095"/>
            <a:ext cx="8753856" cy="5170646"/>
          </a:xfrm>
          <a:prstGeom prst="rect">
            <a:avLst/>
          </a:prstGeom>
          <a:noFill/>
        </p:spPr>
        <p:txBody>
          <a:bodyPr wrap="square" rtlCol="0">
            <a:spAutoFit/>
          </a:bodyPr>
          <a:lstStyle/>
          <a:p>
            <a:r>
              <a:rPr lang="en-US" sz="20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hlinkClick r:id="rId3"/>
              </a:rPr>
              <a:t>Electronic Communications Privacy Act (ECPA)</a:t>
            </a:r>
            <a:r>
              <a:rPr lang="en-US" sz="20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a:t>
            </a:r>
            <a:r>
              <a:rPr lang="en-US" sz="2000"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updated the Federal Wiretap Act of 1968 to apply to </a:t>
            </a:r>
            <a:r>
              <a:rPr lang="en-US" sz="2000" dirty="0">
                <a:solidFill>
                  <a:srgbClr val="FF0000"/>
                </a:solidFill>
                <a:latin typeface="Verdana" panose="020B0604030504040204" pitchFamily="34" charset="0"/>
                <a:ea typeface="Verdana" panose="020B0604030504040204" pitchFamily="34" charset="0"/>
                <a:cs typeface="Verdana" panose="020B0604030504040204" pitchFamily="34" charset="0"/>
              </a:rPr>
              <a:t>interception of computer and other digital and electronic communications</a:t>
            </a:r>
            <a:r>
              <a:rPr lang="en-US" sz="2000" dirty="0">
                <a:latin typeface="Verdana" panose="020B0604030504040204" pitchFamily="34" charset="0"/>
                <a:ea typeface="Verdana" panose="020B0604030504040204" pitchFamily="34" charset="0"/>
                <a:cs typeface="Verdana" panose="020B0604030504040204" pitchFamily="34" charset="0"/>
              </a:rPr>
              <a:t>.</a:t>
            </a:r>
            <a:endParaRPr lang="en-US" sz="2000"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endParaRPr>
          </a:p>
          <a:p>
            <a:endParaRPr lang="en-US" sz="1000"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endParaRPr>
          </a:p>
          <a:p>
            <a:r>
              <a:rPr lang="en-US" sz="20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hlinkClick r:id="rId4"/>
              </a:rPr>
              <a:t>Stored Communications Act (SCA)</a:t>
            </a:r>
            <a:r>
              <a:rPr lang="en-US" sz="20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 Title II of ECPA, regarding </a:t>
            </a:r>
            <a:r>
              <a:rPr lang="en-US" sz="2000" dirty="0">
                <a:solidFill>
                  <a:srgbClr val="FF0000"/>
                </a:solidFill>
                <a:latin typeface="Verdana" panose="020B0604030504040204" pitchFamily="34" charset="0"/>
                <a:ea typeface="Verdana" panose="020B0604030504040204" pitchFamily="34" charset="0"/>
                <a:cs typeface="Verdana" panose="020B0604030504040204" pitchFamily="34" charset="0"/>
              </a:rPr>
              <a:t>email privacy </a:t>
            </a:r>
            <a:r>
              <a:rPr lang="en-US" sz="2000" dirty="0">
                <a:latin typeface="Verdana" panose="020B0604030504040204" pitchFamily="34" charset="0"/>
                <a:ea typeface="Verdana" panose="020B0604030504040204" pitchFamily="34" charset="0"/>
                <a:cs typeface="Verdana" panose="020B0604030504040204" pitchFamily="34" charset="0"/>
              </a:rPr>
              <a:t>and ISP voluntary and mandatory disclosure.</a:t>
            </a:r>
          </a:p>
          <a:p>
            <a:r>
              <a:rPr lang="en-US" sz="10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 </a:t>
            </a:r>
            <a:endParaRPr lang="en-US" sz="1000" dirty="0">
              <a:latin typeface="Verdana" panose="020B0604030504040204" pitchFamily="34" charset="0"/>
              <a:ea typeface="Verdana" panose="020B0604030504040204" pitchFamily="34" charset="0"/>
              <a:cs typeface="Verdana" panose="020B0604030504040204" pitchFamily="34" charset="0"/>
            </a:endParaRPr>
          </a:p>
          <a:p>
            <a:r>
              <a:rPr lang="en-US" sz="20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hlinkClick r:id="rId5"/>
              </a:rPr>
              <a:t>Identity Theft Enforcement and Restitution Act of 2008 (ITERA) </a:t>
            </a:r>
            <a:r>
              <a:rPr lang="en-US" sz="2000" dirty="0">
                <a:latin typeface="Verdana" panose="020B0604030504040204" pitchFamily="34" charset="0"/>
                <a:ea typeface="Verdana" panose="020B0604030504040204" pitchFamily="34" charset="0"/>
                <a:cs typeface="Verdana" panose="020B0604030504040204" pitchFamily="34" charset="0"/>
              </a:rPr>
              <a:t>– lowers damage amount needed to prosecute; </a:t>
            </a:r>
            <a:r>
              <a:rPr lang="en-US" sz="2000" dirty="0">
                <a:solidFill>
                  <a:srgbClr val="FF0000"/>
                </a:solidFill>
                <a:latin typeface="Verdana" panose="020B0604030504040204" pitchFamily="34" charset="0"/>
                <a:ea typeface="Verdana" panose="020B0604030504040204" pitchFamily="34" charset="0"/>
                <a:cs typeface="Verdana" panose="020B0604030504040204" pitchFamily="34" charset="0"/>
              </a:rPr>
              <a:t>expands definition of cyber-extortion</a:t>
            </a:r>
            <a:r>
              <a:rPr lang="en-US" sz="2000" dirty="0">
                <a:latin typeface="Verdana" panose="020B0604030504040204" pitchFamily="34" charset="0"/>
                <a:ea typeface="Verdana" panose="020B0604030504040204" pitchFamily="34" charset="0"/>
                <a:cs typeface="Verdana" panose="020B0604030504040204" pitchFamily="34" charset="0"/>
              </a:rPr>
              <a:t>.</a:t>
            </a:r>
          </a:p>
          <a:p>
            <a:endParaRPr lang="en-US" sz="1000"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endParaRPr>
          </a:p>
          <a:p>
            <a:r>
              <a:rPr lang="en-US" sz="20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hlinkClick r:id="rId6"/>
              </a:rPr>
              <a:t>Child Pornography Prevention Act </a:t>
            </a:r>
            <a:r>
              <a:rPr lang="en-US" sz="2000" dirty="0">
                <a:latin typeface="Verdana" panose="020B0604030504040204" pitchFamily="34" charset="0"/>
                <a:ea typeface="Verdana" panose="020B0604030504040204" pitchFamily="34" charset="0"/>
                <a:cs typeface="Verdana" panose="020B0604030504040204" pitchFamily="34" charset="0"/>
              </a:rPr>
              <a:t>-</a:t>
            </a:r>
            <a:r>
              <a:rPr lang="en-US" sz="2000"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revises the definition of "visual depiction" to include </a:t>
            </a:r>
            <a:r>
              <a:rPr lang="en-US" sz="2000" dirty="0">
                <a:solidFill>
                  <a:srgbClr val="FF0000"/>
                </a:solidFill>
                <a:latin typeface="Verdana" panose="020B0604030504040204" pitchFamily="34" charset="0"/>
                <a:ea typeface="Verdana" panose="020B0604030504040204" pitchFamily="34" charset="0"/>
                <a:cs typeface="Verdana" panose="020B0604030504040204" pitchFamily="34" charset="0"/>
              </a:rPr>
              <a:t>data stored on computer disk </a:t>
            </a:r>
            <a:r>
              <a:rPr lang="en-US" sz="2000" dirty="0">
                <a:latin typeface="Verdana" panose="020B0604030504040204" pitchFamily="34" charset="0"/>
                <a:ea typeface="Verdana" panose="020B0604030504040204" pitchFamily="34" charset="0"/>
                <a:cs typeface="Verdana" panose="020B0604030504040204" pitchFamily="34" charset="0"/>
              </a:rPr>
              <a:t>or by electronic means.</a:t>
            </a:r>
            <a:endParaRPr lang="en-US" sz="20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endParaRPr>
          </a:p>
          <a:p>
            <a:r>
              <a:rPr lang="en-US" sz="1000" dirty="0">
                <a:latin typeface="Verdana" panose="020B0604030504040204" pitchFamily="34" charset="0"/>
                <a:ea typeface="Verdana" panose="020B0604030504040204" pitchFamily="34" charset="0"/>
                <a:cs typeface="Verdana" panose="020B0604030504040204" pitchFamily="34" charset="0"/>
              </a:rPr>
              <a:t> </a:t>
            </a:r>
            <a:r>
              <a:rPr lang="en-US" sz="10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 </a:t>
            </a:r>
            <a:endParaRPr lang="en-US" sz="1000" dirty="0">
              <a:latin typeface="Verdana" panose="020B0604030504040204" pitchFamily="34" charset="0"/>
              <a:ea typeface="Verdana" panose="020B0604030504040204" pitchFamily="34" charset="0"/>
              <a:cs typeface="Verdana" panose="020B0604030504040204" pitchFamily="34" charset="0"/>
            </a:endParaRPr>
          </a:p>
          <a:p>
            <a:r>
              <a:rPr lang="en-US" sz="20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hlinkClick r:id="rId7"/>
              </a:rPr>
              <a:t>Cyber Security Enhancement Act (CSEA)</a:t>
            </a:r>
            <a:r>
              <a:rPr lang="en-US" sz="2000" dirty="0">
                <a:latin typeface="Verdana" panose="020B0604030504040204" pitchFamily="34" charset="0"/>
                <a:ea typeface="Verdana" panose="020B0604030504040204" pitchFamily="34" charset="0"/>
                <a:cs typeface="Verdana" panose="020B0604030504040204" pitchFamily="34" charset="0"/>
                <a:hlinkClick r:id="rId7"/>
              </a:rPr>
              <a:t> </a:t>
            </a:r>
            <a:r>
              <a:rPr lang="en-US" sz="2000" dirty="0">
                <a:latin typeface="Verdana" panose="020B0604030504040204" pitchFamily="34" charset="0"/>
                <a:ea typeface="Verdana" panose="020B0604030504040204" pitchFamily="34" charset="0"/>
                <a:cs typeface="Verdana" panose="020B0604030504040204" pitchFamily="34" charset="0"/>
              </a:rPr>
              <a:t>– amends sentencing guidelines for some computer crimes. </a:t>
            </a:r>
            <a:r>
              <a:rPr lang="en-US" sz="2000" dirty="0">
                <a:solidFill>
                  <a:srgbClr val="FF0000"/>
                </a:solidFill>
                <a:latin typeface="Verdana" panose="020B0604030504040204" pitchFamily="34" charset="0"/>
                <a:ea typeface="Verdana" panose="020B0604030504040204" pitchFamily="34" charset="0"/>
                <a:cs typeface="Verdana" panose="020B0604030504040204" pitchFamily="34" charset="0"/>
              </a:rPr>
              <a:t>Allows an ISP to disclose customer data</a:t>
            </a:r>
            <a:r>
              <a:rPr lang="en-US" sz="2000" dirty="0">
                <a:latin typeface="Verdana" panose="020B0604030504040204" pitchFamily="34" charset="0"/>
                <a:ea typeface="Verdana" panose="020B0604030504040204" pitchFamily="34" charset="0"/>
                <a:cs typeface="Verdana" panose="020B0604030504040204" pitchFamily="34" charset="0"/>
              </a:rPr>
              <a:t> to government agencies if deemed an emergency.</a:t>
            </a:r>
          </a:p>
        </p:txBody>
      </p:sp>
    </p:spTree>
    <p:extLst>
      <p:ext uri="{BB962C8B-B14F-4D97-AF65-F5344CB8AC3E}">
        <p14:creationId xmlns:p14="http://schemas.microsoft.com/office/powerpoint/2010/main" val="3085172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234028"/>
            <a:ext cx="9144000" cy="863252"/>
          </a:xfrm>
          <a:solidFill>
            <a:srgbClr val="002E62"/>
          </a:solidFill>
          <a:effectLst>
            <a:outerShdw blurRad="50800" dist="38100" dir="2700000" algn="tl" rotWithShape="0">
              <a:srgbClr val="000000">
                <a:alpha val="43000"/>
              </a:srgbClr>
            </a:outerShdw>
          </a:effectLst>
        </p:spPr>
        <p:txBody>
          <a:bodyPr>
            <a:noAutofit/>
          </a:bodyPr>
          <a:lstStyle/>
          <a:p>
            <a:r>
              <a:rPr lang="en-US" sz="3600" dirty="0">
                <a:solidFill>
                  <a:schemeClr val="bg1">
                    <a:lumMod val="85000"/>
                  </a:schemeClr>
                </a:solidFill>
                <a:latin typeface="Verdana" panose="020B0604030504040204" pitchFamily="34" charset="0"/>
                <a:ea typeface="Verdana" panose="020B0604030504040204" pitchFamily="34" charset="0"/>
                <a:cs typeface="Verdana" panose="020B0604030504040204" pitchFamily="34" charset="0"/>
              </a:rPr>
              <a:t>International Treaties &amp; Agreements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 – Introduction to Cybersecurity</a:t>
            </a:r>
          </a:p>
        </p:txBody>
      </p:sp>
      <p:sp>
        <p:nvSpPr>
          <p:cNvPr id="2" name="TextBox 1"/>
          <p:cNvSpPr txBox="1"/>
          <p:nvPr/>
        </p:nvSpPr>
        <p:spPr>
          <a:xfrm>
            <a:off x="262128" y="1457320"/>
            <a:ext cx="8619744" cy="4478149"/>
          </a:xfrm>
          <a:prstGeom prst="rect">
            <a:avLst/>
          </a:prstGeom>
          <a:noFill/>
        </p:spPr>
        <p:txBody>
          <a:bodyPr wrap="square" rtlCol="0">
            <a:spAutoFit/>
          </a:bodyPr>
          <a:lstStyle/>
          <a:p>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G8 Communique (1997) </a:t>
            </a:r>
            <a:r>
              <a:rPr lang="en-US" sz="2100" i="1" dirty="0">
                <a:latin typeface="Verdana" panose="020B0604030504040204" pitchFamily="34" charset="0"/>
                <a:ea typeface="Verdana" panose="020B0604030504040204" pitchFamily="34" charset="0"/>
                <a:cs typeface="Verdana" panose="020B0604030504040204" pitchFamily="34" charset="0"/>
              </a:rPr>
              <a:t>– </a:t>
            </a:r>
            <a:r>
              <a:rPr lang="en-US" sz="2100" dirty="0">
                <a:latin typeface="Verdana" panose="020B0604030504040204" pitchFamily="34" charset="0"/>
                <a:ea typeface="Verdana" panose="020B0604030504040204" pitchFamily="34" charset="0"/>
                <a:cs typeface="Verdana" panose="020B0604030504040204" pitchFamily="34" charset="0"/>
              </a:rPr>
              <a:t>G8 countries adopted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10 principles </a:t>
            </a:r>
            <a:r>
              <a:rPr lang="en-US" sz="2100" dirty="0">
                <a:latin typeface="Verdana" panose="020B0604030504040204" pitchFamily="34" charset="0"/>
                <a:ea typeface="Verdana" panose="020B0604030504040204" pitchFamily="34" charset="0"/>
                <a:cs typeface="Verdana" panose="020B0604030504040204" pitchFamily="34" charset="0"/>
              </a:rPr>
              <a:t>to combat “high tech” crime.</a:t>
            </a:r>
          </a:p>
          <a:p>
            <a:endParaRPr lang="en-US" sz="10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endParaRPr>
          </a:p>
          <a:p>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Convention on Cybercrime (2001)</a:t>
            </a:r>
            <a:r>
              <a:rPr lang="en-US" sz="2100" b="1" dirty="0">
                <a:latin typeface="Verdana" panose="020B0604030504040204" pitchFamily="34" charset="0"/>
                <a:ea typeface="Verdana" panose="020B0604030504040204" pitchFamily="34" charset="0"/>
                <a:cs typeface="Verdana" panose="020B0604030504040204" pitchFamily="34" charset="0"/>
              </a:rPr>
              <a:t> - </a:t>
            </a:r>
            <a:r>
              <a:rPr lang="en-US" sz="2100" dirty="0">
                <a:latin typeface="Verdana" panose="020B0604030504040204" pitchFamily="34" charset="0"/>
                <a:ea typeface="Verdana" panose="020B0604030504040204" pitchFamily="34" charset="0"/>
                <a:cs typeface="Verdana" panose="020B0604030504040204" pitchFamily="34" charset="0"/>
              </a:rPr>
              <a:t>known as the </a:t>
            </a:r>
            <a:r>
              <a:rPr lang="en-US" sz="2100"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Budapest Convention,</a:t>
            </a:r>
            <a:r>
              <a:rPr lang="en-US" sz="2100" dirty="0">
                <a:latin typeface="Verdana" panose="020B0604030504040204" pitchFamily="34" charset="0"/>
                <a:ea typeface="Verdana" panose="020B0604030504040204" pitchFamily="34" charset="0"/>
                <a:cs typeface="Verdana" panose="020B0604030504040204" pitchFamily="34" charset="0"/>
              </a:rPr>
              <a:t> addressed the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jurisdictional issues </a:t>
            </a:r>
            <a:r>
              <a:rPr lang="en-US" sz="2100" dirty="0">
                <a:latin typeface="Verdana" panose="020B0604030504040204" pitchFamily="34" charset="0"/>
                <a:ea typeface="Verdana" panose="020B0604030504040204" pitchFamily="34" charset="0"/>
                <a:cs typeface="Verdana" panose="020B0604030504040204" pitchFamily="34" charset="0"/>
              </a:rPr>
              <a:t>and disjoint cybercrime laws due to rise of the internet. </a:t>
            </a:r>
          </a:p>
          <a:p>
            <a:endParaRPr lang="en-US" sz="10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endParaRPr>
          </a:p>
          <a:p>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hlinkClick r:id="rId3"/>
              </a:rPr>
              <a:t>Additional Protocol to the Convention on Cybercrime </a:t>
            </a:r>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rPr>
              <a:t>(2003) </a:t>
            </a:r>
            <a:r>
              <a:rPr lang="en-US" sz="2400" dirty="0"/>
              <a:t>– </a:t>
            </a:r>
            <a:r>
              <a:rPr lang="en-US" sz="2100" dirty="0">
                <a:latin typeface="Verdana" panose="020B0604030504040204" pitchFamily="34" charset="0"/>
                <a:ea typeface="Verdana" panose="020B0604030504040204" pitchFamily="34" charset="0"/>
                <a:cs typeface="Verdana" panose="020B0604030504040204" pitchFamily="34" charset="0"/>
              </a:rPr>
              <a:t>obligation to enact laws to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criminalize racist or xenophobic acts that are expressed or otherwise communicated online</a:t>
            </a:r>
            <a:r>
              <a:rPr lang="en-US" sz="2100" dirty="0">
                <a:latin typeface="Verdana" panose="020B0604030504040204" pitchFamily="34" charset="0"/>
                <a:ea typeface="Verdana" panose="020B0604030504040204" pitchFamily="34" charset="0"/>
                <a:cs typeface="Verdana" panose="020B0604030504040204" pitchFamily="34" charset="0"/>
              </a:rPr>
              <a:t>.</a:t>
            </a:r>
          </a:p>
          <a:p>
            <a:endParaRPr lang="en-US" sz="1000" dirty="0">
              <a:latin typeface="Verdana" panose="020B0604030504040204" pitchFamily="34" charset="0"/>
              <a:ea typeface="Verdana" panose="020B0604030504040204" pitchFamily="34" charset="0"/>
              <a:cs typeface="Verdana" panose="020B0604030504040204" pitchFamily="34" charset="0"/>
            </a:endParaRPr>
          </a:p>
          <a:p>
            <a:r>
              <a:rPr lang="en-US" sz="2100" i="1" dirty="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hlinkClick r:id="rId4"/>
              </a:rPr>
              <a:t>Joint Cybercrime Action Taskforce (J-cat) </a:t>
            </a:r>
            <a:r>
              <a:rPr lang="en-US" sz="2100" i="1" dirty="0">
                <a:latin typeface="Verdana" panose="020B0604030504040204" pitchFamily="34" charset="0"/>
                <a:ea typeface="Verdana" panose="020B0604030504040204" pitchFamily="34" charset="0"/>
                <a:cs typeface="Verdana" panose="020B0604030504040204" pitchFamily="34" charset="0"/>
              </a:rPr>
              <a:t>- </a:t>
            </a:r>
            <a:r>
              <a:rPr lang="en-US" sz="2100" dirty="0">
                <a:latin typeface="Verdana" panose="020B0604030504040204" pitchFamily="34" charset="0"/>
                <a:ea typeface="Verdana" panose="020B0604030504040204" pitchFamily="34" charset="0"/>
                <a:cs typeface="Verdana" panose="020B0604030504040204" pitchFamily="34" charset="0"/>
              </a:rPr>
              <a:t>facilitating the joint identification, prioritization, preparation and initiation of </a:t>
            </a:r>
            <a:r>
              <a:rPr lang="en-US" sz="2100" dirty="0">
                <a:solidFill>
                  <a:srgbClr val="FF0000"/>
                </a:solidFill>
                <a:latin typeface="Verdana" panose="020B0604030504040204" pitchFamily="34" charset="0"/>
                <a:ea typeface="Verdana" panose="020B0604030504040204" pitchFamily="34" charset="0"/>
                <a:cs typeface="Verdana" panose="020B0604030504040204" pitchFamily="34" charset="0"/>
              </a:rPr>
              <a:t>cross-border investigations and operations </a:t>
            </a:r>
            <a:r>
              <a:rPr lang="en-US" sz="2100" dirty="0">
                <a:latin typeface="Verdana" panose="020B0604030504040204" pitchFamily="34" charset="0"/>
                <a:ea typeface="Verdana" panose="020B0604030504040204" pitchFamily="34" charset="0"/>
                <a:cs typeface="Verdana" panose="020B0604030504040204" pitchFamily="34" charset="0"/>
              </a:rPr>
              <a:t>against cybercrime threats.</a:t>
            </a:r>
            <a:endParaRPr lang="en-US" dirty="0"/>
          </a:p>
        </p:txBody>
      </p:sp>
    </p:spTree>
    <p:extLst>
      <p:ext uri="{BB962C8B-B14F-4D97-AF65-F5344CB8AC3E}">
        <p14:creationId xmlns:p14="http://schemas.microsoft.com/office/powerpoint/2010/main" val="1302991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References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 – Introduction to Cybersecurity</a:t>
            </a:r>
          </a:p>
        </p:txBody>
      </p:sp>
      <p:sp>
        <p:nvSpPr>
          <p:cNvPr id="2" name="TextBox 1"/>
          <p:cNvSpPr txBox="1"/>
          <p:nvPr/>
        </p:nvSpPr>
        <p:spPr>
          <a:xfrm>
            <a:off x="242216" y="1202936"/>
            <a:ext cx="8659567" cy="5047536"/>
          </a:xfrm>
          <a:prstGeom prst="rect">
            <a:avLst/>
          </a:prstGeom>
          <a:noFill/>
        </p:spPr>
        <p:txBody>
          <a:bodyPr wrap="square" rtlCol="0">
            <a:spAutoFit/>
          </a:bodyPr>
          <a:lstStyle/>
          <a:p>
            <a:r>
              <a:rPr lang="en-US" sz="1600" dirty="0">
                <a:latin typeface="Verdana"/>
                <a:cs typeface="Verdana"/>
              </a:rPr>
              <a:t>[1] </a:t>
            </a:r>
            <a:r>
              <a:rPr lang="en-US" sz="1600" dirty="0">
                <a:latin typeface="Verdana" panose="020B0604030504040204" pitchFamily="34" charset="0"/>
                <a:ea typeface="Verdana" panose="020B0604030504040204" pitchFamily="34" charset="0"/>
                <a:cs typeface="Verdana" panose="020B0604030504040204" pitchFamily="34" charset="0"/>
              </a:rPr>
              <a:t>H.R.145 - COMPUTER SECURITY ACT OF 1987</a:t>
            </a:r>
          </a:p>
          <a:p>
            <a:r>
              <a:rPr lang="en-US" sz="1600" dirty="0">
                <a:latin typeface="Verdana"/>
                <a:cs typeface="Verdana"/>
                <a:hlinkClick r:id="rId3"/>
              </a:rPr>
              <a:t>https://www.congress.gov/bill/100th-congress/house-bill/145</a:t>
            </a:r>
            <a:endParaRPr lang="en-US" sz="1600" dirty="0">
              <a:latin typeface="Verdana"/>
              <a:cs typeface="Verdana"/>
            </a:endParaRPr>
          </a:p>
          <a:p>
            <a:endParaRPr lang="en-US" sz="1600" dirty="0">
              <a:latin typeface="Verdana"/>
              <a:ea typeface="Verdana" panose="020B0604030504040204" pitchFamily="34" charset="0"/>
              <a:cs typeface="Verdana"/>
            </a:endParaRPr>
          </a:p>
          <a:p>
            <a:r>
              <a:rPr lang="en-US" sz="1600" dirty="0">
                <a:latin typeface="Verdana"/>
                <a:ea typeface="Verdana" panose="020B0604030504040204" pitchFamily="34" charset="0"/>
                <a:cs typeface="Verdana"/>
              </a:rPr>
              <a:t>[2] NSA/NCSC RAINBOW SERIES</a:t>
            </a:r>
          </a:p>
          <a:p>
            <a:r>
              <a:rPr lang="en-US" sz="1600" dirty="0">
                <a:latin typeface="Verdana"/>
                <a:ea typeface="Verdana" panose="020B0604030504040204" pitchFamily="34" charset="0"/>
                <a:cs typeface="Verdana"/>
                <a:hlinkClick r:id="rId4"/>
              </a:rPr>
              <a:t>https://fas.org/irp/nsa/rainbow.htm</a:t>
            </a:r>
            <a:endParaRPr lang="en-US" sz="1600" dirty="0">
              <a:latin typeface="Verdana"/>
              <a:ea typeface="Verdana" panose="020B0604030504040204" pitchFamily="34" charset="0"/>
              <a:cs typeface="Verdana"/>
            </a:endParaRPr>
          </a:p>
          <a:p>
            <a:endParaRPr lang="en-US" sz="1600" dirty="0">
              <a:latin typeface="Verdana"/>
              <a:ea typeface="Verdana" panose="020B0604030504040204" pitchFamily="34" charset="0"/>
              <a:cs typeface="Verdana"/>
            </a:endParaRPr>
          </a:p>
          <a:p>
            <a:r>
              <a:rPr lang="en-US" sz="1600" dirty="0">
                <a:latin typeface="Verdana"/>
                <a:ea typeface="Verdana" panose="020B0604030504040204" pitchFamily="34" charset="0"/>
                <a:cs typeface="Verdana"/>
              </a:rPr>
              <a:t>[3] </a:t>
            </a:r>
            <a:r>
              <a:rPr lang="en-US" sz="1600" dirty="0">
                <a:latin typeface="Verdana" panose="020B0604030504040204" pitchFamily="34" charset="0"/>
                <a:ea typeface="Verdana" panose="020B0604030504040204" pitchFamily="34" charset="0"/>
                <a:cs typeface="Verdana" panose="020B0604030504040204" pitchFamily="34" charset="0"/>
              </a:rPr>
              <a:t>FEDERAL INFORMATION SECURITY MANAGEMENT ACT (FISMA) IMPLEMENTATION PROJECT </a:t>
            </a:r>
          </a:p>
          <a:p>
            <a:r>
              <a:rPr lang="en-US" sz="1600" dirty="0">
                <a:latin typeface="Verdana"/>
                <a:cs typeface="Verdana"/>
                <a:hlinkClick r:id="rId5"/>
              </a:rPr>
              <a:t>https://www.nist.gov/programs-projects/federal-information-security-management-act-fisma-implementation-project</a:t>
            </a:r>
            <a:endParaRPr lang="en-US" sz="1600" dirty="0">
              <a:latin typeface="Verdana"/>
              <a:cs typeface="Verdana"/>
            </a:endParaRPr>
          </a:p>
          <a:p>
            <a:endParaRPr lang="en-US" sz="1600" dirty="0">
              <a:latin typeface="Verdana"/>
              <a:cs typeface="Verdana"/>
            </a:endParaRPr>
          </a:p>
          <a:p>
            <a:r>
              <a:rPr lang="en-US" sz="1600" dirty="0">
                <a:latin typeface="Verdana"/>
                <a:cs typeface="Verdana"/>
              </a:rPr>
              <a:t>[4]</a:t>
            </a:r>
            <a:r>
              <a:rPr lang="en-US" b="1" cap="all" dirty="0"/>
              <a:t> </a:t>
            </a:r>
            <a:r>
              <a:rPr lang="en-US" sz="1600" cap="all" dirty="0">
                <a:latin typeface="Verdana" panose="020B0604030504040204" pitchFamily="34" charset="0"/>
                <a:ea typeface="Verdana" panose="020B0604030504040204" pitchFamily="34" charset="0"/>
                <a:cs typeface="Verdana" panose="020B0604030504040204" pitchFamily="34" charset="0"/>
              </a:rPr>
              <a:t>DEFINITION OF FISMA COMPLIANCE</a:t>
            </a:r>
          </a:p>
          <a:p>
            <a:r>
              <a:rPr lang="en-US" sz="1600" dirty="0">
                <a:latin typeface="Verdana"/>
                <a:cs typeface="Verdana"/>
                <a:hlinkClick r:id="rId6"/>
              </a:rPr>
              <a:t>https://digitalguardian.com/blog/what-fisma-compliance-fisma-definition-requirements-penalties-and-more</a:t>
            </a:r>
            <a:endParaRPr lang="en-US" sz="1600" dirty="0">
              <a:latin typeface="Verdana"/>
              <a:cs typeface="Verdana"/>
            </a:endParaRPr>
          </a:p>
          <a:p>
            <a:endParaRPr lang="en-US" sz="1600" dirty="0">
              <a:latin typeface="Verdana"/>
              <a:cs typeface="Verdana"/>
            </a:endParaRPr>
          </a:p>
          <a:p>
            <a:pPr fontAlgn="base"/>
            <a:r>
              <a:rPr lang="en-US" sz="1600" dirty="0">
                <a:latin typeface="Verdana"/>
                <a:cs typeface="Verdana"/>
              </a:rPr>
              <a:t>[5] </a:t>
            </a:r>
            <a:r>
              <a:rPr lang="en-US" sz="1600" dirty="0">
                <a:latin typeface="Verdana" panose="020B0604030504040204" pitchFamily="34" charset="0"/>
                <a:ea typeface="Verdana" panose="020B0604030504040204" pitchFamily="34" charset="0"/>
                <a:cs typeface="Verdana" panose="020B0604030504040204" pitchFamily="34" charset="0"/>
              </a:rPr>
              <a:t>SUBCOMMITTEE ON CRIME, TERRORISM, AND HOMELAND SECURITY, STEVEN M. MARTINEZ DEPUTY ASSISTANT DIRECTOR, CYBER DIVISION, FBI, APRIL 2005</a:t>
            </a:r>
          </a:p>
          <a:p>
            <a:pPr fontAlgn="base"/>
            <a:r>
              <a:rPr lang="en-US" sz="1600" dirty="0">
                <a:latin typeface="Verdana"/>
                <a:cs typeface="Verdana"/>
                <a:hlinkClick r:id="rId7"/>
              </a:rPr>
              <a:t>https://archives.fbi.gov/archives/news/testimony/computer-provisions-of-the-usa-patriot-act</a:t>
            </a:r>
            <a:endParaRPr lang="en-US" sz="1600" dirty="0">
              <a:latin typeface="Verdana"/>
              <a:cs typeface="Verdana"/>
            </a:endParaRPr>
          </a:p>
          <a:p>
            <a:endParaRPr lang="en-US" sz="1600" dirty="0">
              <a:latin typeface="Verdana"/>
              <a:cs typeface="Verdana"/>
            </a:endParaRPr>
          </a:p>
        </p:txBody>
      </p:sp>
    </p:spTree>
    <p:extLst>
      <p:ext uri="{BB962C8B-B14F-4D97-AF65-F5344CB8AC3E}">
        <p14:creationId xmlns:p14="http://schemas.microsoft.com/office/powerpoint/2010/main" val="2926918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References </a:t>
            </a:r>
            <a:r>
              <a:rPr lang="en-US" sz="3200" dirty="0">
                <a:solidFill>
                  <a:schemeClr val="bg1">
                    <a:lumMod val="85000"/>
                  </a:schemeClr>
                </a:solidFill>
                <a:latin typeface="Verdana"/>
                <a:cs typeface="Verdana"/>
              </a:rPr>
              <a:t>(cont’d)</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 – Introduction to Cybersecurity</a:t>
            </a:r>
          </a:p>
        </p:txBody>
      </p:sp>
      <p:sp>
        <p:nvSpPr>
          <p:cNvPr id="2" name="TextBox 1"/>
          <p:cNvSpPr txBox="1"/>
          <p:nvPr/>
        </p:nvSpPr>
        <p:spPr>
          <a:xfrm>
            <a:off x="240848" y="1368589"/>
            <a:ext cx="8659567" cy="5109091"/>
          </a:xfrm>
          <a:prstGeom prst="rect">
            <a:avLst/>
          </a:prstGeom>
          <a:noFill/>
        </p:spPr>
        <p:txBody>
          <a:bodyPr wrap="square" rtlCol="0">
            <a:spAutoFit/>
          </a:bodyPr>
          <a:lstStyle/>
          <a:p>
            <a:r>
              <a:rPr lang="en-US" sz="1600" dirty="0">
                <a:latin typeface="Verdana"/>
                <a:cs typeface="Verdana"/>
              </a:rPr>
              <a:t>[6] </a:t>
            </a:r>
            <a:r>
              <a:rPr lang="en-US" sz="1600" dirty="0">
                <a:latin typeface="Verdana" panose="020B0604030504040204" pitchFamily="34" charset="0"/>
                <a:ea typeface="Verdana" panose="020B0604030504040204" pitchFamily="34" charset="0"/>
                <a:cs typeface="Verdana" panose="020B0604030504040204" pitchFamily="34" charset="0"/>
              </a:rPr>
              <a:t>GOVERNMENT COLLECTION OF PRIVATE INFORMATION: BACKGROUND AND ISSUES RELATED TO THE USA PATRIOT ACT REAUTHORIZATION IN BRIEF, CRS</a:t>
            </a:r>
          </a:p>
          <a:p>
            <a:r>
              <a:rPr lang="en-US" sz="1600" dirty="0">
                <a:latin typeface="Verdana"/>
                <a:cs typeface="Verdana"/>
                <a:hlinkClick r:id="rId3"/>
              </a:rPr>
              <a:t>https://fas.org/sgp/crs/intel/R44042.pdf</a:t>
            </a:r>
            <a:endParaRPr lang="en-US" sz="1600" dirty="0">
              <a:latin typeface="Verdana"/>
              <a:cs typeface="Verdana"/>
            </a:endParaRPr>
          </a:p>
          <a:p>
            <a:endParaRPr lang="en-US" sz="1600" dirty="0">
              <a:latin typeface="Verdana"/>
              <a:cs typeface="Verdana"/>
            </a:endParaRPr>
          </a:p>
          <a:p>
            <a:r>
              <a:rPr lang="en-US" sz="1600" dirty="0">
                <a:latin typeface="Verdana"/>
                <a:cs typeface="Verdana"/>
              </a:rPr>
              <a:t>[7]</a:t>
            </a:r>
            <a:r>
              <a:rPr lang="en-US" b="1" dirty="0"/>
              <a:t> </a:t>
            </a:r>
            <a:r>
              <a:rPr lang="en-US" sz="1600" dirty="0">
                <a:latin typeface="Verdana" panose="020B0604030504040204" pitchFamily="34" charset="0"/>
                <a:ea typeface="Verdana" panose="020B0604030504040204" pitchFamily="34" charset="0"/>
                <a:cs typeface="Verdana" panose="020B0604030504040204" pitchFamily="34" charset="0"/>
              </a:rPr>
              <a:t>SECURITY AND PRIVACY CONTROLS FOR FEDERAL INFORMATION SYSTEMS AND ORGANIZATIONS, NIST 800-53 REVISION 4</a:t>
            </a:r>
          </a:p>
          <a:p>
            <a:r>
              <a:rPr lang="en-US" sz="1600" dirty="0">
                <a:latin typeface="Verdana" panose="020B0604030504040204" pitchFamily="34" charset="0"/>
                <a:ea typeface="Verdana" panose="020B0604030504040204" pitchFamily="34" charset="0"/>
                <a:cs typeface="Verdana" panose="020B0604030504040204" pitchFamily="34" charset="0"/>
                <a:hlinkClick r:id="rId4"/>
              </a:rPr>
              <a:t>https://nvlpubs.nist.gov/nistpubs/SpecialPublications/NIST.SP.800-53r4.pdf </a:t>
            </a:r>
            <a:endParaRPr lang="en-US" sz="1600" dirty="0">
              <a:latin typeface="Verdana" panose="020B0604030504040204" pitchFamily="34" charset="0"/>
              <a:ea typeface="Verdana" panose="020B0604030504040204" pitchFamily="34" charset="0"/>
              <a:cs typeface="Verdana" panose="020B0604030504040204" pitchFamily="34" charset="0"/>
            </a:endParaRPr>
          </a:p>
          <a:p>
            <a:endParaRPr lang="en-US" sz="1600" dirty="0">
              <a:latin typeface="Verdana"/>
              <a:cs typeface="Verdana"/>
            </a:endParaRPr>
          </a:p>
          <a:p>
            <a:r>
              <a:rPr lang="en-US" sz="1600" dirty="0">
                <a:latin typeface="Verdana"/>
                <a:cs typeface="Verdana"/>
              </a:rPr>
              <a:t>[8] EUROPEAN UNION DATA PROTECTION DIRECTIVE, </a:t>
            </a:r>
            <a:r>
              <a:rPr lang="en-US" sz="1600" dirty="0">
                <a:latin typeface="Verdana"/>
                <a:cs typeface="Verdana"/>
                <a:hlinkClick r:id="rId5"/>
              </a:rPr>
              <a:t>http://eur-lex.europa.eu/legal-content/EN/TXT/?uri=celex:31995L0046</a:t>
            </a:r>
            <a:endParaRPr lang="en-US" sz="1600" dirty="0">
              <a:latin typeface="Verdana"/>
              <a:cs typeface="Verdana"/>
            </a:endParaRPr>
          </a:p>
          <a:p>
            <a:endParaRPr lang="en-US" sz="1600" dirty="0">
              <a:latin typeface="Verdana"/>
              <a:cs typeface="Verdana"/>
            </a:endParaRPr>
          </a:p>
          <a:p>
            <a:r>
              <a:rPr lang="en-US" sz="1600" dirty="0">
                <a:latin typeface="Verdana"/>
                <a:cs typeface="Verdana"/>
              </a:rPr>
              <a:t>[9] OECD,</a:t>
            </a:r>
            <a:r>
              <a:rPr lang="en-US" sz="1600" b="1" dirty="0"/>
              <a:t> </a:t>
            </a:r>
            <a:r>
              <a:rPr lang="en-US" sz="1600" dirty="0">
                <a:latin typeface="Verdana"/>
                <a:cs typeface="Verdana"/>
              </a:rPr>
              <a:t>GUIDELINES ON THE PROTECTION OF PRIVACY AND TRANSBORDER FLOWS OF PERSONAL DATA, </a:t>
            </a:r>
            <a:r>
              <a:rPr lang="en-US" sz="1600" dirty="0">
                <a:latin typeface="Verdana"/>
                <a:cs typeface="Verdana"/>
                <a:hlinkClick r:id="rId6"/>
              </a:rPr>
              <a:t>http://www.oecd.org/sti/ieconomy/oecdguidelinesontheprotectionofprivacyandtransborderflowsofpersonaldata.htm</a:t>
            </a:r>
            <a:endParaRPr lang="en-US" sz="1600" dirty="0">
              <a:latin typeface="Verdana"/>
              <a:cs typeface="Verdana"/>
            </a:endParaRPr>
          </a:p>
          <a:p>
            <a:endParaRPr lang="en-US" sz="1600" dirty="0">
              <a:latin typeface="Verdana"/>
              <a:cs typeface="Verdana"/>
            </a:endParaRPr>
          </a:p>
          <a:p>
            <a:r>
              <a:rPr lang="en-US" sz="1600" dirty="0">
                <a:latin typeface="Verdana" panose="020B0604030504040204" pitchFamily="34" charset="0"/>
                <a:ea typeface="Verdana" panose="020B0604030504040204" pitchFamily="34" charset="0"/>
                <a:cs typeface="Verdana" panose="020B0604030504040204" pitchFamily="34" charset="0"/>
              </a:rPr>
              <a:t>[10] CCPA AND GDPR COMPARISON CHART, PRACTICAL LAW, L.JEHL A. FRIEL, BAKERHOSTETLER LLP </a:t>
            </a:r>
          </a:p>
          <a:p>
            <a:r>
              <a:rPr lang="en-US" sz="1600" dirty="0">
                <a:latin typeface="Verdana"/>
                <a:cs typeface="Verdana"/>
                <a:hlinkClick r:id="rId7"/>
              </a:rPr>
              <a:t>https://www.bakerlaw.com/webfiles/Privacy/2018/Articles/CCPA-GDPR-Chart.pdf</a:t>
            </a:r>
            <a:endParaRPr lang="en-US" sz="1600" dirty="0">
              <a:latin typeface="Verdana"/>
              <a:cs typeface="Verdana"/>
            </a:endParaRPr>
          </a:p>
          <a:p>
            <a:endParaRPr lang="en-US" sz="1600" dirty="0">
              <a:latin typeface="Verdana"/>
              <a:cs typeface="Verdana"/>
            </a:endParaRPr>
          </a:p>
        </p:txBody>
      </p:sp>
    </p:spTree>
    <p:extLst>
      <p:ext uri="{BB962C8B-B14F-4D97-AF65-F5344CB8AC3E}">
        <p14:creationId xmlns:p14="http://schemas.microsoft.com/office/powerpoint/2010/main" val="2283285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References (cont’d)</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 – Introduction to Cybersecurity</a:t>
            </a:r>
          </a:p>
        </p:txBody>
      </p:sp>
      <p:sp>
        <p:nvSpPr>
          <p:cNvPr id="2" name="TextBox 1"/>
          <p:cNvSpPr txBox="1"/>
          <p:nvPr/>
        </p:nvSpPr>
        <p:spPr>
          <a:xfrm>
            <a:off x="134112" y="1305482"/>
            <a:ext cx="8875776" cy="4801314"/>
          </a:xfrm>
          <a:prstGeom prst="rect">
            <a:avLst/>
          </a:prstGeom>
          <a:noFill/>
        </p:spPr>
        <p:txBody>
          <a:bodyPr wrap="square" rtlCol="0">
            <a:spAutoFit/>
          </a:bodyPr>
          <a:lstStyle/>
          <a:p>
            <a:r>
              <a:rPr lang="en-US" sz="1500" dirty="0">
                <a:latin typeface="Verdana"/>
                <a:cs typeface="Verdana"/>
              </a:rPr>
              <a:t>[11] </a:t>
            </a:r>
            <a:r>
              <a:rPr lang="en-US" sz="1500" dirty="0">
                <a:latin typeface="Verdana" panose="020B0604030504040204" pitchFamily="34" charset="0"/>
                <a:ea typeface="Verdana" panose="020B0604030504040204" pitchFamily="34" charset="0"/>
                <a:cs typeface="Verdana" panose="020B0604030504040204" pitchFamily="34" charset="0"/>
              </a:rPr>
              <a:t>COMPUTER CRIME STATUES, NATIONAL CONFERENCE OF STATE LEGISLATURES, JUNE 2018 </a:t>
            </a:r>
          </a:p>
          <a:p>
            <a:r>
              <a:rPr lang="en-US" sz="1500" dirty="0">
                <a:latin typeface="Verdana"/>
                <a:cs typeface="Verdana"/>
                <a:hlinkClick r:id="rId3"/>
              </a:rPr>
              <a:t>http://www.ncsl.org/research/telecommunications-and-information-technology/computer-hacking-and-unauthorized-access-laws.aspx</a:t>
            </a:r>
            <a:endParaRPr lang="en-US" sz="1500" dirty="0">
              <a:latin typeface="Verdana"/>
              <a:cs typeface="Verdana"/>
            </a:endParaRPr>
          </a:p>
          <a:p>
            <a:endParaRPr lang="en-US" sz="1600" dirty="0">
              <a:latin typeface="Verdana"/>
              <a:cs typeface="Verdana"/>
            </a:endParaRPr>
          </a:p>
          <a:p>
            <a:r>
              <a:rPr lang="en-US" sz="1500" dirty="0">
                <a:latin typeface="Verdana"/>
                <a:cs typeface="Verdana"/>
              </a:rPr>
              <a:t>[12] </a:t>
            </a:r>
            <a:r>
              <a:rPr lang="en-US" sz="1500" dirty="0">
                <a:latin typeface="Verdana" panose="020B0604030504040204" pitchFamily="34" charset="0"/>
                <a:ea typeface="Verdana" panose="020B0604030504040204" pitchFamily="34" charset="0"/>
                <a:cs typeface="Verdana" panose="020B0604030504040204" pitchFamily="34" charset="0"/>
              </a:rPr>
              <a:t>INTERNATIONAL CYBERCRIME TREATY: LOOKING BEYOND RATIFICATION, DANIEL ROBEL, SANS INSTITUTE, 2006</a:t>
            </a:r>
          </a:p>
          <a:p>
            <a:r>
              <a:rPr lang="en-US" sz="1500" dirty="0">
                <a:latin typeface="Verdana" panose="020B0604030504040204" pitchFamily="34" charset="0"/>
                <a:ea typeface="Verdana" panose="020B0604030504040204" pitchFamily="34" charset="0"/>
                <a:cs typeface="Verdana" panose="020B0604030504040204" pitchFamily="34" charset="0"/>
                <a:hlinkClick r:id="rId4"/>
              </a:rPr>
              <a:t>https://www.sans.org/reading-room/whitepapers/incident/paper/1756</a:t>
            </a:r>
            <a:endParaRPr lang="en-US" sz="1500" dirty="0">
              <a:latin typeface="Verdana" panose="020B0604030504040204" pitchFamily="34" charset="0"/>
              <a:ea typeface="Verdana" panose="020B0604030504040204" pitchFamily="34" charset="0"/>
              <a:cs typeface="Verdana" panose="020B0604030504040204" pitchFamily="34" charset="0"/>
            </a:endParaRPr>
          </a:p>
          <a:p>
            <a:endParaRPr lang="en-US" sz="1600" dirty="0">
              <a:latin typeface="Verdana"/>
              <a:cs typeface="Verdana"/>
            </a:endParaRPr>
          </a:p>
          <a:p>
            <a:r>
              <a:rPr lang="en-US" sz="1500" dirty="0">
                <a:latin typeface="Verdana" panose="020B0604030504040204" pitchFamily="34" charset="0"/>
                <a:ea typeface="Verdana" panose="020B0604030504040204" pitchFamily="34" charset="0"/>
                <a:cs typeface="Verdana" panose="020B0604030504040204" pitchFamily="34" charset="0"/>
              </a:rPr>
              <a:t>[13] PROSECUTING COMPUTER CRIMES, COMPUTER CRIME AND INTELLECTUAL PROPERTY SECTION CRIMINAL DIVISION, DOJ</a:t>
            </a:r>
          </a:p>
          <a:p>
            <a:r>
              <a:rPr lang="en-US" sz="1500" dirty="0">
                <a:latin typeface="Verdana" panose="020B0604030504040204" pitchFamily="34" charset="0"/>
                <a:ea typeface="Verdana" panose="020B0604030504040204" pitchFamily="34" charset="0"/>
                <a:cs typeface="Verdana" panose="020B0604030504040204" pitchFamily="34" charset="0"/>
                <a:hlinkClick r:id="rId5"/>
              </a:rPr>
              <a:t>https://www.justice.gov/sites/default/files/criminal-ccips/legacy/2015/01/14/ccmanual.pdf </a:t>
            </a:r>
            <a:endParaRPr lang="en-US" sz="1500" dirty="0">
              <a:latin typeface="Verdana" panose="020B0604030504040204" pitchFamily="34" charset="0"/>
              <a:ea typeface="Verdana" panose="020B0604030504040204" pitchFamily="34" charset="0"/>
              <a:cs typeface="Verdana" panose="020B0604030504040204" pitchFamily="34" charset="0"/>
            </a:endParaRPr>
          </a:p>
          <a:p>
            <a:endParaRPr lang="en-US" sz="1600" dirty="0">
              <a:latin typeface="Verdana"/>
              <a:cs typeface="Verdana"/>
            </a:endParaRPr>
          </a:p>
          <a:p>
            <a:r>
              <a:rPr lang="en-US" sz="1500" dirty="0">
                <a:latin typeface="Verdana"/>
                <a:cs typeface="Verdana"/>
              </a:rPr>
              <a:t>[14] </a:t>
            </a:r>
            <a:r>
              <a:rPr lang="en-US" sz="1500" dirty="0">
                <a:latin typeface="Verdana" panose="020B0604030504040204" pitchFamily="34" charset="0"/>
                <a:ea typeface="Verdana" panose="020B0604030504040204" pitchFamily="34" charset="0"/>
                <a:cs typeface="Verdana" panose="020B0604030504040204" pitchFamily="34" charset="0"/>
              </a:rPr>
              <a:t>MEETING OF JUSTICE AND INTERIOR MINISTERS OF THE EIGHT, COMMUNIQUE, 1997</a:t>
            </a:r>
          </a:p>
          <a:p>
            <a:r>
              <a:rPr lang="en-US" sz="1500" dirty="0">
                <a:latin typeface="Verdana"/>
                <a:cs typeface="Verdana"/>
                <a:hlinkClick r:id="rId6"/>
              </a:rPr>
              <a:t>https://www.justice.gov/sites/default/files/ag/legacy/2004/06/08/97Communique.pdf</a:t>
            </a:r>
            <a:endParaRPr lang="en-US" sz="1500" dirty="0">
              <a:latin typeface="Verdana"/>
              <a:cs typeface="Verdana"/>
            </a:endParaRPr>
          </a:p>
          <a:p>
            <a:endParaRPr lang="en-US" sz="1600" dirty="0">
              <a:latin typeface="Verdana"/>
              <a:cs typeface="Verdana"/>
            </a:endParaRPr>
          </a:p>
          <a:p>
            <a:r>
              <a:rPr lang="en-US" sz="1500" dirty="0">
                <a:latin typeface="Verdana"/>
                <a:cs typeface="Verdana"/>
              </a:rPr>
              <a:t>[15] THE COUNCIL OF EUROPE’S CONVENTION ON CYBERCRIME, A. WEBER</a:t>
            </a:r>
          </a:p>
          <a:p>
            <a:r>
              <a:rPr lang="en-US" sz="1500" dirty="0">
                <a:latin typeface="Verdana"/>
                <a:cs typeface="Verdana"/>
                <a:hlinkClick r:id="rId7"/>
              </a:rPr>
              <a:t>http://scholarship.law.berkeley.edu/cgi/viewcontent.cgi?article=1416&amp;context=btlj</a:t>
            </a:r>
            <a:endParaRPr lang="en-US" sz="1500" dirty="0">
              <a:latin typeface="Verdana"/>
              <a:cs typeface="Verdana"/>
            </a:endParaRPr>
          </a:p>
        </p:txBody>
      </p:sp>
    </p:spTree>
    <p:extLst>
      <p:ext uri="{BB962C8B-B14F-4D97-AF65-F5344CB8AC3E}">
        <p14:creationId xmlns:p14="http://schemas.microsoft.com/office/powerpoint/2010/main" val="2074585185"/>
      </p:ext>
    </p:extLst>
  </p:cSld>
  <p:clrMapOvr>
    <a:masterClrMapping/>
  </p:clrMapOvr>
</p:sld>
</file>

<file path=ppt/theme/theme1.xml><?xml version="1.0" encoding="utf-8"?>
<a:theme xmlns:a="http://schemas.openxmlformats.org/drawingml/2006/main" name="cybercorps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cybercorpsTemplate.potx</Template>
  <TotalTime>3644</TotalTime>
  <Words>2496</Words>
  <Application>Microsoft Macintosh PowerPoint</Application>
  <PresentationFormat>On-screen Show (4:3)</PresentationFormat>
  <Paragraphs>248</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Verdana</vt:lpstr>
      <vt:lpstr>cybercorpsTemplate</vt:lpstr>
      <vt:lpstr>Cyber Laws &amp; Regulations</vt:lpstr>
      <vt:lpstr>Security &amp; Privacy Controls</vt:lpstr>
      <vt:lpstr>Computer Security Act</vt:lpstr>
      <vt:lpstr>FISMA</vt:lpstr>
      <vt:lpstr>FISMA</vt:lpstr>
      <vt:lpstr>NIST 800-53</vt:lpstr>
      <vt:lpstr>NIST 800-53</vt:lpstr>
      <vt:lpstr>Common Criteria</vt:lpstr>
      <vt:lpstr>USA Patriot Act</vt:lpstr>
      <vt:lpstr>Federal Cyber Protection Laws</vt:lpstr>
      <vt:lpstr>International Data Privacy</vt:lpstr>
      <vt:lpstr>EU Laws &amp; Regulations</vt:lpstr>
      <vt:lpstr>Data Breach Laws</vt:lpstr>
      <vt:lpstr>Cybercrime Laws</vt:lpstr>
      <vt:lpstr>Computer Fraud and Abuse Act</vt:lpstr>
      <vt:lpstr>Federal Cybercrime Laws</vt:lpstr>
      <vt:lpstr>International Treaties &amp; Agreements</vt:lpstr>
      <vt:lpstr>References</vt:lpstr>
      <vt:lpstr>References (cont’d)</vt:lpstr>
      <vt:lpstr>References (cont’d)</vt:lpstr>
    </vt:vector>
  </TitlesOfParts>
  <Company>University of Nevada, Reno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Nancy LaTourrette</dc:creator>
  <cp:lastModifiedBy>Nancy P Latourrette</cp:lastModifiedBy>
  <cp:revision>169</cp:revision>
  <cp:lastPrinted>2019-11-09T04:17:51Z</cp:lastPrinted>
  <dcterms:created xsi:type="dcterms:W3CDTF">2016-02-28T22:40:58Z</dcterms:created>
  <dcterms:modified xsi:type="dcterms:W3CDTF">2020-01-13T09:58:39Z</dcterms:modified>
</cp:coreProperties>
</file>