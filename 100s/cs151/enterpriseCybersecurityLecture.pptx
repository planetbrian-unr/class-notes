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06" r:id="rId3"/>
    <p:sldId id="304" r:id="rId4"/>
    <p:sldId id="327" r:id="rId5"/>
    <p:sldId id="326" r:id="rId6"/>
    <p:sldId id="322" r:id="rId7"/>
    <p:sldId id="329" r:id="rId8"/>
    <p:sldId id="323" r:id="rId9"/>
    <p:sldId id="324" r:id="rId10"/>
    <p:sldId id="334" r:id="rId11"/>
    <p:sldId id="325" r:id="rId12"/>
    <p:sldId id="332" r:id="rId13"/>
    <p:sldId id="259" r:id="rId14"/>
    <p:sldId id="33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9295"/>
    <a:srgbClr val="002E62"/>
    <a:srgbClr val="000080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6395" autoAdjust="0"/>
  </p:normalViewPr>
  <p:slideViewPr>
    <p:cSldViewPr snapToGrid="0" snapToObjects="1">
      <p:cViewPr varScale="1">
        <p:scale>
          <a:sx n="110" d="100"/>
          <a:sy n="110" d="100"/>
        </p:scale>
        <p:origin x="121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F75F0-0DC9-D244-9C65-78173ACB23B3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A223D-0791-B949-A37D-68CC0DDCFA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882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207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arenBoth"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338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arenBoth"/>
              <a:tabLst/>
              <a:defRPr/>
            </a:pPr>
            <a:r>
              <a:rPr lang="en-US" sz="1200" dirty="0"/>
              <a:t>Cost of Data Breaches, 2018, Ponemon Institute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arenBoth"/>
              <a:tabLst/>
              <a:defRPr/>
            </a:pPr>
            <a:r>
              <a:rPr lang="en-US" sz="1200" dirty="0"/>
              <a:t>Cloud services such as IaaS (infrastructure as a Service) leaves many security details to the consumer.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arenBoth"/>
              <a:tabLst/>
              <a:defRPr/>
            </a:pPr>
            <a:r>
              <a:rPr lang="en-US" sz="1200" dirty="0"/>
              <a:t>https://www.infosecurity-magazine.com/news/vulnerabilities-in-iot-devices/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10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arenBoth"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147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arenBoth"/>
              <a:tabLst/>
              <a:defRPr/>
            </a:pPr>
            <a:r>
              <a:rPr lang="en-US" sz="1200" dirty="0"/>
              <a:t>https://www.ekransystem.com/en/blog/insider-threat-indicators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arenBoth"/>
              <a:tabLst/>
              <a:defRPr/>
            </a:pPr>
            <a:r>
              <a:rPr lang="en-US" sz="1200" dirty="0"/>
              <a:t>(1) https://www.us-cert.gov/sites/default/files/publications/Combating%20the%20Insider%20Threat_0.pdf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arenBoth"/>
              <a:tabLst/>
              <a:defRPr/>
            </a:pPr>
            <a:endParaRPr lang="en-US" sz="1200" dirty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arenBoth"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73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eriod"/>
              <a:tabLst/>
              <a:defRPr/>
            </a:pPr>
            <a:r>
              <a:rPr lang="en-US" sz="1200" dirty="0"/>
              <a:t>NIST Information Security Policy Glossary: https://csrc.nist.gov/glossary/term/information-security-policy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eriod"/>
              <a:tabLst/>
              <a:defRPr/>
            </a:pPr>
            <a:r>
              <a:rPr lang="en-US" sz="1200" dirty="0"/>
              <a:t>SANS Information Security Policy Templates: https://www.sans.org/security-resources/policies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eriod"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201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AutoNum type="arabicPeriod"/>
              <a:tabLst/>
              <a:defRPr/>
            </a:pPr>
            <a:r>
              <a:rPr lang="en-US" sz="1200" dirty="0"/>
              <a:t>NIST  SP 800-12 r1 2017 – Introduction to Information Security:  https://nvlpubs.nist.gov/nistpubs/SpecialPublications/NIST.SP.800-12r1.pdf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533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200" dirty="0"/>
              <a:t>ISO 27001 Annex A.11 – Physical &amp; Environmental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56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71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200" dirty="0"/>
              <a:t> (1) US Computer Emergency Response Team (US-CERT) is now part of CISA (2018).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59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483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888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189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922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748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9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323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784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80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91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326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264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57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87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87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3D7B5-B83E-7840-8B01-76312A1964D7}" type="datetimeFigureOut">
              <a:rPr lang="en-US" smtClean="0"/>
              <a:t>11/24/20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7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3.gov/default.aspx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us-cert.gov/ncas" TargetMode="External"/><Relationship Id="rId4" Type="http://schemas.openxmlformats.org/officeDocument/2006/relationships/hyperlink" Target="https://csrc.nist.gov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vd.nist.gov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isa.gov/about-cisa" TargetMode="External"/><Relationship Id="rId5" Type="http://schemas.openxmlformats.org/officeDocument/2006/relationships/hyperlink" Target="https://www.misp-project.org/index.html" TargetMode="External"/><Relationship Id="rId4" Type="http://schemas.openxmlformats.org/officeDocument/2006/relationships/hyperlink" Target="https://www.owasp.org/index.php/Main_Pag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hs.gov/cisa/cyber-information-sharing-and-collaboration-program-cisc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isa.gov/isao" TargetMode="External"/><Relationship Id="rId5" Type="http://schemas.openxmlformats.org/officeDocument/2006/relationships/hyperlink" Target="https://www.ren-isac.net/" TargetMode="External"/><Relationship Id="rId4" Type="http://schemas.openxmlformats.org/officeDocument/2006/relationships/hyperlink" Target="https://www.nationalisacs.org/member-isacs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ps.nv.gov/divisions/OCDC/home/" TargetMode="External"/><Relationship Id="rId3" Type="http://schemas.openxmlformats.org/officeDocument/2006/relationships/hyperlink" Target="http://www.us-cert.gov/ais" TargetMode="External"/><Relationship Id="rId7" Type="http://schemas.openxmlformats.org/officeDocument/2006/relationships/hyperlink" Target="https://www.infragard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s-cert.gov/ncas" TargetMode="External"/><Relationship Id="rId5" Type="http://schemas.openxmlformats.org/officeDocument/2006/relationships/hyperlink" Target="https://www.dhs.gov/homeland-security-information-network-hsin" TargetMode="External"/><Relationship Id="rId4" Type="http://schemas.openxmlformats.org/officeDocument/2006/relationships/hyperlink" Target="https://www.dc3.mil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iliconangle.com/2019/11/10/cloud-security-improves-weak-link-emerges-people/" TargetMode="External"/><Relationship Id="rId7" Type="http://schemas.openxmlformats.org/officeDocument/2006/relationships/hyperlink" Target="https://nvlpubs.nist.gov/nistpubs/SpecialPublications/NIST.SP.800-12r1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rc.nist.gov/glossary/term/information-security-policy" TargetMode="External"/><Relationship Id="rId5" Type="http://schemas.openxmlformats.org/officeDocument/2006/relationships/hyperlink" Target="https://www.sans.org/security-resources/policies" TargetMode="External"/><Relationship Id="rId4" Type="http://schemas.openxmlformats.org/officeDocument/2006/relationships/hyperlink" Target="https://www.uscert.gov/sites/default/files/publications/Combating%20the%20Insider%20Threat_0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ms.online/iso-27001/annex-a-11-physical-and-environmental-security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E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1288271"/>
          </a:xfr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E6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Enterprise Cybersecurity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rgbClr val="002E62"/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rgbClr val="002E62"/>
              </a:solidFill>
              <a:latin typeface="Verdana"/>
              <a:cs typeface="Verdana"/>
            </a:endParaRPr>
          </a:p>
        </p:txBody>
      </p:sp>
      <p:pic>
        <p:nvPicPr>
          <p:cNvPr id="3" name="Picture 2" descr="Nevada_N_blue_revers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593" y="2198654"/>
            <a:ext cx="2060377" cy="206037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81732" y="4615448"/>
            <a:ext cx="5714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Nancy LaTourrette </a:t>
            </a:r>
          </a:p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Computer Science &amp; Engineering</a:t>
            </a:r>
          </a:p>
          <a:p>
            <a:pPr algn="ctr"/>
            <a:endParaRPr lang="en-US" sz="2000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55808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Enterprise Cybersecurity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4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1032" y="1736229"/>
            <a:ext cx="836193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“Amateurs hack systems, professionals hack people.” </a:t>
            </a:r>
          </a:p>
          <a:p>
            <a:pPr algn="ctr"/>
            <a:endParaRPr lang="en-US" sz="22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100" dirty="0">
                <a:latin typeface="Verdana"/>
                <a:cs typeface="Verdana"/>
              </a:rPr>
              <a:t>		</a:t>
            </a:r>
            <a:r>
              <a:rPr lang="en-US" sz="2000" dirty="0">
                <a:latin typeface="Verdana"/>
                <a:cs typeface="Verdana"/>
              </a:rPr>
              <a:t>-- Bruce Schneier, Cryptographer</a:t>
            </a:r>
          </a:p>
          <a:p>
            <a:pPr algn="ctr"/>
            <a:endParaRPr lang="en-US" sz="2100" dirty="0">
              <a:latin typeface="Verdana"/>
              <a:cs typeface="Verdana"/>
            </a:endParaRPr>
          </a:p>
          <a:p>
            <a:pPr algn="ctr"/>
            <a:endParaRPr lang="en-US" sz="2100" dirty="0">
              <a:latin typeface="Verdana"/>
              <a:cs typeface="Verdana"/>
            </a:endParaRPr>
          </a:p>
          <a:p>
            <a:pPr algn="ctr"/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“The speed with which organizations are adopting cloud is ahead of their ability to secure that usage.” </a:t>
            </a:r>
          </a:p>
          <a:p>
            <a:pPr algn="ctr"/>
            <a:endParaRPr lang="en-US" sz="22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-- Doug Cahill, Senior Analyst, The Enterprise Strategy Group</a:t>
            </a:r>
          </a:p>
          <a:p>
            <a:endParaRPr lang="en-US" sz="21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190639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Enterprise Vulnerabilities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216" y="1497327"/>
            <a:ext cx="8659567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Cybersecurity vulnerabilities are weaknesses in an organization’s cyber defenses that leaves them vulnerable to a cyber threat or attack. Those vulnerabilities can lead to crime of opportunities.</a:t>
            </a:r>
          </a:p>
          <a:p>
            <a:endParaRPr lang="en-US" sz="19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1900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Human Error </a:t>
            </a:r>
            <a:r>
              <a:rPr lang="en-US" sz="1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misconfigured systems or unpatched systems accounted for 25% of data breaches in the U.S.</a:t>
            </a:r>
            <a:r>
              <a:rPr lang="en-US" sz="1900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en-US" sz="1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endParaRPr lang="en-US" sz="19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1900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Cloud Security </a:t>
            </a:r>
            <a:r>
              <a:rPr lang="en-US" sz="19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en-US" sz="1900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organizations rely on cloud providers for security but some cloud services defer a level of security to the organization.</a:t>
            </a:r>
          </a:p>
          <a:p>
            <a:endParaRPr lang="en-US" sz="1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1900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IoT Devices </a:t>
            </a:r>
            <a:r>
              <a:rPr lang="en-US" sz="1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vulnerabilities in IoT devices have doubled since 2013</a:t>
            </a:r>
            <a:r>
              <a:rPr lang="en-US" sz="1900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en-US" sz="1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compromising enterprise networks.</a:t>
            </a:r>
          </a:p>
          <a:p>
            <a:endParaRPr lang="en-US" sz="1900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1900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Social Engineering </a:t>
            </a:r>
            <a:r>
              <a:rPr lang="en-US" sz="19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en-US" sz="1900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enterprise employees are particularly susceptible to social engineering attacks.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9729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(Enterprise) Social Engineering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216" y="1238385"/>
            <a:ext cx="865956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Social Engineering 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use of deception and psychology to manipulate individuals into divulging confidential information that may be used for fraudulent purposes.</a:t>
            </a:r>
            <a:endParaRPr lang="en-US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Phishing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most common type of social engineering attack, uses email or social media as an attack vector with the goal of the user revealing confidential information by clicking on a malicious link.</a:t>
            </a:r>
          </a:p>
          <a:p>
            <a:endParaRPr lang="en-US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Pretexting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attackers create a fabricated scenario to obtain confidential information or access to a restricted area.</a:t>
            </a:r>
          </a:p>
          <a:p>
            <a:endParaRPr lang="en-US" sz="1000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Baiting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leaving infected memory devices in plain view tempting the victim to pick it up and mount on a computer.</a:t>
            </a:r>
          </a:p>
          <a:p>
            <a:endParaRPr lang="en-US" sz="1000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Shoulder Surfing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attempts to obtain personal information, usually logon credentials, by looking over the user’s shoulder and recording the information.</a:t>
            </a:r>
          </a:p>
          <a:p>
            <a:endParaRPr lang="en-US" sz="1000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Piggy Backing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also known as tailgating, attacker without the proper authorization follows an authenticated user into a restricted area.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70912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Insider Threats</a:t>
            </a:r>
            <a:r>
              <a:rPr lang="en-US" sz="3600" baseline="300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1</a:t>
            </a:r>
            <a:endParaRPr lang="en-US" sz="3600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216" y="1436411"/>
            <a:ext cx="8659567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insider threat is a person who has or had authorized access to an organization's network, system, or data and intentionally misused that access.</a:t>
            </a:r>
            <a:r>
              <a:rPr lang="en-US" i="1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</a:p>
          <a:p>
            <a:endParaRPr lang="en-US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Disgruntled Employees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dissatisfied employees who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take revenge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an enterprise due to lack of promotion or poor relations with managers and/or co-workers. Usually an emotional response. 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Malicious Insiders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employees who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abuse their access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steal, leak or delete enterprise data out of malicious intent.</a:t>
            </a:r>
          </a:p>
          <a:p>
            <a:endParaRPr lang="en-US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Inside Agents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corporate spies inside the organization whose aim is to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steal proprietary information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financial gain.</a:t>
            </a:r>
          </a:p>
          <a:p>
            <a:endParaRPr lang="en-US" sz="1000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Regular Employees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inadvertently leak data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either by mistake or through social engineering.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Third-Party Providers and Contractors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malicious parties who compromise data through legitimate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full or partial access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342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Standards, Guidelines, Procedures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216" y="1268685"/>
            <a:ext cx="865956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Security Policies -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directives, regulations, rules, and practices that prescribes how an organization manages, protects, and distributes data.</a:t>
            </a:r>
            <a:endParaRPr lang="en-US" i="1" baseline="30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Example: Acceptable Use Policy.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Organizational Standards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- specify uniform use of specific technologies, parameters, or procedures when such uniform use will benefit an organization. Usually compulsory within the organization.</a:t>
            </a: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Example: Identification Badges required on site.</a:t>
            </a:r>
          </a:p>
          <a:p>
            <a:endParaRPr lang="en-US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Guidelines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-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collection of system specific or procedural specific "suggestions" for best practice. They are not requirements to be met, but are strongly recommended. </a:t>
            </a:r>
          </a:p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Example: Employ a password manager.</a:t>
            </a:r>
          </a:p>
          <a:p>
            <a:endParaRPr lang="en-US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Procedures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–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detailed steps to accomplish a task and thereby describing how to implement applicable security policies, standards, and guidelines. 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Example: How to apply for elevated privileges.</a:t>
            </a:r>
          </a:p>
        </p:txBody>
      </p:sp>
    </p:spTree>
    <p:extLst>
      <p:ext uri="{BB962C8B-B14F-4D97-AF65-F5344CB8AC3E}">
        <p14:creationId xmlns:p14="http://schemas.microsoft.com/office/powerpoint/2010/main" val="44047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Examples of Issue-Specific Policies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216" y="1463418"/>
            <a:ext cx="865956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Internet Access -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includes identifying who will have access, what systems may be connected to the network, types of information that may be transmitted, requirements for user authentication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Internet-connected systems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and the use of firewalls. </a:t>
            </a:r>
          </a:p>
          <a:p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  <a:endParaRPr lang="en-US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Email Privacy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clarifies what information is collected and stored and the way the information is being used. Addresses what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level of privacy to expect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well as the circumstances under which email may be read. </a:t>
            </a:r>
          </a:p>
          <a:p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Bring Your Own Device (BYOD)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–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allows individuals to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personal devices in the workplace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Introducing user configurations to the organizations network can be challenging; security of the organizations information at risk; the privacy of the employee may be vulnerable. 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Social Media -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policy can be strict—not allowing the use of private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social media access on organization provided resources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—or a lenient policy that allows social media access within organization specified limitations. </a:t>
            </a:r>
          </a:p>
        </p:txBody>
      </p:sp>
    </p:spTree>
    <p:extLst>
      <p:ext uri="{BB962C8B-B14F-4D97-AF65-F5344CB8AC3E}">
        <p14:creationId xmlns:p14="http://schemas.microsoft.com/office/powerpoint/2010/main" val="2269200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Physical &amp; Environmental 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216" y="1413204"/>
            <a:ext cx="8659567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ISO 27001 Annex A.11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addresses physical security controls</a:t>
            </a:r>
          </a:p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prevent unauthorized physical access, damage and interference to data and data processing facilities. </a:t>
            </a:r>
            <a:endParaRPr lang="en-US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fontAlgn="base"/>
            <a:endParaRPr lang="en-US" sz="1400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fontAlgn="base"/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Physical Security Perimeter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defined as any transition boundary between two areas of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differing security protection requirements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fontAlgn="base"/>
            <a:endParaRPr lang="en-US" sz="1000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fontAlgn="base"/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Physical Entry Controls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secure areas need to be protected by the appropriate entry controls to ensure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only authorized personnel are allowed access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fontAlgn="base"/>
            <a:endParaRPr lang="en-US" sz="1000" dirty="0"/>
          </a:p>
          <a:p>
            <a:pPr fontAlgn="base"/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Protecting against External &amp; Environmental Threats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 identifying, assessing, mitigating or tolerating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potential threats and vulnerabilities (naturally-occurring and man-made) and environmental risks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fontAlgn="base"/>
            <a:endParaRPr lang="en-US" sz="1000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fontAlgn="base"/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Access Controls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-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should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detect during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after an attack such as CCTVs and  alarms and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 an attack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such as fences, security guards, dogs, and lights.</a:t>
            </a:r>
            <a:endParaRPr lang="en-US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034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Cyber Defense Resources &amp; Partnerships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216" y="1306774"/>
            <a:ext cx="865956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 are Cyber Defense </a:t>
            </a:r>
            <a:r>
              <a:rPr lang="en-US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resources and partnerships available to enterprises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 the local, state, and federal level. These resources range from reporting mechanisms, compliance, security databases, information sharing, and software security to public-private partnerships.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hlinkClick r:id="rId3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Internet Crime Complaint Center (IC3)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provides a reporting mechanism to submit information to the FBI concerning suspected Internet-facilitated criminal activity and to develop alliances with law enforcement and industry partners.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hlinkClick r:id="rId4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4"/>
              </a:rPr>
              <a:t>Computer Security Resource Center (CSRC)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NIST’s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Computer Security Division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provides access to NIST's cybersecurity and information security related projects, publications, news and events.  </a:t>
            </a:r>
          </a:p>
          <a:p>
            <a:pPr lvl="0"/>
            <a:endParaRPr lang="en-US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en-US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5"/>
              </a:rPr>
              <a:t>National Cyber Awareness System 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offers a variety of information for users with varied technical expertise. Those with more technical interest can read the Alerts, Analysis Reports, Current Activity, or Bulletins. </a:t>
            </a:r>
          </a:p>
        </p:txBody>
      </p:sp>
    </p:spTree>
    <p:extLst>
      <p:ext uri="{BB962C8B-B14F-4D97-AF65-F5344CB8AC3E}">
        <p14:creationId xmlns:p14="http://schemas.microsoft.com/office/powerpoint/2010/main" val="2755076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Cyber Defense Resources &amp; Partnerships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216" y="1306774"/>
            <a:ext cx="865956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NIST National Vulnerability Database (NVD)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-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includes databases of security checklist references, security-related software flaws, misconfigurations, product names, and impact metrics.</a:t>
            </a:r>
            <a:endParaRPr lang="en-US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000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hlinkClick r:id="rId4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4"/>
              </a:rPr>
              <a:t>Open Web Application Security Project (OWASP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makes software security visible. Operating as a community of professionals, OWASP issues software tools and knowledge-based documentation on application security.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000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5"/>
              </a:rPr>
              <a:t>Malware Information Sharing Project (MISP)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large open source project with the goal to make viable tools and format to improve information sharing at large. A community of users and organizations sharing information about threats or cyber security indicators worldwide. </a:t>
            </a:r>
          </a:p>
          <a:p>
            <a:endParaRPr lang="en-US" sz="1000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6"/>
              </a:rPr>
              <a:t>Cybersecurity and Infrastructure Security Agency (CISA)</a:t>
            </a:r>
            <a:r>
              <a:rPr lang="en-US" i="1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-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provides extensive cybersecurity and infrastructure security knowledge and practices to its stakeholders. Part of DHS, CISA has developed and implemented numerous information sharing programs. </a:t>
            </a:r>
          </a:p>
        </p:txBody>
      </p:sp>
    </p:spTree>
    <p:extLst>
      <p:ext uri="{BB962C8B-B14F-4D97-AF65-F5344CB8AC3E}">
        <p14:creationId xmlns:p14="http://schemas.microsoft.com/office/powerpoint/2010/main" val="373038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Cyber Defense Resources &amp; Partnerships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216" y="1247974"/>
            <a:ext cx="8659567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Cyber Information Sharing and Collaboration Program (CISCP)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-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enables information exchange and establishment of a community of trust between the Federal Government and critical infrastructure owners and operators. </a:t>
            </a:r>
            <a:endParaRPr lang="en-US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4"/>
              </a:rPr>
              <a:t>National Council of ISACs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Information Sharing and Analysis Centers (ISACs) are non-profit, member-driven organizations formed by critical infrastructure owners and operators to share information between government and industry.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5"/>
              </a:rPr>
              <a:t>Research &amp; Education Networks Information Sharing &amp; Analysis Center (REN–ISAC)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serves higher education and research community by promoting cybersecurity operational protections and response. Acts as the Computer Security Incident Response Team (CSIRT) for the research and education community.</a:t>
            </a:r>
          </a:p>
          <a:p>
            <a:endParaRPr lang="en-US" sz="1000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6"/>
              </a:rPr>
              <a:t>Information Sharing and Analysis Organizations (ISAOs)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gather, analyze, and disseminate cyber threat information, but unlike ISACs, ISAOs are not sector-affiliated.</a:t>
            </a:r>
          </a:p>
        </p:txBody>
      </p:sp>
    </p:spTree>
    <p:extLst>
      <p:ext uri="{BB962C8B-B14F-4D97-AF65-F5344CB8AC3E}">
        <p14:creationId xmlns:p14="http://schemas.microsoft.com/office/powerpoint/2010/main" val="1731404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Cyber Defense Resources &amp; Partnerships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216" y="1274704"/>
            <a:ext cx="8659567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Automated Indicator Sharing (AIS)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enables the exchange of cyber threat indicators between the federal government, state, local, tribal and territorial governments, and the private sector at machine speed.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4"/>
              </a:rPr>
              <a:t>Department of Defense Cyber Crime Center (DC3)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delivers forensic services, cyber technical training, vulnerability sharing, technical solutions development, and cyber analysis.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5"/>
              </a:rPr>
              <a:t>Homeland Security Information Network (HSIN)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system for trusted sharing of sensitive but unclassified information between federal, state, local, territorial, tribal, international and private sector partners. 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hlinkClick r:id="rId6"/>
            </a:endParaRP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7"/>
              </a:rPr>
              <a:t>InfraGard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-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provides a vehicle for seamless public-private collaboration with government (FBI) relevant to the protection of critical infrastructure. There are local chapters.</a:t>
            </a:r>
          </a:p>
          <a:p>
            <a:endParaRPr lang="en-US" sz="1000" i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8"/>
              </a:rPr>
              <a:t>Nevada Office Of Cyber Defense Coordination (OCDC)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-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serves as the primary focal point for cyber security strategy, policy, planning, and coordination for the State of Nevada.</a:t>
            </a:r>
          </a:p>
        </p:txBody>
      </p:sp>
    </p:spTree>
    <p:extLst>
      <p:ext uri="{BB962C8B-B14F-4D97-AF65-F5344CB8AC3E}">
        <p14:creationId xmlns:p14="http://schemas.microsoft.com/office/powerpoint/2010/main" val="2133936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References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B3B3B3"/>
                </a:solidFill>
              </a:rPr>
              <a:t>    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Introduction to Cybersecurity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0848" y="1368589"/>
            <a:ext cx="865956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/>
                <a:cs typeface="Verdana"/>
              </a:rPr>
              <a:t>[1]</a:t>
            </a:r>
            <a:r>
              <a:rPr lang="en-US" b="1" dirty="0"/>
              <a:t> </a:t>
            </a:r>
            <a:r>
              <a:rPr lang="en-US" sz="1600" cap="small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“AS CLOUD SECURITY IMPROVES, A WEAK LINK EMERGES: PEOPLE”, P. GILLIN, SILICONANGLE</a:t>
            </a:r>
          </a:p>
          <a:p>
            <a:r>
              <a:rPr lang="en-US" sz="1600" dirty="0">
                <a:latin typeface="Verdana"/>
                <a:cs typeface="Verdana"/>
                <a:hlinkClick r:id="rId3"/>
              </a:rPr>
              <a:t>https://siliconangle.com/2019/11/10/cloud-security-improves-weak-link-emerges-people/ </a:t>
            </a:r>
            <a:endParaRPr lang="en-US" sz="1600" dirty="0">
              <a:latin typeface="Verdana"/>
              <a:cs typeface="Verdana"/>
            </a:endParaRPr>
          </a:p>
          <a:p>
            <a:endParaRPr lang="en-US" sz="1600" dirty="0">
              <a:latin typeface="Verdana"/>
              <a:cs typeface="Verdana"/>
            </a:endParaRPr>
          </a:p>
          <a:p>
            <a:r>
              <a:rPr lang="en-US" sz="1600" dirty="0">
                <a:latin typeface="Verdana"/>
                <a:cs typeface="Verdana"/>
              </a:rPr>
              <a:t>[2] </a:t>
            </a:r>
            <a:r>
              <a:rPr lang="en-US" sz="1600" cap="small" dirty="0">
                <a:latin typeface="Verdana"/>
                <a:cs typeface="Verdana"/>
              </a:rPr>
              <a:t>COMBATING THE INSIDER THREAT, NATIONAL CYBERSECURITY AND COMMUNICATIONS INTEGRATION CENTER, 2014</a:t>
            </a:r>
          </a:p>
          <a:p>
            <a:r>
              <a:rPr lang="en-US" sz="1600" dirty="0">
                <a:latin typeface="Verdana"/>
                <a:cs typeface="Verdana"/>
                <a:hlinkClick r:id="rId4"/>
              </a:rPr>
              <a:t>https://www.uscert.gov/sites/default/files/publications/Combating%20the%20Insider%20Threat_0.pdf</a:t>
            </a:r>
            <a:endParaRPr lang="en-US" sz="1600" dirty="0">
              <a:latin typeface="Verdana"/>
              <a:cs typeface="Verdana"/>
            </a:endParaRPr>
          </a:p>
          <a:p>
            <a:endParaRPr lang="en-US" sz="1600" dirty="0">
              <a:latin typeface="Verdana"/>
              <a:cs typeface="Verdana"/>
            </a:endParaRPr>
          </a:p>
          <a:p>
            <a:r>
              <a:rPr lang="en-US" sz="1600" dirty="0">
                <a:latin typeface="Verdana"/>
                <a:cs typeface="Verdana"/>
              </a:rPr>
              <a:t>[3] </a:t>
            </a:r>
            <a:r>
              <a:rPr lang="en-US" sz="1600" cap="all" dirty="0">
                <a:latin typeface="Verdana"/>
                <a:cs typeface="Verdana"/>
              </a:rPr>
              <a:t>SANS Information Security Policy Templates</a:t>
            </a:r>
          </a:p>
          <a:p>
            <a:r>
              <a:rPr lang="en-US" sz="1600" dirty="0">
                <a:latin typeface="Verdana"/>
                <a:cs typeface="Verdana"/>
                <a:hlinkClick r:id="rId5"/>
              </a:rPr>
              <a:t>https://www.sans.org/security-resources/policies</a:t>
            </a:r>
            <a:endParaRPr lang="en-US" sz="1600" dirty="0">
              <a:latin typeface="Verdana"/>
              <a:cs typeface="Verdana"/>
            </a:endParaRPr>
          </a:p>
          <a:p>
            <a:endParaRPr lang="en-US" sz="1600" dirty="0">
              <a:latin typeface="Verdana"/>
              <a:cs typeface="Verdana"/>
            </a:endParaRPr>
          </a:p>
          <a:p>
            <a:r>
              <a:rPr lang="en-US" sz="1600" dirty="0">
                <a:latin typeface="Verdana"/>
                <a:cs typeface="Verdana"/>
              </a:rPr>
              <a:t>[4] </a:t>
            </a:r>
            <a:r>
              <a:rPr lang="en-US" sz="1600" cap="all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NIST Information Security Policy Glossary</a:t>
            </a:r>
          </a:p>
          <a:p>
            <a:r>
              <a:rPr lang="en-US" sz="1600" dirty="0">
                <a:latin typeface="Verdana"/>
                <a:cs typeface="Verdana"/>
                <a:hlinkClick r:id="rId6"/>
              </a:rPr>
              <a:t>https://csrc.nist.gov/glossary/term/information-security-policy</a:t>
            </a:r>
            <a:endParaRPr lang="en-US" sz="1600" dirty="0">
              <a:latin typeface="Verdana"/>
              <a:cs typeface="Verdana"/>
            </a:endParaRPr>
          </a:p>
          <a:p>
            <a:endParaRPr lang="en-US" sz="1600" dirty="0">
              <a:latin typeface="Verdana"/>
              <a:cs typeface="Verdana"/>
            </a:endParaRPr>
          </a:p>
          <a:p>
            <a:r>
              <a:rPr lang="en-US" sz="1600" dirty="0">
                <a:latin typeface="Verdana"/>
                <a:cs typeface="Verdana"/>
              </a:rPr>
              <a:t>[5] </a:t>
            </a:r>
            <a:r>
              <a:rPr lang="en-US" sz="1600" cap="all" dirty="0">
                <a:latin typeface="Verdana"/>
                <a:cs typeface="Verdana"/>
              </a:rPr>
              <a:t>NIST SP 800-12 r1, 2017, M. Nieles, K. Dempsey, V. Pillitteri</a:t>
            </a:r>
          </a:p>
          <a:p>
            <a:r>
              <a:rPr lang="en-US" sz="1600" dirty="0">
                <a:latin typeface="Verdana"/>
                <a:cs typeface="Verdana"/>
                <a:hlinkClick r:id="rId7"/>
              </a:rPr>
              <a:t>https://nvlpubs.nist.gov/nistpubs/SpecialPublications/NIST.SP.800-12r1.pdf</a:t>
            </a:r>
            <a:endParaRPr lang="en-US" sz="1600" dirty="0">
              <a:latin typeface="Verdana"/>
              <a:cs typeface="Verdana"/>
            </a:endParaRPr>
          </a:p>
          <a:p>
            <a:endParaRPr lang="en-US" sz="16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08557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References (cont’d)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B3B3B3"/>
                </a:solidFill>
              </a:rPr>
              <a:t>    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Introduction to Cybersecurity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0848" y="1368589"/>
            <a:ext cx="86595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/>
                <a:cs typeface="Verdana"/>
              </a:rPr>
              <a:t>[6] ISMS ONLINE, </a:t>
            </a:r>
            <a:r>
              <a:rPr lang="en-US" sz="1600" cap="all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ISO 27001 Annex A.11 Physical &amp; Environmental Security</a:t>
            </a:r>
          </a:p>
          <a:p>
            <a:r>
              <a:rPr lang="en-US" sz="1600" dirty="0">
                <a:latin typeface="Verdana"/>
                <a:cs typeface="Verdana"/>
                <a:hlinkClick r:id="rId3"/>
              </a:rPr>
              <a:t>https://www.isms.online/iso-27001/annex-a-11-physical-and-environmental-security/</a:t>
            </a:r>
            <a:endParaRPr lang="en-US" sz="1600" dirty="0">
              <a:latin typeface="Verdana"/>
              <a:cs typeface="Verdana"/>
            </a:endParaRPr>
          </a:p>
          <a:p>
            <a:endParaRPr lang="en-US" sz="16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8254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16077</TotalTime>
  <Words>1956</Words>
  <Application>Microsoft Macintosh PowerPoint</Application>
  <PresentationFormat>On-screen Show (4:3)</PresentationFormat>
  <Paragraphs>168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Verdana</vt:lpstr>
      <vt:lpstr>Office Theme</vt:lpstr>
      <vt:lpstr>Enterprise Cybersecurity</vt:lpstr>
      <vt:lpstr>Enterprise Cybersecurity</vt:lpstr>
      <vt:lpstr>Enterprise Vulnerabilities</vt:lpstr>
      <vt:lpstr>(Enterprise) Social Engineering</vt:lpstr>
      <vt:lpstr>Insider Threats1</vt:lpstr>
      <vt:lpstr>Standards, Guidelines, Procedures</vt:lpstr>
      <vt:lpstr>Examples of Issue-Specific Policies</vt:lpstr>
      <vt:lpstr>Physical &amp; Environmental Security</vt:lpstr>
      <vt:lpstr>Cyber Defense Resources &amp; Partnerships</vt:lpstr>
      <vt:lpstr>Cyber Defense Resources &amp; Partnerships</vt:lpstr>
      <vt:lpstr>Cyber Defense Resources &amp; Partnerships</vt:lpstr>
      <vt:lpstr>Cyber Defense Resources &amp; Partnerships</vt:lpstr>
      <vt:lpstr>References</vt:lpstr>
      <vt:lpstr>References (cont’d)</vt:lpstr>
    </vt:vector>
  </TitlesOfParts>
  <Company>University of Nevada, Reno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Nancy LaTourrette</dc:creator>
  <cp:lastModifiedBy>Nancy P Latourrette</cp:lastModifiedBy>
  <cp:revision>245</cp:revision>
  <cp:lastPrinted>2016-06-28T22:20:13Z</cp:lastPrinted>
  <dcterms:created xsi:type="dcterms:W3CDTF">2016-02-28T22:40:58Z</dcterms:created>
  <dcterms:modified xsi:type="dcterms:W3CDTF">2020-11-24T18:28:26Z</dcterms:modified>
</cp:coreProperties>
</file>