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8" r:id="rId4"/>
    <p:sldId id="272" r:id="rId5"/>
    <p:sldId id="266" r:id="rId6"/>
    <p:sldId id="289" r:id="rId7"/>
    <p:sldId id="290" r:id="rId8"/>
    <p:sldId id="291" r:id="rId9"/>
    <p:sldId id="285" r:id="rId10"/>
    <p:sldId id="296" r:id="rId11"/>
    <p:sldId id="297" r:id="rId12"/>
    <p:sldId id="259" r:id="rId13"/>
    <p:sldId id="260" r:id="rId14"/>
    <p:sldId id="265" r:id="rId15"/>
    <p:sldId id="267" r:id="rId16"/>
    <p:sldId id="298" r:id="rId17"/>
    <p:sldId id="299" r:id="rId18"/>
    <p:sldId id="294" r:id="rId19"/>
    <p:sldId id="269" r:id="rId20"/>
    <p:sldId id="29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9295"/>
    <a:srgbClr val="002E62"/>
    <a:srgbClr val="000080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6395" autoAdjust="0"/>
  </p:normalViewPr>
  <p:slideViewPr>
    <p:cSldViewPr snapToGrid="0" snapToObjects="1">
      <p:cViewPr varScale="1">
        <p:scale>
          <a:sx n="63" d="100"/>
          <a:sy n="63" d="100"/>
        </p:scale>
        <p:origin x="73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F75F0-0DC9-D244-9C65-78173ACB23B3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A223D-0791-B949-A37D-68CC0DDCFA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882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207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Both"/>
            </a:pPr>
            <a:r>
              <a:rPr lang="en-US" sz="1200" dirty="0">
                <a:latin typeface="Verdana"/>
                <a:cs typeface="Verdana"/>
              </a:rPr>
              <a:t>NIST: Generally Accepted Principles and Practices for Securing Information Technology Systems</a:t>
            </a:r>
            <a:r>
              <a:rPr lang="en-US" sz="1200" baseline="0" dirty="0"/>
              <a:t>. </a:t>
            </a:r>
          </a:p>
          <a:p>
            <a:pPr marL="342900" indent="-342900">
              <a:buAutoNum type="arabicParenBoth"/>
            </a:pPr>
            <a:r>
              <a:rPr lang="en-US" sz="1200" baseline="0" dirty="0"/>
              <a:t>NIST – National Institute of Standards and Technology</a:t>
            </a:r>
          </a:p>
          <a:p>
            <a:pPr marL="342900" indent="-342900">
              <a:buAutoNum type="arabicParenBoth"/>
            </a:pPr>
            <a:r>
              <a:rPr lang="en-US" sz="1200" dirty="0">
                <a:latin typeface="Verdana"/>
                <a:cs typeface="Verdana"/>
              </a:rPr>
              <a:t>Stamos</a:t>
            </a:r>
            <a:r>
              <a:rPr lang="en-US" sz="1200" baseline="0" dirty="0">
                <a:latin typeface="Verdana"/>
                <a:cs typeface="Verdana"/>
              </a:rPr>
              <a:t> Tweet: </a:t>
            </a:r>
            <a:r>
              <a:rPr lang="en-US" sz="1200" dirty="0">
                <a:latin typeface="Verdana"/>
                <a:cs typeface="Verdana"/>
              </a:rPr>
              <a:t>re: Chris Roberts</a:t>
            </a:r>
            <a:r>
              <a:rPr lang="en-US" sz="1200" baseline="0" dirty="0">
                <a:latin typeface="Verdana"/>
                <a:cs typeface="Verdana"/>
              </a:rPr>
              <a:t> United </a:t>
            </a:r>
            <a:r>
              <a:rPr lang="en-US" sz="1200" dirty="0">
                <a:latin typeface="Verdana"/>
                <a:cs typeface="Verdana"/>
              </a:rPr>
              <a:t>Airlines Hack,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49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Both"/>
            </a:pPr>
            <a:r>
              <a:rPr lang="en-US" sz="1200" baseline="0" dirty="0"/>
              <a:t>Tech Target: </a:t>
            </a:r>
            <a:r>
              <a:rPr lang="en-US" sz="1200" dirty="0">
                <a:latin typeface="Verdana"/>
                <a:cs typeface="Verdana"/>
              </a:rPr>
              <a:t>Ethics are rules that we fall back on when the letter of the law does not pertain to a particular situation nor does it provide clear direction for a particular circumstance</a:t>
            </a:r>
          </a:p>
          <a:p>
            <a:pPr marL="342900" indent="-342900">
              <a:buAutoNum type="arabicParenBoth"/>
            </a:pPr>
            <a:r>
              <a:rPr lang="en-US" sz="1200" baseline="0" dirty="0">
                <a:latin typeface="Verdana"/>
                <a:cs typeface="Verdana"/>
              </a:rPr>
              <a:t>Laws – passed by legislatures; regulations – how agencies will enforce the law; standards – agreed set of rules/policies (non-binding); ethics - ….</a:t>
            </a:r>
            <a:endParaRPr lang="en-US" sz="1200" baseline="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323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Both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Unified Framework of Professional Ethics for Security Professionals</a:t>
            </a:r>
          </a:p>
          <a:p>
            <a:pPr marL="342900" indent="-342900">
              <a:buAutoNum type="arabicParenBoth"/>
            </a:pPr>
            <a:r>
              <a:rPr lang="en-US" sz="1400" b="0" dirty="0"/>
              <a:t>https://www.wpi.edu/news/gencyber-camps-teach-students-about-cybersecurity-safety-and-careers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49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Both"/>
            </a:pPr>
            <a:endParaRPr lang="en-US" sz="1200" dirty="0">
              <a:latin typeface="Calibri"/>
              <a:cs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49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Both"/>
            </a:pPr>
            <a:endParaRPr lang="en-US" sz="1200" dirty="0">
              <a:latin typeface="Calibri"/>
              <a:cs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145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Both"/>
            </a:pPr>
            <a:endParaRPr lang="en-US" sz="1200" dirty="0">
              <a:latin typeface="Calibri"/>
              <a:cs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166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Both"/>
            </a:pPr>
            <a:endParaRPr lang="en-US" sz="1200" dirty="0">
              <a:latin typeface="Calibri"/>
              <a:cs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647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Tx/>
              <a:buNone/>
            </a:pPr>
            <a:endParaRPr lang="en-US" sz="1400" dirty="0">
              <a:latin typeface="Calibri" charset="0"/>
            </a:endParaRP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endParaRPr lang="en-US" sz="1400" dirty="0">
              <a:latin typeface="Calibri" charset="0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1B6989E-B9E2-2644-891D-D2C651C2274D}" type="slidenum">
              <a:rPr lang="en-US" sz="1200"/>
              <a:pPr/>
              <a:t>9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C21839-CFAB-435F-B4A2-C4A67EC3BEF4}" type="slidenum">
              <a:rPr lang="en-US" altLang="en-US"/>
              <a:pPr/>
              <a:t>11</a:t>
            </a:fld>
            <a:endParaRPr lang="en-US" altLang="en-US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492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access or alter compromised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turn the compromised machine off, instead isolate from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Preserve logs and evidence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Log all actions taken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using a wireless network, change SSID on the AP and other machines that may be using the connection, except any systems believed to be compromised.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Contacts: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Internal/external incident response team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Wells Fargo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Local FBI office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US Secret Service (if Visa data is compromised)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PCI Forensic Investigator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Visa, MasterCard, American Express, Discover, Diner’s Club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Consult with legal regarding NRS notification requirements (NRS 603A.220)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Risk Management/Insurance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0E24F-7E61-463E-8D82-9210DF172E1D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06097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 on high alert and monitor all cardholder data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Preserve forensic evidence by not accessing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Are there other vendors whose processes</a:t>
            </a:r>
            <a:r>
              <a:rPr lang="en-US" baseline="0" dirty="0"/>
              <a:t> </a:t>
            </a:r>
            <a:r>
              <a:rPr lang="en-US" dirty="0"/>
              <a:t>should be reviewed for similar deficiencies?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0E24F-7E61-463E-8D82-9210DF172E1D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9288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0E24F-7E61-463E-8D82-9210DF172E1D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3048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C21839-CFAB-435F-B4A2-C4A67EC3BEF4}" type="slidenum">
              <a:rPr lang="en-US" altLang="en-US"/>
              <a:pPr/>
              <a:t>16</a:t>
            </a:fld>
            <a:endParaRPr lang="en-US" altLang="en-US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5043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10E24F-7E61-463E-8D82-9210DF172E1D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5381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Tx/>
              <a:buNone/>
            </a:pPr>
            <a:endParaRPr lang="en-US" sz="1400" dirty="0">
              <a:latin typeface="Calibri" charset="0"/>
            </a:endParaRP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endParaRPr lang="en-US" sz="1400" dirty="0">
              <a:latin typeface="Calibri" charset="0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1B6989E-B9E2-2644-891D-D2C651C2274D}" type="slidenum">
              <a:rPr lang="en-US" sz="1200"/>
              <a:pPr/>
              <a:t>18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14944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49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767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748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9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32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784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80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91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326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26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57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87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87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3D7B5-B83E-7840-8B01-76312A1964D7}" type="datetimeFigureOut">
              <a:rPr lang="en-US" smtClean="0"/>
              <a:t>9/15/2022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7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chrepublic.com/article/10-ethical-issues-confronting-it-managers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thics-wg.org/framework.html" TargetMode="External"/><Relationship Id="rId5" Type="http://schemas.openxmlformats.org/officeDocument/2006/relationships/hyperlink" Target="http://searchsecurity.techtarget.com/feature/Spotlight-article-Domain-8-Laws-Investigations-and-Ethics" TargetMode="External"/><Relationship Id="rId4" Type="http://schemas.openxmlformats.org/officeDocument/2006/relationships/hyperlink" Target="https://arxiv.org/ftp/arxiv/papers/1512/1512.02707.pdf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E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1288271"/>
          </a:xfr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E6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Cybersecurity Ethics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E62"/>
                </a:solidFill>
              </a:rPr>
              <a:t>     </a:t>
            </a:r>
            <a:r>
              <a:rPr lang="en-US" cap="small" dirty="0">
                <a:solidFill>
                  <a:srgbClr val="002E62"/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rgbClr val="002E62"/>
              </a:solidFill>
              <a:latin typeface="Verdana"/>
              <a:cs typeface="Verdana"/>
            </a:endParaRPr>
          </a:p>
        </p:txBody>
      </p:sp>
      <p:pic>
        <p:nvPicPr>
          <p:cNvPr id="3" name="Picture 2" descr="Nevada_N_blue_revers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593" y="2198654"/>
            <a:ext cx="2060377" cy="206037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81732" y="4615448"/>
            <a:ext cx="5714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Nancy LaTourrette </a:t>
            </a:r>
          </a:p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Computer Science &amp; Engineering</a:t>
            </a:r>
          </a:p>
          <a:p>
            <a:pPr algn="ctr"/>
            <a:endParaRPr lang="en-US" sz="2000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5580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Cybersecurity Ethics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 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0848" y="1368589"/>
            <a:ext cx="8659567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i="1" dirty="0">
              <a:latin typeface="Verdana"/>
              <a:cs typeface="Verdana"/>
            </a:endParaRPr>
          </a:p>
          <a:p>
            <a:r>
              <a:rPr lang="en-US" sz="2200" i="1" dirty="0">
                <a:latin typeface="Verdana"/>
                <a:cs typeface="Verdana"/>
              </a:rPr>
              <a:t>“Ethics: The information systems and the security of information systems should be provided and used in such a manner that the rights and legitimate interests of others are respected.“</a:t>
            </a:r>
            <a:r>
              <a:rPr lang="en-US" sz="2200" dirty="0">
                <a:latin typeface="Verdana"/>
                <a:cs typeface="Verdana"/>
              </a:rPr>
              <a:t> </a:t>
            </a:r>
          </a:p>
          <a:p>
            <a:endParaRPr lang="en-US" sz="1000" dirty="0">
              <a:latin typeface="Verdana"/>
              <a:cs typeface="Verdana"/>
            </a:endParaRPr>
          </a:p>
          <a:p>
            <a:r>
              <a:rPr lang="en-US" sz="2100" dirty="0">
                <a:latin typeface="Verdana"/>
                <a:cs typeface="Verdana"/>
              </a:rPr>
              <a:t>-- </a:t>
            </a:r>
            <a:r>
              <a:rPr lang="en-US" sz="2000" dirty="0">
                <a:latin typeface="Verdana"/>
                <a:cs typeface="Verdana"/>
              </a:rPr>
              <a:t>NIST, Special Publication 800-14, 1996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200" i="1" dirty="0">
                <a:latin typeface="Verdana"/>
                <a:cs typeface="Verdana"/>
              </a:rPr>
              <a:t>“You can not promote the (true) idea that security research benefits humanity while defending research that endangered hundreds of innocents.”</a:t>
            </a:r>
            <a:r>
              <a:rPr lang="en-US" sz="2200" dirty="0">
                <a:latin typeface="Verdana"/>
                <a:cs typeface="Verdana"/>
              </a:rPr>
              <a:t> </a:t>
            </a:r>
          </a:p>
          <a:p>
            <a:endParaRPr lang="en-US" sz="1000" dirty="0">
              <a:latin typeface="Verdana"/>
              <a:cs typeface="Verdana"/>
            </a:endParaRPr>
          </a:p>
          <a:p>
            <a:r>
              <a:rPr lang="en-US" sz="2100" dirty="0">
                <a:latin typeface="Verdana"/>
                <a:cs typeface="Verdana"/>
              </a:rPr>
              <a:t>-- Alex Stamos, Former Yahoo CISO, Tweet 2015</a:t>
            </a:r>
          </a:p>
          <a:p>
            <a:endParaRPr lang="en-US"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022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Procedures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 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1497" y="1360645"/>
            <a:ext cx="865956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latin typeface="Verdana"/>
              <a:cs typeface="Verdana"/>
            </a:endParaRPr>
          </a:p>
          <a:p>
            <a:pPr algn="ctr"/>
            <a:r>
              <a:rPr lang="en-US" sz="28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Laws</a:t>
            </a:r>
          </a:p>
          <a:p>
            <a:pPr algn="ctr"/>
            <a:r>
              <a:rPr lang="en-US" sz="2800" dirty="0">
                <a:latin typeface="Verdana"/>
                <a:cs typeface="Verdana"/>
              </a:rPr>
              <a:t>     </a:t>
            </a:r>
          </a:p>
          <a:p>
            <a:pPr algn="ctr"/>
            <a:r>
              <a:rPr lang="en-US" sz="28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Regulations</a:t>
            </a:r>
          </a:p>
          <a:p>
            <a:pPr algn="ctr"/>
            <a:r>
              <a:rPr lang="en-US" sz="2800" dirty="0">
                <a:latin typeface="Verdana"/>
                <a:cs typeface="Verdana"/>
              </a:rPr>
              <a:t>     </a:t>
            </a:r>
          </a:p>
          <a:p>
            <a:pPr algn="ctr"/>
            <a:r>
              <a:rPr lang="en-US" sz="28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Standards</a:t>
            </a:r>
          </a:p>
          <a:p>
            <a:pPr algn="ctr"/>
            <a:r>
              <a:rPr lang="en-US" sz="2800" dirty="0">
                <a:latin typeface="Verdana"/>
                <a:cs typeface="Verdana"/>
              </a:rPr>
              <a:t>  </a:t>
            </a:r>
          </a:p>
          <a:p>
            <a:pPr algn="ctr"/>
            <a:r>
              <a:rPr lang="en-US" sz="28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Policies</a:t>
            </a:r>
            <a:r>
              <a:rPr lang="en-US" sz="2800" dirty="0">
                <a:latin typeface="Verdana"/>
                <a:cs typeface="Verdana"/>
              </a:rPr>
              <a:t> </a:t>
            </a:r>
          </a:p>
          <a:p>
            <a:pPr algn="ctr"/>
            <a:r>
              <a:rPr lang="en-US" sz="2800" dirty="0">
                <a:latin typeface="Verdana"/>
                <a:cs typeface="Verdana"/>
              </a:rPr>
              <a:t> </a:t>
            </a:r>
          </a:p>
          <a:p>
            <a:pPr algn="ctr"/>
            <a:r>
              <a:rPr lang="en-US" sz="28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Ethics</a:t>
            </a:r>
            <a:endParaRPr lang="en-US" sz="2000" dirty="0">
              <a:latin typeface="Verdana"/>
              <a:cs typeface="Verdana"/>
            </a:endParaRPr>
          </a:p>
          <a:p>
            <a:endParaRPr lang="en-US" sz="2000" dirty="0">
              <a:latin typeface="Verdana"/>
              <a:cs typeface="Verdana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528545" y="2346680"/>
            <a:ext cx="0" cy="303688"/>
          </a:xfrm>
          <a:prstGeom prst="straightConnector1">
            <a:avLst/>
          </a:prstGeom>
          <a:ln>
            <a:solidFill>
              <a:srgbClr val="002E6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531281" y="3196182"/>
            <a:ext cx="0" cy="303688"/>
          </a:xfrm>
          <a:prstGeom prst="straightConnector1">
            <a:avLst/>
          </a:prstGeom>
          <a:ln>
            <a:solidFill>
              <a:srgbClr val="002E6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528545" y="4048040"/>
            <a:ext cx="0" cy="303688"/>
          </a:xfrm>
          <a:prstGeom prst="straightConnector1">
            <a:avLst/>
          </a:prstGeom>
          <a:ln>
            <a:solidFill>
              <a:srgbClr val="002E6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528545" y="4895660"/>
            <a:ext cx="0" cy="303688"/>
          </a:xfrm>
          <a:prstGeom prst="straightConnector1">
            <a:avLst/>
          </a:prstGeom>
          <a:ln>
            <a:solidFill>
              <a:srgbClr val="002E6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498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General vs Cybersecurity Ethics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 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0848" y="1368589"/>
            <a:ext cx="8659567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SzPct val="70000"/>
            </a:pPr>
            <a:endParaRPr lang="en-US" sz="1600" dirty="0">
              <a:latin typeface="Verdana"/>
              <a:cs typeface="Verdana"/>
            </a:endParaRPr>
          </a:p>
          <a:p>
            <a:pPr>
              <a:buSzPct val="70000"/>
            </a:pPr>
            <a:r>
              <a:rPr lang="en-US" sz="19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General Computing Ethics</a:t>
            </a: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sz="1900" dirty="0">
                <a:latin typeface="Verdana"/>
                <a:cs typeface="Verdana"/>
              </a:rPr>
              <a:t>Integrity</a:t>
            </a: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sz="1900" dirty="0">
                <a:latin typeface="Verdana"/>
                <a:cs typeface="Verdana"/>
              </a:rPr>
              <a:t>Objectivity</a:t>
            </a: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sz="1900" dirty="0">
                <a:latin typeface="Verdana"/>
                <a:cs typeface="Verdana"/>
              </a:rPr>
              <a:t>Professional Competence</a:t>
            </a: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sz="1900" dirty="0">
                <a:latin typeface="Verdana"/>
                <a:cs typeface="Verdana"/>
              </a:rPr>
              <a:t>Due Care</a:t>
            </a: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sz="1900" dirty="0">
                <a:latin typeface="Verdana"/>
                <a:cs typeface="Verdana"/>
              </a:rPr>
              <a:t>Confidentiality</a:t>
            </a:r>
          </a:p>
          <a:p>
            <a:pPr lvl="1"/>
            <a:endParaRPr lang="en-US" sz="1200" dirty="0">
              <a:latin typeface="Verdana"/>
              <a:cs typeface="Verdana"/>
            </a:endParaRPr>
          </a:p>
          <a:p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Cybersecurity Ethics</a:t>
            </a:r>
            <a:endParaRPr lang="en-US" sz="19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sz="1900" dirty="0">
                <a:latin typeface="Verdana"/>
                <a:cs typeface="Verdana"/>
              </a:rPr>
              <a:t>Integrity</a:t>
            </a: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sz="1900" dirty="0">
                <a:latin typeface="Verdana"/>
                <a:cs typeface="Verdana"/>
              </a:rPr>
              <a:t>Objectivity</a:t>
            </a: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sz="1900" dirty="0">
                <a:latin typeface="Verdana"/>
                <a:cs typeface="Verdana"/>
              </a:rPr>
              <a:t>Professional Competence</a:t>
            </a: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sz="1900" dirty="0">
                <a:latin typeface="Verdana"/>
                <a:cs typeface="Verdana"/>
              </a:rPr>
              <a:t>Due Care</a:t>
            </a: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sz="1900" dirty="0">
                <a:latin typeface="Verdana"/>
                <a:cs typeface="Verdana"/>
              </a:rPr>
              <a:t>Confidentiality</a:t>
            </a:r>
          </a:p>
          <a:p>
            <a:pPr marL="800100" lvl="1" indent="-342900">
              <a:buSzPct val="70000"/>
              <a:buFont typeface="Wingdings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“To know how to protect something, you have to know how to break it” [Suzanne Mello Stark]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000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Definitions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 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0848" y="1368589"/>
            <a:ext cx="865956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i="1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Verdana"/>
              <a:cs typeface="Verdana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Hacker</a:t>
            </a:r>
            <a:r>
              <a:rPr lang="en-US" sz="2000" dirty="0">
                <a:latin typeface="Verdana"/>
                <a:cs typeface="Verdana"/>
              </a:rPr>
              <a:t>-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unauthorized user who attempts to or gains access to an information system. </a:t>
            </a:r>
          </a:p>
          <a:p>
            <a:endParaRPr lang="en-US" sz="2000" dirty="0">
              <a:latin typeface="Verdana"/>
              <a:cs typeface="Verdana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Ethical Hacker</a:t>
            </a:r>
            <a:r>
              <a:rPr lang="en-US" sz="2000" dirty="0">
                <a:latin typeface="Verdana"/>
                <a:cs typeface="Verdana"/>
              </a:rPr>
              <a:t>-</a:t>
            </a:r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Hackers hired by an organization to penetrate networks and computer systems with the purpose of finding and fixing security vulnerabilities.</a:t>
            </a:r>
            <a:endParaRPr lang="en-US" sz="2000" i="1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Verdana"/>
              <a:cs typeface="Verdana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Hacktivist</a:t>
            </a:r>
            <a:r>
              <a:rPr lang="en-US" sz="2000" dirty="0">
                <a:latin typeface="Verdana"/>
                <a:cs typeface="Verdana"/>
              </a:rPr>
              <a:t>-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subversive use of computing systems to promote a political agenda, often related to free speech or freedom of information movements.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White Hat</a:t>
            </a:r>
            <a:r>
              <a:rPr lang="en-US" sz="2000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–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ethical hacker or security expert, who specializes in penetration testing to ensure the security of an organization's information systems.</a:t>
            </a:r>
          </a:p>
        </p:txBody>
      </p:sp>
    </p:spTree>
    <p:extLst>
      <p:ext uri="{BB962C8B-B14F-4D97-AF65-F5344CB8AC3E}">
        <p14:creationId xmlns:p14="http://schemas.microsoft.com/office/powerpoint/2010/main" val="911209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Definitions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 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0848" y="1368589"/>
            <a:ext cx="865956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i="1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Verdana"/>
              <a:cs typeface="Verdana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Black Hat</a:t>
            </a:r>
            <a:r>
              <a:rPr lang="en-US" sz="2000" dirty="0">
                <a:latin typeface="Verdana"/>
                <a:cs typeface="Verdana"/>
              </a:rPr>
              <a:t>-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hacker who "violates computer security for little reason beyond maliciousness or for personal gain".</a:t>
            </a:r>
            <a:r>
              <a:rPr lang="en-US" sz="20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[Richard  Stallman]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Grey Hat-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Hackers who look for vulnerabilities in a system without permission. Will report flaws to the owner, sometimes requesting a fee to fix the issue.</a:t>
            </a:r>
          </a:p>
          <a:p>
            <a:endParaRPr lang="en-US" sz="2000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Honey Pot-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Decoy servers or systems setup to gather information regarding an attacker or intruder into a system.</a:t>
            </a:r>
          </a:p>
          <a:p>
            <a:endParaRPr lang="en-US" sz="2000" dirty="0">
              <a:latin typeface="Verdana"/>
              <a:cs typeface="Verdana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Pen Testing</a:t>
            </a:r>
            <a:r>
              <a:rPr lang="en-US" sz="2000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–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evaluation where assessors search for vulnerabilities and attempt to circumvent the security features of a network and/or information system.</a:t>
            </a:r>
          </a:p>
        </p:txBody>
      </p:sp>
    </p:spTree>
    <p:extLst>
      <p:ext uri="{BB962C8B-B14F-4D97-AF65-F5344CB8AC3E}">
        <p14:creationId xmlns:p14="http://schemas.microsoft.com/office/powerpoint/2010/main" val="184355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Definitions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 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0848" y="1368589"/>
            <a:ext cx="865956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i="1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Verdana"/>
              <a:cs typeface="Verdana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Vulnerability Assessment-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Assessment of threats and vulnerabilities, deviations from policy, level of risk, and development and/or recommendation of appropriate mitigation countermeasures.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Zero-Day Exploit-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threat actor spots a vulnerability either before the developer does or acts on it before the developer has a chance to fix it.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Full/Responsible Disclosure</a:t>
            </a:r>
            <a:r>
              <a:rPr lang="en-US" sz="2000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– </a:t>
            </a:r>
            <a:r>
              <a:rPr lang="en-US" sz="2000" dirty="0">
                <a:latin typeface="Verdana"/>
                <a:cs typeface="Verdana"/>
              </a:rPr>
              <a:t>Exposing vulnerabilities publicly and immediately or notifying organizations first to allow for a patch.</a:t>
            </a:r>
          </a:p>
          <a:p>
            <a:endParaRPr lang="en-US" sz="2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942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Definitions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 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0848" y="1368589"/>
            <a:ext cx="865956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i="1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Verdana"/>
              <a:cs typeface="Verdana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Cyber/Data Breach-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security incident in which sensitive, protected or confidential data is copied, transmitted, viewed, stolen or used by an unauthorized individual unauthorized. </a:t>
            </a:r>
          </a:p>
          <a:p>
            <a:endParaRPr lang="en-US" sz="2000" dirty="0">
              <a:latin typeface="Verdana"/>
              <a:cs typeface="Verdana"/>
            </a:endParaRPr>
          </a:p>
          <a:p>
            <a:r>
              <a:rPr lang="en-US" sz="2000" i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Red Team</a:t>
            </a:r>
            <a:r>
              <a:rPr lang="en-US" sz="2000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–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exercise conducted as a simulated attempt by an adversary to attack or exploit vulnerabilities in an organization's information systems.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Blue Team-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group that defends an organization's information systems when mock attackers (i.e., the Red Team) attack, typically as part of an operational exercise.</a:t>
            </a:r>
            <a:endParaRPr 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334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950"/>
            <a:ext cx="9144000" cy="754063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Table Top Exercises</a:t>
            </a:r>
            <a:endParaRPr lang="en-US" sz="3600" dirty="0">
              <a:solidFill>
                <a:schemeClr val="bg1">
                  <a:lumMod val="85000"/>
                </a:schemeClr>
              </a:solidFill>
              <a:latin typeface="Verdana"/>
              <a:ea typeface="+mj-ea"/>
              <a:cs typeface="Verdana"/>
            </a:endParaRPr>
          </a:p>
        </p:txBody>
      </p:sp>
      <p:sp>
        <p:nvSpPr>
          <p:cNvPr id="15362" name="TextBox 2"/>
          <p:cNvSpPr txBox="1">
            <a:spLocks noChangeArrowheads="1"/>
          </p:cNvSpPr>
          <p:nvPr/>
        </p:nvSpPr>
        <p:spPr bwMode="auto">
          <a:xfrm>
            <a:off x="2496496" y="1552992"/>
            <a:ext cx="4151008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/>
            <a:endParaRPr lang="en-US" sz="1600" dirty="0">
              <a:latin typeface="Verdana" charset="0"/>
              <a:cs typeface="Verdana" charset="0"/>
            </a:endParaRPr>
          </a:p>
          <a:p>
            <a:pPr marL="0" indent="0"/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charset="0"/>
                <a:cs typeface="Verdana" charset="0"/>
              </a:rPr>
              <a:t>I.	Credit Card Breach</a:t>
            </a:r>
          </a:p>
          <a:p>
            <a:pPr marL="0" indent="0"/>
            <a:endParaRPr lang="en-US" sz="1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charset="0"/>
              <a:cs typeface="Verdana" charset="0"/>
            </a:endParaRPr>
          </a:p>
          <a:p>
            <a:pPr marL="0" indent="0"/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charset="0"/>
                <a:cs typeface="Verdana" charset="0"/>
              </a:rPr>
              <a:t>II.	Student SQL Injection</a:t>
            </a:r>
          </a:p>
          <a:p>
            <a:pPr marL="0" indent="0"/>
            <a:endParaRPr lang="en-US" sz="16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charset="0"/>
              <a:cs typeface="Verdana" charset="0"/>
            </a:endParaRPr>
          </a:p>
          <a:p>
            <a:pPr marL="457200" lvl="1" indent="0"/>
            <a:endParaRPr lang="en-US" sz="1900" dirty="0">
              <a:latin typeface="Verdana" charset="0"/>
              <a:cs typeface="Verdana" charset="0"/>
            </a:endParaRPr>
          </a:p>
          <a:p>
            <a:pPr lvl="1">
              <a:buFontTx/>
              <a:buChar char="•"/>
            </a:pPr>
            <a:r>
              <a:rPr lang="en-US" sz="1900" dirty="0">
                <a:latin typeface="Verdana" charset="0"/>
                <a:cs typeface="Verdana" charset="0"/>
              </a:rPr>
              <a:t>Team discussion</a:t>
            </a:r>
          </a:p>
          <a:p>
            <a:pPr marL="457200" lvl="1" indent="0"/>
            <a:endParaRPr lang="en-US" sz="1000" dirty="0">
              <a:latin typeface="Verdana" charset="0"/>
              <a:cs typeface="Verdana" charset="0"/>
            </a:endParaRPr>
          </a:p>
          <a:p>
            <a:pPr marL="1257300" lvl="2" indent="-342900">
              <a:buFont typeface="Wingdings" pitchFamily="2" charset="2"/>
              <a:buChar char="v"/>
            </a:pPr>
            <a:r>
              <a:rPr lang="en-US" sz="1900" dirty="0">
                <a:latin typeface="Verdana" charset="0"/>
                <a:cs typeface="Verdana" charset="0"/>
              </a:rPr>
              <a:t>Clarify Scenario</a:t>
            </a:r>
          </a:p>
          <a:p>
            <a:pPr marL="1257300" lvl="2" indent="-342900">
              <a:buFont typeface="Wingdings" pitchFamily="2" charset="2"/>
              <a:buChar char="v"/>
            </a:pPr>
            <a:r>
              <a:rPr lang="en-US" sz="1900" dirty="0">
                <a:latin typeface="Verdana" charset="0"/>
                <a:cs typeface="Verdana" charset="0"/>
              </a:rPr>
              <a:t>Legal Considerations</a:t>
            </a:r>
          </a:p>
          <a:p>
            <a:pPr marL="1257300" lvl="2" indent="-342900">
              <a:buFont typeface="Wingdings" pitchFamily="2" charset="2"/>
              <a:buChar char="v"/>
            </a:pPr>
            <a:r>
              <a:rPr lang="en-US" sz="1900" dirty="0">
                <a:latin typeface="Verdana" charset="0"/>
                <a:cs typeface="Verdana" charset="0"/>
              </a:rPr>
              <a:t>Ethical Considerations</a:t>
            </a:r>
          </a:p>
          <a:p>
            <a:pPr marL="1257300" lvl="2" indent="-342900">
              <a:buFont typeface="Wingdings" pitchFamily="2" charset="2"/>
              <a:buChar char="v"/>
            </a:pPr>
            <a:r>
              <a:rPr lang="en-US" sz="1900" dirty="0">
                <a:latin typeface="Verdana" charset="0"/>
                <a:cs typeface="Verdana" charset="0"/>
              </a:rPr>
              <a:t>Talking Points</a:t>
            </a:r>
          </a:p>
          <a:p>
            <a:pPr lvl="1">
              <a:buFontTx/>
              <a:buChar char="•"/>
            </a:pPr>
            <a:endParaRPr lang="en-US" sz="1900" dirty="0">
              <a:latin typeface="Verdana" charset="0"/>
              <a:cs typeface="Verdana" charset="0"/>
            </a:endParaRPr>
          </a:p>
          <a:p>
            <a:pPr lvl="1">
              <a:buFontTx/>
              <a:buChar char="•"/>
            </a:pPr>
            <a:r>
              <a:rPr lang="en-US" sz="1900" dirty="0">
                <a:latin typeface="Verdana" charset="0"/>
                <a:cs typeface="Verdana" charset="0"/>
              </a:rPr>
              <a:t>Group discussion</a:t>
            </a:r>
          </a:p>
          <a:p>
            <a:pPr marL="0" indent="0"/>
            <a:endParaRPr lang="en-US" sz="1600" dirty="0">
              <a:latin typeface="Verdana" charset="0"/>
              <a:cs typeface="Verdana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237288"/>
            <a:ext cx="9144000" cy="32861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600" dirty="0">
              <a:solidFill>
                <a:srgbClr val="D9D9D9"/>
              </a:solidFill>
              <a:latin typeface="Verdana" charset="0"/>
              <a:ea typeface="ＭＳ Ｐゴシック" charset="0"/>
              <a:cs typeface="Verdana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296025"/>
            <a:ext cx="9144000" cy="328613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dirty="0">
                <a:solidFill>
                  <a:srgbClr val="B3B3B3"/>
                </a:solidFill>
              </a:rPr>
              <a:t>     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8534400" cy="495300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ETHICAL CONSIDERATIONS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UNIVERSITY OF X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CREDIT CARD BREACH</a:t>
            </a: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TABLE TOP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-4156"/>
            <a:ext cx="9144000" cy="304800"/>
          </a:xfrm>
          <a:prstGeom prst="rect">
            <a:avLst/>
          </a:prstGeom>
          <a:solidFill>
            <a:srgbClr val="D3D1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3D1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921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Incident Description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343399"/>
          </a:xfrm>
        </p:spPr>
        <p:txBody>
          <a:bodyPr/>
          <a:lstStyle/>
          <a:p>
            <a:r>
              <a:rPr lang="en-US" altLang="en-US" sz="2000" b="0" dirty="0"/>
              <a:t>University Police are notified by the Secret Service that a series of credit card numbers have been compromised and the common merchant account belongs to U of X.</a:t>
            </a:r>
          </a:p>
          <a:p>
            <a:pPr marL="0" indent="0">
              <a:buNone/>
            </a:pPr>
            <a:endParaRPr lang="en-US" altLang="en-US" sz="2000" b="0" dirty="0"/>
          </a:p>
          <a:p>
            <a:r>
              <a:rPr lang="en-US" altLang="en-US" sz="2000" b="0" dirty="0"/>
              <a:t>The merchant number is tied back to the Athletics department and it is discovered that Information Security was never notified that this new merchant account was requested and issued.</a:t>
            </a:r>
          </a:p>
          <a:p>
            <a:r>
              <a:rPr lang="en-US" altLang="en-US" sz="2000" b="0" dirty="0"/>
              <a:t>Upon further investigation, it is determined that the account is tied to a server running in the Athletics department.</a:t>
            </a:r>
          </a:p>
          <a:p>
            <a:pPr marL="0" indent="0">
              <a:buNone/>
            </a:pPr>
            <a:endParaRPr lang="en-US" altLang="en-US" sz="2000" dirty="0"/>
          </a:p>
          <a:p>
            <a:r>
              <a:rPr lang="en-US" altLang="en-US" sz="2000" b="0" dirty="0"/>
              <a:t>This is deemed a “Special Response” incident, due to the fact that card holder data (CHD) is involved. </a:t>
            </a:r>
          </a:p>
          <a:p>
            <a:pPr marL="0" indent="0">
              <a:buNone/>
            </a:pPr>
            <a:endParaRPr lang="en-US" altLang="en-US" sz="2000" b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CA83D-493C-6344-A006-B3D80BE71661}"/>
              </a:ext>
            </a:extLst>
          </p:cNvPr>
          <p:cNvSpPr/>
          <p:nvPr/>
        </p:nvSpPr>
        <p:spPr>
          <a:xfrm>
            <a:off x="0" y="8303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1E448F-5052-8741-827D-0C5AB727DBA3}"/>
              </a:ext>
            </a:extLst>
          </p:cNvPr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901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960" y="1295400"/>
            <a:ext cx="8534400" cy="4678363"/>
          </a:xfrm>
        </p:spPr>
        <p:txBody>
          <a:bodyPr/>
          <a:lstStyle/>
          <a:p>
            <a:r>
              <a:rPr lang="en-US" sz="2000" b="0" dirty="0"/>
              <a:t>What could happen if the breach could not be immediately contained?</a:t>
            </a:r>
          </a:p>
          <a:p>
            <a:r>
              <a:rPr lang="en-US" sz="2000" b="0" dirty="0"/>
              <a:t>What forensic considerations should be made?</a:t>
            </a:r>
          </a:p>
          <a:p>
            <a:r>
              <a:rPr lang="en-US" sz="2000" b="0" dirty="0"/>
              <a:t>Is there a risk of continuing related operations?</a:t>
            </a:r>
          </a:p>
          <a:p>
            <a:r>
              <a:rPr lang="en-US" sz="2000" b="0" dirty="0"/>
              <a:t>Who needs to be notified, both internally and externally? </a:t>
            </a:r>
          </a:p>
          <a:p>
            <a:r>
              <a:rPr lang="en-US" sz="2000" b="0" dirty="0"/>
              <a:t>Are formal notifications required by law?</a:t>
            </a:r>
          </a:p>
          <a:p>
            <a:r>
              <a:rPr lang="en-US" sz="2000" b="0" dirty="0"/>
              <a:t>If so, how will notifications to individuals be handled with no current contact information? </a:t>
            </a:r>
          </a:p>
          <a:p>
            <a:r>
              <a:rPr lang="en-US" sz="2000" b="0" dirty="0"/>
              <a:t>When should systems be restored? </a:t>
            </a:r>
          </a:p>
          <a:p>
            <a:r>
              <a:rPr lang="en-US" sz="2000" b="0" dirty="0"/>
              <a:t>Are there other potential risks related to the source of the incident? </a:t>
            </a:r>
          </a:p>
          <a:p>
            <a:endParaRPr lang="en-US" sz="2000" b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7B3BB-EEC9-4645-91F6-E1F34D3F1106}"/>
              </a:ext>
            </a:extLst>
          </p:cNvPr>
          <p:cNvSpPr/>
          <p:nvPr/>
        </p:nvSpPr>
        <p:spPr>
          <a:xfrm>
            <a:off x="0" y="8303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826FFE-80AB-4844-843B-ED86594B33FD}"/>
              </a:ext>
            </a:extLst>
          </p:cNvPr>
          <p:cNvSpPr/>
          <p:nvPr/>
        </p:nvSpPr>
        <p:spPr>
          <a:xfrm>
            <a:off x="27160" y="6513406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41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Considerations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dirty="0"/>
              <a:t>Besides the incident response team, what external departments should be involved? </a:t>
            </a:r>
          </a:p>
          <a:p>
            <a:r>
              <a:rPr lang="en-US" sz="2000" b="0" dirty="0"/>
              <a:t>What steps should be taken internally to control external communications? </a:t>
            </a:r>
          </a:p>
          <a:p>
            <a:r>
              <a:rPr lang="en-US" sz="2000" b="0" dirty="0"/>
              <a:t>How would a breach of this magnitude affect U of X’s reputation and can it be mitigated? If so, how?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39F0E-282F-9E40-83DC-6EC61B8AD925}"/>
              </a:ext>
            </a:extLst>
          </p:cNvPr>
          <p:cNvSpPr/>
          <p:nvPr/>
        </p:nvSpPr>
        <p:spPr>
          <a:xfrm>
            <a:off x="0" y="8303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167F2E-D8B5-8142-9B42-9D69F2D06A75}"/>
              </a:ext>
            </a:extLst>
          </p:cNvPr>
          <p:cNvSpPr/>
          <p:nvPr/>
        </p:nvSpPr>
        <p:spPr>
          <a:xfrm>
            <a:off x="0" y="6544897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672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Incident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4983163"/>
          </a:xfrm>
        </p:spPr>
        <p:txBody>
          <a:bodyPr/>
          <a:lstStyle/>
          <a:p>
            <a:r>
              <a:rPr lang="en-US" sz="2000" b="0" dirty="0"/>
              <a:t>Upon further review of systems it is determined that an event registration application being run by the Athletics department has been compromised. </a:t>
            </a:r>
          </a:p>
          <a:p>
            <a:pPr marL="0" indent="0">
              <a:buNone/>
            </a:pPr>
            <a:endParaRPr lang="en-US" sz="1600" b="0" dirty="0"/>
          </a:p>
          <a:p>
            <a:r>
              <a:rPr lang="en-US" sz="2000" b="0" dirty="0"/>
              <a:t>The event is in it’s last day of registration and Athletics expects $100,000 in registration revenue by end of day.</a:t>
            </a:r>
          </a:p>
          <a:p>
            <a:endParaRPr lang="en-US" sz="2000" b="0" dirty="0"/>
          </a:p>
          <a:p>
            <a:pPr marL="0" indent="0" algn="ctr">
              <a:buNone/>
            </a:pPr>
            <a:r>
              <a:rPr lang="en-US" sz="2600" dirty="0"/>
              <a:t>New Considerations</a:t>
            </a:r>
          </a:p>
          <a:p>
            <a:pPr marL="0" indent="0" algn="ctr">
              <a:buNone/>
            </a:pPr>
            <a:endParaRPr lang="en-US" sz="1600" dirty="0"/>
          </a:p>
          <a:p>
            <a:pPr marL="457200" indent="-457200"/>
            <a:r>
              <a:rPr lang="en-US" sz="2000" b="0" dirty="0"/>
              <a:t>Should any of the previous decisions be changed given the update?</a:t>
            </a:r>
          </a:p>
          <a:p>
            <a:pPr marL="457200" indent="-457200"/>
            <a:r>
              <a:rPr lang="en-US" sz="2000" b="0" dirty="0"/>
              <a:t>If donor information was compromised are there special considerations or notifications to be made?</a:t>
            </a:r>
          </a:p>
          <a:p>
            <a:pPr marL="457200" indent="-457200"/>
            <a:r>
              <a:rPr lang="en-US" sz="2000" b="0"/>
              <a:t>Anything </a:t>
            </a:r>
            <a:r>
              <a:rPr lang="en-US" sz="2000" b="0" dirty="0"/>
              <a:t>else to consider?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344A90-F78C-584A-95C0-4D56DFC961C0}"/>
              </a:ext>
            </a:extLst>
          </p:cNvPr>
          <p:cNvSpPr/>
          <p:nvPr/>
        </p:nvSpPr>
        <p:spPr>
          <a:xfrm>
            <a:off x="0" y="8303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3E9B0-1BF8-F443-BE9B-9D7CA08C00BF}"/>
              </a:ext>
            </a:extLst>
          </p:cNvPr>
          <p:cNvSpPr/>
          <p:nvPr/>
        </p:nvSpPr>
        <p:spPr>
          <a:xfrm>
            <a:off x="0" y="6544897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968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8534400" cy="495300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ETHICAL CONSIDERATIONS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UNIVERSITY OF X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STUDENT INCIDENT</a:t>
            </a: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TABLE TOP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-4156"/>
            <a:ext cx="9144000" cy="304800"/>
          </a:xfrm>
          <a:prstGeom prst="rect">
            <a:avLst/>
          </a:prstGeom>
          <a:solidFill>
            <a:srgbClr val="D3D1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3D1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046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 dirty="0"/>
              <a:t>Incident Description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17638"/>
            <a:ext cx="8534400" cy="5082382"/>
          </a:xfrm>
        </p:spPr>
        <p:txBody>
          <a:bodyPr/>
          <a:lstStyle/>
          <a:p>
            <a:r>
              <a:rPr lang="en-US" altLang="en-US" sz="2000" b="0" dirty="0"/>
              <a:t>Information Security is notified by operations that system logs for the Fitness Center application indicate an individual used a SQL injection attack to download all the data contained in the application.</a:t>
            </a:r>
          </a:p>
          <a:p>
            <a:r>
              <a:rPr lang="en-US" altLang="en-US" sz="2000" b="0" dirty="0"/>
              <a:t>The IP address of the attacker corresponds to an address on the U of X wireless network.</a:t>
            </a:r>
            <a:endParaRPr lang="en-US" altLang="en-US" sz="2000" dirty="0"/>
          </a:p>
          <a:p>
            <a:r>
              <a:rPr lang="en-US" sz="2000" b="0" dirty="0"/>
              <a:t>The MAC address of the laptop involved in the attack traces back to a student.</a:t>
            </a:r>
          </a:p>
          <a:p>
            <a:r>
              <a:rPr lang="en-US" sz="2000" b="0" dirty="0"/>
              <a:t>The laptop is currently online in a building located on campus.</a:t>
            </a:r>
            <a:r>
              <a:rPr lang="en-US" sz="2000" dirty="0"/>
              <a:t> </a:t>
            </a:r>
          </a:p>
          <a:p>
            <a:r>
              <a:rPr lang="en-US" sz="2000" b="0" dirty="0"/>
              <a:t>Student is currently physically located in the building. </a:t>
            </a:r>
          </a:p>
          <a:p>
            <a:r>
              <a:rPr lang="en-US" sz="2000" b="0" dirty="0"/>
              <a:t>Student claims she was participating in an exercise for a Cybersecurity class.</a:t>
            </a:r>
          </a:p>
          <a:p>
            <a:r>
              <a:rPr lang="en-US" sz="2000" b="0" dirty="0"/>
              <a:t>Student claims she did not know what she was doing and has deleted all of the downloaded data.</a:t>
            </a:r>
          </a:p>
          <a:p>
            <a:r>
              <a:rPr lang="en-US" sz="2000" b="0" dirty="0"/>
              <a:t>Student is remorseful and visibly upset.</a:t>
            </a:r>
          </a:p>
          <a:p>
            <a:endParaRPr lang="en-US" sz="2000" b="0" dirty="0"/>
          </a:p>
          <a:p>
            <a:endParaRPr lang="en-US" sz="2000" b="0" dirty="0"/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4EAF08-8277-DE40-AA06-099D8A941BDC}"/>
              </a:ext>
            </a:extLst>
          </p:cNvPr>
          <p:cNvSpPr/>
          <p:nvPr/>
        </p:nvSpPr>
        <p:spPr>
          <a:xfrm>
            <a:off x="0" y="8303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1E58D4A-BA80-2E4D-9C37-D813304A514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1310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US" sz="2600" dirty="0"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DCC42-4BEB-4443-AD8B-827A0B2FB888}"/>
              </a:ext>
            </a:extLst>
          </p:cNvPr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056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960" y="1295400"/>
            <a:ext cx="8534400" cy="4678363"/>
          </a:xfrm>
        </p:spPr>
        <p:txBody>
          <a:bodyPr/>
          <a:lstStyle/>
          <a:p>
            <a:r>
              <a:rPr lang="en-US" sz="2000" b="0" dirty="0"/>
              <a:t>What steps should be taken?</a:t>
            </a:r>
          </a:p>
          <a:p>
            <a:pPr marL="0" indent="0">
              <a:buNone/>
            </a:pPr>
            <a:endParaRPr lang="en-US" sz="2000" b="0" dirty="0"/>
          </a:p>
          <a:p>
            <a:r>
              <a:rPr lang="en-US" sz="2000" b="0" dirty="0"/>
              <a:t>Who should be notified?</a:t>
            </a:r>
          </a:p>
          <a:p>
            <a:endParaRPr lang="en-US" sz="2000" b="0" dirty="0"/>
          </a:p>
          <a:p>
            <a:r>
              <a:rPr lang="en-US" sz="2000" b="0" dirty="0"/>
              <a:t>Would it make a difference if the student was currently employed as a student worker?</a:t>
            </a:r>
          </a:p>
          <a:p>
            <a:endParaRPr lang="en-US" sz="2000" b="0" dirty="0"/>
          </a:p>
          <a:p>
            <a:r>
              <a:rPr lang="en-US" sz="2000" b="0" dirty="0"/>
              <a:t>Would the job description make a difference?</a:t>
            </a:r>
          </a:p>
          <a:p>
            <a:endParaRPr lang="en-US" sz="2000" b="0" dirty="0"/>
          </a:p>
          <a:p>
            <a:r>
              <a:rPr lang="en-US" sz="2000" b="0" dirty="0"/>
              <a:t>Is this incident ethically different from Exercise 1? Why or Why not?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07C2D9-39C8-114E-ABE3-E8BFC3E90755}"/>
              </a:ext>
            </a:extLst>
          </p:cNvPr>
          <p:cNvSpPr/>
          <p:nvPr/>
        </p:nvSpPr>
        <p:spPr>
          <a:xfrm>
            <a:off x="0" y="8303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199901-37A3-C946-A3DB-E8DA0DE8E18C}"/>
              </a:ext>
            </a:extLst>
          </p:cNvPr>
          <p:cNvSpPr/>
          <p:nvPr/>
        </p:nvSpPr>
        <p:spPr>
          <a:xfrm>
            <a:off x="27160" y="6544897"/>
            <a:ext cx="9144000" cy="304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718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950"/>
            <a:ext cx="9144000" cy="754063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Paper Discussion</a:t>
            </a:r>
            <a:endParaRPr lang="en-US" sz="3600" dirty="0">
              <a:solidFill>
                <a:schemeClr val="bg1">
                  <a:lumMod val="85000"/>
                </a:schemeClr>
              </a:solidFill>
              <a:latin typeface="Verdana"/>
              <a:ea typeface="+mj-ea"/>
              <a:cs typeface="Verdana"/>
            </a:endParaRPr>
          </a:p>
        </p:txBody>
      </p:sp>
      <p:sp>
        <p:nvSpPr>
          <p:cNvPr id="15362" name="TextBox 2"/>
          <p:cNvSpPr txBox="1">
            <a:spLocks noChangeArrowheads="1"/>
          </p:cNvSpPr>
          <p:nvPr/>
        </p:nvSpPr>
        <p:spPr bwMode="auto">
          <a:xfrm>
            <a:off x="626541" y="1730246"/>
            <a:ext cx="7890918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/>
            <a:endParaRPr lang="en-US" sz="1600" dirty="0">
              <a:latin typeface="Verdana" charset="0"/>
              <a:cs typeface="Verdana" charset="0"/>
            </a:endParaRPr>
          </a:p>
          <a:p>
            <a:pPr marL="0" indent="0" algn="ctr"/>
            <a:r>
              <a:rPr lang="en-US" sz="2000" i="1" dirty="0">
                <a:latin typeface="Verdana" charset="0"/>
                <a:cs typeface="Verdana" charset="0"/>
              </a:rPr>
              <a:t>Teaching Hacking and Ethics</a:t>
            </a:r>
          </a:p>
          <a:p>
            <a:pPr marL="0" indent="0"/>
            <a:endParaRPr lang="en-US" sz="16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charset="0"/>
              <a:cs typeface="Verdana" charset="0"/>
            </a:endParaRPr>
          </a:p>
          <a:p>
            <a:pPr marL="457200" lvl="1" indent="0"/>
            <a:endParaRPr lang="en-US" sz="1900" dirty="0">
              <a:latin typeface="Verdana" charset="0"/>
              <a:cs typeface="Verdana" charset="0"/>
            </a:endParaRPr>
          </a:p>
          <a:p>
            <a:pPr lvl="1">
              <a:buFontTx/>
              <a:buChar char="•"/>
            </a:pPr>
            <a:r>
              <a:rPr lang="en-US" sz="1900" dirty="0">
                <a:latin typeface="Verdana" charset="0"/>
                <a:cs typeface="Verdana" charset="0"/>
              </a:rPr>
              <a:t>Read paper: </a:t>
            </a:r>
            <a:r>
              <a:rPr lang="en-US" sz="1900" i="1" dirty="0">
                <a:solidFill>
                  <a:srgbClr val="0070C0"/>
                </a:solidFill>
                <a:latin typeface="Verdana" charset="0"/>
                <a:cs typeface="Verdana" charset="0"/>
              </a:rPr>
              <a:t>The Ethics of Hacking: Should It Be Taught?</a:t>
            </a:r>
          </a:p>
          <a:p>
            <a:pPr lvl="1">
              <a:buFontTx/>
              <a:buChar char="•"/>
            </a:pPr>
            <a:endParaRPr lang="en-US" sz="1900" dirty="0">
              <a:latin typeface="Verdana" charset="0"/>
              <a:cs typeface="Verdana" charset="0"/>
            </a:endParaRPr>
          </a:p>
          <a:p>
            <a:pPr lvl="1">
              <a:buFontTx/>
              <a:buChar char="•"/>
            </a:pPr>
            <a:r>
              <a:rPr lang="en-US" sz="1900" dirty="0">
                <a:latin typeface="Verdana" charset="0"/>
                <a:cs typeface="Verdana" charset="0"/>
              </a:rPr>
              <a:t>Does this influence your answers to Table Top Exercises?</a:t>
            </a:r>
          </a:p>
          <a:p>
            <a:pPr lvl="1">
              <a:buFontTx/>
              <a:buChar char="•"/>
            </a:pPr>
            <a:endParaRPr lang="en-US" sz="1900" dirty="0">
              <a:latin typeface="Verdana" charset="0"/>
              <a:cs typeface="Verdana" charset="0"/>
            </a:endParaRPr>
          </a:p>
          <a:p>
            <a:pPr lvl="1">
              <a:buFontTx/>
              <a:buChar char="•"/>
            </a:pPr>
            <a:r>
              <a:rPr lang="en-US" sz="1900" dirty="0">
                <a:latin typeface="Verdana" charset="0"/>
                <a:cs typeface="Verdana" charset="0"/>
              </a:rPr>
              <a:t>Group discussion</a:t>
            </a:r>
          </a:p>
          <a:p>
            <a:pPr marL="0" indent="0"/>
            <a:endParaRPr lang="en-US" sz="1600" dirty="0">
              <a:latin typeface="Verdana" charset="0"/>
              <a:cs typeface="Verdana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237288"/>
            <a:ext cx="9144000" cy="32861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600" dirty="0">
              <a:solidFill>
                <a:srgbClr val="D9D9D9"/>
              </a:solidFill>
              <a:latin typeface="Verdana" charset="0"/>
              <a:ea typeface="ＭＳ Ｐゴシック" charset="0"/>
              <a:cs typeface="Verdana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296025"/>
            <a:ext cx="9144000" cy="328613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sz="1600" cap="small" dirty="0">
                <a:solidFill>
                  <a:srgbClr val="B3B3B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269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References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 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0848" y="1368589"/>
            <a:ext cx="8659567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[1] NIST, Special Publication 800-14, Generally Accepted Principles and Practices for Securing Information Technology Systems, 1996 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[2] 10 Ethical Issues Confronting IT Managers,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TechRepublic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http://www.techrepublic.com/article/10-ethical-issues-confronting-it-managers/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[3] Should Hacking be Taught arXiv.org </a:t>
            </a:r>
            <a:r>
              <a:rPr lang="en-US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/>
              </a:rPr>
              <a:t>https://arxiv.org/ftp/arxiv/papers/1512/1512.02707.pdf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[4] Definition of Security Ethics,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TechTarget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5"/>
              </a:rPr>
              <a:t>http://searchsecurity.techtarget.com/feature/Spotlight-article-Domain-8-Laws-Investigations-and-Ethics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[5 ] Unified Framework of Professional Ethics for Security Professionals,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6"/>
              </a:rPr>
              <a:t>http://ethics-wg.org/framework.html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/>
          </a:p>
          <a:p>
            <a:endParaRPr lang="en-US" sz="1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51647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Acknowledgements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B3B3B3"/>
                </a:solidFill>
              </a:rPr>
              <a:t>      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</a:t>
            </a:r>
            <a:r>
              <a:rPr lang="mr-IN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1600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 Introduction to Cybersecurity 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3137" y="1481216"/>
            <a:ext cx="866923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Verdana"/>
                <a:cs typeface="Verdana"/>
              </a:rPr>
              <a:t>This material is based upon work supported by the National Science Foundation under Grant No. 1542465.</a:t>
            </a:r>
          </a:p>
        </p:txBody>
      </p:sp>
      <p:pic>
        <p:nvPicPr>
          <p:cNvPr id="5" name="Picture 4" descr="nsf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506" y="2812789"/>
            <a:ext cx="1772404" cy="178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42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1565</Words>
  <Application>Microsoft Office PowerPoint</Application>
  <PresentationFormat>On-screen Show (4:3)</PresentationFormat>
  <Paragraphs>217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ＭＳ Ｐゴシック</vt:lpstr>
      <vt:lpstr>Arial</vt:lpstr>
      <vt:lpstr>Calibri</vt:lpstr>
      <vt:lpstr>Verdana</vt:lpstr>
      <vt:lpstr>Wingdings</vt:lpstr>
      <vt:lpstr>Office Theme</vt:lpstr>
      <vt:lpstr>Cybersecurity Ethics</vt:lpstr>
      <vt:lpstr>Cybersecurity Ethics</vt:lpstr>
      <vt:lpstr>Procedures</vt:lpstr>
      <vt:lpstr>General vs Cybersecurity Ethics</vt:lpstr>
      <vt:lpstr>Definitions</vt:lpstr>
      <vt:lpstr>Definitions</vt:lpstr>
      <vt:lpstr>Definitions</vt:lpstr>
      <vt:lpstr>Definitions</vt:lpstr>
      <vt:lpstr>Table Top Exercises</vt:lpstr>
      <vt:lpstr>ETHICAL CONSIDERATIONS   UNIVERSITY OF X CREDIT CARD BREACH   TABLE TOP EXERCISE</vt:lpstr>
      <vt:lpstr>Incident Description</vt:lpstr>
      <vt:lpstr>Considerations</vt:lpstr>
      <vt:lpstr>Considerations (cont’d)</vt:lpstr>
      <vt:lpstr>Incident Update</vt:lpstr>
      <vt:lpstr>ETHICAL CONSIDERATIONS   UNIVERSITY OF X STUDENT INCIDENT   TABLE TOP EXERCISE</vt:lpstr>
      <vt:lpstr>Incident Description</vt:lpstr>
      <vt:lpstr>Considerations</vt:lpstr>
      <vt:lpstr>Paper Discussion</vt:lpstr>
      <vt:lpstr>References</vt:lpstr>
      <vt:lpstr>Acknowledgements</vt:lpstr>
    </vt:vector>
  </TitlesOfParts>
  <Company>University of Nevada, Reno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Nancy LaTourrette</dc:creator>
  <cp:lastModifiedBy>Nancy P Latourrette</cp:lastModifiedBy>
  <cp:revision>141</cp:revision>
  <cp:lastPrinted>2017-09-05T18:55:57Z</cp:lastPrinted>
  <dcterms:created xsi:type="dcterms:W3CDTF">2016-02-28T22:40:58Z</dcterms:created>
  <dcterms:modified xsi:type="dcterms:W3CDTF">2022-09-15T18:30:45Z</dcterms:modified>
</cp:coreProperties>
</file>