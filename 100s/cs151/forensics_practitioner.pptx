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4"/>
  </p:notesMasterIdLst>
  <p:handoutMasterIdLst>
    <p:handoutMasterId r:id="rId55"/>
  </p:handoutMasterIdLst>
  <p:sldIdLst>
    <p:sldId id="256" r:id="rId2"/>
    <p:sldId id="288" r:id="rId3"/>
    <p:sldId id="289" r:id="rId4"/>
    <p:sldId id="295" r:id="rId5"/>
    <p:sldId id="303" r:id="rId6"/>
    <p:sldId id="260" r:id="rId7"/>
    <p:sldId id="261" r:id="rId8"/>
    <p:sldId id="262" r:id="rId9"/>
    <p:sldId id="263" r:id="rId10"/>
    <p:sldId id="290" r:id="rId11"/>
    <p:sldId id="291" r:id="rId12"/>
    <p:sldId id="292" r:id="rId13"/>
    <p:sldId id="293" r:id="rId14"/>
    <p:sldId id="294" r:id="rId15"/>
    <p:sldId id="264" r:id="rId16"/>
    <p:sldId id="265" r:id="rId17"/>
    <p:sldId id="266" r:id="rId18"/>
    <p:sldId id="267" r:id="rId19"/>
    <p:sldId id="268" r:id="rId20"/>
    <p:sldId id="269" r:id="rId21"/>
    <p:sldId id="270" r:id="rId22"/>
    <p:sldId id="271" r:id="rId23"/>
    <p:sldId id="272" r:id="rId24"/>
    <p:sldId id="296" r:id="rId25"/>
    <p:sldId id="297" r:id="rId26"/>
    <p:sldId id="298" r:id="rId27"/>
    <p:sldId id="299" r:id="rId28"/>
    <p:sldId id="300" r:id="rId29"/>
    <p:sldId id="301" r:id="rId30"/>
    <p:sldId id="936" r:id="rId31"/>
    <p:sldId id="523" r:id="rId32"/>
    <p:sldId id="524" r:id="rId33"/>
    <p:sldId id="937" r:id="rId34"/>
    <p:sldId id="576" r:id="rId35"/>
    <p:sldId id="577" r:id="rId36"/>
    <p:sldId id="938" r:id="rId37"/>
    <p:sldId id="939" r:id="rId38"/>
    <p:sldId id="940" r:id="rId39"/>
    <p:sldId id="278" r:id="rId40"/>
    <p:sldId id="499" r:id="rId41"/>
    <p:sldId id="500" r:id="rId42"/>
    <p:sldId id="501" r:id="rId43"/>
    <p:sldId id="502" r:id="rId44"/>
    <p:sldId id="503" r:id="rId45"/>
    <p:sldId id="279" r:id="rId46"/>
    <p:sldId id="280" r:id="rId47"/>
    <p:sldId id="281" r:id="rId48"/>
    <p:sldId id="282" r:id="rId49"/>
    <p:sldId id="283" r:id="rId50"/>
    <p:sldId id="284" r:id="rId51"/>
    <p:sldId id="285" r:id="rId52"/>
    <p:sldId id="286"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810"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Watson" userId="00ca4ec72886000f" providerId="LiveId" clId="{D8C968D2-2ED0-48C2-AD48-95BEC8E71EEB}"/>
    <pc:docChg chg="modSld">
      <pc:chgData name="Josh Watson" userId="00ca4ec72886000f" providerId="LiveId" clId="{D8C968D2-2ED0-48C2-AD48-95BEC8E71EEB}" dt="2025-11-13T17:14:36.125" v="8" actId="20577"/>
      <pc:docMkLst>
        <pc:docMk/>
      </pc:docMkLst>
      <pc:sldChg chg="modSp mod">
        <pc:chgData name="Josh Watson" userId="00ca4ec72886000f" providerId="LiveId" clId="{D8C968D2-2ED0-48C2-AD48-95BEC8E71EEB}" dt="2025-11-13T17:14:36.125" v="8" actId="20577"/>
        <pc:sldMkLst>
          <pc:docMk/>
          <pc:sldMk cId="0" sldId="256"/>
        </pc:sldMkLst>
        <pc:spChg chg="mod">
          <ac:chgData name="Josh Watson" userId="00ca4ec72886000f" providerId="LiveId" clId="{D8C968D2-2ED0-48C2-AD48-95BEC8E71EEB}" dt="2025-11-13T17:14:36.125" v="8" actId="20577"/>
          <ac:spMkLst>
            <pc:docMk/>
            <pc:sldMk cId="0" sldId="256"/>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6035" cy="456873"/>
          </a:xfrm>
          <a:prstGeom prst="rect">
            <a:avLst/>
          </a:prstGeom>
          <a:noFill/>
          <a:ln>
            <a:noFill/>
          </a:ln>
        </p:spPr>
        <p:txBody>
          <a:bodyPr vert="horz" wrap="none" lIns="80766" tIns="40383" rIns="80766" bIns="40383" anchorCtr="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sz="1400"/>
            </a:pPr>
            <a:endParaRPr lang="en-US" sz="1300" dirty="0">
              <a:latin typeface="Arial" pitchFamily="18"/>
              <a:ea typeface="Microsoft YaHei" pitchFamily="2"/>
              <a:cs typeface="Mangal" pitchFamily="2"/>
            </a:endParaRPr>
          </a:p>
        </p:txBody>
      </p:sp>
      <p:sp>
        <p:nvSpPr>
          <p:cNvPr id="3" name="Date Placeholder 2"/>
          <p:cNvSpPr txBox="1">
            <a:spLocks noGrp="1"/>
          </p:cNvSpPr>
          <p:nvPr>
            <p:ph type="dt" sz="quarter" idx="1"/>
          </p:nvPr>
        </p:nvSpPr>
        <p:spPr>
          <a:xfrm>
            <a:off x="3881647" y="0"/>
            <a:ext cx="2976035" cy="456873"/>
          </a:xfrm>
          <a:prstGeom prst="rect">
            <a:avLst/>
          </a:prstGeom>
          <a:noFill/>
          <a:ln>
            <a:noFill/>
          </a:ln>
        </p:spPr>
        <p:txBody>
          <a:bodyPr vert="horz" wrap="none" lIns="80766" tIns="40383" rIns="80766" bIns="40383" anchorCtr="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lgn="r" hangingPunct="0">
              <a:buNone/>
              <a:defRPr sz="1400"/>
            </a:pPr>
            <a:fld id="{EA73684D-EB24-47CE-B350-3FF6B95BFC02}" type="datetimeFigureOut">
              <a:rPr lang="en-US"/>
              <a:pPr algn="r" hangingPunct="0">
                <a:buNone/>
                <a:defRPr sz="1400"/>
              </a:pPr>
              <a:t>11/13/2025</a:t>
            </a:fld>
            <a:endParaRPr lang="en-US" sz="1300" dirty="0">
              <a:latin typeface="Arial" pitchFamily="18"/>
              <a:ea typeface="Microsoft YaHei" pitchFamily="2"/>
              <a:cs typeface="Mangal" pitchFamily="2"/>
            </a:endParaRPr>
          </a:p>
        </p:txBody>
      </p:sp>
      <p:sp>
        <p:nvSpPr>
          <p:cNvPr id="4" name="Footer Placeholder 3"/>
          <p:cNvSpPr txBox="1">
            <a:spLocks noGrp="1"/>
          </p:cNvSpPr>
          <p:nvPr>
            <p:ph type="ftr" sz="quarter" idx="2"/>
          </p:nvPr>
        </p:nvSpPr>
        <p:spPr>
          <a:xfrm>
            <a:off x="0" y="8686800"/>
            <a:ext cx="2976035" cy="456873"/>
          </a:xfrm>
          <a:prstGeom prst="rect">
            <a:avLst/>
          </a:prstGeom>
          <a:noFill/>
          <a:ln>
            <a:noFill/>
          </a:ln>
        </p:spPr>
        <p:txBody>
          <a:bodyPr vert="horz" wrap="none" lIns="80766" tIns="40383" rIns="80766" bIns="40383" anchor="b" anchorCtr="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hangingPunct="0">
              <a:buNone/>
              <a:defRPr sz="1400"/>
            </a:pPr>
            <a:endParaRPr lang="en-US" sz="1300" dirty="0">
              <a:latin typeface="Arial" pitchFamily="18"/>
              <a:ea typeface="Microsoft YaHei" pitchFamily="2"/>
              <a:cs typeface="Mangal" pitchFamily="2"/>
            </a:endParaRPr>
          </a:p>
        </p:txBody>
      </p:sp>
      <p:sp>
        <p:nvSpPr>
          <p:cNvPr id="5" name="Slide Number Placeholder 4"/>
          <p:cNvSpPr txBox="1">
            <a:spLocks noGrp="1"/>
          </p:cNvSpPr>
          <p:nvPr>
            <p:ph type="sldNum" sz="quarter" idx="3"/>
          </p:nvPr>
        </p:nvSpPr>
        <p:spPr>
          <a:xfrm>
            <a:off x="3881647" y="8686800"/>
            <a:ext cx="2976035" cy="456873"/>
          </a:xfrm>
          <a:prstGeom prst="rect">
            <a:avLst/>
          </a:prstGeom>
          <a:noFill/>
          <a:ln>
            <a:noFill/>
          </a:ln>
        </p:spPr>
        <p:txBody>
          <a:bodyPr vert="horz" wrap="none" lIns="80766" tIns="40383" rIns="80766" bIns="40383" anchor="b" anchorCtr="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lgn="r" hangingPunct="0">
              <a:buNone/>
              <a:defRPr sz="1400"/>
            </a:pPr>
            <a:fld id="{882B611B-4F0B-46D7-889A-A5F1725555D0}" type="slidenum">
              <a:rPr/>
              <a:pPr algn="r" hangingPunct="0">
                <a:buNone/>
                <a:defRPr sz="1400"/>
              </a:pPr>
              <a:t>‹#›</a:t>
            </a:fld>
            <a:endParaRPr lang="en-US" sz="1300" dirty="0">
              <a:latin typeface="Arial" pitchFamily="18"/>
              <a:ea typeface="Microsoft YaHei" pitchFamily="2"/>
              <a:cs typeface="Mangal" pitchFamily="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371599" y="764280"/>
            <a:ext cx="5028480" cy="3771360"/>
          </a:xfrm>
          <a:prstGeom prst="rect">
            <a:avLst/>
          </a:prstGeom>
          <a:noFill/>
          <a:ln>
            <a:noFill/>
            <a:prstDash val="solid"/>
          </a:ln>
        </p:spPr>
      </p:sp>
      <p:sp>
        <p:nvSpPr>
          <p:cNvPr id="3" name="Notes Placeholder 2"/>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p:cNvSpPr txBox="1">
            <a:spLocks noGrp="1"/>
          </p:cNvSpPr>
          <p:nvPr>
            <p:ph type="hdr" sz="quarter"/>
          </p:nvPr>
        </p:nvSpPr>
        <p:spPr>
          <a:xfrm>
            <a:off x="0" y="0"/>
            <a:ext cx="3372840" cy="502560"/>
          </a:xfrm>
          <a:prstGeom prst="rect">
            <a:avLst/>
          </a:prstGeom>
          <a:noFill/>
          <a:ln>
            <a:noFill/>
          </a:ln>
        </p:spPr>
        <p:txBody>
          <a:bodyPr lIns="0" tIns="0" rIns="0" bIns="0"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5" name="Date Placeholder 4"/>
          <p:cNvSpPr txBox="1">
            <a:spLocks noGrp="1"/>
          </p:cNvSpPr>
          <p:nvPr>
            <p:ph type="dt" idx="1"/>
          </p:nvPr>
        </p:nvSpPr>
        <p:spPr>
          <a:xfrm>
            <a:off x="4399200" y="0"/>
            <a:ext cx="3372840" cy="502560"/>
          </a:xfrm>
          <a:prstGeom prst="rect">
            <a:avLst/>
          </a:prstGeom>
          <a:noFill/>
          <a:ln>
            <a:noFill/>
          </a:ln>
        </p:spPr>
        <p:txBody>
          <a:bodyPr lIns="0" tIns="0" rIns="0" bIns="0" anchorCtr="0"/>
          <a:lstStyle>
            <a:lvl1pPr lvl="0" algn="r" rtl="0" hangingPunct="0">
              <a:buNone/>
              <a:tabLst/>
              <a:defRPr lang="en-US" sz="1400" kern="1200">
                <a:latin typeface="Times New Roman" pitchFamily="18"/>
                <a:ea typeface="Lucida Sans Unicode" pitchFamily="2"/>
                <a:cs typeface="Tahoma" pitchFamily="2"/>
              </a:defRPr>
            </a:lvl1pPr>
          </a:lstStyle>
          <a:p>
            <a:pPr lvl="0"/>
            <a:fld id="{9D372EEF-2F0A-4B05-B0CA-882D18817758}" type="datetimeFigureOut">
              <a:rPr lang="en-US"/>
              <a:pPr lvl="0"/>
              <a:t>11/13/2025</a:t>
            </a:fld>
            <a:endParaRPr lang="en-US"/>
          </a:p>
        </p:txBody>
      </p:sp>
      <p:sp>
        <p:nvSpPr>
          <p:cNvPr id="6" name="Footer Placeholder 5"/>
          <p:cNvSpPr txBox="1">
            <a:spLocks noGrp="1"/>
          </p:cNvSpPr>
          <p:nvPr>
            <p:ph type="ftr" sz="quarter" idx="4"/>
          </p:nvPr>
        </p:nvSpPr>
        <p:spPr>
          <a:xfrm>
            <a:off x="0" y="9555480"/>
            <a:ext cx="3372840" cy="502560"/>
          </a:xfrm>
          <a:prstGeom prst="rect">
            <a:avLst/>
          </a:prstGeom>
          <a:noFill/>
          <a:ln>
            <a:noFill/>
          </a:ln>
        </p:spPr>
        <p:txBody>
          <a:bodyPr lIns="0" tIns="0" rIns="0" bIns="0" anchor="b"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7" name="Slide Number Placeholder 6"/>
          <p:cNvSpPr txBox="1">
            <a:spLocks noGrp="1"/>
          </p:cNvSpPr>
          <p:nvPr>
            <p:ph type="sldNum" sz="quarter" idx="5"/>
          </p:nvPr>
        </p:nvSpPr>
        <p:spPr>
          <a:xfrm>
            <a:off x="4399200" y="9555480"/>
            <a:ext cx="3372840" cy="502560"/>
          </a:xfrm>
          <a:prstGeom prst="rect">
            <a:avLst/>
          </a:prstGeom>
          <a:noFill/>
          <a:ln>
            <a:noFill/>
          </a:ln>
        </p:spPr>
        <p:txBody>
          <a:bodyPr lIns="0" tIns="0" rIns="0" bIns="0" anchor="b" anchorCtr="0"/>
          <a:lstStyle>
            <a:lvl1pPr lvl="0" algn="r" rtl="0" hangingPunct="0">
              <a:buNone/>
              <a:tabLst/>
              <a:defRPr lang="en-US" sz="1400" kern="1200">
                <a:latin typeface="Times New Roman" pitchFamily="18"/>
                <a:ea typeface="Lucida Sans Unicode" pitchFamily="2"/>
                <a:cs typeface="Tahoma" pitchFamily="2"/>
              </a:defRPr>
            </a:lvl1pPr>
          </a:lstStyle>
          <a:p>
            <a:pPr lvl="0"/>
            <a:fld id="{032D0489-44F9-4109-8E91-84EFC6C97AE9}" type="slidenum">
              <a:rPr/>
              <a:pPr lvl="0"/>
              <a:t>‹#›</a:t>
            </a:fld>
            <a:endParaRPr lang="en-US"/>
          </a:p>
        </p:txBody>
      </p:sp>
    </p:spTree>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a:ln>
          <a:noFill/>
        </a:ln>
        <a:latin typeface="Arial" pitchFamily="18"/>
        <a:ea typeface="Microsoft YaHei"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txBox="1">
            <a:spLocks noGrp="1"/>
          </p:cNvSpPr>
          <p:nvPr>
            <p:ph type="sldNum" sz="quarter" idx="8"/>
          </p:nvPr>
        </p:nvSpPr>
        <p:spPr>
          <a:xfrm>
            <a:off x="3884759" y="8685360"/>
            <a:ext cx="2971440" cy="456839"/>
          </a:xfrm>
        </p:spPr>
        <p:txBody>
          <a:bodyPr wrap="square" lIns="90000" tIns="45000" rIns="90000" bIns="45000" anchor="t"/>
          <a:lstStyle/>
          <a:p>
            <a:pPr lvl="0" algn="l"/>
            <a:fld id="{A05A739B-CD00-49E0-B3E2-96C79F703354}" type="slidenum">
              <a:rPr/>
              <a:pPr lvl="0" algn="l"/>
              <a:t>1</a:t>
            </a:fld>
            <a:endParaRPr lang="en-US">
              <a:solidFill>
                <a:srgbClr val="000000"/>
              </a:solidFill>
              <a:latin typeface="Arial" pitchFamily="18"/>
              <a:ea typeface="+mn-ea" pitchFamily="2"/>
              <a:cs typeface="Arial" pitchFamily="2"/>
            </a:endParaRPr>
          </a:p>
        </p:txBody>
      </p:sp>
      <p:sp>
        <p:nvSpPr>
          <p:cNvPr id="3" name="Slide Image Placeholder 1"/>
          <p:cNvSpPr>
            <a:spLocks noGrp="1" noRot="1" noChangeAspect="1" noResize="1"/>
          </p:cNvSpPr>
          <p:nvPr>
            <p:ph type="sldImg"/>
          </p:nvPr>
        </p:nvSpPr>
        <p:spPr>
          <a:xfrm>
            <a:off x="1143000" y="685800"/>
            <a:ext cx="4572000" cy="3429000"/>
          </a:xfrm>
          <a:solidFill>
            <a:schemeClr val="accent1"/>
          </a:solidFill>
          <a:ln w="25400">
            <a:solidFill>
              <a:schemeClr val="accent1">
                <a:shade val="50000"/>
              </a:schemeClr>
            </a:solidFill>
            <a:prstDash val="solid"/>
          </a:ln>
        </p:spPr>
      </p:sp>
      <p:sp>
        <p:nvSpPr>
          <p:cNvPr id="4"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a:p>
        </p:txBody>
      </p:sp>
      <p:sp>
        <p:nvSpPr>
          <p:cNvPr id="5" name="Slide Number Placeholder 3"/>
          <p:cNvSpPr/>
          <p:nvPr/>
        </p:nvSpPr>
        <p:spPr>
          <a:xfrm>
            <a:off x="3884759" y="8685360"/>
            <a:ext cx="2971440" cy="45683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b" anchorCtr="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algn="r" rtl="0" hangingPunct="0">
              <a:lnSpc>
                <a:spcPct val="100000"/>
              </a:lnSpc>
              <a:spcBef>
                <a:spcPts val="0"/>
              </a:spcBef>
              <a:spcAft>
                <a:spcPts val="0"/>
              </a:spcAft>
              <a:buNone/>
              <a:tabLst/>
            </a:pPr>
            <a:fld id="{9B26FAEB-DD8F-432C-B2EE-4CE3AD7AC222}" type="slidenum">
              <a:rPr/>
              <a:pPr marL="0" marR="0" lvl="0" indent="0" algn="r" rtl="0" hangingPunct="0">
                <a:lnSpc>
                  <a:spcPct val="100000"/>
                </a:lnSpc>
                <a:spcBef>
                  <a:spcPts val="0"/>
                </a:spcBef>
                <a:spcAft>
                  <a:spcPts val="0"/>
                </a:spcAft>
                <a:buNone/>
                <a:tabLst/>
              </a:pPr>
              <a:t>1</a:t>
            </a:fld>
            <a:endParaRPr lang="en-US" sz="1200" b="0" i="0" u="none" strike="noStrike" kern="1200" spc="0">
              <a:ln>
                <a:noFill/>
              </a:ln>
              <a:solidFill>
                <a:srgbClr val="000000"/>
              </a:solidFill>
              <a:latin typeface="Arial" pitchFamily="18"/>
              <a:ea typeface="+mn-ea" pitchFamily="2"/>
              <a:cs typeface="Arial" pitchFamily="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763588"/>
            <a:ext cx="5029200" cy="37719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45E1E33-4857-41EA-90B9-79D4802B4792}"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371600" y="763588"/>
            <a:ext cx="5029200" cy="37719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spAutoFit/>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371600" y="763588"/>
            <a:ext cx="5029200" cy="37719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spAutoFit/>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371600" y="763588"/>
            <a:ext cx="5029200" cy="37719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spAutoFit/>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371600" y="763588"/>
            <a:ext cx="5029200" cy="37719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spAutoFit/>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371600" y="763588"/>
            <a:ext cx="5029200" cy="37719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spAutoFit/>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371600" y="763588"/>
            <a:ext cx="5029200" cy="37719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spAutoFit/>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371600" y="763588"/>
            <a:ext cx="5029200" cy="37719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spAutoFit/>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spAutoFit/>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ChangeArrowheads="1" noTextEdit="1"/>
          </p:cNvSpPr>
          <p:nvPr>
            <p:ph type="sldImg"/>
          </p:nvPr>
        </p:nvSpPr>
        <p:spPr>
          <a:ln/>
        </p:spPr>
      </p:sp>
      <p:sp>
        <p:nvSpPr>
          <p:cNvPr id="20482" name="Rectangle 3"/>
          <p:cNvSpPr>
            <a:spLocks noGrp="1" noChangeArrowheads="1"/>
          </p:cNvSpPr>
          <p:nvPr>
            <p:ph type="body" idx="1"/>
          </p:nvPr>
        </p:nvSpPr>
        <p:spPr>
          <a:noFill/>
          <a:ln/>
        </p:spPr>
        <p:txBody>
          <a:bodyPr/>
          <a:lstStyle/>
          <a:p>
            <a:pPr eaLnBrk="1" hangingPunct="1"/>
            <a:endParaRPr lang="en-US" b="1"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45E1E33-4857-41EA-90B9-79D4802B4792}" type="slidenum">
              <a:rPr lang="en-US" smtClean="0"/>
              <a:pPr>
                <a:defRPr/>
              </a:pPr>
              <a:t>28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Rot="1" noChangeAspect="1" noChangeArrowheads="1" noTextEdit="1"/>
          </p:cNvSpPr>
          <p:nvPr>
            <p:ph type="sldImg"/>
          </p:nvPr>
        </p:nvSpPr>
        <p:spPr>
          <a:xfrm>
            <a:off x="1371600" y="763588"/>
            <a:ext cx="5029200" cy="3771900"/>
          </a:xfrm>
          <a:ln/>
        </p:spPr>
      </p:sp>
      <p:sp>
        <p:nvSpPr>
          <p:cNvPr id="20482" name="Rectangle 3"/>
          <p:cNvSpPr>
            <a:spLocks noGrp="1" noChangeArrowheads="1"/>
          </p:cNvSpPr>
          <p:nvPr>
            <p:ph type="body" idx="1"/>
          </p:nvPr>
        </p:nvSpPr>
        <p:spPr>
          <a:noFill/>
          <a:ln/>
        </p:spPr>
        <p:txBody>
          <a:bodyPr/>
          <a:lstStyle/>
          <a:p>
            <a:pPr eaLnBrk="1" hangingPunct="1"/>
            <a:endParaRPr lang="en-US" b="1"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4588" y="695325"/>
            <a:ext cx="4568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lvl="0"/>
            <a:fld id="{66987B3F-BB97-449E-B3FE-D1DC6D6980F5}" type="datetime1">
              <a:rPr lang="en-US" smtClean="0"/>
              <a:pPr lvl="0"/>
              <a:t>11/13/2025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lvl="0"/>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lvl="0"/>
            <a:fld id="{7680E732-83D5-42ED-8788-227A97100371}" type="slidenum">
              <a:rPr lang="en-US" smtClean="0"/>
              <a:pPr lvl="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lvl="0"/>
            <a:fld id="{66987B3F-BB97-449E-B3FE-D1DC6D6980F5}" type="datetime1">
              <a:rPr lang="en-US" smtClean="0"/>
              <a:pPr lvl="0"/>
              <a:t>11/13/2025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B9A7857C-405B-4E0A-B1F8-6EBBA6F393C9}" type="slidenum">
              <a:rPr lang="en-US" smtClean="0"/>
              <a:pPr lvl="0"/>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lvl="0"/>
            <a:fld id="{66987B3F-BB97-449E-B3FE-D1DC6D6980F5}" type="datetime1">
              <a:rPr lang="en-US" smtClean="0"/>
              <a:pPr lvl="0"/>
              <a:t>11/13/2025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E208716A-2373-4464-9265-5B5020816E6F}" type="slidenum">
              <a:rPr lang="en-US" smtClean="0"/>
              <a:pPr lvl="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lvl="0"/>
            <a:fld id="{66987B3F-BB97-449E-B3FE-D1DC6D6980F5}" type="datetime1">
              <a:rPr lang="en-US" smtClean="0"/>
              <a:pPr lvl="0"/>
              <a:t>11/13/2025</a:t>
            </a:fld>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4B114703-6A29-4EDB-8BEE-674A9AE04C21}" type="slidenum">
              <a:rPr lang="en-US" smtClean="0"/>
              <a:pPr lvl="0"/>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lvl="0"/>
            <a:fld id="{66987B3F-BB97-449E-B3FE-D1DC6D6980F5}" type="datetime1">
              <a:rPr lang="en-US" smtClean="0"/>
              <a:pPr lvl="0"/>
              <a:t>11/13/2025</a:t>
            </a:fld>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29423B8E-CBD1-42F1-98C6-D2BCA7C2C1DB}" type="slidenum">
              <a:rPr lang="en-US" smtClean="0"/>
              <a:pPr lvl="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lvl="0"/>
            <a:fld id="{66987B3F-BB97-449E-B3FE-D1DC6D6980F5}" type="datetime1">
              <a:rPr lang="en-US" smtClean="0"/>
              <a:pPr lvl="0"/>
              <a:t>11/13/2025</a:t>
            </a:fld>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BE71ED55-24AF-4B93-92D5-A8A9ABA0BC6B}" type="slidenum">
              <a:rPr lang="en-US" smtClean="0"/>
              <a:pPr lvl="0"/>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66987B3F-BB97-449E-B3FE-D1DC6D6980F5}" type="datetime1">
              <a:rPr lang="en-US" smtClean="0"/>
              <a:pPr lvl="0"/>
              <a:t>11/13/2025</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0CEF2D8E-CF0B-4941-99BD-F86A1CF6ABF5}" type="slidenum">
              <a:rPr lang="en-US" smtClean="0"/>
              <a:pPr lvl="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lvl="0"/>
            <a:fld id="{66987B3F-BB97-449E-B3FE-D1DC6D6980F5}" type="datetime1">
              <a:rPr lang="en-US" smtClean="0"/>
              <a:pPr lvl="0"/>
              <a:t>11/13/2025</a:t>
            </a:fld>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425F2ABD-874E-4A42-9320-49300BA1ED6D}" type="slidenum">
              <a:rPr lang="en-US" smtClean="0"/>
              <a:pPr lvl="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pPr lvl="0"/>
            <a:fld id="{66987B3F-BB97-449E-B3FE-D1DC6D6980F5}" type="datetime1">
              <a:rPr lang="en-US" smtClean="0"/>
              <a:pPr lvl="0"/>
              <a:t>11/13/2025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lvl="0"/>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lvl="0"/>
            <a:fld id="{43AC2379-2645-44C9-8591-0CB2B077592E}" type="slidenum">
              <a:rPr lang="en-US" smtClean="0"/>
              <a:pPr lvl="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lvl="0"/>
            <a:fld id="{66987B3F-BB97-449E-B3FE-D1DC6D6980F5}" type="datetime1">
              <a:rPr lang="en-US" smtClean="0"/>
              <a:pPr lvl="0"/>
              <a:t>11/13/2025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4DB92C8D-9784-447C-BD85-17114F75EE83}" type="slidenum">
              <a:rPr lang="en-US" smtClean="0"/>
              <a:pPr lvl="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lvl="0"/>
            <a:fld id="{66987B3F-BB97-449E-B3FE-D1DC6D6980F5}" type="datetime1">
              <a:rPr lang="en-US" smtClean="0"/>
              <a:pPr lvl="0"/>
              <a:t>11/13/2025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DD98F553-66E6-4304-A928-638E2137341E}" type="slidenum">
              <a:rPr lang="en-US" smtClean="0"/>
              <a:pPr lvl="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lvl="0"/>
            <a:fld id="{66987B3F-BB97-449E-B3FE-D1DC6D6980F5}" type="datetime1">
              <a:rPr lang="en-US" smtClean="0"/>
              <a:pPr lvl="0"/>
              <a:t>11/13/2025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lvl="0"/>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lvl="0"/>
            <a:fld id="{8E71C61F-06BE-4157-BDF2-DD4DBB766007}" type="slidenum">
              <a:rPr lang="en-US" smtClean="0"/>
              <a:pPr lvl="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hyperlink" Target="mailto:watsonj@reno.gov"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3" name="Text Box 9"/>
          <p:cNvSpPr/>
          <p:nvPr/>
        </p:nvSpPr>
        <p:spPr>
          <a:xfrm>
            <a:off x="533520" y="1600200"/>
            <a:ext cx="4495320" cy="232976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5000" rIns="90000" bIns="45000" anchor="t" anchorCtr="0" compatLnSpc="0">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algn="l" rtl="0" hangingPunct="1">
              <a:lnSpc>
                <a:spcPct val="100000"/>
              </a:lnSpc>
              <a:spcBef>
                <a:spcPts val="899"/>
              </a:spcBef>
              <a:spcAft>
                <a:spcPts val="0"/>
              </a:spcAft>
              <a:buNone/>
              <a:tabLst/>
            </a:pPr>
            <a:r>
              <a:rPr lang="en-US" sz="4800" b="1" i="0" u="none" strike="noStrike" kern="1200" spc="0" dirty="0">
                <a:ln>
                  <a:noFill/>
                </a:ln>
                <a:solidFill>
                  <a:srgbClr val="000000"/>
                </a:solidFill>
                <a:latin typeface="Arial" pitchFamily="18"/>
                <a:ea typeface="Microsoft YaHei" pitchFamily="2"/>
                <a:cs typeface="Mangal" pitchFamily="2"/>
              </a:rPr>
              <a:t>UNR DF Presentation</a:t>
            </a:r>
          </a:p>
          <a:p>
            <a:pPr marL="0" marR="0" lvl="0" indent="0" algn="l" rtl="0" hangingPunct="1">
              <a:lnSpc>
                <a:spcPct val="100000"/>
              </a:lnSpc>
              <a:spcBef>
                <a:spcPts val="899"/>
              </a:spcBef>
              <a:spcAft>
                <a:spcPts val="0"/>
              </a:spcAft>
              <a:buNone/>
              <a:tabLst/>
            </a:pPr>
            <a:r>
              <a:rPr lang="en-US" sz="4800" b="1" dirty="0">
                <a:solidFill>
                  <a:srgbClr val="000000"/>
                </a:solidFill>
                <a:latin typeface="Arial" pitchFamily="18"/>
                <a:ea typeface="Microsoft YaHei" pitchFamily="2"/>
                <a:cs typeface="Mangal" pitchFamily="2"/>
              </a:rPr>
              <a:t>9/25/2025</a:t>
            </a:r>
            <a:endParaRPr lang="en-US" sz="4800" b="1" i="0" u="none" strike="noStrike" kern="1200" spc="0" dirty="0">
              <a:ln>
                <a:noFill/>
              </a:ln>
              <a:solidFill>
                <a:srgbClr val="000000"/>
              </a:solidFill>
              <a:latin typeface="Arial" pitchFamily="18"/>
              <a:ea typeface="Microsoft YaHei" pitchFamily="2"/>
              <a:cs typeface="Mangal" pitchFamily="2"/>
            </a:endParaRPr>
          </a:p>
        </p:txBody>
      </p:sp>
      <p:pic>
        <p:nvPicPr>
          <p:cNvPr id="1026" name="Picture 2" descr="Digital Forensics of Deep Fakes: From Research to Practice – Center for  Excellence in Government Cybersecurity Risk Management and Resilience">
            <a:extLst>
              <a:ext uri="{FF2B5EF4-FFF2-40B4-BE49-F238E27FC236}">
                <a16:creationId xmlns:a16="http://schemas.microsoft.com/office/drawing/2014/main" id="{0C38061C-20D9-30D9-50E6-DE98EC3D7D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800100"/>
            <a:ext cx="4572001" cy="5257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t>                Disclaimer</a:t>
            </a:r>
            <a:endParaRPr lang="en-US" dirty="0"/>
          </a:p>
        </p:txBody>
      </p:sp>
      <p:sp>
        <p:nvSpPr>
          <p:cNvPr id="3" name="Content Placeholder 2"/>
          <p:cNvSpPr>
            <a:spLocks noGrp="1"/>
          </p:cNvSpPr>
          <p:nvPr>
            <p:ph idx="1"/>
          </p:nvPr>
        </p:nvSpPr>
        <p:spPr>
          <a:xfrm>
            <a:off x="685800" y="1143000"/>
            <a:ext cx="7924800" cy="5105400"/>
          </a:xfrm>
        </p:spPr>
        <p:txBody>
          <a:bodyPr>
            <a:normAutofit/>
          </a:bodyPr>
          <a:lstStyle/>
          <a:p>
            <a:r>
              <a:rPr lang="en-US" sz="2100" dirty="0"/>
              <a:t>The opinions expressed in this presentation, and on the following slides, are solely those of the presenter. </a:t>
            </a:r>
          </a:p>
          <a:p>
            <a:endParaRPr lang="en-US" sz="2100" dirty="0"/>
          </a:p>
          <a:p>
            <a:r>
              <a:rPr lang="en-US" sz="2100" dirty="0"/>
              <a:t>Nothing in this presentation constitutes legal advice. This is general information presented for educational purposes based on the training and experience of the presenter. Consult your legal advisor prior to implementing any new practices, standards or policies based on the information provided.</a:t>
            </a:r>
          </a:p>
          <a:p>
            <a:endParaRPr lang="en-US" sz="2100" dirty="0"/>
          </a:p>
          <a:p>
            <a:r>
              <a:rPr lang="en-US" sz="2100" dirty="0"/>
              <a:t>The presenter is not being compensated by the companies, products, or tools in the following presentation and has no employment affiliation with said businesses except as a customer.</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WHO’S THIS GUY?</a:t>
            </a:r>
          </a:p>
        </p:txBody>
      </p:sp>
      <p:sp>
        <p:nvSpPr>
          <p:cNvPr id="3" name="Content Placeholder 2"/>
          <p:cNvSpPr>
            <a:spLocks noGrp="1"/>
          </p:cNvSpPr>
          <p:nvPr>
            <p:ph idx="1"/>
          </p:nvPr>
        </p:nvSpPr>
        <p:spPr>
          <a:xfrm>
            <a:off x="533400" y="1295400"/>
            <a:ext cx="7924800" cy="5257800"/>
          </a:xfrm>
        </p:spPr>
        <p:txBody>
          <a:bodyPr/>
          <a:lstStyle/>
          <a:p>
            <a:r>
              <a:rPr lang="en-US" dirty="0"/>
              <a:t>Retired Detective Josh Watson</a:t>
            </a:r>
          </a:p>
          <a:p>
            <a:r>
              <a:rPr lang="en-US" dirty="0"/>
              <a:t>20+ Years at Reno Police Department</a:t>
            </a:r>
          </a:p>
          <a:p>
            <a:r>
              <a:rPr lang="en-US" dirty="0"/>
              <a:t>6 yrs Patrol Officer</a:t>
            </a:r>
          </a:p>
          <a:p>
            <a:r>
              <a:rPr lang="en-US" dirty="0"/>
              <a:t>8 yrs Sex Crimes/Child Abuse Unit</a:t>
            </a:r>
          </a:p>
          <a:p>
            <a:r>
              <a:rPr lang="en-US" dirty="0"/>
              <a:t>12+ yrs Computer Crimes Unit</a:t>
            </a:r>
          </a:p>
          <a:p>
            <a:r>
              <a:rPr lang="en-US" dirty="0"/>
              <a:t>Over 1000 hours of Forensic Training</a:t>
            </a:r>
          </a:p>
          <a:p>
            <a:r>
              <a:rPr lang="en-US" dirty="0"/>
              <a:t>Conducted over 2300 exams of computers, cell phones, DVRs, vehicles, </a:t>
            </a:r>
            <a:r>
              <a:rPr lang="en-US" dirty="0" err="1"/>
              <a:t>etc</a:t>
            </a:r>
            <a:r>
              <a:rPr lang="en-US" dirty="0"/>
              <a:t>…</a:t>
            </a:r>
            <a:r>
              <a:rPr lang="en-US" b="1" dirty="0"/>
              <a:t>If it’s been done, I’ve seen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Fast Is Data Growing?	</a:t>
            </a:r>
          </a:p>
        </p:txBody>
      </p:sp>
      <p:sp>
        <p:nvSpPr>
          <p:cNvPr id="3" name="Content Placeholder 2"/>
          <p:cNvSpPr>
            <a:spLocks noGrp="1"/>
          </p:cNvSpPr>
          <p:nvPr>
            <p:ph idx="1"/>
          </p:nvPr>
        </p:nvSpPr>
        <p:spPr/>
        <p:txBody>
          <a:bodyPr>
            <a:normAutofit lnSpcReduction="10000"/>
          </a:bodyPr>
          <a:lstStyle/>
          <a:p>
            <a:r>
              <a:rPr lang="en-US" dirty="0">
                <a:latin typeface="+mj-lt"/>
              </a:rPr>
              <a:t>More data has been created in the past two years than in the entire previous history of the human race</a:t>
            </a:r>
          </a:p>
          <a:p>
            <a:pPr algn="l"/>
            <a:r>
              <a:rPr lang="en-US" i="0" dirty="0">
                <a:effectLst/>
                <a:latin typeface="+mj-lt"/>
              </a:rPr>
              <a:t>“With the rise of social media, people have come to rely on the internet to satisfy their daily data needs.</a:t>
            </a:r>
          </a:p>
          <a:p>
            <a:pPr algn="l"/>
            <a:r>
              <a:rPr lang="en-US" i="0" dirty="0">
                <a:effectLst/>
                <a:latin typeface="+mj-lt"/>
              </a:rPr>
              <a:t>In 2020, users generated 64.2 ZB of data, which exceeded the number of detectable stars in the cosmos. Experts expect the figures to rise, with data creation reaching 147 ZB by the end of 2024.</a:t>
            </a:r>
          </a:p>
        </p:txBody>
      </p:sp>
      <p:sp>
        <p:nvSpPr>
          <p:cNvPr id="4" name="Rectangle 3"/>
          <p:cNvSpPr/>
          <p:nvPr/>
        </p:nvSpPr>
        <p:spPr>
          <a:xfrm>
            <a:off x="3276600" y="6248400"/>
            <a:ext cx="4546437" cy="369332"/>
          </a:xfrm>
          <a:prstGeom prst="rect">
            <a:avLst/>
          </a:prstGeom>
        </p:spPr>
        <p:txBody>
          <a:bodyPr wrap="none">
            <a:spAutoFit/>
          </a:bodyPr>
          <a:lstStyle/>
          <a:p>
            <a:r>
              <a:rPr lang="en-US" dirty="0"/>
              <a:t>Sources: Forbes Online, Edgedelta.com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F973C-9D0A-255C-A8AD-E5492F926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B33D5-02EC-590A-A903-E7C4EB149CC9}"/>
              </a:ext>
            </a:extLst>
          </p:cNvPr>
          <p:cNvSpPr>
            <a:spLocks noGrp="1"/>
          </p:cNvSpPr>
          <p:nvPr>
            <p:ph type="title"/>
          </p:nvPr>
        </p:nvSpPr>
        <p:spPr/>
        <p:txBody>
          <a:bodyPr/>
          <a:lstStyle/>
          <a:p>
            <a:r>
              <a:rPr lang="en-US" dirty="0"/>
              <a:t>How Fast Is Data Growing?	</a:t>
            </a:r>
          </a:p>
        </p:txBody>
      </p:sp>
      <p:sp>
        <p:nvSpPr>
          <p:cNvPr id="3" name="Content Placeholder 2">
            <a:extLst>
              <a:ext uri="{FF2B5EF4-FFF2-40B4-BE49-F238E27FC236}">
                <a16:creationId xmlns:a16="http://schemas.microsoft.com/office/drawing/2014/main" id="{0DF55869-8A51-F2FE-07EC-49A711029ADF}"/>
              </a:ext>
            </a:extLst>
          </p:cNvPr>
          <p:cNvSpPr>
            <a:spLocks noGrp="1"/>
          </p:cNvSpPr>
          <p:nvPr>
            <p:ph idx="1"/>
          </p:nvPr>
        </p:nvSpPr>
        <p:spPr/>
        <p:txBody>
          <a:bodyPr>
            <a:normAutofit fontScale="70000" lnSpcReduction="20000"/>
          </a:bodyPr>
          <a:lstStyle/>
          <a:p>
            <a:r>
              <a:rPr lang="en-US" dirty="0">
                <a:latin typeface="+mj-lt"/>
              </a:rPr>
              <a:t>With around 5.35 billion internet users worldwide, each person can potentially generate approximately 15.87 TB of data daily.</a:t>
            </a:r>
          </a:p>
          <a:p>
            <a:r>
              <a:rPr lang="en-US" dirty="0">
                <a:latin typeface="+mj-lt"/>
              </a:rPr>
              <a:t>Facebook produces approximately 4,000 TB daily, ranking #1 in most visited sites globally in 2023.</a:t>
            </a:r>
          </a:p>
          <a:p>
            <a:r>
              <a:rPr lang="en-US" dirty="0">
                <a:latin typeface="+mj-lt"/>
              </a:rPr>
              <a:t>X (Twitter) garners around 500 million tweets daily, which amounts to 560 GB of data.</a:t>
            </a:r>
          </a:p>
          <a:p>
            <a:r>
              <a:rPr lang="en-US" dirty="0">
                <a:latin typeface="+mj-lt"/>
              </a:rPr>
              <a:t>In 2024, on average, TikTok videos produce approximately 7.35 TB of data daily.</a:t>
            </a:r>
          </a:p>
          <a:p>
            <a:r>
              <a:rPr lang="en-US" dirty="0">
                <a:latin typeface="+mj-lt"/>
              </a:rPr>
              <a:t>YouTube hosted over 720,000 hours of videos daily in 2023, which is equivalent to about 4.3 PB of data.</a:t>
            </a:r>
          </a:p>
          <a:p>
            <a:r>
              <a:rPr lang="en-US" dirty="0">
                <a:latin typeface="+mj-lt"/>
              </a:rPr>
              <a:t>Google processes around 3.5 billion searches daily, amounting to 20 PB.</a:t>
            </a:r>
          </a:p>
          <a:p>
            <a:r>
              <a:rPr lang="en-US" dirty="0">
                <a:latin typeface="+mj-lt"/>
              </a:rPr>
              <a:t>In 2023, the average internet user created about 1.7 MB of data per second, equal to 146,880 MB daily.</a:t>
            </a:r>
          </a:p>
          <a:p>
            <a:r>
              <a:rPr lang="en-US" dirty="0">
                <a:latin typeface="+mj-lt"/>
              </a:rPr>
              <a:t>An average household of 4 can create about 506,736 MB of data daily.</a:t>
            </a:r>
            <a:endParaRPr lang="en-US" i="0" dirty="0">
              <a:effectLst/>
              <a:latin typeface="+mj-lt"/>
            </a:endParaRPr>
          </a:p>
        </p:txBody>
      </p:sp>
      <p:sp>
        <p:nvSpPr>
          <p:cNvPr id="4" name="Rectangle 3">
            <a:extLst>
              <a:ext uri="{FF2B5EF4-FFF2-40B4-BE49-F238E27FC236}">
                <a16:creationId xmlns:a16="http://schemas.microsoft.com/office/drawing/2014/main" id="{B7B5532F-C40A-3600-93B0-F692712579F9}"/>
              </a:ext>
            </a:extLst>
          </p:cNvPr>
          <p:cNvSpPr/>
          <p:nvPr/>
        </p:nvSpPr>
        <p:spPr>
          <a:xfrm>
            <a:off x="3276600" y="6248400"/>
            <a:ext cx="2847254" cy="369332"/>
          </a:xfrm>
          <a:prstGeom prst="rect">
            <a:avLst/>
          </a:prstGeom>
        </p:spPr>
        <p:txBody>
          <a:bodyPr wrap="none">
            <a:spAutoFit/>
          </a:bodyPr>
          <a:lstStyle/>
          <a:p>
            <a:r>
              <a:rPr lang="en-US"/>
              <a:t>Sources: Edgedelta</a:t>
            </a:r>
            <a:r>
              <a:rPr lang="en-US" dirty="0"/>
              <a:t>.com</a:t>
            </a:r>
          </a:p>
        </p:txBody>
      </p:sp>
    </p:spTree>
    <p:extLst>
      <p:ext uri="{BB962C8B-B14F-4D97-AF65-F5344CB8AC3E}">
        <p14:creationId xmlns:p14="http://schemas.microsoft.com/office/powerpoint/2010/main" val="210049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Computer Crimes Unit (CCU)">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73050"/>
            <a:ext cx="8229600" cy="1144588"/>
          </a:xfrm>
        </p:spPr>
        <p:txBody>
          <a:bodyPr wrap="square" lIns="90000" tIns="45000" rIns="90000" bIns="45000" anchor="t"/>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Computer Crimes Unit (CCU)</a:t>
            </a:r>
          </a:p>
        </p:txBody>
      </p:sp>
      <p:sp>
        <p:nvSpPr>
          <p:cNvPr id="3" name="Content Placeholder 2"/>
          <p:cNvSpPr txBox="1">
            <a:spLocks noGrp="1"/>
          </p:cNvSpPr>
          <p:nvPr>
            <p:ph type="body" idx="4294967295"/>
          </p:nvPr>
        </p:nvSpPr>
        <p:spPr>
          <a:xfrm>
            <a:off x="0" y="1604963"/>
            <a:ext cx="8229600" cy="4525962"/>
          </a:xfrm>
        </p:spPr>
        <p:txBody>
          <a:bodyPr wrap="square" lIns="90000" tIns="45000" rIns="90000" bIns="45000" anchor="t"/>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marL="0" lvl="0" indent="0">
              <a:spcBef>
                <a:spcPts val="638"/>
              </a:spcBef>
              <a:spcAft>
                <a:spcPts val="0"/>
              </a:spcAft>
              <a:buClr>
                <a:srgbClr val="996666"/>
              </a:buClr>
              <a:buSzPct val="80000"/>
              <a:buFont typeface="Wingdings"/>
              <a:buChar char="l"/>
            </a:pPr>
            <a:r>
              <a:rPr lang="en-US" sz="4000" dirty="0">
                <a:latin typeface="Arial" pitchFamily="18"/>
              </a:rPr>
              <a:t>-Two full time Detectives</a:t>
            </a:r>
          </a:p>
          <a:p>
            <a:pPr marL="0" lvl="0" indent="0">
              <a:spcBef>
                <a:spcPts val="638"/>
              </a:spcBef>
              <a:spcAft>
                <a:spcPts val="0"/>
              </a:spcAft>
              <a:buClr>
                <a:srgbClr val="996666"/>
              </a:buClr>
              <a:buSzPct val="80000"/>
              <a:buFont typeface="Wingdings"/>
              <a:buChar char="l"/>
            </a:pPr>
            <a:r>
              <a:rPr lang="en-US" sz="4000" dirty="0">
                <a:latin typeface="Arial" pitchFamily="18"/>
              </a:rPr>
              <a:t>-Several part-time collateral Detectives</a:t>
            </a:r>
          </a:p>
          <a:p>
            <a:pPr marL="0" lvl="0" indent="0">
              <a:spcBef>
                <a:spcPts val="638"/>
              </a:spcBef>
              <a:spcAft>
                <a:spcPts val="0"/>
              </a:spcAft>
              <a:buClr>
                <a:srgbClr val="996666"/>
              </a:buClr>
              <a:buSzPct val="80000"/>
              <a:buFont typeface="Wingdings"/>
              <a:buChar char="l"/>
            </a:pPr>
            <a:r>
              <a:rPr lang="en-US" sz="4000" dirty="0">
                <a:latin typeface="Arial" pitchFamily="18"/>
              </a:rPr>
              <a:t>One Supervisor (Fraud Sgt)</a:t>
            </a:r>
          </a:p>
          <a:p>
            <a:pPr marL="0" lvl="0" indent="0">
              <a:spcBef>
                <a:spcPts val="638"/>
              </a:spcBef>
              <a:spcAft>
                <a:spcPts val="0"/>
              </a:spcAft>
              <a:buClr>
                <a:srgbClr val="996666"/>
              </a:buClr>
              <a:buSzPct val="80000"/>
              <a:buNone/>
            </a:pPr>
            <a:endParaRPr lang="en-US" sz="4000" dirty="0">
              <a:latin typeface="Arial" pitchFamily="18"/>
            </a:endParaRPr>
          </a:p>
          <a:p>
            <a:pPr marL="0" lvl="0" indent="0">
              <a:spcBef>
                <a:spcPts val="638"/>
              </a:spcBef>
              <a:spcAft>
                <a:spcPts val="0"/>
              </a:spcAft>
              <a:buNone/>
            </a:pPr>
            <a:endParaRPr lang="en-US" dirty="0">
              <a:latin typeface="Arial" pitchFamily="18"/>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name="ASSIGNED DUTIES ">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73050"/>
            <a:ext cx="8229600" cy="1144588"/>
          </a:xfrm>
        </p:spPr>
        <p:txBody>
          <a:bodyPr wrap="square" lIns="90000" tIns="45000" rIns="90000" bIns="45000" anchor="t"/>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ASSIGNED DUTIES	</a:t>
            </a:r>
          </a:p>
        </p:txBody>
      </p:sp>
      <p:sp>
        <p:nvSpPr>
          <p:cNvPr id="3" name="Content Placeholder 2"/>
          <p:cNvSpPr txBox="1">
            <a:spLocks noGrp="1"/>
          </p:cNvSpPr>
          <p:nvPr>
            <p:ph type="body" idx="4294967295"/>
          </p:nvPr>
        </p:nvSpPr>
        <p:spPr>
          <a:xfrm>
            <a:off x="152400" y="1143000"/>
            <a:ext cx="8229600" cy="4525962"/>
          </a:xfrm>
        </p:spPr>
        <p:txBody>
          <a:bodyPr wrap="square" lIns="90000" tIns="45000" rIns="90000" bIns="45000" anchor="t">
            <a:normAutofit/>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marL="0" lvl="0" indent="0">
              <a:spcBef>
                <a:spcPts val="638"/>
              </a:spcBef>
              <a:spcAft>
                <a:spcPts val="0"/>
              </a:spcAft>
              <a:buClr>
                <a:srgbClr val="996666"/>
              </a:buClr>
              <a:buSzPct val="80000"/>
              <a:buFont typeface="Wingdings"/>
              <a:buChar char="l"/>
            </a:pPr>
            <a:r>
              <a:rPr lang="en-US" dirty="0">
                <a:latin typeface="Arial" pitchFamily="18"/>
              </a:rPr>
              <a:t>-All forensic and digital media exams for department</a:t>
            </a:r>
          </a:p>
          <a:p>
            <a:pPr marL="0" lvl="0" indent="0">
              <a:spcBef>
                <a:spcPts val="638"/>
              </a:spcBef>
              <a:spcAft>
                <a:spcPts val="0"/>
              </a:spcAft>
              <a:buClr>
                <a:srgbClr val="996666"/>
              </a:buClr>
              <a:buSzPct val="80000"/>
              <a:buFont typeface="Wingdings"/>
              <a:buChar char="l"/>
            </a:pPr>
            <a:r>
              <a:rPr lang="en-US" dirty="0">
                <a:latin typeface="Arial" pitchFamily="18"/>
              </a:rPr>
              <a:t>-Forensic exams for affiliate or other local agencies (P&amp;P, Storey County, Lyon County, Carson City, Douglas, NDI, NHP, USSS, DEA, etc)</a:t>
            </a:r>
          </a:p>
          <a:p>
            <a:pPr marL="0" lvl="0" indent="0">
              <a:spcBef>
                <a:spcPts val="638"/>
              </a:spcBef>
              <a:spcAft>
                <a:spcPts val="0"/>
              </a:spcAft>
              <a:buClr>
                <a:srgbClr val="996666"/>
              </a:buClr>
              <a:buSzPct val="80000"/>
              <a:buFont typeface="Wingdings"/>
              <a:buChar char="l"/>
            </a:pPr>
            <a:r>
              <a:rPr lang="en-US" dirty="0">
                <a:latin typeface="Arial" pitchFamily="18"/>
              </a:rPr>
              <a:t>-Internal data recovery</a:t>
            </a:r>
          </a:p>
          <a:p>
            <a:pPr marL="0" lvl="0" indent="0">
              <a:spcBef>
                <a:spcPts val="638"/>
              </a:spcBef>
              <a:spcAft>
                <a:spcPts val="0"/>
              </a:spcAft>
              <a:buClr>
                <a:srgbClr val="996666"/>
              </a:buClr>
              <a:buSzPct val="80000"/>
              <a:buFont typeface="Wingdings"/>
              <a:buChar char="l"/>
            </a:pPr>
            <a:r>
              <a:rPr lang="en-US" dirty="0">
                <a:latin typeface="Arial" pitchFamily="18"/>
              </a:rPr>
              <a:t>-Archive all exam data, reports, evidence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name="ASSIGNED DUTIES Con’t">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73050"/>
            <a:ext cx="8229600" cy="1144588"/>
          </a:xfrm>
        </p:spPr>
        <p:txBody>
          <a:bodyPr wrap="square" lIns="90000" tIns="45000" rIns="90000" bIns="45000" anchor="t"/>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ASSIGNED DUTIES </a:t>
            </a:r>
            <a:r>
              <a:rPr lang="en-US" dirty="0" err="1"/>
              <a:t>Con’t</a:t>
            </a:r>
            <a:endParaRPr lang="en-US" dirty="0"/>
          </a:p>
        </p:txBody>
      </p:sp>
      <p:sp>
        <p:nvSpPr>
          <p:cNvPr id="3" name="Content Placeholder 2"/>
          <p:cNvSpPr txBox="1">
            <a:spLocks noGrp="1"/>
          </p:cNvSpPr>
          <p:nvPr>
            <p:ph type="body" idx="4294967295"/>
          </p:nvPr>
        </p:nvSpPr>
        <p:spPr>
          <a:xfrm>
            <a:off x="304800" y="1219200"/>
            <a:ext cx="8229600" cy="4525962"/>
          </a:xfrm>
        </p:spPr>
        <p:txBody>
          <a:bodyPr wrap="square" lIns="90000" tIns="45000" rIns="90000" bIns="45000" anchor="t"/>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marL="0" lvl="0" indent="0">
              <a:spcBef>
                <a:spcPts val="638"/>
              </a:spcBef>
              <a:spcAft>
                <a:spcPts val="0"/>
              </a:spcAft>
              <a:buClr>
                <a:srgbClr val="996666"/>
              </a:buClr>
              <a:buSzPct val="80000"/>
              <a:buFont typeface="Wingdings"/>
              <a:buChar char="l"/>
            </a:pPr>
            <a:r>
              <a:rPr lang="en-US" dirty="0">
                <a:latin typeface="Arial" pitchFamily="18"/>
              </a:rPr>
              <a:t>-Manage CCU budget</a:t>
            </a:r>
          </a:p>
          <a:p>
            <a:pPr marL="0" lvl="0" indent="0">
              <a:spcBef>
                <a:spcPts val="638"/>
              </a:spcBef>
              <a:spcAft>
                <a:spcPts val="0"/>
              </a:spcAft>
              <a:buClr>
                <a:srgbClr val="996666"/>
              </a:buClr>
              <a:buSzPct val="80000"/>
              <a:buFont typeface="Wingdings"/>
              <a:buChar char="l"/>
            </a:pPr>
            <a:r>
              <a:rPr lang="en-US" dirty="0">
                <a:latin typeface="Arial" pitchFamily="18"/>
              </a:rPr>
              <a:t>-Monitor/Manage CCU Equipment, </a:t>
            </a:r>
            <a:r>
              <a:rPr lang="en-US" dirty="0" err="1">
                <a:latin typeface="Arial" pitchFamily="18"/>
              </a:rPr>
              <a:t>lic</a:t>
            </a:r>
            <a:r>
              <a:rPr lang="en-US" dirty="0">
                <a:latin typeface="Arial" pitchFamily="18"/>
              </a:rPr>
              <a:t>. fees, software, etc.</a:t>
            </a:r>
          </a:p>
          <a:p>
            <a:pPr marL="0" lvl="0" indent="0">
              <a:spcBef>
                <a:spcPts val="638"/>
              </a:spcBef>
              <a:spcAft>
                <a:spcPts val="0"/>
              </a:spcAft>
              <a:buClr>
                <a:srgbClr val="996666"/>
              </a:buClr>
              <a:buSzPct val="80000"/>
              <a:buFont typeface="Wingdings"/>
              <a:buChar char="l"/>
            </a:pPr>
            <a:r>
              <a:rPr lang="en-US" dirty="0">
                <a:latin typeface="Arial" pitchFamily="18"/>
              </a:rPr>
              <a:t>-Assigned other projects related to pretty much anything digital</a:t>
            </a:r>
          </a:p>
          <a:p>
            <a:pPr marL="0" lvl="0" indent="0">
              <a:spcBef>
                <a:spcPts val="638"/>
              </a:spcBef>
              <a:spcAft>
                <a:spcPts val="0"/>
              </a:spcAft>
              <a:buClr>
                <a:srgbClr val="996666"/>
              </a:buClr>
              <a:buSzPct val="80000"/>
              <a:buFont typeface="Wingdings"/>
              <a:buChar char="l"/>
            </a:pPr>
            <a:r>
              <a:rPr lang="en-US" dirty="0">
                <a:latin typeface="Arial" pitchFamily="18"/>
              </a:rPr>
              <a:t>Advise other agencies on exams, tools, etc.</a:t>
            </a:r>
          </a:p>
          <a:p>
            <a:pPr marL="0" lvl="0" indent="0">
              <a:spcBef>
                <a:spcPts val="638"/>
              </a:spcBef>
              <a:spcAft>
                <a:spcPts val="0"/>
              </a:spcAft>
              <a:buNone/>
            </a:pPr>
            <a:endParaRPr lang="en-US" dirty="0">
              <a:latin typeface="Arial" pitchFamily="18"/>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name="EQUIPMENT ">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73050"/>
            <a:ext cx="8229600" cy="1144588"/>
          </a:xfrm>
        </p:spPr>
        <p:txBody>
          <a:bodyPr wrap="square" lIns="90000" tIns="45000" rIns="90000" bIns="45000" anchor="t"/>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EQUIPMENT</a:t>
            </a:r>
            <a:r>
              <a:rPr lang="en-US" dirty="0">
                <a:solidFill>
                  <a:srgbClr val="FFFFFF"/>
                </a:solidFill>
              </a:rPr>
              <a:t>	</a:t>
            </a:r>
          </a:p>
        </p:txBody>
      </p:sp>
      <p:sp>
        <p:nvSpPr>
          <p:cNvPr id="3" name="Text Placeholder 2"/>
          <p:cNvSpPr txBox="1">
            <a:spLocks noGrp="1"/>
          </p:cNvSpPr>
          <p:nvPr>
            <p:ph type="body" idx="4294967295"/>
          </p:nvPr>
        </p:nvSpPr>
        <p:spPr>
          <a:xfrm>
            <a:off x="0" y="1604963"/>
            <a:ext cx="8229600" cy="3785652"/>
          </a:xfrm>
        </p:spPr>
        <p:txBody>
          <a:bodyPr wrap="square">
            <a:spAutoFit/>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marL="0" lvl="0" indent="0">
              <a:spcBef>
                <a:spcPts val="638"/>
              </a:spcBef>
              <a:spcAft>
                <a:spcPts val="0"/>
              </a:spcAft>
              <a:buClr>
                <a:srgbClr val="996666"/>
              </a:buClr>
              <a:buSzPct val="80000"/>
              <a:buFont typeface="Wingdings"/>
              <a:buChar char="l"/>
            </a:pPr>
            <a:r>
              <a:rPr lang="en-US" sz="4000" dirty="0">
                <a:latin typeface="Arial" pitchFamily="18"/>
              </a:rPr>
              <a:t>FRED (x3), Tableau (TD1 and physical </a:t>
            </a:r>
            <a:r>
              <a:rPr lang="en-US" sz="4000" dirty="0" err="1">
                <a:latin typeface="Arial" pitchFamily="18"/>
              </a:rPr>
              <a:t>writeblockers</a:t>
            </a:r>
            <a:r>
              <a:rPr lang="en-US" sz="4000" dirty="0">
                <a:latin typeface="Arial" pitchFamily="18"/>
              </a:rPr>
              <a:t>, Ultra Bay II), </a:t>
            </a:r>
            <a:r>
              <a:rPr lang="en-US" sz="4000" dirty="0" err="1">
                <a:latin typeface="Arial" pitchFamily="18"/>
              </a:rPr>
              <a:t>MacBook</a:t>
            </a:r>
            <a:r>
              <a:rPr lang="en-US" sz="4000" dirty="0">
                <a:latin typeface="Arial" pitchFamily="18"/>
              </a:rPr>
              <a:t> Pros (x4), UFED Touch (x4), external storage, Faraday Enclosure, about a billion flash drives</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descr="DSC02702.JPG"/>
          <p:cNvPicPr>
            <a:picLocks noGrp="1" noChangeAspect="1"/>
          </p:cNvPicPr>
          <p:nvPr>
            <p:ph idx="1"/>
          </p:nvPr>
        </p:nvPicPr>
        <p:blipFill>
          <a:blip r:embed="rId2" cstate="print"/>
          <a:stretch>
            <a:fillRect/>
          </a:stretch>
        </p:blipFill>
        <p:spPr>
          <a:xfrm>
            <a:off x="304800" y="381000"/>
            <a:ext cx="8636000" cy="647700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RPD CCU Lab</a:t>
            </a:r>
          </a:p>
        </p:txBody>
      </p:sp>
      <p:pic>
        <p:nvPicPr>
          <p:cNvPr id="4" name="Content Placeholder 3" descr="DSC02698.JPG"/>
          <p:cNvPicPr>
            <a:picLocks noGrp="1" noChangeAspect="1"/>
          </p:cNvPicPr>
          <p:nvPr>
            <p:ph idx="1"/>
          </p:nvPr>
        </p:nvPicPr>
        <p:blipFill>
          <a:blip r:embed="rId2" cstate="print"/>
          <a:stretch>
            <a:fillRect/>
          </a:stretch>
        </p:blipFill>
        <p:spPr>
          <a:xfrm>
            <a:off x="609600" y="1123950"/>
            <a:ext cx="7645400" cy="5734050"/>
          </a:xfrm>
        </p:spPr>
      </p:pic>
      <p:sp>
        <p:nvSpPr>
          <p:cNvPr id="5" name="Rectangle 4"/>
          <p:cNvSpPr/>
          <p:nvPr/>
        </p:nvSpPr>
        <p:spPr bwMode="auto">
          <a:xfrm>
            <a:off x="1981200" y="3505200"/>
            <a:ext cx="2286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6" name="Rectangle 5"/>
          <p:cNvSpPr/>
          <p:nvPr/>
        </p:nvSpPr>
        <p:spPr bwMode="auto">
          <a:xfrm>
            <a:off x="6096000" y="5562600"/>
            <a:ext cx="1524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7" name="Rectangle 6"/>
          <p:cNvSpPr/>
          <p:nvPr/>
        </p:nvSpPr>
        <p:spPr bwMode="auto">
          <a:xfrm>
            <a:off x="6781800" y="6400800"/>
            <a:ext cx="3810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8" name="Rectangle 7"/>
          <p:cNvSpPr/>
          <p:nvPr/>
        </p:nvSpPr>
        <p:spPr bwMode="auto">
          <a:xfrm>
            <a:off x="8077200" y="6019800"/>
            <a:ext cx="1524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9" name="Rectangle 8"/>
          <p:cNvSpPr/>
          <p:nvPr/>
        </p:nvSpPr>
        <p:spPr bwMode="auto">
          <a:xfrm>
            <a:off x="1981200" y="4267200"/>
            <a:ext cx="609600" cy="914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RPD CCU Lab</a:t>
            </a:r>
          </a:p>
        </p:txBody>
      </p:sp>
      <p:pic>
        <p:nvPicPr>
          <p:cNvPr id="4" name="Content Placeholder 3" descr="DSC02699.JPG"/>
          <p:cNvPicPr>
            <a:picLocks noGrp="1" noChangeAspect="1"/>
          </p:cNvPicPr>
          <p:nvPr>
            <p:ph idx="1"/>
          </p:nvPr>
        </p:nvPicPr>
        <p:blipFill>
          <a:blip r:embed="rId2" cstate="print"/>
          <a:stretch>
            <a:fillRect/>
          </a:stretch>
        </p:blipFill>
        <p:spPr>
          <a:xfrm>
            <a:off x="609600" y="1009650"/>
            <a:ext cx="7797800" cy="5848350"/>
          </a:xfrm>
        </p:spPr>
      </p:pic>
      <p:sp>
        <p:nvSpPr>
          <p:cNvPr id="7" name="Rectangle 6"/>
          <p:cNvSpPr/>
          <p:nvPr/>
        </p:nvSpPr>
        <p:spPr bwMode="auto">
          <a:xfrm>
            <a:off x="7696200" y="4038600"/>
            <a:ext cx="152400" cy="533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8" name="Rectangle 7"/>
          <p:cNvSpPr/>
          <p:nvPr/>
        </p:nvSpPr>
        <p:spPr bwMode="auto">
          <a:xfrm>
            <a:off x="7162800" y="3962400"/>
            <a:ext cx="152400" cy="533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9" name="Rectangle 8"/>
          <p:cNvSpPr/>
          <p:nvPr/>
        </p:nvSpPr>
        <p:spPr bwMode="auto">
          <a:xfrm>
            <a:off x="6705600" y="3810000"/>
            <a:ext cx="152400" cy="533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0" name="Rectangle 9"/>
          <p:cNvSpPr/>
          <p:nvPr/>
        </p:nvSpPr>
        <p:spPr bwMode="auto">
          <a:xfrm>
            <a:off x="6400800" y="3657600"/>
            <a:ext cx="152400" cy="533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1" name="Rectangle 10"/>
          <p:cNvSpPr/>
          <p:nvPr/>
        </p:nvSpPr>
        <p:spPr bwMode="auto">
          <a:xfrm>
            <a:off x="6629400" y="1905000"/>
            <a:ext cx="152400" cy="533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2" name="Rectangle 11"/>
          <p:cNvSpPr/>
          <p:nvPr/>
        </p:nvSpPr>
        <p:spPr bwMode="auto">
          <a:xfrm>
            <a:off x="8229600" y="2667000"/>
            <a:ext cx="152400" cy="533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3" name="Rectangle 12"/>
          <p:cNvSpPr/>
          <p:nvPr/>
        </p:nvSpPr>
        <p:spPr bwMode="auto">
          <a:xfrm flipH="1">
            <a:off x="6019800" y="3733800"/>
            <a:ext cx="152400" cy="381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4" name="Rectangle 13"/>
          <p:cNvSpPr/>
          <p:nvPr/>
        </p:nvSpPr>
        <p:spPr bwMode="auto">
          <a:xfrm>
            <a:off x="3048000" y="4114800"/>
            <a:ext cx="1524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5" name="Rectangle 14"/>
          <p:cNvSpPr/>
          <p:nvPr/>
        </p:nvSpPr>
        <p:spPr bwMode="auto">
          <a:xfrm>
            <a:off x="7391400" y="6019800"/>
            <a:ext cx="1524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fontScale="90000"/>
          </a:bodyPr>
          <a:lstStyle/>
          <a:p>
            <a:r>
              <a:rPr lang="en-US" dirty="0"/>
              <a:t>“Tupperware” case management</a:t>
            </a:r>
          </a:p>
        </p:txBody>
      </p:sp>
      <p:pic>
        <p:nvPicPr>
          <p:cNvPr id="4" name="Content Placeholder 3" descr="DSC02700.JPG"/>
          <p:cNvPicPr>
            <a:picLocks noGrp="1" noChangeAspect="1"/>
          </p:cNvPicPr>
          <p:nvPr>
            <p:ph idx="1"/>
          </p:nvPr>
        </p:nvPicPr>
        <p:blipFill>
          <a:blip r:embed="rId2" cstate="print"/>
          <a:stretch>
            <a:fillRect/>
          </a:stretch>
        </p:blipFill>
        <p:spPr>
          <a:xfrm>
            <a:off x="228600" y="914400"/>
            <a:ext cx="8686800" cy="5943600"/>
          </a:xfrm>
        </p:spPr>
      </p:pic>
      <p:sp>
        <p:nvSpPr>
          <p:cNvPr id="5" name="Rectangle 4"/>
          <p:cNvSpPr/>
          <p:nvPr/>
        </p:nvSpPr>
        <p:spPr bwMode="auto">
          <a:xfrm>
            <a:off x="6477000" y="4191000"/>
            <a:ext cx="304800" cy="762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6" name="Rectangle 5"/>
          <p:cNvSpPr/>
          <p:nvPr/>
        </p:nvSpPr>
        <p:spPr bwMode="auto">
          <a:xfrm>
            <a:off x="7315200" y="2438400"/>
            <a:ext cx="304800" cy="762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7" name="Rectangle 6"/>
          <p:cNvSpPr/>
          <p:nvPr/>
        </p:nvSpPr>
        <p:spPr bwMode="auto">
          <a:xfrm>
            <a:off x="7620000" y="1066800"/>
            <a:ext cx="304800" cy="762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8" name="Rectangle 7"/>
          <p:cNvSpPr/>
          <p:nvPr/>
        </p:nvSpPr>
        <p:spPr bwMode="auto">
          <a:xfrm>
            <a:off x="4114800" y="1524000"/>
            <a:ext cx="228600" cy="381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9" name="Rectangle 8"/>
          <p:cNvSpPr/>
          <p:nvPr/>
        </p:nvSpPr>
        <p:spPr bwMode="auto">
          <a:xfrm>
            <a:off x="5562600" y="4419600"/>
            <a:ext cx="228600" cy="457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0" name="Rectangle 9"/>
          <p:cNvSpPr/>
          <p:nvPr/>
        </p:nvSpPr>
        <p:spPr bwMode="auto">
          <a:xfrm>
            <a:off x="4648200" y="4267200"/>
            <a:ext cx="228600" cy="533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1" name="Rectangle 10"/>
          <p:cNvSpPr/>
          <p:nvPr/>
        </p:nvSpPr>
        <p:spPr bwMode="auto">
          <a:xfrm>
            <a:off x="3810000" y="4038600"/>
            <a:ext cx="228600" cy="609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Evidence Submission</a:t>
            </a:r>
          </a:p>
        </p:txBody>
      </p:sp>
      <p:pic>
        <p:nvPicPr>
          <p:cNvPr id="4" name="Content Placeholder 3" descr="DSC02703.JPG"/>
          <p:cNvPicPr>
            <a:picLocks noGrp="1" noChangeAspect="1"/>
          </p:cNvPicPr>
          <p:nvPr>
            <p:ph idx="1"/>
          </p:nvPr>
        </p:nvPicPr>
        <p:blipFill>
          <a:blip r:embed="rId2" cstate="print"/>
          <a:stretch>
            <a:fillRect/>
          </a:stretch>
        </p:blipFill>
        <p:spPr>
          <a:xfrm>
            <a:off x="762000" y="1123950"/>
            <a:ext cx="7645400" cy="5734050"/>
          </a:xfrm>
        </p:spPr>
      </p:pic>
      <p:sp>
        <p:nvSpPr>
          <p:cNvPr id="5" name="Rectangle 4"/>
          <p:cNvSpPr/>
          <p:nvPr/>
        </p:nvSpPr>
        <p:spPr bwMode="auto">
          <a:xfrm>
            <a:off x="5867400" y="5105400"/>
            <a:ext cx="1524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6" name="Rectangle 5"/>
          <p:cNvSpPr/>
          <p:nvPr/>
        </p:nvSpPr>
        <p:spPr bwMode="auto">
          <a:xfrm>
            <a:off x="5867400" y="5715000"/>
            <a:ext cx="1524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8" name="Rectangle 7"/>
          <p:cNvSpPr/>
          <p:nvPr/>
        </p:nvSpPr>
        <p:spPr bwMode="auto">
          <a:xfrm>
            <a:off x="4495800" y="5638800"/>
            <a:ext cx="1524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9" name="Rectangle 8"/>
          <p:cNvSpPr/>
          <p:nvPr/>
        </p:nvSpPr>
        <p:spPr bwMode="auto">
          <a:xfrm>
            <a:off x="4419600" y="5029200"/>
            <a:ext cx="1524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
        <p:nvSpPr>
          <p:cNvPr id="10" name="Rectangle 9"/>
          <p:cNvSpPr/>
          <p:nvPr/>
        </p:nvSpPr>
        <p:spPr bwMode="auto">
          <a:xfrm>
            <a:off x="3200400" y="2514600"/>
            <a:ext cx="152400" cy="762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oftware – Dead Box">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73050"/>
            <a:ext cx="8229600" cy="1144588"/>
          </a:xfrm>
        </p:spPr>
        <p:txBody>
          <a:bodyPr wrap="square" lIns="90000" tIns="45000" rIns="90000" bIns="45000" anchor="t"/>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Software – Dead Box</a:t>
            </a:r>
          </a:p>
        </p:txBody>
      </p:sp>
      <p:sp>
        <p:nvSpPr>
          <p:cNvPr id="3" name="Content Placeholder 2"/>
          <p:cNvSpPr txBox="1">
            <a:spLocks noGrp="1"/>
          </p:cNvSpPr>
          <p:nvPr>
            <p:ph type="body" idx="4294967295"/>
          </p:nvPr>
        </p:nvSpPr>
        <p:spPr>
          <a:xfrm>
            <a:off x="152400" y="1295400"/>
            <a:ext cx="8229600" cy="4525962"/>
          </a:xfrm>
        </p:spPr>
        <p:txBody>
          <a:bodyPr wrap="square" lIns="90000" tIns="45000" rIns="90000" bIns="45000" anchor="t"/>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marL="0" lvl="0" indent="0">
              <a:spcBef>
                <a:spcPts val="638"/>
              </a:spcBef>
              <a:spcAft>
                <a:spcPts val="0"/>
              </a:spcAft>
              <a:buClr>
                <a:srgbClr val="996666"/>
              </a:buClr>
              <a:buSzPct val="80000"/>
              <a:buFont typeface="Wingdings"/>
              <a:buChar char="l"/>
            </a:pPr>
            <a:r>
              <a:rPr lang="en-US" dirty="0" err="1">
                <a:latin typeface="Arial" pitchFamily="18"/>
              </a:rPr>
              <a:t>EnCase</a:t>
            </a:r>
            <a:endParaRPr lang="en-US" dirty="0">
              <a:latin typeface="Arial" pitchFamily="18"/>
            </a:endParaRPr>
          </a:p>
          <a:p>
            <a:pPr marL="0" lvl="0" indent="0">
              <a:spcBef>
                <a:spcPts val="638"/>
              </a:spcBef>
              <a:spcAft>
                <a:spcPts val="0"/>
              </a:spcAft>
              <a:buClr>
                <a:srgbClr val="996666"/>
              </a:buClr>
              <a:buSzPct val="80000"/>
              <a:buFont typeface="Wingdings"/>
              <a:buChar char="l"/>
            </a:pPr>
            <a:r>
              <a:rPr lang="en-US" dirty="0">
                <a:latin typeface="Arial" pitchFamily="18"/>
              </a:rPr>
              <a:t>Access Data FTK </a:t>
            </a:r>
          </a:p>
          <a:p>
            <a:pPr marL="0" lvl="0" indent="0">
              <a:spcBef>
                <a:spcPts val="638"/>
              </a:spcBef>
              <a:spcAft>
                <a:spcPts val="0"/>
              </a:spcAft>
              <a:buClr>
                <a:srgbClr val="996666"/>
              </a:buClr>
              <a:buSzPct val="80000"/>
              <a:buFont typeface="Wingdings"/>
              <a:buChar char="l"/>
            </a:pPr>
            <a:r>
              <a:rPr lang="en-US" dirty="0">
                <a:latin typeface="Arial" pitchFamily="18"/>
              </a:rPr>
              <a:t>Magnet IEF/Axiom </a:t>
            </a:r>
          </a:p>
          <a:p>
            <a:pPr marL="0" lvl="0" indent="0">
              <a:spcBef>
                <a:spcPts val="638"/>
              </a:spcBef>
              <a:spcAft>
                <a:spcPts val="0"/>
              </a:spcAft>
              <a:buClr>
                <a:srgbClr val="996666"/>
              </a:buClr>
              <a:buSzPct val="80000"/>
              <a:buFont typeface="Wingdings"/>
              <a:buChar char="l"/>
            </a:pPr>
            <a:r>
              <a:rPr lang="en-US" dirty="0">
                <a:latin typeface="Arial" pitchFamily="18"/>
              </a:rPr>
              <a:t>X-Ways </a:t>
            </a:r>
          </a:p>
          <a:p>
            <a:pPr marL="0" lvl="0" indent="0">
              <a:spcBef>
                <a:spcPts val="638"/>
              </a:spcBef>
              <a:spcAft>
                <a:spcPts val="0"/>
              </a:spcAft>
              <a:buClr>
                <a:srgbClr val="996666"/>
              </a:buClr>
              <a:buSzPct val="80000"/>
              <a:buFont typeface="Wingdings"/>
              <a:buChar char="l"/>
            </a:pPr>
            <a:r>
              <a:rPr lang="en-US" dirty="0" err="1">
                <a:latin typeface="Arial" pitchFamily="18"/>
              </a:rPr>
              <a:t>BlackLight</a:t>
            </a:r>
            <a:r>
              <a:rPr lang="en-US" dirty="0">
                <a:latin typeface="Arial" pitchFamily="18"/>
              </a:rPr>
              <a:t> (Mac)</a:t>
            </a:r>
          </a:p>
          <a:p>
            <a:pPr marL="0" lvl="0" indent="0">
              <a:spcBef>
                <a:spcPts val="638"/>
              </a:spcBef>
              <a:spcAft>
                <a:spcPts val="0"/>
              </a:spcAft>
              <a:buClr>
                <a:srgbClr val="996666"/>
              </a:buClr>
              <a:buSzPct val="80000"/>
              <a:buFont typeface="Wingdings"/>
              <a:buChar char="l"/>
            </a:pPr>
            <a:r>
              <a:rPr lang="en-US" dirty="0" err="1">
                <a:latin typeface="Arial" pitchFamily="18"/>
              </a:rPr>
              <a:t>VMWare</a:t>
            </a:r>
            <a:endParaRPr lang="en-US" dirty="0">
              <a:latin typeface="Arial" pitchFamily="18"/>
            </a:endParaRPr>
          </a:p>
          <a:p>
            <a:pPr marL="0" lvl="0" indent="0">
              <a:spcBef>
                <a:spcPts val="638"/>
              </a:spcBef>
              <a:spcAft>
                <a:spcPts val="0"/>
              </a:spcAft>
              <a:buClr>
                <a:srgbClr val="996666"/>
              </a:buClr>
              <a:buSzPct val="80000"/>
              <a:buFont typeface="Wingdings"/>
              <a:buChar char="l"/>
            </a:pPr>
            <a:r>
              <a:rPr lang="en-US" dirty="0">
                <a:latin typeface="Arial" pitchFamily="18"/>
              </a:rPr>
              <a:t>Virtual Box</a:t>
            </a:r>
          </a:p>
          <a:p>
            <a:pPr marL="0" lvl="0" indent="0">
              <a:spcBef>
                <a:spcPts val="638"/>
              </a:spcBef>
              <a:spcAft>
                <a:spcPts val="0"/>
              </a:spcAft>
              <a:buClr>
                <a:srgbClr val="996666"/>
              </a:buClr>
              <a:buSzPct val="80000"/>
              <a:buFont typeface="Wingdings"/>
              <a:buChar char="l"/>
            </a:pPr>
            <a:r>
              <a:rPr lang="en-US" dirty="0">
                <a:latin typeface="Arial" pitchFamily="18"/>
              </a:rPr>
              <a:t>Autopsy (open source)</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name="Software – Phone/Mobile">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73050"/>
            <a:ext cx="8229600" cy="1144588"/>
          </a:xfrm>
        </p:spPr>
        <p:txBody>
          <a:bodyPr wrap="square" lIns="90000" tIns="45000" rIns="90000" bIns="45000" anchor="t"/>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Software – Phone/Mobile</a:t>
            </a:r>
          </a:p>
        </p:txBody>
      </p:sp>
      <p:sp>
        <p:nvSpPr>
          <p:cNvPr id="3" name="Content Placeholder 2"/>
          <p:cNvSpPr txBox="1">
            <a:spLocks noGrp="1"/>
          </p:cNvSpPr>
          <p:nvPr>
            <p:ph type="body" idx="4294967295"/>
          </p:nvPr>
        </p:nvSpPr>
        <p:spPr>
          <a:xfrm>
            <a:off x="0" y="1604963"/>
            <a:ext cx="8229600" cy="4525962"/>
          </a:xfrm>
        </p:spPr>
        <p:txBody>
          <a:bodyPr wrap="square" lIns="90000" tIns="45000" rIns="90000" bIns="45000" anchor="t">
            <a:normAutofit/>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marL="0" lvl="0" indent="0">
              <a:spcBef>
                <a:spcPts val="638"/>
              </a:spcBef>
              <a:spcAft>
                <a:spcPts val="0"/>
              </a:spcAft>
              <a:buClr>
                <a:srgbClr val="996666"/>
              </a:buClr>
              <a:buSzPct val="80000"/>
              <a:buFont typeface="Wingdings"/>
              <a:buChar char="l"/>
            </a:pPr>
            <a:r>
              <a:rPr lang="en-US" sz="4000" dirty="0" err="1">
                <a:latin typeface="Arial" pitchFamily="18"/>
              </a:rPr>
              <a:t>Cellebrite</a:t>
            </a:r>
            <a:r>
              <a:rPr lang="en-US" sz="4000" dirty="0">
                <a:latin typeface="Arial" pitchFamily="18"/>
              </a:rPr>
              <a:t> Physical Analyzer</a:t>
            </a:r>
          </a:p>
          <a:p>
            <a:pPr marL="0" lvl="0" indent="0">
              <a:spcBef>
                <a:spcPts val="638"/>
              </a:spcBef>
              <a:spcAft>
                <a:spcPts val="0"/>
              </a:spcAft>
              <a:buClr>
                <a:srgbClr val="996666"/>
              </a:buClr>
              <a:buSzPct val="80000"/>
              <a:buFont typeface="Wingdings"/>
              <a:buChar char="l"/>
            </a:pPr>
            <a:r>
              <a:rPr lang="en-US" sz="4000" dirty="0">
                <a:latin typeface="Arial" pitchFamily="18"/>
              </a:rPr>
              <a:t>Magnet Axiom </a:t>
            </a:r>
          </a:p>
          <a:p>
            <a:pPr marL="0" lvl="0" indent="0">
              <a:spcBef>
                <a:spcPts val="638"/>
              </a:spcBef>
              <a:spcAft>
                <a:spcPts val="0"/>
              </a:spcAft>
              <a:buClr>
                <a:srgbClr val="996666"/>
              </a:buClr>
              <a:buSzPct val="80000"/>
              <a:buFont typeface="Wingdings"/>
              <a:buChar char="l"/>
            </a:pPr>
            <a:r>
              <a:rPr lang="en-US" sz="4000" dirty="0">
                <a:latin typeface="Arial" pitchFamily="18"/>
              </a:rPr>
              <a:t>XRY </a:t>
            </a:r>
          </a:p>
          <a:p>
            <a:pPr marL="0" lvl="0" indent="0">
              <a:spcBef>
                <a:spcPts val="638"/>
              </a:spcBef>
              <a:spcAft>
                <a:spcPts val="0"/>
              </a:spcAft>
              <a:buClr>
                <a:srgbClr val="996666"/>
              </a:buClr>
              <a:buSzPct val="80000"/>
              <a:buFont typeface="Wingdings"/>
              <a:buChar char="l"/>
            </a:pPr>
            <a:r>
              <a:rPr lang="en-US" sz="4000" dirty="0" err="1">
                <a:latin typeface="Arial" pitchFamily="18"/>
              </a:rPr>
              <a:t>Paraben</a:t>
            </a:r>
            <a:r>
              <a:rPr lang="en-US" sz="4000" dirty="0">
                <a:latin typeface="Arial" pitchFamily="18"/>
              </a:rPr>
              <a:t> Device Seizure </a:t>
            </a:r>
          </a:p>
          <a:p>
            <a:pPr marL="0" lvl="0" indent="0">
              <a:spcBef>
                <a:spcPts val="638"/>
              </a:spcBef>
              <a:spcAft>
                <a:spcPts val="0"/>
              </a:spcAft>
              <a:buClr>
                <a:srgbClr val="996666"/>
              </a:buClr>
              <a:buSzPct val="80000"/>
              <a:buFont typeface="Wingdings"/>
              <a:buChar char="l"/>
            </a:pPr>
            <a:r>
              <a:rPr lang="en-US" sz="4000" dirty="0" err="1">
                <a:latin typeface="Arial" pitchFamily="18"/>
              </a:rPr>
              <a:t>Susteen</a:t>
            </a:r>
            <a:r>
              <a:rPr lang="en-US" sz="4000" dirty="0">
                <a:latin typeface="Arial" pitchFamily="18"/>
              </a:rPr>
              <a:t> Secure View </a:t>
            </a:r>
          </a:p>
          <a:p>
            <a:pPr marL="0" lvl="0" indent="0">
              <a:spcBef>
                <a:spcPts val="638"/>
              </a:spcBef>
              <a:spcAft>
                <a:spcPts val="0"/>
              </a:spcAft>
              <a:buClr>
                <a:srgbClr val="996666"/>
              </a:buClr>
              <a:buSzPct val="80000"/>
              <a:buFont typeface="Wingdings"/>
              <a:buChar char="l"/>
            </a:pPr>
            <a:r>
              <a:rPr lang="en-US" sz="4000" dirty="0">
                <a:latin typeface="Arial" pitchFamily="18"/>
              </a:rPr>
              <a:t>Internet Evidence Finder</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name="Software – Memory/Network">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73050"/>
            <a:ext cx="8229600" cy="1144588"/>
          </a:xfrm>
        </p:spPr>
        <p:txBody>
          <a:bodyPr wrap="square" lIns="90000" tIns="45000" rIns="90000" bIns="45000" anchor="t"/>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Software – Memory/Network</a:t>
            </a:r>
          </a:p>
        </p:txBody>
      </p:sp>
      <p:sp>
        <p:nvSpPr>
          <p:cNvPr id="3" name="Content Placeholder 2"/>
          <p:cNvSpPr txBox="1">
            <a:spLocks noGrp="1"/>
          </p:cNvSpPr>
          <p:nvPr>
            <p:ph type="body" idx="4294967295"/>
          </p:nvPr>
        </p:nvSpPr>
        <p:spPr>
          <a:xfrm>
            <a:off x="0" y="1604963"/>
            <a:ext cx="8229600" cy="4525962"/>
          </a:xfrm>
        </p:spPr>
        <p:txBody>
          <a:bodyPr wrap="square" lIns="90000" tIns="45000" rIns="90000" bIns="45000" anchor="t"/>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marL="0" lvl="0" indent="0">
              <a:spcBef>
                <a:spcPts val="638"/>
              </a:spcBef>
              <a:spcAft>
                <a:spcPts val="0"/>
              </a:spcAft>
              <a:buClr>
                <a:srgbClr val="996666"/>
              </a:buClr>
              <a:buSzPct val="80000"/>
              <a:buFont typeface="Wingdings"/>
              <a:buChar char="l"/>
            </a:pPr>
            <a:r>
              <a:rPr lang="en-US">
                <a:latin typeface="Arial" pitchFamily="18"/>
              </a:rPr>
              <a:t>OS Triage, IEF, Moonsols dumpit, VDC (Volatile Data Collector), Volatility, Redline, HBGary, Wireshark (network protocol analyzer), Sawmill (log analysis)</a:t>
            </a:r>
          </a:p>
          <a:p>
            <a:pPr marL="0" lvl="0" indent="0">
              <a:spcBef>
                <a:spcPts val="638"/>
              </a:spcBef>
              <a:spcAft>
                <a:spcPts val="0"/>
              </a:spcAft>
              <a:buClr>
                <a:srgbClr val="996666"/>
              </a:buClr>
              <a:buSzPct val="80000"/>
              <a:buFont typeface="Wingdings"/>
              <a:buChar char="l"/>
            </a:pPr>
            <a:r>
              <a:rPr lang="en-US">
                <a:latin typeface="Arial" pitchFamily="18"/>
              </a:rPr>
              <a:t>Notepad++ (Great for looking at server log files: +/- are your friend!!</a:t>
            </a:r>
          </a:p>
          <a:p>
            <a:pPr marL="0" lvl="0" indent="0">
              <a:spcBef>
                <a:spcPts val="638"/>
              </a:spcBef>
              <a:spcAft>
                <a:spcPts val="0"/>
              </a:spcAft>
              <a:buClr>
                <a:srgbClr val="996666"/>
              </a:buClr>
              <a:buSzPct val="80000"/>
              <a:buFont typeface="Wingdings"/>
              <a:buChar char="l"/>
            </a:pPr>
            <a:r>
              <a:rPr lang="en-US">
                <a:latin typeface="Arial" pitchFamily="18"/>
              </a:rPr>
              <a:t>VMWare, Virtual Box</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sp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Cell Phone/Mobile Exams</a:t>
            </a:r>
          </a:p>
        </p:txBody>
      </p:sp>
      <p:sp>
        <p:nvSpPr>
          <p:cNvPr id="3" name="Text Placeholder 2"/>
          <p:cNvSpPr txBox="1">
            <a:spLocks noGrp="1"/>
          </p:cNvSpPr>
          <p:nvPr>
            <p:ph type="body" idx="4294967295"/>
          </p:nvPr>
        </p:nvSpPr>
        <p:spPr>
          <a:xfrm>
            <a:off x="0" y="1600200"/>
            <a:ext cx="7924800" cy="4419600"/>
          </a:xfrm>
        </p:spPr>
        <p:txBody>
          <a:bodyPr lIns="0" tIns="0" rIns="0" bIns="0">
            <a:spAutoFit/>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a:latin typeface="" pitchFamily="18"/>
              </a:rPr>
              <a:t>Exam Request</a:t>
            </a:r>
          </a:p>
          <a:p>
            <a:pPr lvl="0"/>
            <a:r>
              <a:rPr lang="en-US">
                <a:latin typeface="" pitchFamily="18"/>
              </a:rPr>
              <a:t>Booking Evidence</a:t>
            </a:r>
          </a:p>
          <a:p>
            <a:pPr lvl="0"/>
            <a:r>
              <a:rPr lang="en-US">
                <a:latin typeface="" pitchFamily="18"/>
              </a:rPr>
              <a:t>Legal (consent, search clause, warrant)</a:t>
            </a:r>
          </a:p>
          <a:p>
            <a:pPr lvl="0"/>
            <a:r>
              <a:rPr lang="en-US">
                <a:latin typeface="" pitchFamily="18"/>
              </a:rPr>
              <a:t>Tool Selection (Murder vs DOP)</a:t>
            </a:r>
          </a:p>
          <a:p>
            <a:pPr lvl="0"/>
            <a:r>
              <a:rPr lang="en-US">
                <a:latin typeface="" pitchFamily="18"/>
              </a:rPr>
              <a:t>Report Generation (generic vs directed)</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Computer Forensics</a:t>
            </a:r>
          </a:p>
        </p:txBody>
      </p:sp>
      <p:sp>
        <p:nvSpPr>
          <p:cNvPr id="3" name="Text Placeholder 2"/>
          <p:cNvSpPr txBox="1">
            <a:spLocks noGrp="1"/>
          </p:cNvSpPr>
          <p:nvPr>
            <p:ph type="body" idx="4294967295"/>
          </p:nvPr>
        </p:nvSpPr>
        <p:spPr>
          <a:xfrm>
            <a:off x="0" y="1600200"/>
            <a:ext cx="7924800" cy="4419600"/>
          </a:xfrm>
        </p:spPr>
        <p:txBody>
          <a:bodyPr lIns="0" tIns="0" rIns="0" bIns="0">
            <a:normAutofit lnSpcReduction="10000"/>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sz="3600">
                <a:latin typeface="" pitchFamily="18"/>
              </a:rPr>
              <a:t>Exam Request</a:t>
            </a:r>
          </a:p>
          <a:p>
            <a:pPr lvl="0"/>
            <a:r>
              <a:rPr lang="en-US" sz="3600">
                <a:latin typeface="" pitchFamily="18"/>
              </a:rPr>
              <a:t>Booking Evidence</a:t>
            </a:r>
          </a:p>
          <a:p>
            <a:pPr lvl="0"/>
            <a:r>
              <a:rPr lang="en-US" sz="3600">
                <a:latin typeface="" pitchFamily="18"/>
              </a:rPr>
              <a:t>Legal (consent, search clause, warrant)</a:t>
            </a:r>
          </a:p>
          <a:p>
            <a:pPr lvl="0"/>
            <a:r>
              <a:rPr lang="en-US" sz="3600">
                <a:latin typeface="" pitchFamily="18"/>
              </a:rPr>
              <a:t>Tool Selection</a:t>
            </a:r>
          </a:p>
          <a:p>
            <a:pPr lvl="0"/>
            <a:r>
              <a:rPr lang="en-US" sz="3600">
                <a:latin typeface="" pitchFamily="18"/>
              </a:rPr>
              <a:t>Report Generation (generic vs directed</a:t>
            </a:r>
            <a:r>
              <a:rPr lang="en-US">
                <a:latin typeface="" pitchFamily="18"/>
              </a:rPr>
              <a: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Live Machine/Memory</a:t>
            </a:r>
          </a:p>
        </p:txBody>
      </p:sp>
      <p:sp>
        <p:nvSpPr>
          <p:cNvPr id="3" name="Text Placeholder 2"/>
          <p:cNvSpPr txBox="1">
            <a:spLocks noGrp="1"/>
          </p:cNvSpPr>
          <p:nvPr>
            <p:ph type="body" idx="4294967295"/>
          </p:nvPr>
        </p:nvSpPr>
        <p:spPr>
          <a:xfrm>
            <a:off x="228600" y="1066800"/>
            <a:ext cx="7924800" cy="4689475"/>
          </a:xfrm>
        </p:spPr>
        <p:txBody>
          <a:bodyPr lIns="0" tIns="0" rIns="0" bIns="0">
            <a:normAutofit lnSpcReduction="10000"/>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sz="4000" dirty="0">
                <a:latin typeface="" pitchFamily="18"/>
              </a:rPr>
              <a:t>Exam Request/Case assignment</a:t>
            </a:r>
          </a:p>
          <a:p>
            <a:pPr lvl="0"/>
            <a:r>
              <a:rPr lang="en-US" sz="4000" dirty="0">
                <a:latin typeface="" pitchFamily="18"/>
              </a:rPr>
              <a:t>Legal (consent, search clause, warrant)</a:t>
            </a:r>
          </a:p>
          <a:p>
            <a:pPr lvl="0"/>
            <a:r>
              <a:rPr lang="en-US" sz="4000" dirty="0">
                <a:latin typeface="" pitchFamily="18"/>
              </a:rPr>
              <a:t>Tool Selection (IOS Triage, </a:t>
            </a:r>
            <a:r>
              <a:rPr lang="en-US" sz="4000" dirty="0" err="1">
                <a:latin typeface="" pitchFamily="18"/>
              </a:rPr>
              <a:t>Dumpit</a:t>
            </a:r>
            <a:r>
              <a:rPr lang="en-US" sz="4000" dirty="0">
                <a:latin typeface="" pitchFamily="18"/>
              </a:rPr>
              <a:t>, FTK, IEF, Axiom)</a:t>
            </a:r>
          </a:p>
          <a:p>
            <a:pPr lvl="0"/>
            <a:r>
              <a:rPr lang="en-US" sz="4000" dirty="0">
                <a:latin typeface="" pitchFamily="18"/>
              </a:rPr>
              <a:t>*Recent Locations/activity</a:t>
            </a:r>
          </a:p>
          <a:p>
            <a:pPr lvl="0"/>
            <a:r>
              <a:rPr lang="en-US" sz="4000" dirty="0">
                <a:latin typeface="" pitchFamily="18"/>
              </a:rPr>
              <a:t>Malware Argument</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Network Intrusion Cases</a:t>
            </a:r>
          </a:p>
        </p:txBody>
      </p:sp>
      <p:sp>
        <p:nvSpPr>
          <p:cNvPr id="3" name="Text Placeholder 2"/>
          <p:cNvSpPr txBox="1">
            <a:spLocks noGrp="1"/>
          </p:cNvSpPr>
          <p:nvPr>
            <p:ph type="body" idx="4294967295"/>
          </p:nvPr>
        </p:nvSpPr>
        <p:spPr>
          <a:xfrm>
            <a:off x="381000" y="1524000"/>
            <a:ext cx="7924800" cy="4419600"/>
          </a:xfrm>
        </p:spPr>
        <p:txBody>
          <a:bodyPr lIns="0" tIns="0" rIns="0" bIns="0"/>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sz="4000" dirty="0">
                <a:latin typeface="" pitchFamily="18"/>
              </a:rPr>
              <a:t>Skimming</a:t>
            </a:r>
          </a:p>
          <a:p>
            <a:pPr lvl="0"/>
            <a:r>
              <a:rPr lang="en-US" sz="4000" dirty="0">
                <a:latin typeface="" pitchFamily="18"/>
              </a:rPr>
              <a:t>Back-of-house Server</a:t>
            </a:r>
          </a:p>
          <a:p>
            <a:pPr lvl="0"/>
            <a:r>
              <a:rPr lang="en-US" sz="4000" dirty="0">
                <a:latin typeface="" pitchFamily="18"/>
              </a:rPr>
              <a:t>POS systems</a:t>
            </a:r>
          </a:p>
          <a:p>
            <a:pPr lvl="0"/>
            <a:r>
              <a:rPr lang="en-US" sz="4000" dirty="0">
                <a:latin typeface="" pitchFamily="18"/>
              </a:rPr>
              <a:t>Social Networking hack</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Network Intrusion Cases</a:t>
            </a:r>
          </a:p>
        </p:txBody>
      </p:sp>
      <p:sp>
        <p:nvSpPr>
          <p:cNvPr id="3" name="Text Placeholder 2"/>
          <p:cNvSpPr txBox="1">
            <a:spLocks noGrp="1"/>
          </p:cNvSpPr>
          <p:nvPr>
            <p:ph type="body" idx="4294967295"/>
          </p:nvPr>
        </p:nvSpPr>
        <p:spPr>
          <a:xfrm>
            <a:off x="0" y="1371600"/>
            <a:ext cx="7924800" cy="4689475"/>
          </a:xfrm>
        </p:spPr>
        <p:txBody>
          <a:bodyPr lIns="0" tIns="0" rIns="0" bIns="0">
            <a:normAutofit lnSpcReduction="10000"/>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sz="4000" dirty="0">
                <a:latin typeface="" pitchFamily="18"/>
              </a:rPr>
              <a:t>Type: Malicious code, Probes/scans (Recon), DOS, Other</a:t>
            </a:r>
          </a:p>
          <a:p>
            <a:pPr lvl="0"/>
            <a:r>
              <a:rPr lang="en-US" sz="4000" dirty="0">
                <a:latin typeface="" pitchFamily="18"/>
              </a:rPr>
              <a:t>What was/is compromised?</a:t>
            </a:r>
          </a:p>
          <a:p>
            <a:pPr lvl="0"/>
            <a:r>
              <a:rPr lang="en-US" sz="4000" dirty="0">
                <a:latin typeface="" pitchFamily="18"/>
              </a:rPr>
              <a:t>Sensitive data</a:t>
            </a:r>
          </a:p>
          <a:p>
            <a:pPr lvl="0"/>
            <a:r>
              <a:rPr lang="en-US" sz="4000" dirty="0">
                <a:latin typeface="" pitchFamily="18"/>
              </a:rPr>
              <a:t>Other unclassified</a:t>
            </a:r>
          </a:p>
          <a:p>
            <a:pPr lvl="0"/>
            <a:r>
              <a:rPr lang="en-US" sz="4000" dirty="0">
                <a:latin typeface="" pitchFamily="18"/>
              </a:rPr>
              <a:t>Classified</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Legal</a:t>
            </a:r>
          </a:p>
        </p:txBody>
      </p:sp>
      <p:sp>
        <p:nvSpPr>
          <p:cNvPr id="3" name="Text Placeholder 2"/>
          <p:cNvSpPr txBox="1">
            <a:spLocks noGrp="1"/>
          </p:cNvSpPr>
          <p:nvPr>
            <p:ph type="body" idx="4294967295"/>
          </p:nvPr>
        </p:nvSpPr>
        <p:spPr>
          <a:xfrm>
            <a:off x="0" y="1600200"/>
            <a:ext cx="7924800" cy="4462463"/>
          </a:xfrm>
        </p:spPr>
        <p:txBody>
          <a:bodyPr lIns="0" tIns="0" rIns="0" bIns="0">
            <a:normAutofit fontScale="92500" lnSpcReduction="10000"/>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buNone/>
            </a:pPr>
            <a:r>
              <a:rPr lang="x-none" b="1">
                <a:latin typeface="Arial" pitchFamily="34"/>
                <a:cs typeface="Times New Roman" pitchFamily="18"/>
              </a:rPr>
              <a:t>ECPA - The Electronic Communications Privacy Act (18U.S.C. 2510 et seq)</a:t>
            </a:r>
            <a:r>
              <a:rPr lang="x-none">
                <a:latin typeface="Arial" pitchFamily="34"/>
                <a:cs typeface="Times New Roman" pitchFamily="18"/>
              </a:rPr>
              <a:t> - Extends wiretap laws to electronic communications: IPs, Phones, cell providers, satellite services, etc.</a:t>
            </a:r>
          </a:p>
          <a:p>
            <a:pPr lvl="0">
              <a:buNone/>
            </a:pPr>
            <a:r>
              <a:rPr lang="en-US" dirty="0">
                <a:latin typeface="Arial" pitchFamily="34"/>
                <a:cs typeface="Times New Roman" pitchFamily="18"/>
              </a:rPr>
              <a:t>   </a:t>
            </a:r>
            <a:r>
              <a:rPr lang="x-none">
                <a:latin typeface="Arial" pitchFamily="34"/>
                <a:cs typeface="Times New Roman" pitchFamily="18"/>
              </a:rPr>
              <a:t>Can get basic subscriber info</a:t>
            </a:r>
            <a:r>
              <a:rPr lang="en-US" dirty="0">
                <a:latin typeface="Arial" pitchFamily="34"/>
                <a:cs typeface="Times New Roman" pitchFamily="18"/>
              </a:rPr>
              <a:t> and call logs</a:t>
            </a:r>
            <a:r>
              <a:rPr lang="x-none">
                <a:latin typeface="Arial" pitchFamily="34"/>
                <a:cs typeface="Times New Roman" pitchFamily="18"/>
              </a:rPr>
              <a:t> with subpoena, Transactions need court order, any content (</a:t>
            </a:r>
            <a:r>
              <a:rPr lang="en-US" dirty="0">
                <a:latin typeface="Arial" pitchFamily="34"/>
                <a:cs typeface="Times New Roman" pitchFamily="18"/>
              </a:rPr>
              <a:t>GPS, </a:t>
            </a:r>
            <a:r>
              <a:rPr lang="x-none">
                <a:latin typeface="Arial" pitchFamily="34"/>
                <a:cs typeface="Times New Roman" pitchFamily="18"/>
              </a:rPr>
              <a:t>SMS, MMS, Chat, pics, vid, email content, etc) requires a warrant</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p:txBody>
          <a:bodyPr/>
          <a:lstStyle/>
          <a:p>
            <a:pPr eaLnBrk="1" hangingPunct="1"/>
            <a:r>
              <a:rPr lang="en-US" sz="5400" dirty="0"/>
              <a:t>Dr. Frankenstein?	</a:t>
            </a:r>
          </a:p>
        </p:txBody>
      </p:sp>
      <p:sp>
        <p:nvSpPr>
          <p:cNvPr id="19458" name="Rectangle 3"/>
          <p:cNvSpPr>
            <a:spLocks noGrp="1" noChangeArrowheads="1"/>
          </p:cNvSpPr>
          <p:nvPr>
            <p:ph type="body" idx="1"/>
          </p:nvPr>
        </p:nvSpPr>
        <p:spPr/>
        <p:txBody>
          <a:bodyPr/>
          <a:lstStyle/>
          <a:p>
            <a:pPr eaLnBrk="1" hangingPunct="1"/>
            <a:r>
              <a:rPr lang="en-US" b="1" dirty="0"/>
              <a:t>LG </a:t>
            </a:r>
            <a:r>
              <a:rPr lang="en-US" b="1" dirty="0" err="1"/>
              <a:t>Aristo</a:t>
            </a:r>
            <a:r>
              <a:rPr lang="en-US" b="1" dirty="0"/>
              <a:t> – Released January 23, 2017</a:t>
            </a:r>
          </a:p>
          <a:p>
            <a:pPr eaLnBrk="1" hangingPunct="1"/>
            <a:r>
              <a:rPr lang="en-US" b="1" dirty="0"/>
              <a:t>Left at crime-scene by Suspect</a:t>
            </a:r>
          </a:p>
          <a:p>
            <a:pPr eaLnBrk="1" hangingPunct="1"/>
            <a:r>
              <a:rPr lang="en-US" b="1" dirty="0"/>
              <a:t>Screen/Digitizer completely shattered</a:t>
            </a:r>
          </a:p>
          <a:p>
            <a:pPr eaLnBrk="1" hangingPunct="1"/>
            <a:r>
              <a:rPr lang="en-US" b="1" dirty="0"/>
              <a:t>Verified viable via audio upon start-up</a:t>
            </a:r>
          </a:p>
          <a:p>
            <a:pPr eaLnBrk="1" hangingPunct="1"/>
            <a:r>
              <a:rPr lang="en-US" b="1" dirty="0"/>
              <a:t>5 days to order new screen</a:t>
            </a:r>
          </a:p>
          <a:p>
            <a:pPr eaLnBrk="1" hangingPunct="1"/>
            <a:r>
              <a:rPr lang="en-US" b="1" dirty="0"/>
              <a:t>Procured new phone at retail store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LG </a:t>
            </a:r>
            <a:r>
              <a:rPr lang="en-US" dirty="0" err="1"/>
              <a:t>Aristo</a:t>
            </a:r>
            <a:r>
              <a:rPr lang="en-US" dirty="0"/>
              <a:t> – As submitted</a:t>
            </a:r>
          </a:p>
        </p:txBody>
      </p:sp>
      <p:pic>
        <p:nvPicPr>
          <p:cNvPr id="4" name="Content Placeholder 3" descr="DSC02673.JPG"/>
          <p:cNvPicPr>
            <a:picLocks noGrp="1" noChangeAspect="1"/>
          </p:cNvPicPr>
          <p:nvPr>
            <p:ph idx="1"/>
          </p:nvPr>
        </p:nvPicPr>
        <p:blipFill>
          <a:blip r:embed="rId2" cstate="print"/>
          <a:stretch>
            <a:fillRect/>
          </a:stretch>
        </p:blipFill>
        <p:spPr>
          <a:xfrm>
            <a:off x="838200" y="1276350"/>
            <a:ext cx="7442200" cy="558165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LG </a:t>
            </a:r>
            <a:r>
              <a:rPr lang="en-US" dirty="0" err="1"/>
              <a:t>Aristo</a:t>
            </a:r>
            <a:r>
              <a:rPr lang="en-US" dirty="0"/>
              <a:t> - Rebuild</a:t>
            </a:r>
          </a:p>
        </p:txBody>
      </p:sp>
      <p:pic>
        <p:nvPicPr>
          <p:cNvPr id="5" name="Content Placeholder 4" descr="DSC02694.JPG"/>
          <p:cNvPicPr>
            <a:picLocks noGrp="1" noChangeAspect="1"/>
          </p:cNvPicPr>
          <p:nvPr>
            <p:ph idx="1"/>
          </p:nvPr>
        </p:nvPicPr>
        <p:blipFill>
          <a:blip r:embed="rId2" cstate="print"/>
          <a:stretch>
            <a:fillRect/>
          </a:stretch>
        </p:blipFill>
        <p:spPr>
          <a:xfrm>
            <a:off x="838200" y="1123950"/>
            <a:ext cx="7645400" cy="5734050"/>
          </a:xfrm>
        </p:spPr>
      </p:pic>
      <p:sp>
        <p:nvSpPr>
          <p:cNvPr id="9" name="TextBox 8"/>
          <p:cNvSpPr txBox="1"/>
          <p:nvPr/>
        </p:nvSpPr>
        <p:spPr>
          <a:xfrm>
            <a:off x="5486400" y="5715000"/>
            <a:ext cx="2057400" cy="369332"/>
          </a:xfrm>
          <a:prstGeom prst="rect">
            <a:avLst/>
          </a:prstGeom>
          <a:noFill/>
        </p:spPr>
        <p:txBody>
          <a:bodyPr wrap="square" rtlCol="0">
            <a:spAutoFit/>
          </a:bodyPr>
          <a:lstStyle/>
          <a:p>
            <a:r>
              <a:rPr lang="en-US" dirty="0">
                <a:solidFill>
                  <a:srgbClr val="FF0000"/>
                </a:solidFill>
              </a:rPr>
              <a:t>DONOR PHONE</a:t>
            </a:r>
          </a:p>
        </p:txBody>
      </p:sp>
      <p:sp>
        <p:nvSpPr>
          <p:cNvPr id="10" name="TextBox 9"/>
          <p:cNvSpPr txBox="1"/>
          <p:nvPr/>
        </p:nvSpPr>
        <p:spPr>
          <a:xfrm>
            <a:off x="2057400" y="5715000"/>
            <a:ext cx="2743200" cy="369332"/>
          </a:xfrm>
          <a:prstGeom prst="rect">
            <a:avLst/>
          </a:prstGeom>
          <a:noFill/>
        </p:spPr>
        <p:txBody>
          <a:bodyPr wrap="square" rtlCol="0">
            <a:spAutoFit/>
          </a:bodyPr>
          <a:lstStyle/>
          <a:p>
            <a:r>
              <a:rPr lang="en-US" dirty="0">
                <a:solidFill>
                  <a:schemeClr val="accent2">
                    <a:lumMod val="75000"/>
                  </a:schemeClr>
                </a:solidFill>
              </a:rPr>
              <a:t>SUSPECT PHONE</a:t>
            </a:r>
          </a:p>
        </p:txBody>
      </p:sp>
      <p:sp>
        <p:nvSpPr>
          <p:cNvPr id="11" name="Rectangle 10"/>
          <p:cNvSpPr/>
          <p:nvPr/>
        </p:nvSpPr>
        <p:spPr bwMode="auto">
          <a:xfrm>
            <a:off x="4038600" y="4343400"/>
            <a:ext cx="304800" cy="2286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LG </a:t>
            </a:r>
            <a:r>
              <a:rPr lang="en-US" dirty="0" err="1"/>
              <a:t>Aristo</a:t>
            </a:r>
            <a:r>
              <a:rPr lang="en-US" dirty="0"/>
              <a:t> - Rebuild</a:t>
            </a:r>
          </a:p>
        </p:txBody>
      </p:sp>
      <p:pic>
        <p:nvPicPr>
          <p:cNvPr id="6" name="Content Placeholder 5" descr="DSC02691.JPG"/>
          <p:cNvPicPr>
            <a:picLocks noGrp="1" noChangeAspect="1"/>
          </p:cNvPicPr>
          <p:nvPr>
            <p:ph idx="1"/>
          </p:nvPr>
        </p:nvPicPr>
        <p:blipFill>
          <a:blip r:embed="rId2" cstate="print"/>
          <a:stretch>
            <a:fillRect/>
          </a:stretch>
        </p:blipFill>
        <p:spPr>
          <a:xfrm>
            <a:off x="685800" y="1066800"/>
            <a:ext cx="7493000" cy="5619750"/>
          </a:xfrm>
        </p:spPr>
      </p:pic>
      <p:sp>
        <p:nvSpPr>
          <p:cNvPr id="7" name="Rectangle 6"/>
          <p:cNvSpPr/>
          <p:nvPr/>
        </p:nvSpPr>
        <p:spPr bwMode="auto">
          <a:xfrm>
            <a:off x="3429000" y="3962400"/>
            <a:ext cx="990600" cy="304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LG </a:t>
            </a:r>
            <a:r>
              <a:rPr lang="en-US" dirty="0" err="1"/>
              <a:t>Aristo</a:t>
            </a:r>
            <a:r>
              <a:rPr lang="en-US" dirty="0"/>
              <a:t> – Completed Donor</a:t>
            </a:r>
          </a:p>
        </p:txBody>
      </p:sp>
      <p:pic>
        <p:nvPicPr>
          <p:cNvPr id="6" name="Content Placeholder 5" descr="DSC02697.JPG"/>
          <p:cNvPicPr>
            <a:picLocks noGrp="1" noChangeAspect="1"/>
          </p:cNvPicPr>
          <p:nvPr>
            <p:ph idx="1"/>
          </p:nvPr>
        </p:nvPicPr>
        <p:blipFill>
          <a:blip r:embed="rId3" cstate="print"/>
          <a:stretch>
            <a:fillRect/>
          </a:stretch>
        </p:blipFill>
        <p:spPr>
          <a:xfrm>
            <a:off x="609600" y="1028700"/>
            <a:ext cx="7772400" cy="5829300"/>
          </a:xfrm>
        </p:spPr>
      </p:pic>
      <p:sp>
        <p:nvSpPr>
          <p:cNvPr id="7" name="Rectangle 6"/>
          <p:cNvSpPr/>
          <p:nvPr/>
        </p:nvSpPr>
        <p:spPr bwMode="auto">
          <a:xfrm>
            <a:off x="4953000" y="3886200"/>
            <a:ext cx="685800" cy="304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p:txBody>
          <a:bodyPr/>
          <a:lstStyle/>
          <a:p>
            <a:pPr eaLnBrk="1" hangingPunct="1"/>
            <a:r>
              <a:rPr lang="en-US" sz="5400" dirty="0"/>
              <a:t>LG </a:t>
            </a:r>
            <a:r>
              <a:rPr lang="en-US" sz="5400" dirty="0" err="1"/>
              <a:t>Aristo</a:t>
            </a:r>
            <a:r>
              <a:rPr lang="en-US" sz="5400" dirty="0"/>
              <a:t>	</a:t>
            </a:r>
          </a:p>
        </p:txBody>
      </p:sp>
      <p:sp>
        <p:nvSpPr>
          <p:cNvPr id="19458" name="Rectangle 3"/>
          <p:cNvSpPr>
            <a:spLocks noGrp="1" noChangeArrowheads="1"/>
          </p:cNvSpPr>
          <p:nvPr>
            <p:ph type="body" idx="1"/>
          </p:nvPr>
        </p:nvSpPr>
        <p:spPr>
          <a:xfrm>
            <a:off x="533400" y="1447800"/>
            <a:ext cx="8001000" cy="4572000"/>
          </a:xfrm>
        </p:spPr>
        <p:txBody>
          <a:bodyPr>
            <a:normAutofit lnSpcReduction="10000"/>
          </a:bodyPr>
          <a:lstStyle/>
          <a:p>
            <a:pPr eaLnBrk="1" hangingPunct="1"/>
            <a:r>
              <a:rPr lang="en-US" sz="4400" b="1" dirty="0"/>
              <a:t>Rebuild was success! </a:t>
            </a:r>
          </a:p>
          <a:p>
            <a:pPr eaLnBrk="1" hangingPunct="1"/>
            <a:r>
              <a:rPr lang="en-US" sz="4400" b="1" dirty="0"/>
              <a:t>I was able to examine phone as normal using </a:t>
            </a:r>
            <a:r>
              <a:rPr lang="en-US" sz="4400" b="1" dirty="0" err="1"/>
              <a:t>Cellebrite</a:t>
            </a:r>
            <a:r>
              <a:rPr lang="en-US" sz="4400" b="1" dirty="0"/>
              <a:t> UFED, recover key evidence in the crime, and identify the previously unknown Suspect.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D:\Watson\18-54 Sept 2021\Newest files\GeoTime Screen Captures ALL\cell sites.png"/>
          <p:cNvPicPr>
            <a:picLocks noChangeAspect="1" noChangeArrowheads="1"/>
          </p:cNvPicPr>
          <p:nvPr/>
        </p:nvPicPr>
        <p:blipFill>
          <a:blip r:embed="rId2" cstate="print"/>
          <a:stretch>
            <a:fillRect/>
          </a:stretch>
        </p:blipFill>
        <p:spPr bwMode="auto">
          <a:xfrm>
            <a:off x="0" y="0"/>
            <a:ext cx="9144000" cy="68580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71021" y="0"/>
            <a:ext cx="11229975" cy="8505825"/>
          </a:xfrm>
          <a:prstGeom prst="rect">
            <a:avLst/>
          </a:prstGeom>
          <a:solidFill>
            <a:schemeClr val="tx1"/>
          </a:solidFill>
          <a:ln w="9525">
            <a:noFill/>
            <a:miter lim="800000"/>
            <a:headEnd/>
            <a:tailEnd/>
          </a:ln>
        </p:spPr>
      </p:pic>
      <p:sp>
        <p:nvSpPr>
          <p:cNvPr id="4" name="Rectangle 3">
            <a:extLst>
              <a:ext uri="{FF2B5EF4-FFF2-40B4-BE49-F238E27FC236}">
                <a16:creationId xmlns:a16="http://schemas.microsoft.com/office/drawing/2014/main" id="{CDD0BDDE-E355-4C6A-A658-BAB94A1EBE72}"/>
              </a:ext>
            </a:extLst>
          </p:cNvPr>
          <p:cNvSpPr/>
          <p:nvPr/>
        </p:nvSpPr>
        <p:spPr>
          <a:xfrm>
            <a:off x="2971800" y="2057400"/>
            <a:ext cx="533400" cy="2438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8CB3DF0-976E-442E-8A88-B355D6A643A5}"/>
              </a:ext>
            </a:extLst>
          </p:cNvPr>
          <p:cNvSpPr/>
          <p:nvPr/>
        </p:nvSpPr>
        <p:spPr>
          <a:xfrm>
            <a:off x="4114800" y="2006353"/>
            <a:ext cx="533400" cy="2438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D969F52-F64A-45AC-A838-96AE738EEB63}"/>
              </a:ext>
            </a:extLst>
          </p:cNvPr>
          <p:cNvSpPr/>
          <p:nvPr/>
        </p:nvSpPr>
        <p:spPr>
          <a:xfrm>
            <a:off x="1752600" y="1417638"/>
            <a:ext cx="914400" cy="1825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6CB9C69-715F-4805-8BD0-2B577184D629}"/>
              </a:ext>
            </a:extLst>
          </p:cNvPr>
          <p:cNvSpPr/>
          <p:nvPr/>
        </p:nvSpPr>
        <p:spPr>
          <a:xfrm>
            <a:off x="5103550" y="2425601"/>
            <a:ext cx="1066800" cy="76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774DF6E-53A5-4553-810E-954064804A49}"/>
              </a:ext>
            </a:extLst>
          </p:cNvPr>
          <p:cNvSpPr/>
          <p:nvPr/>
        </p:nvSpPr>
        <p:spPr>
          <a:xfrm>
            <a:off x="5152608" y="4214812"/>
            <a:ext cx="1066800" cy="76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DE1113E-34DD-42F1-85F8-77E4502189A2}"/>
              </a:ext>
            </a:extLst>
          </p:cNvPr>
          <p:cNvSpPr/>
          <p:nvPr/>
        </p:nvSpPr>
        <p:spPr>
          <a:xfrm>
            <a:off x="5123895" y="3863181"/>
            <a:ext cx="1066800" cy="76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8E1D0CF-D54D-4B10-9514-F188A67FD06B}"/>
              </a:ext>
            </a:extLst>
          </p:cNvPr>
          <p:cNvSpPr/>
          <p:nvPr/>
        </p:nvSpPr>
        <p:spPr>
          <a:xfrm>
            <a:off x="5103550" y="3506291"/>
            <a:ext cx="1066800" cy="76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7CF57B-DEAD-423F-97AE-6696E260C850}"/>
              </a:ext>
            </a:extLst>
          </p:cNvPr>
          <p:cNvSpPr/>
          <p:nvPr/>
        </p:nvSpPr>
        <p:spPr>
          <a:xfrm>
            <a:off x="5153348" y="3149353"/>
            <a:ext cx="1066800" cy="76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B2B9F9-A80B-49AD-8B82-EA5A0EEE81C5}"/>
              </a:ext>
            </a:extLst>
          </p:cNvPr>
          <p:cNvSpPr/>
          <p:nvPr/>
        </p:nvSpPr>
        <p:spPr>
          <a:xfrm>
            <a:off x="5152608" y="2782539"/>
            <a:ext cx="1066800" cy="762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AF1AA8-68CD-48E7-900A-BD0E45F5B098}"/>
              </a:ext>
            </a:extLst>
          </p:cNvPr>
          <p:cNvSpPr/>
          <p:nvPr/>
        </p:nvSpPr>
        <p:spPr>
          <a:xfrm>
            <a:off x="6547882" y="2132509"/>
            <a:ext cx="533400" cy="2438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0" y="0"/>
            <a:ext cx="11239500" cy="8448675"/>
          </a:xfrm>
          <a:prstGeom prst="rect">
            <a:avLst/>
          </a:prstGeom>
          <a:noFill/>
          <a:ln w="9525">
            <a:noFill/>
            <a:miter lim="800000"/>
            <a:headEnd/>
            <a:tailEnd/>
          </a:ln>
        </p:spPr>
      </p:pic>
      <p:sp>
        <p:nvSpPr>
          <p:cNvPr id="5" name="Rectangle 4">
            <a:extLst>
              <a:ext uri="{FF2B5EF4-FFF2-40B4-BE49-F238E27FC236}">
                <a16:creationId xmlns:a16="http://schemas.microsoft.com/office/drawing/2014/main" id="{A08CA734-F72F-473C-A6D5-371EBEEEDE9F}"/>
              </a:ext>
            </a:extLst>
          </p:cNvPr>
          <p:cNvSpPr/>
          <p:nvPr/>
        </p:nvSpPr>
        <p:spPr>
          <a:xfrm>
            <a:off x="1219200" y="1905000"/>
            <a:ext cx="533400" cy="5334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60999F7-4AA9-4E85-A845-61A1E03B5440}"/>
              </a:ext>
            </a:extLst>
          </p:cNvPr>
          <p:cNvSpPr/>
          <p:nvPr/>
        </p:nvSpPr>
        <p:spPr>
          <a:xfrm>
            <a:off x="1752600" y="1417638"/>
            <a:ext cx="838200" cy="10636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1"/>
            <a:ext cx="7772400" cy="4038600"/>
          </a:xfrm>
        </p:spPr>
        <p:txBody>
          <a:bodyPr>
            <a:noAutofit/>
          </a:bodyPr>
          <a:lstStyle/>
          <a:p>
            <a:r>
              <a:rPr lang="en-US" sz="7200" dirty="0"/>
              <a:t>CDR Mapping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ll phones data map.png"/>
          <p:cNvPicPr>
            <a:picLocks noChangeAspect="1"/>
          </p:cNvPicPr>
          <p:nvPr/>
        </p:nvPicPr>
        <p:blipFill>
          <a:blip r:embed="rId2" cstate="print"/>
          <a:stretch>
            <a:fillRect/>
          </a:stretch>
        </p:blipFill>
        <p:spPr>
          <a:xfrm>
            <a:off x="0" y="701793"/>
            <a:ext cx="9144000" cy="5454413"/>
          </a:xfrm>
          <a:prstGeom prst="rect">
            <a:avLst/>
          </a:prstGeom>
        </p:spPr>
      </p:pic>
      <p:sp>
        <p:nvSpPr>
          <p:cNvPr id="5" name="Rectangle 4">
            <a:extLst>
              <a:ext uri="{FF2B5EF4-FFF2-40B4-BE49-F238E27FC236}">
                <a16:creationId xmlns:a16="http://schemas.microsoft.com/office/drawing/2014/main" id="{929D88B3-F226-4CAE-A190-2F1F53C19D8E}"/>
              </a:ext>
            </a:extLst>
          </p:cNvPr>
          <p:cNvSpPr/>
          <p:nvPr/>
        </p:nvSpPr>
        <p:spPr>
          <a:xfrm>
            <a:off x="7543800" y="1295400"/>
            <a:ext cx="533400" cy="10668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D All phones data map.png"/>
          <p:cNvPicPr>
            <a:picLocks noChangeAspect="1"/>
          </p:cNvPicPr>
          <p:nvPr/>
        </p:nvPicPr>
        <p:blipFill>
          <a:blip r:embed="rId2" cstate="print"/>
          <a:stretch>
            <a:fillRect/>
          </a:stretch>
        </p:blipFill>
        <p:spPr>
          <a:xfrm>
            <a:off x="0" y="707834"/>
            <a:ext cx="9144000" cy="5442332"/>
          </a:xfrm>
          <a:prstGeom prst="rect">
            <a:avLst/>
          </a:prstGeom>
        </p:spPr>
      </p:pic>
      <p:sp>
        <p:nvSpPr>
          <p:cNvPr id="3" name="Rectangle 2">
            <a:extLst>
              <a:ext uri="{FF2B5EF4-FFF2-40B4-BE49-F238E27FC236}">
                <a16:creationId xmlns:a16="http://schemas.microsoft.com/office/drawing/2014/main" id="{B864027F-66F2-42BA-B147-4012D1889966}"/>
              </a:ext>
            </a:extLst>
          </p:cNvPr>
          <p:cNvSpPr/>
          <p:nvPr/>
        </p:nvSpPr>
        <p:spPr>
          <a:xfrm>
            <a:off x="8534400" y="4343400"/>
            <a:ext cx="533400" cy="1905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1"/>
            <a:ext cx="7772400" cy="4038600"/>
          </a:xfrm>
        </p:spPr>
        <p:txBody>
          <a:bodyPr>
            <a:noAutofit/>
          </a:bodyPr>
          <a:lstStyle/>
          <a:p>
            <a:r>
              <a:rPr lang="en-US" sz="7200" dirty="0"/>
              <a:t>CDR Mapping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ll phones data map.png"/>
          <p:cNvPicPr>
            <a:picLocks noChangeAspect="1"/>
          </p:cNvPicPr>
          <p:nvPr/>
        </p:nvPicPr>
        <p:blipFill>
          <a:blip r:embed="rId2" cstate="print"/>
          <a:stretch>
            <a:fillRect/>
          </a:stretch>
        </p:blipFill>
        <p:spPr>
          <a:xfrm>
            <a:off x="0" y="701793"/>
            <a:ext cx="9144000" cy="5454413"/>
          </a:xfrm>
          <a:prstGeom prst="rect">
            <a:avLst/>
          </a:prstGeom>
        </p:spPr>
      </p:pic>
      <p:sp>
        <p:nvSpPr>
          <p:cNvPr id="5" name="Rectangle 4">
            <a:extLst>
              <a:ext uri="{FF2B5EF4-FFF2-40B4-BE49-F238E27FC236}">
                <a16:creationId xmlns:a16="http://schemas.microsoft.com/office/drawing/2014/main" id="{929D88B3-F226-4CAE-A190-2F1F53C19D8E}"/>
              </a:ext>
            </a:extLst>
          </p:cNvPr>
          <p:cNvSpPr/>
          <p:nvPr/>
        </p:nvSpPr>
        <p:spPr>
          <a:xfrm>
            <a:off x="7543800" y="1295400"/>
            <a:ext cx="533400" cy="10668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D All phones data map.png"/>
          <p:cNvPicPr>
            <a:picLocks noChangeAspect="1"/>
          </p:cNvPicPr>
          <p:nvPr/>
        </p:nvPicPr>
        <p:blipFill>
          <a:blip r:embed="rId2" cstate="print"/>
          <a:stretch>
            <a:fillRect/>
          </a:stretch>
        </p:blipFill>
        <p:spPr>
          <a:xfrm>
            <a:off x="0" y="707834"/>
            <a:ext cx="9144000" cy="5442332"/>
          </a:xfrm>
          <a:prstGeom prst="rect">
            <a:avLst/>
          </a:prstGeom>
        </p:spPr>
      </p:pic>
      <p:sp>
        <p:nvSpPr>
          <p:cNvPr id="3" name="Rectangle 2">
            <a:extLst>
              <a:ext uri="{FF2B5EF4-FFF2-40B4-BE49-F238E27FC236}">
                <a16:creationId xmlns:a16="http://schemas.microsoft.com/office/drawing/2014/main" id="{B864027F-66F2-42BA-B147-4012D1889966}"/>
              </a:ext>
            </a:extLst>
          </p:cNvPr>
          <p:cNvSpPr/>
          <p:nvPr/>
        </p:nvSpPr>
        <p:spPr>
          <a:xfrm>
            <a:off x="8534400" y="4343400"/>
            <a:ext cx="533400" cy="1905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_29 AU only 325-425 tower pic.png"/>
          <p:cNvPicPr>
            <a:picLocks noGrp="1" noChangeAspect="1"/>
          </p:cNvPicPr>
          <p:nvPr isPhoto="1"/>
        </p:nvPicPr>
        <p:blipFill>
          <a:blip r:embed="rId2" cstate="print">
            <a:lum/>
          </a:blip>
          <a:stretch>
            <a:fillRect/>
          </a:stretch>
        </p:blipFill>
        <p:spPr>
          <a:xfrm>
            <a:off x="0" y="738188"/>
            <a:ext cx="9144000" cy="5380037"/>
          </a:xfrm>
          <a:prstGeom prst="rect">
            <a:avLst/>
          </a:prstGeom>
          <a:noFill/>
          <a:ln>
            <a:noFill/>
          </a:ln>
        </p:spPr>
      </p:pic>
      <p:sp>
        <p:nvSpPr>
          <p:cNvPr id="4" name="Rectangle 3"/>
          <p:cNvSpPr/>
          <p:nvPr/>
        </p:nvSpPr>
        <p:spPr>
          <a:xfrm>
            <a:off x="2895600" y="4495800"/>
            <a:ext cx="6858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1E57EF4-6C39-4A34-BB72-BA09E971D66C}"/>
              </a:ext>
            </a:extLst>
          </p:cNvPr>
          <p:cNvSpPr/>
          <p:nvPr/>
        </p:nvSpPr>
        <p:spPr>
          <a:xfrm>
            <a:off x="7543800" y="914400"/>
            <a:ext cx="1066800" cy="152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IMG_0277.JPG"/>
          <p:cNvPicPr>
            <a:picLocks noGrp="1" noChangeAspect="1"/>
          </p:cNvPicPr>
          <p:nvPr isPhoto="1"/>
        </p:nvPicPr>
        <p:blipFill>
          <a:blip r:embed="rId2" cstate="print">
            <a:lum/>
          </a:blip>
          <a:stretch>
            <a:fillRect/>
          </a:stretch>
        </p:blipFill>
        <p:spPr>
          <a:xfrm>
            <a:off x="0" y="0"/>
            <a:ext cx="9144000" cy="6858000"/>
          </a:xfrm>
          <a:prstGeom prst="rect">
            <a:avLst/>
          </a:prstGeom>
          <a:noFill/>
          <a:ln>
            <a:noFill/>
          </a:ln>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IMG_0283.JPG"/>
          <p:cNvPicPr>
            <a:picLocks noGrp="1" noChangeAspect="1"/>
          </p:cNvPicPr>
          <p:nvPr isPhoto="1"/>
        </p:nvPicPr>
        <p:blipFill>
          <a:blip r:embed="rId2" cstate="print">
            <a:lum/>
          </a:blip>
          <a:stretch>
            <a:fillRect/>
          </a:stretch>
        </p:blipFill>
        <p:spPr>
          <a:xfrm>
            <a:off x="0" y="0"/>
            <a:ext cx="9144000" cy="6858000"/>
          </a:xfrm>
          <a:prstGeom prst="rect">
            <a:avLst/>
          </a:prstGeom>
          <a:noFill/>
          <a:ln>
            <a:noFill/>
          </a:ln>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_0284.JPG"/>
          <p:cNvPicPr>
            <a:picLocks noGrp="1" noChangeAspect="1"/>
          </p:cNvPicPr>
          <p:nvPr isPhoto="1"/>
        </p:nvPicPr>
        <p:blipFill>
          <a:blip r:embed="rId2" cstate="print">
            <a:lum/>
          </a:blip>
          <a:stretch>
            <a:fillRect/>
          </a:stretch>
        </p:blipFill>
        <p:spPr>
          <a:xfrm>
            <a:off x="0" y="0"/>
            <a:ext cx="9144000" cy="6858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_0288.JPG"/>
          <p:cNvPicPr>
            <a:picLocks noGrp="1" noChangeAspect="1"/>
          </p:cNvPicPr>
          <p:nvPr isPhoto="1"/>
        </p:nvPicPr>
        <p:blipFill>
          <a:blip r:embed="rId2" cstate="print">
            <a:lum/>
          </a:blip>
          <a:stretch>
            <a:fillRect/>
          </a:stretch>
        </p:blipFill>
        <p:spPr>
          <a:xfrm>
            <a:off x="0" y="0"/>
            <a:ext cx="9144000" cy="6858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_0289.JPG"/>
          <p:cNvPicPr>
            <a:picLocks noGrp="1" noChangeAspect="1"/>
          </p:cNvPicPr>
          <p:nvPr isPhoto="1"/>
        </p:nvPicPr>
        <p:blipFill>
          <a:blip r:embed="rId2" cstate="print">
            <a:lum/>
          </a:blip>
          <a:stretch>
            <a:fillRect/>
          </a:stretch>
        </p:blipFill>
        <p:spPr>
          <a:xfrm>
            <a:off x="0" y="0"/>
            <a:ext cx="9144000" cy="6858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ETHICS</a:t>
            </a:r>
          </a:p>
        </p:txBody>
      </p:sp>
      <p:sp>
        <p:nvSpPr>
          <p:cNvPr id="3" name="Text Placeholder 2"/>
          <p:cNvSpPr txBox="1">
            <a:spLocks noGrp="1"/>
          </p:cNvSpPr>
          <p:nvPr>
            <p:ph type="body" idx="4294967295"/>
          </p:nvPr>
        </p:nvSpPr>
        <p:spPr>
          <a:xfrm>
            <a:off x="685800" y="1524000"/>
            <a:ext cx="7924800" cy="4419600"/>
          </a:xfrm>
        </p:spPr>
        <p:txBody>
          <a:bodyPr lIns="0" tIns="0" rIns="0" bIns="0">
            <a:normAutofit lnSpcReduction="10000"/>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buNone/>
            </a:pPr>
            <a:r>
              <a:rPr lang="x-none">
                <a:latin typeface="" pitchFamily="18"/>
              </a:rPr>
              <a:t>In a nutshell, you must be:</a:t>
            </a:r>
          </a:p>
          <a:p>
            <a:pPr lvl="0">
              <a:buNone/>
            </a:pPr>
            <a:r>
              <a:rPr lang="x-none">
                <a:latin typeface="" pitchFamily="18"/>
              </a:rPr>
              <a:t>Honorable</a:t>
            </a:r>
          </a:p>
          <a:p>
            <a:pPr lvl="0">
              <a:buNone/>
            </a:pPr>
            <a:r>
              <a:rPr lang="x-none">
                <a:latin typeface="" pitchFamily="18"/>
              </a:rPr>
              <a:t>Honest</a:t>
            </a:r>
          </a:p>
          <a:p>
            <a:pPr lvl="0">
              <a:buNone/>
            </a:pPr>
            <a:r>
              <a:rPr lang="x-none">
                <a:latin typeface="" pitchFamily="18"/>
              </a:rPr>
              <a:t>Just</a:t>
            </a:r>
          </a:p>
          <a:p>
            <a:pPr lvl="0">
              <a:buNone/>
            </a:pPr>
            <a:r>
              <a:rPr lang="x-none">
                <a:latin typeface="" pitchFamily="18"/>
              </a:rPr>
              <a:t>Responsible</a:t>
            </a:r>
          </a:p>
          <a:p>
            <a:pPr lvl="0">
              <a:buNone/>
            </a:pPr>
            <a:r>
              <a:rPr lang="x-none">
                <a:latin typeface="" pitchFamily="18"/>
              </a:rPr>
              <a:t>Work within the law</a:t>
            </a:r>
          </a:p>
          <a:p>
            <a:pPr lvl="0">
              <a:buNone/>
            </a:pPr>
            <a:r>
              <a:rPr lang="x-none">
                <a:latin typeface="" pitchFamily="18"/>
              </a:rPr>
              <a:t>Fair</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Certifications</a:t>
            </a:r>
          </a:p>
        </p:txBody>
      </p:sp>
      <p:sp>
        <p:nvSpPr>
          <p:cNvPr id="3" name="Text Placeholder 2"/>
          <p:cNvSpPr txBox="1">
            <a:spLocks noGrp="1"/>
          </p:cNvSpPr>
          <p:nvPr>
            <p:ph type="body" idx="4294967295"/>
          </p:nvPr>
        </p:nvSpPr>
        <p:spPr>
          <a:xfrm>
            <a:off x="0" y="1066800"/>
            <a:ext cx="7924800" cy="5422900"/>
          </a:xfrm>
        </p:spPr>
        <p:txBody>
          <a:bodyPr lIns="0" tIns="0" rIns="0" bIns="0"/>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sz="3600" dirty="0">
                <a:latin typeface="" pitchFamily="18"/>
              </a:rPr>
              <a:t>International Information Systems Security Certification </a:t>
            </a:r>
            <a:r>
              <a:rPr lang="en-US" sz="3600" dirty="0" err="1">
                <a:latin typeface="" pitchFamily="18"/>
              </a:rPr>
              <a:t>Consortum</a:t>
            </a:r>
            <a:r>
              <a:rPr lang="en-US" sz="3600" dirty="0">
                <a:latin typeface="" pitchFamily="18"/>
              </a:rPr>
              <a:t> (ISC)²: CISSP and CCFP</a:t>
            </a:r>
          </a:p>
          <a:p>
            <a:pPr lvl="0"/>
            <a:r>
              <a:rPr lang="en-US" sz="3600" dirty="0">
                <a:latin typeface="" pitchFamily="18"/>
              </a:rPr>
              <a:t>Global Information Assurance Certification (GIAC): Various </a:t>
            </a:r>
            <a:r>
              <a:rPr lang="en-US" sz="3600" dirty="0" err="1">
                <a:latin typeface="" pitchFamily="18"/>
              </a:rPr>
              <a:t>certs</a:t>
            </a:r>
            <a:r>
              <a:rPr lang="en-US" sz="3600" dirty="0">
                <a:latin typeface="" pitchFamily="18"/>
              </a:rPr>
              <a:t> in Security Admin, Forensics, Management, Legal, Software Security. Can challenge tests, but SANS training suggested</a:t>
            </a:r>
          </a:p>
          <a:p>
            <a:pPr lvl="0"/>
            <a:endParaRPr lang="en-US" dirty="0">
              <a:latin typeface="" pitchFamily="18"/>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Certifications</a:t>
            </a:r>
          </a:p>
        </p:txBody>
      </p:sp>
      <p:sp>
        <p:nvSpPr>
          <p:cNvPr id="3" name="Text Placeholder 2"/>
          <p:cNvSpPr txBox="1">
            <a:spLocks noGrp="1"/>
          </p:cNvSpPr>
          <p:nvPr>
            <p:ph type="body" idx="4294967295"/>
          </p:nvPr>
        </p:nvSpPr>
        <p:spPr>
          <a:xfrm>
            <a:off x="0" y="1600200"/>
            <a:ext cx="7924800" cy="4419600"/>
          </a:xfrm>
        </p:spPr>
        <p:txBody>
          <a:bodyPr lIns="0" tIns="0" rIns="0" bIns="0"/>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a:latin typeface="" pitchFamily="18"/>
              </a:rPr>
              <a:t>International Association of Computer Investigative Specialists – IACIS:</a:t>
            </a:r>
          </a:p>
          <a:p>
            <a:pPr lvl="0"/>
            <a:r>
              <a:rPr lang="en-US">
                <a:latin typeface="" pitchFamily="18"/>
              </a:rPr>
              <a:t>Certified Forensic Computer Examiner – CFCE</a:t>
            </a:r>
          </a:p>
          <a:p>
            <a:pPr lvl="0"/>
            <a:r>
              <a:rPr lang="en-US">
                <a:latin typeface="" pitchFamily="18"/>
              </a:rPr>
              <a:t>This is probably the most respected among LE professionals due to the intensity of the certification process.</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name="page27">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CFCE</a:t>
            </a:r>
          </a:p>
        </p:txBody>
      </p:sp>
      <p:sp>
        <p:nvSpPr>
          <p:cNvPr id="3" name="Text Placeholder 2"/>
          <p:cNvSpPr txBox="1">
            <a:spLocks noGrp="1"/>
          </p:cNvSpPr>
          <p:nvPr>
            <p:ph type="body" idx="4294967295"/>
          </p:nvPr>
        </p:nvSpPr>
        <p:spPr>
          <a:xfrm>
            <a:off x="0" y="1600200"/>
            <a:ext cx="7924800" cy="4462463"/>
          </a:xfrm>
        </p:spPr>
        <p:txBody>
          <a:bodyPr lIns="0" tIns="0" rIns="0" bIns="0">
            <a:normAutofit lnSpcReduction="10000"/>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a:latin typeface="" pitchFamily="18"/>
              </a:rPr>
              <a:t>Peer Review Phase: 4 practicals, 30 days for each, assigned a coach, must pass all 4 to move on to Cert phase</a:t>
            </a:r>
          </a:p>
          <a:p>
            <a:pPr lvl="0"/>
            <a:r>
              <a:rPr lang="en-US">
                <a:latin typeface="" pitchFamily="18"/>
              </a:rPr>
              <a:t>Cert. Phase: HDD practical problem - 40 days to complete, 100 Questions knowledge Based objective test – 14 days to complete (T/F, Multi-choice, short essay, matching)</a:t>
            </a:r>
          </a:p>
          <a:p>
            <a:pPr lvl="0"/>
            <a:r>
              <a:rPr lang="en-US">
                <a:latin typeface="" pitchFamily="18"/>
              </a:rPr>
              <a:t>80% to earn cert</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name="page28">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ISFCE</a:t>
            </a:r>
          </a:p>
        </p:txBody>
      </p:sp>
      <p:sp>
        <p:nvSpPr>
          <p:cNvPr id="3" name="Text Placeholder 2"/>
          <p:cNvSpPr txBox="1">
            <a:spLocks noGrp="1"/>
          </p:cNvSpPr>
          <p:nvPr>
            <p:ph type="body" idx="4294967295"/>
          </p:nvPr>
        </p:nvSpPr>
        <p:spPr>
          <a:xfrm>
            <a:off x="0" y="1600200"/>
            <a:ext cx="7924800" cy="4419600"/>
          </a:xfrm>
        </p:spPr>
        <p:txBody>
          <a:bodyPr lIns="0" tIns="0" rIns="0" bIns="0">
            <a:normAutofit lnSpcReduction="10000"/>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a:latin typeface="" pitchFamily="18"/>
              </a:rPr>
              <a:t>International Society of Forensic Computer Examiners (ISFCE)</a:t>
            </a:r>
          </a:p>
          <a:p>
            <a:pPr lvl="0"/>
            <a:r>
              <a:rPr lang="en-US">
                <a:latin typeface="" pitchFamily="18"/>
              </a:rPr>
              <a:t>Certified Computer Examiner CCE</a:t>
            </a:r>
          </a:p>
          <a:p>
            <a:pPr lvl="0"/>
            <a:r>
              <a:rPr lang="en-US">
                <a:latin typeface="" pitchFamily="18"/>
              </a:rPr>
              <a:t>Online written</a:t>
            </a:r>
          </a:p>
          <a:p>
            <a:pPr lvl="0"/>
            <a:r>
              <a:rPr lang="en-US">
                <a:latin typeface="" pitchFamily="18"/>
              </a:rPr>
              <a:t>3 Practical Exams (90 Days)</a:t>
            </a:r>
          </a:p>
          <a:p>
            <a:pPr lvl="0"/>
            <a:r>
              <a:rPr lang="en-US">
                <a:latin typeface="" pitchFamily="18"/>
              </a:rPr>
              <a:t>If you pass, ISFCE Board must still review and approve before cert is awarded</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EC-Council</a:t>
            </a:r>
          </a:p>
        </p:txBody>
      </p:sp>
      <p:sp>
        <p:nvSpPr>
          <p:cNvPr id="3" name="Text Placeholder 2"/>
          <p:cNvSpPr txBox="1">
            <a:spLocks noGrp="1"/>
          </p:cNvSpPr>
          <p:nvPr>
            <p:ph type="body" idx="4294967295"/>
          </p:nvPr>
        </p:nvSpPr>
        <p:spPr>
          <a:xfrm>
            <a:off x="0" y="1600200"/>
            <a:ext cx="7924800" cy="4419600"/>
          </a:xfrm>
        </p:spPr>
        <p:txBody>
          <a:bodyPr lIns="0" tIns="0" rIns="0" bIns="0">
            <a:normAutofit lnSpcReduction="10000"/>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a:latin typeface="" pitchFamily="18"/>
              </a:rPr>
              <a:t>CEH (Ethical Hacker)</a:t>
            </a:r>
          </a:p>
          <a:p>
            <a:pPr lvl="0"/>
            <a:r>
              <a:rPr lang="en-US">
                <a:latin typeface="" pitchFamily="18"/>
              </a:rPr>
              <a:t>CHFI (Hacking Investigator)</a:t>
            </a:r>
          </a:p>
          <a:p>
            <a:pPr lvl="0"/>
            <a:r>
              <a:rPr lang="en-US">
                <a:latin typeface="" pitchFamily="18"/>
              </a:rPr>
              <a:t>LPT (Pen-Testing)</a:t>
            </a:r>
          </a:p>
          <a:p>
            <a:pPr lvl="0"/>
            <a:r>
              <a:rPr lang="en-US">
                <a:latin typeface="" pitchFamily="18"/>
              </a:rPr>
              <a:t>ENSA (Network Security Admin)</a:t>
            </a:r>
          </a:p>
          <a:p>
            <a:pPr lvl="0"/>
            <a:r>
              <a:rPr lang="en-US">
                <a:latin typeface="" pitchFamily="18"/>
              </a:rPr>
              <a:t>CNDA (Network Defense Architect)</a:t>
            </a:r>
          </a:p>
          <a:p>
            <a:pPr lvl="0"/>
            <a:r>
              <a:rPr lang="en-US">
                <a:latin typeface="" pitchFamily="18"/>
              </a:rPr>
              <a:t>ECSP (Secure Programmer)</a:t>
            </a:r>
          </a:p>
          <a:p>
            <a:pPr lvl="0"/>
            <a:r>
              <a:rPr lang="en-US">
                <a:latin typeface="" pitchFamily="18"/>
              </a:rPr>
              <a:t>And several others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name="page30">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a:solidFill>
                  <a:srgbClr val="000000"/>
                </a:solidFill>
              </a:rPr>
              <a:t>Tool Specific</a:t>
            </a:r>
          </a:p>
        </p:txBody>
      </p:sp>
      <p:sp>
        <p:nvSpPr>
          <p:cNvPr id="3" name="Text Placeholder 2"/>
          <p:cNvSpPr txBox="1">
            <a:spLocks noGrp="1"/>
          </p:cNvSpPr>
          <p:nvPr>
            <p:ph type="body" idx="4294967295"/>
          </p:nvPr>
        </p:nvSpPr>
        <p:spPr>
          <a:xfrm>
            <a:off x="0" y="1066800"/>
            <a:ext cx="7924800" cy="4419600"/>
          </a:xfrm>
        </p:spPr>
        <p:txBody>
          <a:bodyPr lIns="0" tIns="0" rIns="0" bIns="0">
            <a:normAutofit/>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r>
              <a:rPr lang="en-US" dirty="0">
                <a:latin typeface="" pitchFamily="18"/>
              </a:rPr>
              <a:t>ACE (FTK)</a:t>
            </a:r>
          </a:p>
          <a:p>
            <a:pPr lvl="0"/>
            <a:r>
              <a:rPr lang="en-US" dirty="0">
                <a:latin typeface="" pitchFamily="18"/>
              </a:rPr>
              <a:t>ENCE (</a:t>
            </a:r>
            <a:r>
              <a:rPr lang="en-US" dirty="0" err="1">
                <a:latin typeface="" pitchFamily="18"/>
              </a:rPr>
              <a:t>EnCase</a:t>
            </a:r>
            <a:r>
              <a:rPr lang="en-US" dirty="0">
                <a:latin typeface="" pitchFamily="18"/>
              </a:rPr>
              <a:t>)</a:t>
            </a:r>
          </a:p>
          <a:p>
            <a:pPr lvl="0"/>
            <a:r>
              <a:rPr lang="en-US" dirty="0">
                <a:latin typeface="" pitchFamily="18"/>
              </a:rPr>
              <a:t>CCLO, CCPA, CCME (</a:t>
            </a:r>
            <a:r>
              <a:rPr lang="en-US" dirty="0" err="1">
                <a:latin typeface="" pitchFamily="18"/>
              </a:rPr>
              <a:t>Cellebrite</a:t>
            </a:r>
            <a:r>
              <a:rPr lang="en-US" dirty="0">
                <a:latin typeface="" pitchFamily="18"/>
              </a:rPr>
              <a:t>)</a:t>
            </a:r>
          </a:p>
          <a:p>
            <a:pPr lvl="0"/>
            <a:r>
              <a:rPr lang="en-US" dirty="0">
                <a:latin typeface="" pitchFamily="18"/>
              </a:rPr>
              <a:t>Various Magnet Certs</a:t>
            </a:r>
          </a:p>
          <a:p>
            <a:pPr lvl="0"/>
            <a:r>
              <a:rPr lang="en-US" dirty="0">
                <a:latin typeface="" pitchFamily="18"/>
              </a:rPr>
              <a:t>XWAYS Forensics</a:t>
            </a:r>
          </a:p>
          <a:p>
            <a:pPr lvl="0"/>
            <a:r>
              <a:rPr lang="en-US" dirty="0">
                <a:latin typeface="" pitchFamily="18"/>
              </a:rPr>
              <a:t>Many others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name="page31">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0" y="228600"/>
            <a:ext cx="8015288" cy="914400"/>
          </a:xfrm>
        </p:spPr>
        <p:txBody>
          <a:bodyPr lIns="0" tIns="0" rIns="0" bIns="0"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solidFill>
                  <a:srgbClr val="000000"/>
                </a:solidFill>
              </a:rPr>
              <a:t>QUESTIONS/DISCUSSION</a:t>
            </a:r>
          </a:p>
        </p:txBody>
      </p:sp>
      <p:sp>
        <p:nvSpPr>
          <p:cNvPr id="3" name="Text Placeholder 2"/>
          <p:cNvSpPr txBox="1">
            <a:spLocks noGrp="1"/>
          </p:cNvSpPr>
          <p:nvPr>
            <p:ph type="body" idx="4294967295"/>
          </p:nvPr>
        </p:nvSpPr>
        <p:spPr>
          <a:xfrm>
            <a:off x="0" y="1600200"/>
            <a:ext cx="9144000" cy="4419600"/>
          </a:xfrm>
        </p:spPr>
        <p:txBody>
          <a:bodyPr lIns="0" tIns="0" rIns="0" bIns="0">
            <a:normAutofit/>
          </a:bodyPr>
          <a:lstStyle>
            <a:defPPr marL="432000" lvl="0" indent="-324000" algn="l" rtl="0" hangingPunct="0">
              <a:spcBef>
                <a:spcPts val="0"/>
              </a:spcBef>
              <a:spcAft>
                <a:spcPts val="1417"/>
              </a:spcAft>
              <a:buSzPct val="45000"/>
              <a:buFont typeface="StarSymbol"/>
              <a:buNone/>
              <a:defRPr lang="en-US" sz="3200" b="0" i="0" u="none" strike="noStrike" kern="1200" spc="0">
                <a:ln>
                  <a:noFill/>
                </a:ln>
                <a:solidFill>
                  <a:srgbClr val="000000"/>
                </a:solidFill>
                <a:latin typeface="Arial"/>
                <a:ea typeface="Microsoft YaHei" pitchFamily="2"/>
                <a:cs typeface="Arial"/>
              </a:defRPr>
            </a:defPPr>
            <a:lvl1pPr marL="432000" lvl="0" indent="-324000" algn="l" rtl="0" hangingPunct="0">
              <a:spcBef>
                <a:spcPts val="0"/>
              </a:spcBef>
              <a:spcAft>
                <a:spcPts val="1417"/>
              </a:spcAft>
              <a:buSzPct val="45000"/>
              <a:buFont typeface="StarSymbol"/>
              <a:buChar char="●"/>
              <a:defRPr lang="en-US" sz="3200" b="0" i="0" u="none" strike="noStrike" kern="1200" spc="0">
                <a:ln>
                  <a:noFill/>
                </a:ln>
                <a:solidFill>
                  <a:srgbClr val="000000"/>
                </a:solidFill>
                <a:latin typeface="Arial"/>
                <a:ea typeface="Microsoft YaHei" pitchFamily="2"/>
                <a:cs typeface="Arial"/>
              </a:defRPr>
            </a:lvl1pPr>
            <a:lvl2pPr marL="864000" lvl="1" indent="-324000" algn="l" rtl="0" hangingPunct="0">
              <a:spcBef>
                <a:spcPts val="0"/>
              </a:spcBef>
              <a:spcAft>
                <a:spcPts val="1134"/>
              </a:spcAft>
              <a:buSzPct val="75000"/>
              <a:buFont typeface="StarSymbol"/>
              <a:buChar char="–"/>
              <a:defRPr lang="en-US" sz="2400" b="0" i="0" u="none" strike="noStrike" kern="1200" spc="0">
                <a:ln>
                  <a:noFill/>
                </a:ln>
                <a:solidFill>
                  <a:srgbClr val="000000"/>
                </a:solidFill>
                <a:latin typeface="Arial"/>
                <a:ea typeface="Microsoft YaHei" pitchFamily="2"/>
                <a:cs typeface="Arial"/>
              </a:defRPr>
            </a:lvl2pPr>
            <a:lvl3pPr marL="1295999" lvl="2" indent="-288000" algn="l" rtl="0" hangingPunct="0">
              <a:spcBef>
                <a:spcPts val="0"/>
              </a:spcBef>
              <a:spcAft>
                <a:spcPts val="850"/>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3pPr>
            <a:lvl4pPr marL="1728000" lvl="3" indent="-216000" algn="l" rtl="0" hangingPunct="0">
              <a:spcBef>
                <a:spcPts val="0"/>
              </a:spcBef>
              <a:spcAft>
                <a:spcPts val="567"/>
              </a:spcAft>
              <a:buSzPct val="75000"/>
              <a:buFont typeface="StarSymbol"/>
              <a:buChar char="–"/>
              <a:defRPr lang="en-US" sz="2000" b="0" i="0" u="none" strike="noStrike" kern="1200" spc="0">
                <a:ln>
                  <a:noFill/>
                </a:ln>
                <a:solidFill>
                  <a:srgbClr val="000000"/>
                </a:solidFill>
                <a:latin typeface="Arial"/>
                <a:ea typeface="Microsoft YaHei" pitchFamily="2"/>
                <a:cs typeface="Arial"/>
              </a:defRPr>
            </a:lvl4pPr>
            <a:lvl5pPr marL="2160000" lvl="4"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5pPr>
            <a:lvl6pPr marL="2592000" lvl="5"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6pPr>
            <a:lvl7pPr marL="3024000" lvl="6"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7pPr>
            <a:lvl8pPr marL="3456000" lvl="7"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8pPr>
            <a:lvl9pPr marL="3887999" lvl="8" indent="-216000" algn="l" rtl="0" hangingPunct="0">
              <a:spcBef>
                <a:spcPts val="0"/>
              </a:spcBef>
              <a:spcAft>
                <a:spcPts val="283"/>
              </a:spcAft>
              <a:buSzPct val="45000"/>
              <a:buFont typeface="StarSymbol"/>
              <a:buChar char="●"/>
              <a:defRPr lang="en-US" sz="2000" b="0" i="0" u="none" strike="noStrike" kern="1200" spc="0">
                <a:ln>
                  <a:noFill/>
                </a:ln>
                <a:solidFill>
                  <a:srgbClr val="000000"/>
                </a:solidFill>
                <a:latin typeface="Arial"/>
                <a:ea typeface="Microsoft YaHei" pitchFamily="2"/>
                <a:cs typeface="Arial"/>
              </a:defRPr>
            </a:lvl9pPr>
          </a:lstStyle>
          <a:p>
            <a:pPr lvl="0" algn="ctr"/>
            <a:r>
              <a:rPr lang="en-US" sz="6600" dirty="0">
                <a:latin typeface="" pitchFamily="18"/>
              </a:rPr>
              <a:t>Josh Watson</a:t>
            </a:r>
          </a:p>
          <a:p>
            <a:pPr lvl="0" algn="ctr"/>
            <a:r>
              <a:rPr lang="en-US" sz="6600" dirty="0">
                <a:latin typeface="" pitchFamily="18"/>
                <a:hlinkClick r:id="rId3"/>
              </a:rPr>
              <a:t>jwatson2@unr.edu</a:t>
            </a:r>
          </a:p>
          <a:p>
            <a:pPr marL="108000" lvl="0" indent="0" algn="ctr">
              <a:buNone/>
            </a:pPr>
            <a:endParaRPr lang="en-US" sz="6600" dirty="0">
              <a:latin typeface="" pitchFamily="18"/>
            </a:endParaRPr>
          </a:p>
        </p:txBody>
      </p:sp>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295</TotalTime>
  <Words>1286</Words>
  <Application>Microsoft Office PowerPoint</Application>
  <PresentationFormat>On-screen Show (4:3)</PresentationFormat>
  <Paragraphs>168</Paragraphs>
  <Slides>52</Slides>
  <Notes>26</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Calibri</vt:lpstr>
      <vt:lpstr>Lucida Sans Unicode</vt:lpstr>
      <vt:lpstr>StarSymbol</vt:lpstr>
      <vt:lpstr>Times New Roman</vt:lpstr>
      <vt:lpstr>Verdana</vt:lpstr>
      <vt:lpstr>Wingdings</vt:lpstr>
      <vt:lpstr>Wingdings 2</vt:lpstr>
      <vt:lpstr>Wingdings 3</vt:lpstr>
      <vt:lpstr>Concourse</vt:lpstr>
      <vt:lpstr>PowerPoint Presentation</vt:lpstr>
      <vt:lpstr>                Disclaimer</vt:lpstr>
      <vt:lpstr>WHO’S THIS GUY?</vt:lpstr>
      <vt:lpstr>How Fast Is Data Growing? </vt:lpstr>
      <vt:lpstr>How Fast Is Data Growing? </vt:lpstr>
      <vt:lpstr>Computer Crimes Unit (CCU)</vt:lpstr>
      <vt:lpstr>ASSIGNED DUTIES </vt:lpstr>
      <vt:lpstr>ASSIGNED DUTIES Con’t</vt:lpstr>
      <vt:lpstr>EQUIPMENT </vt:lpstr>
      <vt:lpstr>PowerPoint Presentation</vt:lpstr>
      <vt:lpstr>RPD CCU Lab</vt:lpstr>
      <vt:lpstr>RPD CCU Lab</vt:lpstr>
      <vt:lpstr>“Tupperware” case management</vt:lpstr>
      <vt:lpstr>Evidence Submission</vt:lpstr>
      <vt:lpstr>Software – Dead Box</vt:lpstr>
      <vt:lpstr>Software – Phone/Mobile</vt:lpstr>
      <vt:lpstr>Software – Memory/Network</vt:lpstr>
      <vt:lpstr>Cell Phone/Mobile Exams</vt:lpstr>
      <vt:lpstr>Computer Forensics</vt:lpstr>
      <vt:lpstr>Live Machine/Memory</vt:lpstr>
      <vt:lpstr>Network Intrusion Cases</vt:lpstr>
      <vt:lpstr>Network Intrusion Cases</vt:lpstr>
      <vt:lpstr>Legal</vt:lpstr>
      <vt:lpstr>Dr. Frankenstein? </vt:lpstr>
      <vt:lpstr>LG Aristo – As submitted</vt:lpstr>
      <vt:lpstr>LG Aristo - Rebuild</vt:lpstr>
      <vt:lpstr>LG Aristo - Rebuild</vt:lpstr>
      <vt:lpstr>LG Aristo – Completed Donor</vt:lpstr>
      <vt:lpstr>LG Aristo </vt:lpstr>
      <vt:lpstr>PowerPoint Presentation</vt:lpstr>
      <vt:lpstr>PowerPoint Presentation</vt:lpstr>
      <vt:lpstr>PowerPoint Presentation</vt:lpstr>
      <vt:lpstr>CDR Mapping</vt:lpstr>
      <vt:lpstr>PowerPoint Presentation</vt:lpstr>
      <vt:lpstr>PowerPoint Presentation</vt:lpstr>
      <vt:lpstr>CDR Mapping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ETHICS</vt:lpstr>
      <vt:lpstr>Certifications</vt:lpstr>
      <vt:lpstr>Certifications</vt:lpstr>
      <vt:lpstr>CFCE</vt:lpstr>
      <vt:lpstr>ISFCE</vt:lpstr>
      <vt:lpstr>EC-Council</vt:lpstr>
      <vt:lpstr>Tool Specific</vt:lpstr>
      <vt:lpstr>QUESTIONS/DISCUSSION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Joshua Watson</dc:creator>
  <cp:lastModifiedBy>Josh Watson</cp:lastModifiedBy>
  <cp:revision>11</cp:revision>
  <dcterms:modified xsi:type="dcterms:W3CDTF">2025-11-13T17:14:38Z</dcterms:modified>
</cp:coreProperties>
</file>