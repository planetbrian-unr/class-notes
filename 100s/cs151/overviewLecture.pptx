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302" r:id="rId4"/>
    <p:sldId id="303" r:id="rId5"/>
    <p:sldId id="296" r:id="rId6"/>
    <p:sldId id="288" r:id="rId7"/>
    <p:sldId id="297" r:id="rId8"/>
    <p:sldId id="298" r:id="rId9"/>
    <p:sldId id="301" r:id="rId10"/>
    <p:sldId id="304" r:id="rId11"/>
    <p:sldId id="305" r:id="rId12"/>
    <p:sldId id="306" r:id="rId13"/>
    <p:sldId id="299" r:id="rId14"/>
    <p:sldId id="30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9295"/>
    <a:srgbClr val="002E62"/>
    <a:srgbClr val="000080"/>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6395" autoAdjust="0"/>
  </p:normalViewPr>
  <p:slideViewPr>
    <p:cSldViewPr snapToGrid="0" snapToObjects="1">
      <p:cViewPr varScale="1">
        <p:scale>
          <a:sx n="102" d="100"/>
          <a:sy n="102" d="100"/>
        </p:scale>
        <p:origin x="-112" y="-1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8F75F0-0DC9-D244-9C65-78173ACB23B3}" type="datetimeFigureOut">
              <a:rPr lang="en-US" smtClean="0"/>
              <a:t>9/9/21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FA223D-0791-B949-A37D-68CC0DDCFA78}" type="slidenum">
              <a:rPr lang="en-US" smtClean="0"/>
              <a:t>‹#›</a:t>
            </a:fld>
            <a:endParaRPr lang="en-US" dirty="0"/>
          </a:p>
        </p:txBody>
      </p:sp>
    </p:spTree>
    <p:extLst>
      <p:ext uri="{BB962C8B-B14F-4D97-AF65-F5344CB8AC3E}">
        <p14:creationId xmlns:p14="http://schemas.microsoft.com/office/powerpoint/2010/main" val="35868823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John_Draper%23cite_note-21" TargetMode="External"/><Relationship Id="rId4" Type="http://schemas.openxmlformats.org/officeDocument/2006/relationships/hyperlink" Target="https://en.wikipedia.org/wiki/OpenBSD" TargetMode="External"/><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62FA223D-0791-B949-A37D-68CC0DDCFA78}" type="slidenum">
              <a:rPr lang="en-US" smtClean="0"/>
              <a:t>1</a:t>
            </a:fld>
            <a:endParaRPr lang="en-US" dirty="0"/>
          </a:p>
        </p:txBody>
      </p:sp>
    </p:spTree>
    <p:extLst>
      <p:ext uri="{BB962C8B-B14F-4D97-AF65-F5344CB8AC3E}">
        <p14:creationId xmlns:p14="http://schemas.microsoft.com/office/powerpoint/2010/main" val="3016207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dirty="0"/>
              <a:t>Main problem </a:t>
            </a:r>
            <a:r>
              <a:rPr lang="is-IS"/>
              <a:t>… anonymity.</a:t>
            </a:r>
            <a:endParaRPr lang="en-US" dirty="0"/>
          </a:p>
          <a:p>
            <a:pPr marL="0" indent="0">
              <a:buNone/>
            </a:pPr>
            <a:r>
              <a:rPr lang="en-US" sz="1200" dirty="0">
                <a:latin typeface="Verdana"/>
                <a:cs typeface="Verdana"/>
              </a:rPr>
              <a:t>	</a:t>
            </a:r>
            <a:endParaRPr lang="en-US" sz="1200" dirty="0"/>
          </a:p>
        </p:txBody>
      </p:sp>
      <p:sp>
        <p:nvSpPr>
          <p:cNvPr id="4" name="Slide Number Placeholder 3"/>
          <p:cNvSpPr>
            <a:spLocks noGrp="1"/>
          </p:cNvSpPr>
          <p:nvPr>
            <p:ph type="sldNum" sz="quarter" idx="10"/>
          </p:nvPr>
        </p:nvSpPr>
        <p:spPr/>
        <p:txBody>
          <a:bodyPr/>
          <a:lstStyle/>
          <a:p>
            <a:fld id="{62FA223D-0791-B949-A37D-68CC0DDCFA78}" type="slidenum">
              <a:rPr lang="en-US" smtClean="0"/>
              <a:t>2</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u="none" strike="noStrike" kern="1200" dirty="0">
                <a:solidFill>
                  <a:schemeClr val="tx1"/>
                </a:solidFill>
                <a:effectLst/>
                <a:latin typeface="Verdana"/>
                <a:ea typeface="+mn-ea"/>
                <a:cs typeface="Verdana"/>
              </a:rPr>
              <a:t>(1)</a:t>
            </a:r>
            <a:r>
              <a:rPr lang="en-US" sz="1200" u="none" strike="noStrike" kern="1200" baseline="0" dirty="0">
                <a:solidFill>
                  <a:schemeClr val="tx1"/>
                </a:solidFill>
                <a:effectLst/>
                <a:latin typeface="Verdana"/>
                <a:ea typeface="+mn-ea"/>
                <a:cs typeface="Verdana"/>
              </a:rPr>
              <a:t> Blueboxes </a:t>
            </a:r>
            <a:r>
              <a:rPr lang="en-US" sz="1200" kern="1200" dirty="0">
                <a:solidFill>
                  <a:schemeClr val="tx1"/>
                </a:solidFill>
                <a:effectLst/>
                <a:latin typeface="+mn-lt"/>
                <a:ea typeface="+mn-ea"/>
                <a:cs typeface="+mn-cs"/>
              </a:rPr>
              <a:t>electronic devices capable of reproducing other tones used by the phone company.</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mn-cs"/>
              </a:rPr>
              <a:t>(2) The ubiquity of the 1971 </a:t>
            </a:r>
            <a:r>
              <a:rPr lang="en-US" sz="1200" i="1" u="none" strike="noStrike" kern="1200" dirty="0">
                <a:solidFill>
                  <a:schemeClr val="tx1"/>
                </a:solidFill>
                <a:effectLst/>
                <a:latin typeface="+mn-lt"/>
                <a:ea typeface="+mn-ea"/>
                <a:cs typeface="+mn-cs"/>
              </a:rPr>
              <a:t>Esquire</a:t>
            </a:r>
            <a:r>
              <a:rPr lang="en-US" sz="1200" kern="1200" dirty="0">
                <a:solidFill>
                  <a:schemeClr val="tx1"/>
                </a:solidFill>
                <a:effectLst/>
                <a:latin typeface="+mn-lt"/>
                <a:ea typeface="+mn-ea"/>
                <a:cs typeface="+mn-cs"/>
              </a:rPr>
              <a:t> article precipitated Draper's eventual arrest on </a:t>
            </a:r>
            <a:r>
              <a:rPr lang="en-US" sz="1200" u="none" strike="noStrike" kern="1200" dirty="0">
                <a:solidFill>
                  <a:schemeClr val="tx1"/>
                </a:solidFill>
                <a:effectLst/>
                <a:latin typeface="+mn-lt"/>
                <a:ea typeface="+mn-ea"/>
                <a:cs typeface="+mn-cs"/>
              </a:rPr>
              <a:t>toll fraud </a:t>
            </a:r>
            <a:r>
              <a:rPr lang="en-US" sz="1200" kern="1200" dirty="0">
                <a:solidFill>
                  <a:schemeClr val="tx1"/>
                </a:solidFill>
                <a:effectLst/>
                <a:latin typeface="+mn-lt"/>
                <a:ea typeface="+mn-ea"/>
                <a:cs typeface="+mn-cs"/>
              </a:rPr>
              <a:t>charges in 1972; he was sentenced to five years' probation.</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mn-cs"/>
              </a:rPr>
              <a:t>(3) In 1976 and 1978, Draper served two prison sentences for </a:t>
            </a:r>
            <a:r>
              <a:rPr lang="en-US" sz="1200" u="none" strike="noStrike" kern="1200" dirty="0">
                <a:solidFill>
                  <a:schemeClr val="tx1"/>
                </a:solidFill>
                <a:effectLst/>
                <a:latin typeface="+mn-lt"/>
                <a:ea typeface="+mn-ea"/>
                <a:cs typeface="+mn-cs"/>
              </a:rPr>
              <a:t>phone fraud</a:t>
            </a:r>
            <a:r>
              <a:rPr lang="en-US" sz="1200" kern="120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mn-cs"/>
              </a:rPr>
              <a:t>(4) in 1979 during a third prison sentence, wrote EasyWriter</a:t>
            </a:r>
            <a:r>
              <a:rPr lang="en-US" sz="1200" kern="1200" baseline="0" dirty="0">
                <a:solidFill>
                  <a:schemeClr val="tx1"/>
                </a:solidFill>
                <a:effectLst/>
                <a:latin typeface="+mn-lt"/>
                <a:ea typeface="+mn-ea"/>
                <a:cs typeface="+mn-cs"/>
              </a:rPr>
              <a:t> first word processor for Apple II</a:t>
            </a: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mn-cs"/>
              </a:rPr>
              <a:t>(5) From 1999 to 2004, Draper was the Chief Technical Officer (CTO) for ShopIP,</a:t>
            </a:r>
            <a:r>
              <a:rPr lang="en-US" sz="1200" u="none" strike="noStrike" kern="1200" baseline="30000" dirty="0">
                <a:solidFill>
                  <a:schemeClr val="tx1"/>
                </a:solidFill>
                <a:effectLst/>
                <a:latin typeface="+mn-lt"/>
                <a:ea typeface="+mn-ea"/>
                <a:cs typeface="+mn-cs"/>
                <a:hlinkClick r:id="rId3"/>
              </a:rPr>
              <a:t>[21]</a:t>
            </a:r>
            <a:r>
              <a:rPr lang="en-US" sz="1200" kern="1200" dirty="0">
                <a:solidFill>
                  <a:schemeClr val="tx1"/>
                </a:solidFill>
                <a:effectLst/>
                <a:latin typeface="+mn-lt"/>
                <a:ea typeface="+mn-ea"/>
                <a:cs typeface="+mn-cs"/>
              </a:rPr>
              <a:t> a computer security company whose featured </a:t>
            </a:r>
            <a:r>
              <a:rPr lang="en-US" sz="1200" u="none" strike="noStrike" kern="1200" dirty="0">
                <a:solidFill>
                  <a:schemeClr val="tx1"/>
                </a:solidFill>
                <a:effectLst/>
                <a:latin typeface="+mn-lt"/>
                <a:ea typeface="+mn-ea"/>
                <a:cs typeface="+mn-cs"/>
                <a:hlinkClick r:id="rId4" tooltip="OpenBSD"/>
              </a:rPr>
              <a:t>OpenBSD</a:t>
            </a:r>
            <a:r>
              <a:rPr lang="en-US" sz="1200" kern="1200" dirty="0">
                <a:solidFill>
                  <a:schemeClr val="tx1"/>
                </a:solidFill>
                <a:effectLst/>
                <a:latin typeface="+mn-lt"/>
                <a:ea typeface="+mn-ea"/>
                <a:cs typeface="+mn-cs"/>
              </a:rPr>
              <a:t>-based firewall</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mn-cs"/>
              </a:rPr>
              <a:t>(6) </a:t>
            </a:r>
            <a:r>
              <a:rPr lang="en-US" altLang="en-US" sz="1200" dirty="0">
                <a:latin typeface="Verdana" panose="020B0604030504040204" pitchFamily="34" charset="0"/>
                <a:ea typeface="Verdana" panose="020B0604030504040204" pitchFamily="34" charset="0"/>
                <a:cs typeface="Verdana" panose="020B0604030504040204" pitchFamily="34" charset="0"/>
              </a:rPr>
              <a:t>Developed to measure the size of the Internet. Exploited vulnerabilities in systems.</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(7) Activated academic</a:t>
            </a:r>
            <a:r>
              <a:rPr lang="en-US" sz="1200" baseline="0" dirty="0">
                <a:latin typeface="Verdana" panose="020B0604030504040204" pitchFamily="34" charset="0"/>
                <a:ea typeface="Verdana" panose="020B0604030504040204" pitchFamily="34" charset="0"/>
                <a:cs typeface="Verdana" panose="020B0604030504040204" pitchFamily="34" charset="0"/>
              </a:rPr>
              <a:t> interest in network security</a:t>
            </a:r>
          </a:p>
          <a:p>
            <a:pPr marL="0" marR="0" indent="0" algn="l" defTabSz="914400" rtl="0" eaLnBrk="1" fontAlgn="auto" latinLnBrk="0" hangingPunct="1">
              <a:lnSpc>
                <a:spcPct val="100000"/>
              </a:lnSpc>
              <a:spcBef>
                <a:spcPts val="0"/>
              </a:spcBef>
              <a:spcAft>
                <a:spcPts val="0"/>
              </a:spcAft>
              <a:buClrTx/>
              <a:buSzTx/>
              <a:buFont typeface="Arial"/>
              <a:buNone/>
              <a:tabLst/>
              <a:defRPr/>
            </a:pPr>
            <a:r>
              <a:rPr lang="en-US" sz="1200" baseline="0" dirty="0">
                <a:latin typeface="Verdana" panose="020B0604030504040204" pitchFamily="34" charset="0"/>
                <a:ea typeface="Verdana" panose="020B0604030504040204" pitchFamily="34" charset="0"/>
                <a:cs typeface="Verdana" panose="020B0604030504040204" pitchFamily="34" charset="0"/>
              </a:rPr>
              <a:t>(8) Dumpster diving and phishing.</a:t>
            </a:r>
            <a:endParaRPr lang="en-US" sz="1200" dirty="0"/>
          </a:p>
        </p:txBody>
      </p:sp>
      <p:sp>
        <p:nvSpPr>
          <p:cNvPr id="4" name="Slide Number Placeholder 3"/>
          <p:cNvSpPr>
            <a:spLocks noGrp="1"/>
          </p:cNvSpPr>
          <p:nvPr>
            <p:ph type="sldNum" sz="quarter" idx="10"/>
          </p:nvPr>
        </p:nvSpPr>
        <p:spPr/>
        <p:txBody>
          <a:bodyPr/>
          <a:lstStyle/>
          <a:p>
            <a:fld id="{62FA223D-0791-B949-A37D-68CC0DDCFA78}" type="slidenum">
              <a:rPr lang="en-US" smtClean="0"/>
              <a:t>3</a:t>
            </a:fld>
            <a:endParaRPr lang="en-US" dirty="0"/>
          </a:p>
        </p:txBody>
      </p:sp>
    </p:spTree>
    <p:extLst>
      <p:ext uri="{BB962C8B-B14F-4D97-AF65-F5344CB8AC3E}">
        <p14:creationId xmlns:p14="http://schemas.microsoft.com/office/powerpoint/2010/main" val="329141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a:buNone/>
              <a:tabLst/>
              <a:defRPr/>
            </a:pPr>
            <a:endParaRPr lang="en-US" sz="1200" dirty="0"/>
          </a:p>
        </p:txBody>
      </p:sp>
      <p:sp>
        <p:nvSpPr>
          <p:cNvPr id="4" name="Slide Number Placeholder 3"/>
          <p:cNvSpPr>
            <a:spLocks noGrp="1"/>
          </p:cNvSpPr>
          <p:nvPr>
            <p:ph type="sldNum" sz="quarter" idx="10"/>
          </p:nvPr>
        </p:nvSpPr>
        <p:spPr/>
        <p:txBody>
          <a:bodyPr/>
          <a:lstStyle/>
          <a:p>
            <a:fld id="{62FA223D-0791-B949-A37D-68CC0DDCFA78}" type="slidenum">
              <a:rPr lang="en-US" smtClean="0"/>
              <a:t>4</a:t>
            </a:fld>
            <a:endParaRPr lang="en-US" dirty="0"/>
          </a:p>
        </p:txBody>
      </p:sp>
    </p:spTree>
    <p:extLst>
      <p:ext uri="{BB962C8B-B14F-4D97-AF65-F5344CB8AC3E}">
        <p14:creationId xmlns:p14="http://schemas.microsoft.com/office/powerpoint/2010/main" val="1195110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dirty="0"/>
              <a:t>Cyber security, also referred to as information technology security, focuses on protecting computers, networks, programs and data from unintended or unauthorized access, change or destruction.</a:t>
            </a:r>
          </a:p>
          <a:p>
            <a:pPr marL="342900" indent="-342900">
              <a:buAutoNum type="arabicParenBoth"/>
            </a:pPr>
            <a:r>
              <a:rPr lang="en-US" sz="1200" dirty="0"/>
              <a:t>There does not seem to be a</a:t>
            </a:r>
            <a:r>
              <a:rPr lang="en-US" sz="1200" baseline="0" dirty="0"/>
              <a:t> specific definition that is universally accepted. Very similar to “cloud” before formally defied by NIST.</a:t>
            </a:r>
            <a:endParaRPr lang="en-US" sz="1200" dirty="0"/>
          </a:p>
        </p:txBody>
      </p:sp>
      <p:sp>
        <p:nvSpPr>
          <p:cNvPr id="4" name="Slide Number Placeholder 3"/>
          <p:cNvSpPr>
            <a:spLocks noGrp="1"/>
          </p:cNvSpPr>
          <p:nvPr>
            <p:ph type="sldNum" sz="quarter" idx="10"/>
          </p:nvPr>
        </p:nvSpPr>
        <p:spPr/>
        <p:txBody>
          <a:bodyPr/>
          <a:lstStyle/>
          <a:p>
            <a:fld id="{62FA223D-0791-B949-A37D-68CC0DDCFA78}" type="slidenum">
              <a:rPr lang="en-US" smtClean="0"/>
              <a:t>5</a:t>
            </a:fld>
            <a:endParaRPr lang="en-US" dirty="0"/>
          </a:p>
        </p:txBody>
      </p:sp>
    </p:spTree>
    <p:extLst>
      <p:ext uri="{BB962C8B-B14F-4D97-AF65-F5344CB8AC3E}">
        <p14:creationId xmlns:p14="http://schemas.microsoft.com/office/powerpoint/2010/main" val="2426976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b="0" i="0" kern="1200" dirty="0">
                <a:solidFill>
                  <a:schemeClr val="tx1"/>
                </a:solidFill>
                <a:effectLst/>
                <a:latin typeface="+mn-lt"/>
                <a:ea typeface="+mn-ea"/>
                <a:cs typeface="+mn-cs"/>
              </a:rPr>
              <a:t>Confidentiality includes enforcing file permissions and access control list to restrict access to sensitive information.</a:t>
            </a:r>
          </a:p>
          <a:p>
            <a:pPr marL="228600" indent="-228600">
              <a:buAutoNum type="arabicPeriod" startAt="2"/>
            </a:pPr>
            <a:r>
              <a:rPr lang="en-US" sz="1200" b="0" i="0" kern="1200" dirty="0">
                <a:solidFill>
                  <a:schemeClr val="tx1"/>
                </a:solidFill>
                <a:effectLst/>
                <a:latin typeface="+mn-lt"/>
                <a:ea typeface="+mn-ea"/>
                <a:cs typeface="+mn-cs"/>
              </a:rPr>
              <a:t>Data integrity includes hashing the data you receive and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comparing it with the hash of the original message.</a:t>
            </a:r>
          </a:p>
          <a:p>
            <a:pPr marL="228600" indent="-228600">
              <a:buAutoNum type="arabicPeriod" startAt="3"/>
            </a:pPr>
            <a:r>
              <a:rPr lang="en-US" sz="1200" b="0" i="0" kern="1200" dirty="0">
                <a:solidFill>
                  <a:schemeClr val="tx1"/>
                </a:solidFill>
                <a:effectLst/>
                <a:latin typeface="+mn-lt"/>
                <a:ea typeface="+mn-ea"/>
                <a:cs typeface="+mn-cs"/>
              </a:rPr>
              <a:t>Backup and/or redundancy to mitigate down time.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4.  Other factors besides the CIA triad are important in certain scenarios, such as non-repudiation. A service that provides proof of the</a:t>
            </a:r>
            <a:r>
              <a:rPr lang="en-US" sz="1200" b="0" i="0" kern="1200" baseline="0" dirty="0">
                <a:solidFill>
                  <a:schemeClr val="tx1"/>
                </a:solidFill>
                <a:effectLst/>
                <a:latin typeface="+mn-lt"/>
                <a:ea typeface="+mn-ea"/>
                <a:cs typeface="+mn-cs"/>
              </a:rPr>
              <a:t> integrity</a:t>
            </a:r>
            <a:r>
              <a:rPr lang="en-US" sz="1200" b="0" i="0" kern="1200" dirty="0">
                <a:solidFill>
                  <a:schemeClr val="tx1"/>
                </a:solidFill>
                <a:effectLst/>
                <a:latin typeface="+mn-lt"/>
                <a:ea typeface="+mn-ea"/>
                <a:cs typeface="+mn-cs"/>
              </a:rPr>
              <a:t> and </a:t>
            </a:r>
            <a:r>
              <a:rPr lang="en-US" sz="1200" b="0" i="0" u="none" kern="1200" dirty="0">
                <a:solidFill>
                  <a:schemeClr val="tx1"/>
                </a:solidFill>
                <a:effectLst/>
                <a:latin typeface="+mn-lt"/>
                <a:ea typeface="+mn-ea"/>
                <a:cs typeface="+mn-cs"/>
              </a:rPr>
              <a:t>origin of data.</a:t>
            </a:r>
          </a:p>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6</a:t>
            </a:fld>
            <a:endParaRPr lang="en-US" dirty="0"/>
          </a:p>
        </p:txBody>
      </p:sp>
    </p:spTree>
    <p:extLst>
      <p:ext uri="{BB962C8B-B14F-4D97-AF65-F5344CB8AC3E}">
        <p14:creationId xmlns:p14="http://schemas.microsoft.com/office/powerpoint/2010/main" val="3416323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dirty="0"/>
              <a:t>From: https://www.us-cert.gov/sites/default/files/publications/infosecuritybasics.pdf</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dirty="0"/>
              <a:t>Authentication Is either </a:t>
            </a:r>
            <a:r>
              <a:rPr lang="en-US" sz="1200" kern="1200" dirty="0">
                <a:solidFill>
                  <a:schemeClr val="tx1"/>
                </a:solidFill>
                <a:effectLst/>
                <a:latin typeface="+mn-lt"/>
                <a:ea typeface="+mn-ea"/>
                <a:cs typeface="+mn-cs"/>
              </a:rPr>
              <a:t>proof that the user knows (password), has (smartcard), or is (fingerprints).</a:t>
            </a:r>
            <a:endParaRPr lang="en-US" sz="1400" kern="1200" dirty="0">
              <a:solidFill>
                <a:schemeClr val="tx1"/>
              </a:solidFill>
              <a:effectLst/>
              <a:latin typeface="+mn-lt"/>
              <a:ea typeface="+mn-ea"/>
              <a:cs typeface="+mn-cs"/>
            </a:endParaRP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kern="1200" dirty="0">
                <a:solidFill>
                  <a:schemeClr val="tx1"/>
                </a:solidFill>
                <a:effectLst/>
                <a:latin typeface="+mn-lt"/>
                <a:ea typeface="+mn-ea"/>
                <a:cs typeface="+mn-cs"/>
              </a:rPr>
              <a:t>Nonrepudiation</a:t>
            </a:r>
            <a:r>
              <a:rPr lang="en-US" sz="1400" kern="1200" baseline="0" dirty="0">
                <a:solidFill>
                  <a:schemeClr val="tx1"/>
                </a:solidFill>
                <a:effectLst/>
                <a:latin typeface="+mn-lt"/>
                <a:ea typeface="+mn-ea"/>
                <a:cs typeface="+mn-cs"/>
              </a:rPr>
              <a:t> </a:t>
            </a:r>
            <a:r>
              <a:rPr lang="en-US" sz="1200" dirty="0"/>
              <a:t>—the user cannot later deny that he or she performed the activity.</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7</a:t>
            </a:fld>
            <a:endParaRPr lang="en-US" dirty="0"/>
          </a:p>
        </p:txBody>
      </p:sp>
    </p:spTree>
    <p:extLst>
      <p:ext uri="{BB962C8B-B14F-4D97-AF65-F5344CB8AC3E}">
        <p14:creationId xmlns:p14="http://schemas.microsoft.com/office/powerpoint/2010/main" val="2731221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dirty="0"/>
              <a:t>From: http://usa.kaspersky.com/internet-security-center/definitions/cyber-security</a:t>
            </a:r>
          </a:p>
        </p:txBody>
      </p:sp>
      <p:sp>
        <p:nvSpPr>
          <p:cNvPr id="4" name="Slide Number Placeholder 3"/>
          <p:cNvSpPr>
            <a:spLocks noGrp="1"/>
          </p:cNvSpPr>
          <p:nvPr>
            <p:ph type="sldNum" sz="quarter" idx="10"/>
          </p:nvPr>
        </p:nvSpPr>
        <p:spPr/>
        <p:txBody>
          <a:bodyPr/>
          <a:lstStyle/>
          <a:p>
            <a:fld id="{62FA223D-0791-B949-A37D-68CC0DDCFA78}" type="slidenum">
              <a:rPr lang="en-US" smtClean="0"/>
              <a:t>8</a:t>
            </a:fld>
            <a:endParaRPr lang="en-US" dirty="0"/>
          </a:p>
        </p:txBody>
      </p:sp>
    </p:spTree>
    <p:extLst>
      <p:ext uri="{BB962C8B-B14F-4D97-AF65-F5344CB8AC3E}">
        <p14:creationId xmlns:p14="http://schemas.microsoft.com/office/powerpoint/2010/main" val="3513712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9</a:t>
            </a:fld>
            <a:endParaRPr lang="en-US" dirty="0"/>
          </a:p>
        </p:txBody>
      </p:sp>
    </p:spTree>
    <p:extLst>
      <p:ext uri="{BB962C8B-B14F-4D97-AF65-F5344CB8AC3E}">
        <p14:creationId xmlns:p14="http://schemas.microsoft.com/office/powerpoint/2010/main" val="2339756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10</a:t>
            </a:fld>
            <a:endParaRPr lang="en-US" dirty="0"/>
          </a:p>
        </p:txBody>
      </p:sp>
    </p:spTree>
    <p:extLst>
      <p:ext uri="{BB962C8B-B14F-4D97-AF65-F5344CB8AC3E}">
        <p14:creationId xmlns:p14="http://schemas.microsoft.com/office/powerpoint/2010/main" val="3961387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11</a:t>
            </a:fld>
            <a:endParaRPr lang="en-US" dirty="0"/>
          </a:p>
        </p:txBody>
      </p:sp>
    </p:spTree>
    <p:extLst>
      <p:ext uri="{BB962C8B-B14F-4D97-AF65-F5344CB8AC3E}">
        <p14:creationId xmlns:p14="http://schemas.microsoft.com/office/powerpoint/2010/main" val="2222340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12</a:t>
            </a:fld>
            <a:endParaRPr lang="en-US" dirty="0"/>
          </a:p>
        </p:txBody>
      </p:sp>
    </p:spTree>
    <p:extLst>
      <p:ext uri="{BB962C8B-B14F-4D97-AF65-F5344CB8AC3E}">
        <p14:creationId xmlns:p14="http://schemas.microsoft.com/office/powerpoint/2010/main" val="285902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dirty="0"/>
              <a:t>From: https://www.us-cert.gov/ncas/tips/ST04-001</a:t>
            </a:r>
          </a:p>
        </p:txBody>
      </p:sp>
      <p:sp>
        <p:nvSpPr>
          <p:cNvPr id="4" name="Slide Number Placeholder 3"/>
          <p:cNvSpPr>
            <a:spLocks noGrp="1"/>
          </p:cNvSpPr>
          <p:nvPr>
            <p:ph type="sldNum" sz="quarter" idx="10"/>
          </p:nvPr>
        </p:nvSpPr>
        <p:spPr/>
        <p:txBody>
          <a:bodyPr/>
          <a:lstStyle/>
          <a:p>
            <a:fld id="{62FA223D-0791-B949-A37D-68CC0DDCFA78}" type="slidenum">
              <a:rPr lang="en-US" smtClean="0"/>
              <a:t>13</a:t>
            </a:fld>
            <a:endParaRPr lang="en-US" dirty="0"/>
          </a:p>
        </p:txBody>
      </p:sp>
    </p:spTree>
    <p:extLst>
      <p:ext uri="{BB962C8B-B14F-4D97-AF65-F5344CB8AC3E}">
        <p14:creationId xmlns:p14="http://schemas.microsoft.com/office/powerpoint/2010/main" val="179701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400" dirty="0"/>
              <a:t>https://public.dhe.ibm.com/common/ssi/ecm/se/en/se912353usen/SE912353USEN.PDF</a:t>
            </a:r>
          </a:p>
        </p:txBody>
      </p:sp>
      <p:sp>
        <p:nvSpPr>
          <p:cNvPr id="4" name="Slide Number Placeholder 3"/>
          <p:cNvSpPr>
            <a:spLocks noGrp="1"/>
          </p:cNvSpPr>
          <p:nvPr>
            <p:ph type="sldNum" sz="quarter" idx="10"/>
          </p:nvPr>
        </p:nvSpPr>
        <p:spPr/>
        <p:txBody>
          <a:bodyPr/>
          <a:lstStyle/>
          <a:p>
            <a:fld id="{62FA223D-0791-B949-A37D-68CC0DDCFA78}" type="slidenum">
              <a:rPr lang="en-US" smtClean="0"/>
              <a:t>14</a:t>
            </a:fld>
            <a:endParaRPr lang="en-US" dirty="0"/>
          </a:p>
        </p:txBody>
      </p:sp>
    </p:spTree>
    <p:extLst>
      <p:ext uri="{BB962C8B-B14F-4D97-AF65-F5344CB8AC3E}">
        <p14:creationId xmlns:p14="http://schemas.microsoft.com/office/powerpoint/2010/main" val="468514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7C3D7B5-B83E-7840-8B01-76312A1964D7}" type="datetimeFigureOut">
              <a:rPr lang="en-US" smtClean="0"/>
              <a:t>9/9/21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27374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9/9/21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169593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3D7B5-B83E-7840-8B01-76312A1964D7}" type="datetimeFigureOut">
              <a:rPr lang="en-US" smtClean="0"/>
              <a:t>9/9/21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727323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C3D7B5-B83E-7840-8B01-76312A1964D7}" type="datetimeFigureOut">
              <a:rPr lang="en-US" smtClean="0"/>
              <a:t>9/9/21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420784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7C3D7B5-B83E-7840-8B01-76312A1964D7}" type="datetimeFigureOut">
              <a:rPr lang="en-US" smtClean="0"/>
              <a:t>9/9/21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139480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C3D7B5-B83E-7840-8B01-76312A1964D7}" type="datetimeFigureOut">
              <a:rPr lang="en-US" smtClean="0"/>
              <a:t>9/9/21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5491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3D7B5-B83E-7840-8B01-76312A1964D7}" type="datetimeFigureOut">
              <a:rPr lang="en-US" smtClean="0"/>
              <a:t>9/9/21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558326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9/9/21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929264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9/9/21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8657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9/9/21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2587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9/9/21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58087832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C3D7B5-B83E-7840-8B01-76312A1964D7}" type="datetimeFigureOut">
              <a:rPr lang="en-US" smtClean="0"/>
              <a:t>9/9/21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CCAAD-DDFE-4542-91EE-B3163A1266B1}" type="slidenum">
              <a:rPr lang="en-US" smtClean="0"/>
              <a:t>‹#›</a:t>
            </a:fld>
            <a:endParaRPr lang="en-US" dirty="0"/>
          </a:p>
        </p:txBody>
      </p:sp>
    </p:spTree>
    <p:extLst>
      <p:ext uri="{BB962C8B-B14F-4D97-AF65-F5344CB8AC3E}">
        <p14:creationId xmlns:p14="http://schemas.microsoft.com/office/powerpoint/2010/main" val="502775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usa.kaspersky.com/internet-security-center/threats/cybercrim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E6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1288271"/>
          </a:xfrm>
          <a:solidFill>
            <a:schemeClr val="bg1">
              <a:lumMod val="85000"/>
            </a:schemeClr>
          </a:solidFill>
          <a:effectLst>
            <a:outerShdw blurRad="50800" dist="38100" dir="2700000" algn="tl" rotWithShape="0">
              <a:srgbClr val="000000">
                <a:alpha val="43000"/>
              </a:srgbClr>
            </a:outerShdw>
          </a:effectLst>
        </p:spPr>
        <p:txBody>
          <a:bodyPr>
            <a:normAutofit/>
          </a:bodyPr>
          <a:lstStyle/>
          <a:p>
            <a:r>
              <a:rPr lang="en-US" sz="4000" dirty="0">
                <a:solidFill>
                  <a:srgbClr val="002E62"/>
                </a:solidFill>
                <a:effectLst>
                  <a:outerShdw blurRad="50800" dist="38100" dir="2700000" algn="tl" rotWithShape="0">
                    <a:srgbClr val="000000">
                      <a:alpha val="43000"/>
                    </a:srgbClr>
                  </a:outerShdw>
                </a:effectLst>
                <a:latin typeface="Verdana"/>
                <a:cs typeface="Verdana"/>
              </a:rPr>
              <a:t>Overview of Cybersecurity</a:t>
            </a:r>
          </a:p>
        </p:txBody>
      </p:sp>
      <p:sp>
        <p:nvSpPr>
          <p:cNvPr id="11" name="Rectangle 10"/>
          <p:cNvSpPr/>
          <p:nvPr/>
        </p:nvSpPr>
        <p:spPr>
          <a:xfrm>
            <a:off x="0" y="6295510"/>
            <a:ext cx="9144000" cy="328462"/>
          </a:xfrm>
          <a:prstGeom prst="rect">
            <a:avLst/>
          </a:prstGeom>
          <a:solidFill>
            <a:schemeClr val="bg1">
              <a:lumMod val="85000"/>
            </a:schemeClr>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2E62"/>
                </a:solidFill>
              </a:rPr>
              <a:t>     </a:t>
            </a:r>
            <a:r>
              <a:rPr lang="en-US" cap="small" dirty="0">
                <a:solidFill>
                  <a:srgbClr val="002E62"/>
                </a:solidFill>
                <a:latin typeface="Verdana"/>
                <a:cs typeface="Verdana"/>
              </a:rPr>
              <a:t>CS 151 – Introduction to Cybersecurity</a:t>
            </a:r>
            <a:endParaRPr lang="en-US" sz="1600" cap="small" dirty="0">
              <a:solidFill>
                <a:srgbClr val="002E62"/>
              </a:solidFill>
              <a:latin typeface="Verdana"/>
              <a:cs typeface="Verdana"/>
            </a:endParaRPr>
          </a:p>
        </p:txBody>
      </p:sp>
      <p:pic>
        <p:nvPicPr>
          <p:cNvPr id="3" name="Picture 2" descr="Nevada_N_blue_revers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6593" y="2198654"/>
            <a:ext cx="2060377" cy="2060377"/>
          </a:xfrm>
          <a:prstGeom prst="rect">
            <a:avLst/>
          </a:prstGeom>
        </p:spPr>
      </p:pic>
      <p:sp>
        <p:nvSpPr>
          <p:cNvPr id="2" name="TextBox 1"/>
          <p:cNvSpPr txBox="1"/>
          <p:nvPr/>
        </p:nvSpPr>
        <p:spPr>
          <a:xfrm>
            <a:off x="1581732" y="4615448"/>
            <a:ext cx="5714708" cy="1015663"/>
          </a:xfrm>
          <a:prstGeom prst="rect">
            <a:avLst/>
          </a:prstGeom>
          <a:noFill/>
        </p:spPr>
        <p:txBody>
          <a:bodyPr wrap="square" rtlCol="0">
            <a:spAutoFit/>
          </a:bodyPr>
          <a:lstStyle/>
          <a:p>
            <a:pPr algn="ctr"/>
            <a:r>
              <a:rPr lang="en-US" sz="2000" dirty="0">
                <a:solidFill>
                  <a:schemeClr val="bg1">
                    <a:lumMod val="85000"/>
                  </a:schemeClr>
                </a:solidFill>
                <a:latin typeface="Verdana"/>
                <a:cs typeface="Verdana"/>
              </a:rPr>
              <a:t>Nancy LaTourrette </a:t>
            </a:r>
          </a:p>
          <a:p>
            <a:pPr algn="ctr"/>
            <a:r>
              <a:rPr lang="en-US" sz="2000" dirty="0">
                <a:solidFill>
                  <a:schemeClr val="bg1">
                    <a:lumMod val="85000"/>
                  </a:schemeClr>
                </a:solidFill>
                <a:latin typeface="Verdana"/>
                <a:cs typeface="Verdana"/>
              </a:rPr>
              <a:t>Computer Science &amp; Engineering</a:t>
            </a:r>
          </a:p>
          <a:p>
            <a:pPr algn="ctr"/>
            <a:endParaRPr lang="en-US" sz="2000" dirty="0">
              <a:solidFill>
                <a:schemeClr val="bg1">
                  <a:lumMod val="85000"/>
                </a:schemeClr>
              </a:solidFill>
              <a:latin typeface="Verdana"/>
              <a:cs typeface="Verdana"/>
            </a:endParaRPr>
          </a:p>
        </p:txBody>
      </p:sp>
    </p:spTree>
    <p:extLst>
      <p:ext uri="{BB962C8B-B14F-4D97-AF65-F5344CB8AC3E}">
        <p14:creationId xmlns:p14="http://schemas.microsoft.com/office/powerpoint/2010/main" val="205580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Anonymity</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pic>
        <p:nvPicPr>
          <p:cNvPr id="5" name="Picture 2" descr="http://www-db.stanford.edu/pub/gio/CS99I/figures/DogInternet_07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9203" y="1336115"/>
            <a:ext cx="4245593" cy="474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6820580" y="5484027"/>
            <a:ext cx="24384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ct val="20000"/>
              </a:spcBef>
              <a:buClr>
                <a:schemeClr val="accent2"/>
              </a:buClr>
              <a:buSzPct val="85000"/>
              <a:buFont typeface="ZapfDingbats" charset="0"/>
              <a:buChar char="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charset="0"/>
              </a:defRPr>
            </a:lvl1pPr>
            <a:lvl2pPr marL="742950" indent="-285750">
              <a:spcBef>
                <a:spcPct val="20000"/>
              </a:spcBef>
              <a:buClr>
                <a:schemeClr val="accent2"/>
              </a:buClr>
              <a:buSzPct val="75000"/>
              <a:buFont typeface="ZapfDingbats" charset="0"/>
              <a:buChar char="m"/>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339933"/>
                </a:solidFill>
                <a:latin typeface="Comic Sans MS"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339933"/>
                </a:solidFill>
                <a:latin typeface="Comic Sans MS"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Times New Roman" charset="0"/>
              </a:defRPr>
            </a:lvl9pPr>
          </a:lstStyle>
          <a:p>
            <a:pPr>
              <a:lnSpc>
                <a:spcPct val="101000"/>
              </a:lnSpc>
              <a:spcBef>
                <a:spcPct val="0"/>
              </a:spcBef>
              <a:buClrTx/>
              <a:buSzTx/>
              <a:buFontTx/>
              <a:buNone/>
            </a:pPr>
            <a:r>
              <a:rPr lang="en-GB" altLang="en-US" sz="1600" dirty="0">
                <a:solidFill>
                  <a:srgbClr val="000000"/>
                </a:solidFill>
                <a:latin typeface="Tahoma" charset="0"/>
              </a:rPr>
              <a:t>by Peter Steiner, </a:t>
            </a:r>
          </a:p>
          <a:p>
            <a:pPr>
              <a:lnSpc>
                <a:spcPct val="101000"/>
              </a:lnSpc>
              <a:spcBef>
                <a:spcPct val="0"/>
              </a:spcBef>
              <a:buClrTx/>
              <a:buSzTx/>
              <a:buFontTx/>
              <a:buNone/>
            </a:pPr>
            <a:r>
              <a:rPr lang="en-GB" altLang="en-US" sz="1600" dirty="0">
                <a:solidFill>
                  <a:srgbClr val="000000"/>
                </a:solidFill>
                <a:latin typeface="Tahoma" charset="0"/>
              </a:rPr>
              <a:t>New York, July 5, 1993</a:t>
            </a:r>
          </a:p>
        </p:txBody>
      </p:sp>
    </p:spTree>
    <p:extLst>
      <p:ext uri="{BB962C8B-B14F-4D97-AF65-F5344CB8AC3E}">
        <p14:creationId xmlns:p14="http://schemas.microsoft.com/office/powerpoint/2010/main" val="280222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Significant Events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7" name="TextBox 6"/>
          <p:cNvSpPr txBox="1"/>
          <p:nvPr/>
        </p:nvSpPr>
        <p:spPr>
          <a:xfrm>
            <a:off x="242216" y="1278349"/>
            <a:ext cx="8659567" cy="4801314"/>
          </a:xfrm>
          <a:prstGeom prst="rect">
            <a:avLst/>
          </a:prstGeom>
          <a:noFill/>
        </p:spPr>
        <p:txBody>
          <a:bodyPr wrap="square" rtlCol="0">
            <a:spAutoFit/>
          </a:bodyPr>
          <a:lstStyle/>
          <a:p>
            <a:r>
              <a:rPr lang="en-US" sz="2400" b="1" i="1" dirty="0">
                <a:latin typeface="Verdana"/>
                <a:cs typeface="Verdana"/>
              </a:rPr>
              <a:t>1957:</a:t>
            </a:r>
            <a:r>
              <a:rPr lang="en-US" sz="2400" dirty="0">
                <a:latin typeface="Verdana"/>
                <a:cs typeface="Verdana"/>
              </a:rPr>
              <a:t> </a:t>
            </a:r>
            <a:r>
              <a:rPr lang="en-US" altLang="en-US" sz="2400" dirty="0">
                <a:latin typeface="Verdana" panose="020B0604030504040204" pitchFamily="34" charset="0"/>
                <a:ea typeface="Verdana" panose="020B0604030504040204" pitchFamily="34" charset="0"/>
                <a:cs typeface="Verdana" panose="020B0604030504040204" pitchFamily="34" charset="0"/>
              </a:rPr>
              <a:t>Sight impaired seven-year old, Joe Engressia “Joybubbles”, discovered a whistling tone that reset trunk lines resulting in free phone calls.</a:t>
            </a:r>
          </a:p>
          <a:p>
            <a:endParaRPr lang="en-US" sz="1400" i="1" dirty="0">
              <a:latin typeface="Verdana"/>
              <a:cs typeface="Verdana"/>
            </a:endParaRPr>
          </a:p>
          <a:p>
            <a:r>
              <a:rPr lang="en-US" sz="2400" b="1" i="1" dirty="0">
                <a:latin typeface="Verdana"/>
                <a:cs typeface="Verdana"/>
              </a:rPr>
              <a:t>1971:</a:t>
            </a:r>
            <a:r>
              <a:rPr lang="en-US" sz="2400" i="1" dirty="0">
                <a:latin typeface="Verdana"/>
                <a:cs typeface="Verdana"/>
              </a:rPr>
              <a:t> </a:t>
            </a:r>
            <a:r>
              <a:rPr lang="en-GB" altLang="en-US" sz="2400" dirty="0">
                <a:latin typeface="Verdana" panose="020B0604030504040204" pitchFamily="34" charset="0"/>
                <a:ea typeface="Verdana" panose="020B0604030504040204" pitchFamily="34" charset="0"/>
                <a:cs typeface="Verdana" panose="020B0604030504040204" pitchFamily="34" charset="0"/>
              </a:rPr>
              <a:t>John Draper, “Captain Crunch”, built Bluebox to replicate phone tones resulting in free long distance. </a:t>
            </a:r>
            <a:r>
              <a:rPr lang="en-US" altLang="en-US" sz="2400" dirty="0">
                <a:latin typeface="Verdana" panose="020B0604030504040204" pitchFamily="34" charset="0"/>
                <a:ea typeface="Verdana" panose="020B0604030504040204" pitchFamily="34" charset="0"/>
                <a:cs typeface="Verdana" panose="020B0604030504040204" pitchFamily="34" charset="0"/>
              </a:rPr>
              <a:t>“If I do what I do, it is only to explore a system”.</a:t>
            </a:r>
          </a:p>
          <a:p>
            <a:endParaRPr lang="en-US" sz="1400" b="1" i="1"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a:cs typeface="Verdana"/>
              </a:rPr>
              <a:t>1988:</a:t>
            </a:r>
            <a:r>
              <a:rPr lang="en-US" sz="2400" i="1" dirty="0">
                <a:latin typeface="Verdana"/>
                <a:cs typeface="Verdana"/>
              </a:rPr>
              <a:t> </a:t>
            </a:r>
            <a:r>
              <a:rPr lang="en-US" altLang="en-US" sz="2400" dirty="0">
                <a:latin typeface="Verdana" panose="020B0604030504040204" pitchFamily="34" charset="0"/>
                <a:ea typeface="Verdana" panose="020B0604030504040204" pitchFamily="34" charset="0"/>
                <a:cs typeface="Verdana" panose="020B0604030504040204" pitchFamily="34" charset="0"/>
              </a:rPr>
              <a:t>Robert Morris developed a worm which brought down a large part of the Internet, ~ 6,000 computers. </a:t>
            </a:r>
          </a:p>
          <a:p>
            <a:endParaRPr lang="en-US" sz="1400" b="1" i="1"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panose="020B0604030504040204" pitchFamily="34" charset="0"/>
                <a:ea typeface="Verdana" panose="020B0604030504040204" pitchFamily="34" charset="0"/>
                <a:cs typeface="Verdana" panose="020B0604030504040204" pitchFamily="34" charset="0"/>
              </a:rPr>
              <a:t>1995: </a:t>
            </a:r>
            <a:r>
              <a:rPr lang="en-GB" altLang="en-US" sz="2400" dirty="0">
                <a:latin typeface="Verdana" panose="020B0604030504040204" pitchFamily="34" charset="0"/>
                <a:ea typeface="Verdana" panose="020B0604030504040204" pitchFamily="34" charset="0"/>
                <a:cs typeface="Verdana" panose="020B0604030504040204" pitchFamily="34" charset="0"/>
              </a:rPr>
              <a:t>Kevin Mitnick became first hacker on FBI’s Most Wanted List. Stole 20,000 credit card numbers. Used social engineering as primary source to gain access.</a:t>
            </a:r>
          </a:p>
        </p:txBody>
      </p:sp>
    </p:spTree>
    <p:extLst>
      <p:ext uri="{BB962C8B-B14F-4D97-AF65-F5344CB8AC3E}">
        <p14:creationId xmlns:p14="http://schemas.microsoft.com/office/powerpoint/2010/main" val="3174224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Growth of the Internet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7" name="TextBox 6"/>
          <p:cNvSpPr txBox="1"/>
          <p:nvPr/>
        </p:nvSpPr>
        <p:spPr>
          <a:xfrm>
            <a:off x="242216" y="1413204"/>
            <a:ext cx="8659567" cy="4431983"/>
          </a:xfrm>
          <a:prstGeom prst="rect">
            <a:avLst/>
          </a:prstGeom>
          <a:noFill/>
        </p:spPr>
        <p:txBody>
          <a:bodyPr wrap="square" rtlCol="0">
            <a:spAutoFit/>
          </a:bodyPr>
          <a:lstStyle/>
          <a:p>
            <a:r>
              <a:rPr lang="en-US" sz="2400" b="1" i="1" dirty="0">
                <a:latin typeface="Verdana"/>
                <a:cs typeface="Verdana"/>
              </a:rPr>
              <a:t>1960s:</a:t>
            </a:r>
            <a:r>
              <a:rPr lang="en-US" sz="2400" dirty="0">
                <a:latin typeface="Verdana"/>
                <a:cs typeface="Verdana"/>
              </a:rPr>
              <a:t> </a:t>
            </a:r>
            <a:r>
              <a:rPr lang="en-US" altLang="en-US" sz="2400" dirty="0">
                <a:latin typeface="Verdana" panose="020B0604030504040204" pitchFamily="34" charset="0"/>
                <a:ea typeface="Verdana" panose="020B0604030504040204" pitchFamily="34" charset="0"/>
                <a:cs typeface="Verdana" panose="020B0604030504040204" pitchFamily="34" charset="0"/>
              </a:rPr>
              <a:t>Research into </a:t>
            </a:r>
            <a:r>
              <a:rPr lang="en-US" sz="2400" dirty="0">
                <a:latin typeface="Verdana" panose="020B0604030504040204" pitchFamily="34" charset="0"/>
                <a:ea typeface="Verdana" panose="020B0604030504040204" pitchFamily="34" charset="0"/>
                <a:cs typeface="Verdana" panose="020B0604030504040204" pitchFamily="34" charset="0"/>
              </a:rPr>
              <a:t>robust, fault-tolerant communication via computer networks.</a:t>
            </a:r>
          </a:p>
          <a:p>
            <a:endParaRPr lang="en-US" sz="1400" i="1"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a:cs typeface="Verdana"/>
              </a:rPr>
              <a:t>1970s:</a:t>
            </a:r>
            <a:r>
              <a:rPr lang="en-US" sz="2400" i="1" dirty="0">
                <a:latin typeface="Verdana"/>
                <a:cs typeface="Verdana"/>
              </a:rPr>
              <a:t> </a:t>
            </a:r>
            <a:r>
              <a:rPr lang="en-US" altLang="en-US" sz="2400" dirty="0">
                <a:latin typeface="Verdana" panose="020B0604030504040204" pitchFamily="34" charset="0"/>
                <a:ea typeface="Verdana" panose="020B0604030504040204" pitchFamily="34" charset="0"/>
                <a:cs typeface="Verdana" panose="020B0604030504040204" pitchFamily="34" charset="0"/>
              </a:rPr>
              <a:t>ARPNET connected research universities. Expanded in the 1980s. Electronic mail (email) developed.</a:t>
            </a:r>
          </a:p>
          <a:p>
            <a:endParaRPr lang="en-US" sz="1400" b="1" i="1"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a:cs typeface="Verdana"/>
              </a:rPr>
              <a:t>1980s:</a:t>
            </a:r>
            <a:r>
              <a:rPr lang="en-US" sz="2400" i="1" dirty="0">
                <a:latin typeface="Verdana"/>
                <a:cs typeface="Verdana"/>
              </a:rPr>
              <a:t> </a:t>
            </a:r>
            <a:r>
              <a:rPr lang="en-US" sz="2400" dirty="0">
                <a:latin typeface="Verdana"/>
                <a:cs typeface="Verdana"/>
              </a:rPr>
              <a:t>Rapidly increasing </a:t>
            </a:r>
            <a:r>
              <a:rPr lang="en-US" sz="2400" dirty="0">
                <a:latin typeface="Verdana" panose="020B0604030504040204" pitchFamily="34" charset="0"/>
                <a:ea typeface="Verdana" panose="020B0604030504040204" pitchFamily="34" charset="0"/>
                <a:cs typeface="Verdana" panose="020B0604030504040204" pitchFamily="34" charset="0"/>
              </a:rPr>
              <a:t>g</a:t>
            </a:r>
            <a:r>
              <a:rPr lang="en-US" altLang="en-US" sz="2400" dirty="0">
                <a:latin typeface="Verdana" panose="020B0604030504040204" pitchFamily="34" charset="0"/>
                <a:ea typeface="Verdana" panose="020B0604030504040204" pitchFamily="34" charset="0"/>
                <a:cs typeface="Verdana" panose="020B0604030504040204" pitchFamily="34" charset="0"/>
              </a:rPr>
              <a:t>rowth in desktops and personal computers. </a:t>
            </a:r>
          </a:p>
          <a:p>
            <a:endParaRPr lang="en-US" sz="1400" b="1" i="1"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panose="020B0604030504040204" pitchFamily="34" charset="0"/>
                <a:ea typeface="Verdana" panose="020B0604030504040204" pitchFamily="34" charset="0"/>
                <a:cs typeface="Verdana" panose="020B0604030504040204" pitchFamily="34" charset="0"/>
              </a:rPr>
              <a:t>1990s: </a:t>
            </a:r>
            <a:r>
              <a:rPr lang="en-GB" altLang="en-US" sz="2400" dirty="0">
                <a:latin typeface="Verdana" panose="020B0604030504040204" pitchFamily="34" charset="0"/>
                <a:ea typeface="Verdana" panose="020B0604030504040204" pitchFamily="34" charset="0"/>
                <a:cs typeface="Verdana" panose="020B0604030504040204" pitchFamily="34" charset="0"/>
              </a:rPr>
              <a:t>Explosive growth in the internet. Moved from research focus to general public. Start of commercial Internet Service Providers (ISPs).</a:t>
            </a:r>
          </a:p>
        </p:txBody>
      </p:sp>
    </p:spTree>
    <p:extLst>
      <p:ext uri="{BB962C8B-B14F-4D97-AF65-F5344CB8AC3E}">
        <p14:creationId xmlns:p14="http://schemas.microsoft.com/office/powerpoint/2010/main" val="163052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Cybersecurity</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42216" y="1736369"/>
            <a:ext cx="8659567" cy="4216539"/>
          </a:xfrm>
          <a:prstGeom prst="rect">
            <a:avLst/>
          </a:prstGeom>
          <a:noFill/>
        </p:spPr>
        <p:txBody>
          <a:bodyPr wrap="square" rtlCol="0">
            <a:spAutoFit/>
          </a:bodyPr>
          <a:lstStyle/>
          <a:p>
            <a:r>
              <a:rPr lang="en-US" sz="2400" i="1" dirty="0">
                <a:latin typeface="Verdana"/>
                <a:cs typeface="Verdana"/>
              </a:rPr>
              <a:t>“The ability to protect or defend the use of cyberspace from cyber attacks.”</a:t>
            </a:r>
          </a:p>
          <a:p>
            <a:endParaRPr lang="en-US" sz="1600" dirty="0">
              <a:latin typeface="Verdana"/>
              <a:cs typeface="Verdana"/>
            </a:endParaRPr>
          </a:p>
          <a:p>
            <a:r>
              <a:rPr lang="en-US" sz="2200" dirty="0">
                <a:latin typeface="Verdana"/>
                <a:cs typeface="Verdana"/>
              </a:rPr>
              <a:t>-- National Institute for Standards and Technology (NIST)</a:t>
            </a:r>
          </a:p>
          <a:p>
            <a:endParaRPr lang="en-US" sz="2400" dirty="0">
              <a:latin typeface="Verdana"/>
              <a:cs typeface="Verdana"/>
            </a:endParaRPr>
          </a:p>
          <a:p>
            <a:r>
              <a:rPr lang="en-US" sz="2400" i="1" dirty="0">
                <a:latin typeface="Verdana"/>
                <a:cs typeface="Verdana"/>
              </a:rPr>
              <a:t>“A comprehensive cybersecurity program leverages industry standards and best practices to protect systems and detect potential problems, along with processes to be informed of current threats and enable timely response and recovery.”</a:t>
            </a:r>
          </a:p>
          <a:p>
            <a:endParaRPr lang="en-US" sz="1600" dirty="0">
              <a:latin typeface="Verdana"/>
              <a:cs typeface="Verdana"/>
            </a:endParaRPr>
          </a:p>
          <a:p>
            <a:r>
              <a:rPr lang="en-US" sz="2200" dirty="0">
                <a:latin typeface="Verdana"/>
                <a:cs typeface="Verdana"/>
              </a:rPr>
              <a:t>-- Department of Homeland Security</a:t>
            </a:r>
          </a:p>
        </p:txBody>
      </p:sp>
    </p:spTree>
    <p:extLst>
      <p:ext uri="{BB962C8B-B14F-4D97-AF65-F5344CB8AC3E}">
        <p14:creationId xmlns:p14="http://schemas.microsoft.com/office/powerpoint/2010/main" val="249723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CIA Triad</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01497" y="1452085"/>
            <a:ext cx="8659567" cy="4462760"/>
          </a:xfrm>
          <a:prstGeom prst="rect">
            <a:avLst/>
          </a:prstGeom>
          <a:noFill/>
        </p:spPr>
        <p:txBody>
          <a:bodyPr wrap="square" rtlCol="0">
            <a:spAutoFit/>
          </a:bodyPr>
          <a:lstStyle/>
          <a:p>
            <a:r>
              <a:rPr lang="en-US" sz="2400" i="1" dirty="0">
                <a:latin typeface="Verdana"/>
                <a:cs typeface="Verdana"/>
              </a:rPr>
              <a:t>Three basic security concepts important to information (data) are confidentiality, integrity, and availability. </a:t>
            </a:r>
          </a:p>
          <a:p>
            <a:endParaRPr lang="en-US" sz="2400" i="1" dirty="0">
              <a:latin typeface="Verdana"/>
              <a:cs typeface="Verdana"/>
            </a:endParaRPr>
          </a:p>
          <a:p>
            <a:r>
              <a:rPr lang="en-US" sz="2400" b="1" i="1" dirty="0">
                <a:latin typeface="Verdana"/>
                <a:cs typeface="Verdana"/>
              </a:rPr>
              <a:t>Confidentiality:</a:t>
            </a:r>
            <a:r>
              <a:rPr lang="en-US" sz="2400" dirty="0">
                <a:latin typeface="Verdana"/>
                <a:cs typeface="Verdana"/>
              </a:rPr>
              <a:t> </a:t>
            </a:r>
            <a:r>
              <a:rPr lang="en-US" sz="2400" dirty="0">
                <a:latin typeface="Verdana" panose="020B0604030504040204" pitchFamily="34" charset="0"/>
                <a:ea typeface="Verdana" panose="020B0604030504040204" pitchFamily="34" charset="0"/>
                <a:cs typeface="Verdana" panose="020B0604030504040204" pitchFamily="34" charset="0"/>
              </a:rPr>
              <a:t>Protecting information from disclosure to unauthorized parties.</a:t>
            </a:r>
          </a:p>
          <a:p>
            <a:endParaRPr lang="en-US" sz="2400" i="1" dirty="0">
              <a:latin typeface="Verdana"/>
              <a:cs typeface="Verdana"/>
            </a:endParaRPr>
          </a:p>
          <a:p>
            <a:r>
              <a:rPr lang="en-US" sz="2400" b="1" i="1" dirty="0">
                <a:latin typeface="Verdana"/>
                <a:cs typeface="Verdana"/>
              </a:rPr>
              <a:t>Integrity:</a:t>
            </a:r>
            <a:r>
              <a:rPr lang="en-US" sz="2400" i="1" dirty="0">
                <a:latin typeface="Verdana"/>
                <a:cs typeface="Verdana"/>
              </a:rPr>
              <a:t> </a:t>
            </a:r>
            <a:r>
              <a:rPr lang="en-US" sz="2400" dirty="0">
                <a:latin typeface="Verdana"/>
                <a:cs typeface="Verdana"/>
              </a:rPr>
              <a:t>Information is ensured to not have been corrupted or modified in unexpected ways.</a:t>
            </a:r>
          </a:p>
          <a:p>
            <a:endParaRPr lang="en-US" sz="2400" dirty="0">
              <a:latin typeface="Verdana"/>
              <a:cs typeface="Verdana"/>
            </a:endParaRPr>
          </a:p>
          <a:p>
            <a:r>
              <a:rPr lang="en-US" sz="2400" b="1" i="1" dirty="0">
                <a:latin typeface="Verdana"/>
                <a:cs typeface="Verdana"/>
              </a:rPr>
              <a:t>Availability:</a:t>
            </a:r>
            <a:r>
              <a:rPr lang="en-US" sz="2400" i="1" dirty="0">
                <a:latin typeface="Verdana"/>
                <a:cs typeface="Verdana"/>
              </a:rPr>
              <a:t> </a:t>
            </a:r>
            <a:r>
              <a:rPr lang="en-US" sz="2400" dirty="0">
                <a:latin typeface="Verdana" panose="020B0604030504040204" pitchFamily="34" charset="0"/>
                <a:ea typeface="Verdana" panose="020B0604030504040204" pitchFamily="34" charset="0"/>
                <a:cs typeface="Verdana" panose="020B0604030504040204" pitchFamily="34" charset="0"/>
              </a:rPr>
              <a:t>Ensuring that authorized parties are able to access the information when needed.</a:t>
            </a:r>
          </a:p>
          <a:p>
            <a:endParaRPr lang="en-US" sz="2000" dirty="0">
              <a:latin typeface="Verdana"/>
              <a:cs typeface="Verdana"/>
            </a:endParaRPr>
          </a:p>
        </p:txBody>
      </p:sp>
    </p:spTree>
    <p:extLst>
      <p:ext uri="{BB962C8B-B14F-4D97-AF65-F5344CB8AC3E}">
        <p14:creationId xmlns:p14="http://schemas.microsoft.com/office/powerpoint/2010/main" val="1357498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User Security Concepts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01497" y="1452085"/>
            <a:ext cx="8659567" cy="4924425"/>
          </a:xfrm>
          <a:prstGeom prst="rect">
            <a:avLst/>
          </a:prstGeom>
          <a:noFill/>
        </p:spPr>
        <p:txBody>
          <a:bodyPr wrap="square" rtlCol="0">
            <a:spAutoFit/>
          </a:bodyPr>
          <a:lstStyle/>
          <a:p>
            <a:r>
              <a:rPr lang="en-US" sz="2400" i="1" dirty="0">
                <a:latin typeface="Verdana"/>
                <a:cs typeface="Verdana"/>
              </a:rPr>
              <a:t>Concepts relating to the user (person, application, or system) of information are authentication, authorization, and nonrepudiation. </a:t>
            </a:r>
          </a:p>
          <a:p>
            <a:endParaRPr lang="en-US" dirty="0">
              <a:latin typeface="Verdana"/>
              <a:cs typeface="Verdana"/>
            </a:endParaRPr>
          </a:p>
          <a:p>
            <a:r>
              <a:rPr lang="en-US" sz="2400" b="1" i="1" dirty="0">
                <a:latin typeface="Verdana"/>
                <a:cs typeface="Verdana"/>
              </a:rPr>
              <a:t>Authentication: </a:t>
            </a:r>
            <a:r>
              <a:rPr lang="en-US" sz="2400" dirty="0">
                <a:latin typeface="Verdana"/>
                <a:cs typeface="Verdana"/>
              </a:rPr>
              <a:t>Proving that the credentials provided are those of the authorized user.</a:t>
            </a:r>
          </a:p>
          <a:p>
            <a:endParaRPr lang="en-US" sz="1600" dirty="0">
              <a:latin typeface="Verdana"/>
              <a:cs typeface="Verdana"/>
            </a:endParaRPr>
          </a:p>
          <a:p>
            <a:r>
              <a:rPr lang="en-US" sz="2400" b="1" i="1" dirty="0">
                <a:latin typeface="Verdana"/>
                <a:cs typeface="Verdana"/>
              </a:rPr>
              <a:t>Authorization:</a:t>
            </a:r>
            <a:r>
              <a:rPr lang="en-US" sz="2400" b="1" dirty="0">
                <a:latin typeface="Verdana"/>
                <a:cs typeface="Verdana"/>
              </a:rPr>
              <a:t> </a:t>
            </a:r>
            <a:r>
              <a:rPr lang="en-US" sz="2400" dirty="0">
                <a:latin typeface="Verdana"/>
                <a:cs typeface="Verdana"/>
              </a:rPr>
              <a:t>Determining whether a user has the right to access specific data or execute an activity.</a:t>
            </a:r>
          </a:p>
          <a:p>
            <a:endParaRPr lang="en-US" sz="1600" dirty="0">
              <a:latin typeface="Verdana"/>
              <a:cs typeface="Verdana"/>
            </a:endParaRPr>
          </a:p>
          <a:p>
            <a:r>
              <a:rPr lang="en-US" sz="2400" b="1" i="1" dirty="0">
                <a:latin typeface="Verdana"/>
                <a:cs typeface="Verdana"/>
              </a:rPr>
              <a:t>Nonrepudiation:</a:t>
            </a:r>
            <a:r>
              <a:rPr lang="en-US" sz="2800" b="1" dirty="0"/>
              <a:t> </a:t>
            </a:r>
            <a:r>
              <a:rPr lang="en-US" sz="2400" dirty="0">
                <a:latin typeface="Verdana"/>
                <a:cs typeface="Verdana"/>
              </a:rPr>
              <a:t>Associating actions or changes to a unique individual. </a:t>
            </a:r>
            <a:r>
              <a:rPr lang="en-US" sz="2400" i="1" dirty="0">
                <a:latin typeface="Verdana"/>
                <a:cs typeface="Verdana"/>
              </a:rPr>
              <a:t> </a:t>
            </a:r>
            <a:r>
              <a:rPr lang="en-US" sz="2400" dirty="0">
                <a:latin typeface="Verdana"/>
                <a:cs typeface="Verdana"/>
              </a:rPr>
              <a:t>Means of authentication cannot later be refuted.</a:t>
            </a:r>
          </a:p>
          <a:p>
            <a:endParaRPr lang="en-US" sz="2000" dirty="0">
              <a:latin typeface="Verdana"/>
              <a:cs typeface="Verdana"/>
            </a:endParaRPr>
          </a:p>
        </p:txBody>
      </p:sp>
    </p:spTree>
    <p:extLst>
      <p:ext uri="{BB962C8B-B14F-4D97-AF65-F5344CB8AC3E}">
        <p14:creationId xmlns:p14="http://schemas.microsoft.com/office/powerpoint/2010/main" val="2579798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Threat Types &amp; Motivations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01497" y="1452085"/>
            <a:ext cx="8659567" cy="4832092"/>
          </a:xfrm>
          <a:prstGeom prst="rect">
            <a:avLst/>
          </a:prstGeom>
          <a:noFill/>
        </p:spPr>
        <p:txBody>
          <a:bodyPr wrap="square" rtlCol="0">
            <a:spAutoFit/>
          </a:bodyPr>
          <a:lstStyle/>
          <a:p>
            <a:r>
              <a:rPr lang="en-US" sz="2400" i="1" dirty="0">
                <a:latin typeface="Verdana"/>
                <a:cs typeface="Verdana"/>
              </a:rPr>
              <a:t>Three areas of threats countered by cybersecurity can be characterized as cybercrime, cyberwarfare, and cyberterrorism.</a:t>
            </a:r>
          </a:p>
          <a:p>
            <a:endParaRPr lang="en-US" sz="2400" b="1" dirty="0">
              <a:latin typeface="Verdana"/>
              <a:cs typeface="Verdana"/>
              <a:hlinkClick r:id="rId3"/>
            </a:endParaRPr>
          </a:p>
          <a:p>
            <a:r>
              <a:rPr lang="en-US" sz="2400" b="1" i="1" dirty="0">
                <a:latin typeface="Verdana"/>
                <a:cs typeface="Verdana"/>
              </a:rPr>
              <a:t>Cybercrime</a:t>
            </a:r>
            <a:r>
              <a:rPr lang="en-US" sz="2400" b="1" dirty="0">
                <a:latin typeface="Verdana"/>
                <a:cs typeface="Verdana"/>
              </a:rPr>
              <a:t>: </a:t>
            </a:r>
            <a:r>
              <a:rPr lang="en-US" sz="2400" dirty="0">
                <a:latin typeface="Verdana"/>
                <a:cs typeface="Verdana"/>
              </a:rPr>
              <a:t>Single actors or groups targeting systems for financial gain.</a:t>
            </a:r>
          </a:p>
          <a:p>
            <a:endParaRPr lang="en-US" sz="2400" dirty="0">
              <a:latin typeface="Verdana"/>
              <a:cs typeface="Verdana"/>
            </a:endParaRPr>
          </a:p>
          <a:p>
            <a:r>
              <a:rPr lang="en-US" sz="2400" b="1" i="1" dirty="0">
                <a:latin typeface="Verdana"/>
                <a:cs typeface="Verdana"/>
              </a:rPr>
              <a:t>Cyberwarfare</a:t>
            </a:r>
            <a:r>
              <a:rPr lang="en-US" sz="2400" b="1" dirty="0">
                <a:latin typeface="Verdana"/>
                <a:cs typeface="Verdana"/>
              </a:rPr>
              <a:t>: </a:t>
            </a:r>
            <a:r>
              <a:rPr lang="en-US" sz="2400" dirty="0">
                <a:latin typeface="Verdana"/>
                <a:cs typeface="Verdana"/>
              </a:rPr>
              <a:t>Involves information gathering and is politically motivated.</a:t>
            </a:r>
          </a:p>
          <a:p>
            <a:endParaRPr lang="en-US" sz="2400" i="1" dirty="0">
              <a:latin typeface="Verdana"/>
              <a:cs typeface="Verdana"/>
            </a:endParaRPr>
          </a:p>
          <a:p>
            <a:r>
              <a:rPr lang="en-US" sz="2400" b="1" i="1" dirty="0">
                <a:latin typeface="Verdana"/>
                <a:cs typeface="Verdana"/>
              </a:rPr>
              <a:t>Cyberterrorism</a:t>
            </a:r>
            <a:r>
              <a:rPr lang="en-US" sz="2400" b="1" dirty="0">
                <a:latin typeface="Verdana"/>
                <a:cs typeface="Verdana"/>
              </a:rPr>
              <a:t>: </a:t>
            </a:r>
            <a:r>
              <a:rPr lang="en-US" sz="2400" dirty="0">
                <a:latin typeface="Verdana"/>
                <a:cs typeface="Verdana"/>
              </a:rPr>
              <a:t>Intended to undermine systems and cause panic or fear. </a:t>
            </a:r>
          </a:p>
          <a:p>
            <a:endParaRPr lang="en-US" sz="2000" dirty="0">
              <a:latin typeface="Verdana"/>
              <a:cs typeface="Verdana"/>
            </a:endParaRPr>
          </a:p>
        </p:txBody>
      </p:sp>
    </p:spTree>
    <p:extLst>
      <p:ext uri="{BB962C8B-B14F-4D97-AF65-F5344CB8AC3E}">
        <p14:creationId xmlns:p14="http://schemas.microsoft.com/office/powerpoint/2010/main" val="839836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Types of Cybercrime</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42216" y="1280592"/>
            <a:ext cx="8659567" cy="5016758"/>
          </a:xfrm>
          <a:prstGeom prst="rect">
            <a:avLst/>
          </a:prstGeom>
          <a:noFill/>
        </p:spPr>
        <p:txBody>
          <a:bodyPr wrap="square" rtlCol="0">
            <a:spAutoFit/>
          </a:bodyPr>
          <a:lstStyle/>
          <a:p>
            <a:r>
              <a:rPr lang="en-US" sz="2400" b="1" i="1" dirty="0">
                <a:latin typeface="Verdana"/>
                <a:cs typeface="Verdana"/>
              </a:rPr>
              <a:t>Intrusions: </a:t>
            </a:r>
            <a:r>
              <a:rPr lang="en-US" sz="2400" dirty="0">
                <a:latin typeface="Verdana"/>
                <a:cs typeface="Verdana"/>
              </a:rPr>
              <a:t>Gaining unauthorized access to a system (computer or network).</a:t>
            </a:r>
          </a:p>
          <a:p>
            <a:endParaRPr lang="en-US" sz="1400" dirty="0">
              <a:latin typeface="Verdana"/>
              <a:cs typeface="Verdana"/>
            </a:endParaRPr>
          </a:p>
          <a:p>
            <a:r>
              <a:rPr lang="en-US" sz="2400" b="1" i="1" dirty="0">
                <a:latin typeface="Verdana"/>
                <a:cs typeface="Verdana"/>
              </a:rPr>
              <a:t>Ransomware:</a:t>
            </a:r>
            <a:r>
              <a:rPr lang="en-US" sz="2400" b="1" dirty="0">
                <a:latin typeface="Verdana"/>
                <a:cs typeface="Verdana"/>
              </a:rPr>
              <a:t> </a:t>
            </a:r>
            <a:r>
              <a:rPr lang="en-US" sz="2400" dirty="0">
                <a:latin typeface="Verdana"/>
                <a:cs typeface="Verdana"/>
              </a:rPr>
              <a:t>Malware encrypts files and demands a ransom for the key to decrypt.</a:t>
            </a:r>
          </a:p>
          <a:p>
            <a:endParaRPr lang="en-US" sz="1400" dirty="0">
              <a:latin typeface="Verdana"/>
              <a:cs typeface="Verdana"/>
            </a:endParaRPr>
          </a:p>
          <a:p>
            <a:r>
              <a:rPr lang="en-US" sz="2400" b="1" i="1" dirty="0">
                <a:latin typeface="Verdana"/>
                <a:cs typeface="Verdana"/>
              </a:rPr>
              <a:t>Espionage: </a:t>
            </a:r>
            <a:r>
              <a:rPr lang="en-US" sz="2400" dirty="0">
                <a:latin typeface="Verdana" panose="020B0604030504040204" pitchFamily="34" charset="0"/>
                <a:ea typeface="Verdana" panose="020B0604030504040204" pitchFamily="34" charset="0"/>
                <a:cs typeface="Verdana" panose="020B0604030504040204" pitchFamily="34" charset="0"/>
              </a:rPr>
              <a:t>Covertly observing or destroying data of governments or large enterprises.</a:t>
            </a:r>
          </a:p>
          <a:p>
            <a:endParaRPr lang="en-US" sz="1400" dirty="0">
              <a:latin typeface="Verdana" panose="020B0604030504040204" pitchFamily="34" charset="0"/>
              <a:ea typeface="Verdana" panose="020B0604030504040204" pitchFamily="34" charset="0"/>
              <a:cs typeface="Verdana" panose="020B0604030504040204" pitchFamily="34" charset="0"/>
            </a:endParaRPr>
          </a:p>
          <a:p>
            <a:r>
              <a:rPr lang="en-US" sz="2400" b="1" i="1" dirty="0">
                <a:latin typeface="Verdana"/>
                <a:cs typeface="Verdana"/>
              </a:rPr>
              <a:t>Intellectual Property (IP):</a:t>
            </a:r>
            <a:r>
              <a:rPr lang="en-US" sz="2800" b="1" dirty="0"/>
              <a:t> </a:t>
            </a:r>
            <a:r>
              <a:rPr lang="en-US" sz="2400" dirty="0">
                <a:latin typeface="Verdana"/>
                <a:cs typeface="Verdana"/>
              </a:rPr>
              <a:t>Theft of copyrighted material, trade secrets, and trade mark violations.</a:t>
            </a:r>
          </a:p>
          <a:p>
            <a:endParaRPr lang="en-US" sz="1400" dirty="0">
              <a:latin typeface="Verdana"/>
              <a:cs typeface="Verdana"/>
            </a:endParaRPr>
          </a:p>
          <a:p>
            <a:r>
              <a:rPr lang="en-US" sz="2400" b="1" i="1" dirty="0">
                <a:latin typeface="Verdana"/>
                <a:cs typeface="Verdana"/>
              </a:rPr>
              <a:t>Fraud/Financial: </a:t>
            </a:r>
            <a:r>
              <a:rPr lang="en-US" sz="2400" dirty="0">
                <a:latin typeface="Verdana"/>
                <a:cs typeface="Verdana"/>
              </a:rPr>
              <a:t>Tricking victims out of money, property or inheritance.</a:t>
            </a:r>
          </a:p>
          <a:p>
            <a:endParaRPr lang="en-US" sz="2000" dirty="0">
              <a:latin typeface="Verdana"/>
              <a:cs typeface="Verdana"/>
            </a:endParaRPr>
          </a:p>
        </p:txBody>
      </p:sp>
    </p:spTree>
    <p:extLst>
      <p:ext uri="{BB962C8B-B14F-4D97-AF65-F5344CB8AC3E}">
        <p14:creationId xmlns:p14="http://schemas.microsoft.com/office/powerpoint/2010/main" val="2954195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Intruder Actions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42216" y="1280592"/>
            <a:ext cx="8659567" cy="5232202"/>
          </a:xfrm>
          <a:prstGeom prst="rect">
            <a:avLst/>
          </a:prstGeom>
          <a:noFill/>
        </p:spPr>
        <p:txBody>
          <a:bodyPr wrap="square" rtlCol="0">
            <a:spAutoFit/>
          </a:bodyPr>
          <a:lstStyle/>
          <a:p>
            <a:r>
              <a:rPr lang="en-US" sz="2400" i="1" dirty="0">
                <a:latin typeface="Verdana"/>
                <a:cs typeface="Verdana"/>
              </a:rPr>
              <a:t>Intruder actions and the consequences to the CIA Triad and User Security. </a:t>
            </a:r>
          </a:p>
          <a:p>
            <a:endParaRPr lang="en-US" sz="1400" dirty="0">
              <a:latin typeface="Verdana"/>
              <a:cs typeface="Verdana"/>
            </a:endParaRPr>
          </a:p>
          <a:p>
            <a:r>
              <a:rPr lang="en-US" sz="2400" b="1" i="1" dirty="0">
                <a:latin typeface="Verdana"/>
                <a:cs typeface="Verdana"/>
              </a:rPr>
              <a:t>Eavesdrop: </a:t>
            </a:r>
            <a:r>
              <a:rPr lang="en-US" sz="2400" dirty="0">
                <a:latin typeface="Verdana"/>
                <a:cs typeface="Verdana"/>
              </a:rPr>
              <a:t>Intercept messages.</a:t>
            </a:r>
          </a:p>
          <a:p>
            <a:endParaRPr lang="en-US" sz="1400" dirty="0">
              <a:latin typeface="Verdana"/>
              <a:cs typeface="Verdana"/>
            </a:endParaRPr>
          </a:p>
          <a:p>
            <a:r>
              <a:rPr lang="en-US" sz="2400" b="1" i="1" dirty="0">
                <a:latin typeface="Verdana"/>
                <a:cs typeface="Verdana"/>
              </a:rPr>
              <a:t>Insertion:</a:t>
            </a:r>
            <a:r>
              <a:rPr lang="en-US" sz="2400" b="1" dirty="0">
                <a:latin typeface="Verdana"/>
                <a:cs typeface="Verdana"/>
              </a:rPr>
              <a:t> </a:t>
            </a:r>
            <a:r>
              <a:rPr lang="en-US" sz="2400" dirty="0">
                <a:latin typeface="Verdana"/>
                <a:cs typeface="Verdana"/>
              </a:rPr>
              <a:t>Insert messages into the connection.</a:t>
            </a:r>
          </a:p>
          <a:p>
            <a:endParaRPr lang="en-US" sz="1400" dirty="0">
              <a:latin typeface="Verdana"/>
              <a:cs typeface="Verdana"/>
            </a:endParaRPr>
          </a:p>
          <a:p>
            <a:r>
              <a:rPr lang="en-US" sz="2400" b="1" i="1" dirty="0">
                <a:latin typeface="Verdana"/>
                <a:cs typeface="Verdana"/>
              </a:rPr>
              <a:t>Impersonation: </a:t>
            </a:r>
            <a:r>
              <a:rPr lang="en-US" sz="2400" dirty="0">
                <a:latin typeface="Verdana" panose="020B0604030504040204" pitchFamily="34" charset="0"/>
                <a:ea typeface="Verdana" panose="020B0604030504040204" pitchFamily="34" charset="0"/>
                <a:cs typeface="Verdana" panose="020B0604030504040204" pitchFamily="34" charset="0"/>
              </a:rPr>
              <a:t>F</a:t>
            </a:r>
            <a:r>
              <a:rPr lang="en-US" altLang="en-US" sz="2400" dirty="0">
                <a:latin typeface="Verdana" panose="020B0604030504040204" pitchFamily="34" charset="0"/>
                <a:ea typeface="Verdana" panose="020B0604030504040204" pitchFamily="34" charset="0"/>
                <a:cs typeface="Verdana" panose="020B0604030504040204" pitchFamily="34" charset="0"/>
              </a:rPr>
              <a:t>akes (spoofs) source address or other field in packet or fakes an identity.</a:t>
            </a:r>
            <a:endParaRPr lang="en-US" sz="2400" b="1" i="1" dirty="0">
              <a:latin typeface="Verdana" panose="020B0604030504040204" pitchFamily="34" charset="0"/>
              <a:ea typeface="Verdana" panose="020B0604030504040204" pitchFamily="34" charset="0"/>
              <a:cs typeface="Verdana" panose="020B0604030504040204" pitchFamily="34" charset="0"/>
            </a:endParaRPr>
          </a:p>
          <a:p>
            <a:endParaRPr lang="en-US" sz="1400" dirty="0">
              <a:latin typeface="Verdana"/>
              <a:cs typeface="Verdana"/>
            </a:endParaRPr>
          </a:p>
          <a:p>
            <a:r>
              <a:rPr lang="en-US" sz="2400" b="1" i="1" dirty="0">
                <a:latin typeface="Verdana"/>
                <a:cs typeface="Verdana"/>
              </a:rPr>
              <a:t>Hijacking:</a:t>
            </a:r>
            <a:r>
              <a:rPr lang="en-US" sz="2800" b="1" dirty="0"/>
              <a:t> </a:t>
            </a:r>
            <a:r>
              <a:rPr lang="en-US" sz="2400" dirty="0">
                <a:latin typeface="Verdana"/>
                <a:cs typeface="Verdana"/>
              </a:rPr>
              <a:t>“Take over” a session by removing sender or receiver and inserting him/her self instead.</a:t>
            </a:r>
          </a:p>
          <a:p>
            <a:endParaRPr lang="en-US" sz="1400" dirty="0">
              <a:latin typeface="Verdana"/>
              <a:cs typeface="Verdana"/>
            </a:endParaRPr>
          </a:p>
          <a:p>
            <a:r>
              <a:rPr lang="en-US" sz="2400" b="1" i="1" dirty="0">
                <a:latin typeface="Verdana"/>
                <a:cs typeface="Verdana"/>
              </a:rPr>
              <a:t>Denial of Service: </a:t>
            </a:r>
            <a:r>
              <a:rPr lang="en-US" sz="2400" dirty="0">
                <a:latin typeface="Verdana"/>
                <a:cs typeface="Verdana"/>
              </a:rPr>
              <a:t>Prevents services from being used by others by overloading systems.</a:t>
            </a:r>
          </a:p>
          <a:p>
            <a:endParaRPr lang="en-US" sz="2000" dirty="0">
              <a:latin typeface="Verdana"/>
              <a:cs typeface="Verdana"/>
            </a:endParaRPr>
          </a:p>
        </p:txBody>
      </p:sp>
    </p:spTree>
    <p:extLst>
      <p:ext uri="{BB962C8B-B14F-4D97-AF65-F5344CB8AC3E}">
        <p14:creationId xmlns:p14="http://schemas.microsoft.com/office/powerpoint/2010/main" val="1015126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Cyberspace Abuses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42216" y="1384764"/>
            <a:ext cx="8659567" cy="4431983"/>
          </a:xfrm>
          <a:prstGeom prst="rect">
            <a:avLst/>
          </a:prstGeom>
          <a:noFill/>
        </p:spPr>
        <p:txBody>
          <a:bodyPr wrap="square" rtlCol="0">
            <a:spAutoFit/>
          </a:bodyPr>
          <a:lstStyle/>
          <a:p>
            <a:r>
              <a:rPr lang="en-US" sz="2400" i="1" dirty="0">
                <a:latin typeface="Verdana"/>
                <a:cs typeface="Verdana"/>
              </a:rPr>
              <a:t>There are other abuses of cyberspace in addition to cybercrime rooted in financial and espionage. </a:t>
            </a:r>
          </a:p>
          <a:p>
            <a:endParaRPr lang="en-US" sz="1400" dirty="0">
              <a:latin typeface="Verdana"/>
              <a:cs typeface="Verdana"/>
            </a:endParaRPr>
          </a:p>
          <a:p>
            <a:r>
              <a:rPr lang="en-US" sz="2400" b="1" i="1" dirty="0">
                <a:latin typeface="Verdana"/>
                <a:cs typeface="Verdana"/>
              </a:rPr>
              <a:t>Cyberstalking: </a:t>
            </a:r>
            <a:r>
              <a:rPr lang="en-US" sz="2400" dirty="0">
                <a:latin typeface="Verdana"/>
                <a:cs typeface="Verdana"/>
              </a:rPr>
              <a:t>Harassing or threatening a person or group by electronic means.</a:t>
            </a:r>
          </a:p>
          <a:p>
            <a:endParaRPr lang="en-US" sz="1400" dirty="0">
              <a:latin typeface="Verdana"/>
              <a:cs typeface="Verdana"/>
            </a:endParaRPr>
          </a:p>
          <a:p>
            <a:r>
              <a:rPr lang="en-US" sz="2400" b="1" i="1" dirty="0">
                <a:latin typeface="Verdana"/>
                <a:cs typeface="Verdana"/>
              </a:rPr>
              <a:t>Cyberbullying:</a:t>
            </a:r>
            <a:r>
              <a:rPr lang="en-US" sz="2400" b="1" dirty="0">
                <a:latin typeface="Verdana"/>
                <a:cs typeface="Verdana"/>
              </a:rPr>
              <a:t> </a:t>
            </a:r>
            <a:r>
              <a:rPr lang="en-US" sz="2400" dirty="0">
                <a:latin typeface="Verdana" panose="020B0604030504040204" pitchFamily="34" charset="0"/>
                <a:ea typeface="Verdana" panose="020B0604030504040204" pitchFamily="34" charset="0"/>
                <a:cs typeface="Verdana" panose="020B0604030504040204" pitchFamily="34" charset="0"/>
              </a:rPr>
              <a:t>Sharing private information with the intent to cause embarrassment or humiliation. Usually over email, texts, social media or instant messages.</a:t>
            </a:r>
          </a:p>
          <a:p>
            <a:endParaRPr lang="en-US" sz="1400" b="1" i="1" dirty="0">
              <a:latin typeface="Verdana"/>
              <a:cs typeface="Verdana"/>
            </a:endParaRPr>
          </a:p>
          <a:p>
            <a:r>
              <a:rPr lang="en-US" sz="2400" b="1" i="1" dirty="0">
                <a:latin typeface="Verdana"/>
                <a:cs typeface="Verdana"/>
              </a:rPr>
              <a:t>Sexual Exploitation: </a:t>
            </a:r>
            <a:r>
              <a:rPr lang="en-US" sz="2400" dirty="0">
                <a:latin typeface="Verdana" panose="020B0604030504040204" pitchFamily="34" charset="0"/>
                <a:ea typeface="Verdana" panose="020B0604030504040204" pitchFamily="34" charset="0"/>
                <a:cs typeface="Verdana" panose="020B0604030504040204" pitchFamily="34" charset="0"/>
              </a:rPr>
              <a:t>Manipulating a person into doing something sexual such as sending sexual photos of themselves online.</a:t>
            </a:r>
          </a:p>
        </p:txBody>
      </p:sp>
    </p:spTree>
    <p:extLst>
      <p:ext uri="{BB962C8B-B14F-4D97-AF65-F5344CB8AC3E}">
        <p14:creationId xmlns:p14="http://schemas.microsoft.com/office/powerpoint/2010/main" val="613975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Cyberspace Abuses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42216" y="1633115"/>
            <a:ext cx="8659567" cy="3170099"/>
          </a:xfrm>
          <a:prstGeom prst="rect">
            <a:avLst/>
          </a:prstGeom>
          <a:noFill/>
        </p:spPr>
        <p:txBody>
          <a:bodyPr wrap="square" rtlCol="0">
            <a:spAutoFit/>
          </a:bodyPr>
          <a:lstStyle/>
          <a:p>
            <a:endParaRPr lang="en-US" sz="1400" dirty="0">
              <a:latin typeface="Verdana"/>
              <a:cs typeface="Verdana"/>
            </a:endParaRPr>
          </a:p>
          <a:p>
            <a:r>
              <a:rPr lang="en-US" sz="2400" b="1" i="1" dirty="0">
                <a:latin typeface="Verdana"/>
                <a:cs typeface="Verdana"/>
              </a:rPr>
              <a:t>Identity Theft:</a:t>
            </a:r>
            <a:r>
              <a:rPr lang="en-US" sz="2800" b="1" dirty="0"/>
              <a:t> </a:t>
            </a:r>
            <a:r>
              <a:rPr lang="en-US" sz="2400" dirty="0">
                <a:latin typeface="Verdana"/>
                <a:cs typeface="Verdana"/>
              </a:rPr>
              <a:t>Stealing a person’s personal information to commit fraud. Not just financial: Can also include social security numbers, driving records and medical records, etc.</a:t>
            </a:r>
          </a:p>
          <a:p>
            <a:endParaRPr lang="en-US" sz="1400" dirty="0">
              <a:latin typeface="Verdana"/>
              <a:cs typeface="Verdana"/>
            </a:endParaRPr>
          </a:p>
          <a:p>
            <a:r>
              <a:rPr lang="en-US" sz="2400" b="1" i="1" dirty="0">
                <a:latin typeface="Verdana"/>
                <a:cs typeface="Verdana"/>
              </a:rPr>
              <a:t>Cyber Assisted Crimes: </a:t>
            </a:r>
            <a:r>
              <a:rPr lang="en-US" sz="2400" dirty="0">
                <a:latin typeface="Verdana"/>
                <a:cs typeface="Verdana"/>
              </a:rPr>
              <a:t>Basic crimes that are made easier by using “cybertechnology” such as tax fraud or industrial espionage.</a:t>
            </a:r>
          </a:p>
        </p:txBody>
      </p:sp>
    </p:spTree>
    <p:extLst>
      <p:ext uri="{BB962C8B-B14F-4D97-AF65-F5344CB8AC3E}">
        <p14:creationId xmlns:p14="http://schemas.microsoft.com/office/powerpoint/2010/main" val="255629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Definitions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01497" y="1621038"/>
            <a:ext cx="8659567" cy="4093428"/>
          </a:xfrm>
          <a:prstGeom prst="rect">
            <a:avLst/>
          </a:prstGeom>
          <a:noFill/>
        </p:spPr>
        <p:txBody>
          <a:bodyPr wrap="square" rtlCol="0">
            <a:spAutoFit/>
          </a:bodyPr>
          <a:lstStyle/>
          <a:p>
            <a:r>
              <a:rPr lang="en-US" sz="2400" b="1" i="1" dirty="0">
                <a:latin typeface="Verdana"/>
                <a:cs typeface="Verdana"/>
              </a:rPr>
              <a:t>Attacker, Hacker, Intruder</a:t>
            </a:r>
            <a:r>
              <a:rPr lang="en-US" sz="2400" b="1" dirty="0">
                <a:latin typeface="Verdana"/>
                <a:cs typeface="Verdana"/>
              </a:rPr>
              <a:t>: </a:t>
            </a:r>
            <a:r>
              <a:rPr lang="en-US" sz="2400" dirty="0">
                <a:latin typeface="Verdana"/>
                <a:cs typeface="Verdana"/>
              </a:rPr>
              <a:t>Persons who seek to exploit weaknesses in software and computer systems for their own gain. </a:t>
            </a:r>
          </a:p>
          <a:p>
            <a:endParaRPr lang="en-US" sz="2400" i="1" dirty="0">
              <a:latin typeface="Verdana"/>
              <a:cs typeface="Verdana"/>
            </a:endParaRPr>
          </a:p>
          <a:p>
            <a:r>
              <a:rPr lang="en-US" sz="2400" b="1" i="1" dirty="0">
                <a:latin typeface="Verdana"/>
                <a:cs typeface="Verdana"/>
              </a:rPr>
              <a:t>Malicious Code</a:t>
            </a:r>
            <a:r>
              <a:rPr lang="en-US" sz="2400" b="1" dirty="0">
                <a:latin typeface="Verdana"/>
                <a:cs typeface="Verdana"/>
              </a:rPr>
              <a:t>: </a:t>
            </a:r>
            <a:r>
              <a:rPr lang="en-US" sz="2400" dirty="0">
                <a:latin typeface="Verdana"/>
                <a:cs typeface="Verdana"/>
              </a:rPr>
              <a:t>Malicious code includes any code that could be used to attack a system.</a:t>
            </a:r>
          </a:p>
          <a:p>
            <a:endParaRPr lang="en-US" sz="2400" i="1" dirty="0">
              <a:latin typeface="Verdana"/>
              <a:cs typeface="Verdana"/>
            </a:endParaRPr>
          </a:p>
          <a:p>
            <a:r>
              <a:rPr lang="en-US" sz="2400" b="1" i="1" dirty="0">
                <a:latin typeface="Verdana"/>
                <a:cs typeface="Verdana"/>
              </a:rPr>
              <a:t>Vulnerability</a:t>
            </a:r>
            <a:r>
              <a:rPr lang="en-US" sz="2400" b="1" dirty="0">
                <a:latin typeface="Verdana"/>
                <a:cs typeface="Verdana"/>
              </a:rPr>
              <a:t>: </a:t>
            </a:r>
            <a:r>
              <a:rPr lang="en-US" sz="2400" dirty="0">
                <a:latin typeface="Verdana"/>
                <a:cs typeface="Verdana"/>
              </a:rPr>
              <a:t>In most cases, vulnerabilities are caused by programming errors in software. Attackers may exploit errors to infect your computer. </a:t>
            </a:r>
          </a:p>
          <a:p>
            <a:endParaRPr lang="en-US" sz="2000" dirty="0">
              <a:latin typeface="Verdana"/>
              <a:cs typeface="Verdana"/>
            </a:endParaRPr>
          </a:p>
        </p:txBody>
      </p:sp>
    </p:spTree>
    <p:extLst>
      <p:ext uri="{BB962C8B-B14F-4D97-AF65-F5344CB8AC3E}">
        <p14:creationId xmlns:p14="http://schemas.microsoft.com/office/powerpoint/2010/main" val="4027272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Definitions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cap="small" dirty="0">
                <a:solidFill>
                  <a:schemeClr val="bg1">
                    <a:lumMod val="85000"/>
                  </a:schemeClr>
                </a:solidFill>
                <a:latin typeface="Verdana"/>
                <a:cs typeface="Verdana"/>
              </a:rPr>
              <a:t>CS 151 – Introduction to Cybersecurity</a:t>
            </a:r>
          </a:p>
        </p:txBody>
      </p:sp>
      <p:sp>
        <p:nvSpPr>
          <p:cNvPr id="2" name="TextBox 1"/>
          <p:cNvSpPr txBox="1"/>
          <p:nvPr/>
        </p:nvSpPr>
        <p:spPr>
          <a:xfrm>
            <a:off x="201497" y="1287244"/>
            <a:ext cx="8659567" cy="5293757"/>
          </a:xfrm>
          <a:prstGeom prst="rect">
            <a:avLst/>
          </a:prstGeom>
          <a:noFill/>
        </p:spPr>
        <p:txBody>
          <a:bodyPr wrap="square" rtlCol="0">
            <a:spAutoFit/>
          </a:bodyPr>
          <a:lstStyle/>
          <a:p>
            <a:r>
              <a:rPr lang="en-US" sz="2400" b="1" i="1" dirty="0">
                <a:latin typeface="Verdana"/>
                <a:cs typeface="Verdana"/>
              </a:rPr>
              <a:t>Data breach: </a:t>
            </a:r>
            <a:r>
              <a:rPr lang="en-US" sz="2400" i="1" dirty="0">
                <a:latin typeface="Verdana"/>
                <a:cs typeface="Verdana"/>
              </a:rPr>
              <a:t>The unauthorized movement or disclosure of sensitive information to unauthorized persons.</a:t>
            </a:r>
          </a:p>
          <a:p>
            <a:endParaRPr lang="en-US" sz="1400" i="1" dirty="0">
              <a:latin typeface="Verdana"/>
              <a:cs typeface="Verdana"/>
            </a:endParaRPr>
          </a:p>
          <a:p>
            <a:r>
              <a:rPr lang="en-US" sz="2400" b="1" i="1" dirty="0">
                <a:latin typeface="Verdana"/>
                <a:cs typeface="Verdana"/>
              </a:rPr>
              <a:t>Security Event: </a:t>
            </a:r>
            <a:r>
              <a:rPr lang="en-US" sz="2400" dirty="0">
                <a:latin typeface="Verdana"/>
                <a:cs typeface="Verdana"/>
              </a:rPr>
              <a:t>An event on a system or network detected by a security device or application.</a:t>
            </a:r>
          </a:p>
          <a:p>
            <a:endParaRPr lang="en-US" sz="1400" i="1" dirty="0">
              <a:latin typeface="Verdana"/>
              <a:cs typeface="Verdana"/>
            </a:endParaRPr>
          </a:p>
          <a:p>
            <a:r>
              <a:rPr lang="en-US" sz="2400" b="1" i="1" dirty="0">
                <a:latin typeface="Verdana"/>
                <a:cs typeface="Verdana"/>
              </a:rPr>
              <a:t>Attack: </a:t>
            </a:r>
            <a:r>
              <a:rPr lang="en-US" sz="2400" dirty="0">
                <a:latin typeface="Verdana"/>
                <a:cs typeface="Verdana"/>
              </a:rPr>
              <a:t>A security event identified as malicious activity that is attempting to collect, disrupt, deny, degrade or destroy data and/or systems.</a:t>
            </a:r>
          </a:p>
          <a:p>
            <a:endParaRPr lang="en-US" sz="1400" i="1" dirty="0">
              <a:latin typeface="Verdana"/>
              <a:cs typeface="Verdana"/>
            </a:endParaRPr>
          </a:p>
          <a:p>
            <a:r>
              <a:rPr lang="en-US" sz="2400" b="1" i="1" dirty="0">
                <a:latin typeface="Verdana"/>
                <a:cs typeface="Verdana"/>
              </a:rPr>
              <a:t>Security Incident: </a:t>
            </a:r>
            <a:r>
              <a:rPr lang="en-US" sz="2400" dirty="0">
                <a:latin typeface="Verdana"/>
                <a:cs typeface="Verdana"/>
              </a:rPr>
              <a:t>An attack or security event that has been reviewed by an organization’s security team and deemed worthy of deeper investigation.</a:t>
            </a:r>
          </a:p>
          <a:p>
            <a:endParaRPr lang="en-US" sz="2000" dirty="0">
              <a:latin typeface="Verdana"/>
              <a:cs typeface="Verdana"/>
            </a:endParaRPr>
          </a:p>
        </p:txBody>
      </p:sp>
    </p:spTree>
    <p:extLst>
      <p:ext uri="{BB962C8B-B14F-4D97-AF65-F5344CB8AC3E}">
        <p14:creationId xmlns:p14="http://schemas.microsoft.com/office/powerpoint/2010/main" val="2740829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1678</TotalTime>
  <Words>1208</Words>
  <Application>Microsoft Macintosh PowerPoint</Application>
  <PresentationFormat>On-screen Show (4:3)</PresentationFormat>
  <Paragraphs>154</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Overview of Cybersecurity</vt:lpstr>
      <vt:lpstr>Anonymity</vt:lpstr>
      <vt:lpstr>Significant Events</vt:lpstr>
      <vt:lpstr>Growth of the Internet</vt:lpstr>
      <vt:lpstr>Cybersecurity</vt:lpstr>
      <vt:lpstr>CIA Triad</vt:lpstr>
      <vt:lpstr>User Security Concepts</vt:lpstr>
      <vt:lpstr>Threat Types &amp; Motivations</vt:lpstr>
      <vt:lpstr>Types of Cybercrime</vt:lpstr>
      <vt:lpstr>Intruder Actions</vt:lpstr>
      <vt:lpstr>Cyberspace Abuses</vt:lpstr>
      <vt:lpstr>Cyberspace Abuses</vt:lpstr>
      <vt:lpstr>Definitions</vt:lpstr>
      <vt:lpstr>Definitions</vt:lpstr>
    </vt:vector>
  </TitlesOfParts>
  <Company>University of Nevada, Reno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Nancy LaTourrette</dc:creator>
  <cp:lastModifiedBy>Nancy LaTourrette</cp:lastModifiedBy>
  <cp:revision>166</cp:revision>
  <cp:lastPrinted>2016-06-28T22:20:13Z</cp:lastPrinted>
  <dcterms:created xsi:type="dcterms:W3CDTF">2016-02-28T22:40:58Z</dcterms:created>
  <dcterms:modified xsi:type="dcterms:W3CDTF">2021-09-09T17:10:23Z</dcterms:modified>
</cp:coreProperties>
</file>