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74" r:id="rId4"/>
    <p:sldId id="260" r:id="rId5"/>
    <p:sldId id="264" r:id="rId6"/>
    <p:sldId id="273" r:id="rId7"/>
    <p:sldId id="268" r:id="rId8"/>
    <p:sldId id="270" r:id="rId9"/>
    <p:sldId id="271" r:id="rId10"/>
    <p:sldId id="266" r:id="rId11"/>
    <p:sldId id="269" r:id="rId12"/>
    <p:sldId id="258" r:id="rId13"/>
    <p:sldId id="259" r:id="rId14"/>
    <p:sldId id="272"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clrMru>
    <a:srgbClr val="8E9295"/>
    <a:srgbClr val="002E62"/>
    <a:srgbClr val="000080"/>
    <a:srgbClr val="B3B3B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2857" autoAdjust="0"/>
  </p:normalViewPr>
  <p:slideViewPr>
    <p:cSldViewPr snapToGrid="0" snapToObjects="1">
      <p:cViewPr varScale="1">
        <p:scale>
          <a:sx n="105" d="100"/>
          <a:sy n="105" d="100"/>
        </p:scale>
        <p:origin x="238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8F75F0-0DC9-D244-9C65-78173ACB23B3}" type="datetimeFigureOut">
              <a:rPr lang="en-US" smtClean="0"/>
              <a:t>11/3/20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FA223D-0791-B949-A37D-68CC0DDCFA78}" type="slidenum">
              <a:rPr lang="en-US" smtClean="0"/>
              <a:t>‹#›</a:t>
            </a:fld>
            <a:endParaRPr lang="en-US" dirty="0"/>
          </a:p>
        </p:txBody>
      </p:sp>
    </p:spTree>
    <p:extLst>
      <p:ext uri="{BB962C8B-B14F-4D97-AF65-F5344CB8AC3E}">
        <p14:creationId xmlns:p14="http://schemas.microsoft.com/office/powerpoint/2010/main" val="358688231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2FA223D-0791-B949-A37D-68CC0DDCFA78}" type="slidenum">
              <a:rPr lang="en-US" smtClean="0"/>
              <a:t>1</a:t>
            </a:fld>
            <a:endParaRPr lang="en-US" dirty="0"/>
          </a:p>
        </p:txBody>
      </p:sp>
    </p:spTree>
    <p:extLst>
      <p:ext uri="{BB962C8B-B14F-4D97-AF65-F5344CB8AC3E}">
        <p14:creationId xmlns:p14="http://schemas.microsoft.com/office/powerpoint/2010/main" val="3444666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FTC has been protecting</a:t>
            </a:r>
            <a:r>
              <a:rPr lang="en-US" sz="1200" kern="1200" baseline="0" dirty="0">
                <a:solidFill>
                  <a:schemeClr val="tx1"/>
                </a:solidFill>
                <a:effectLst/>
                <a:latin typeface="Verdana"/>
                <a:ea typeface="+mn-ea"/>
                <a:cs typeface="Verdana"/>
              </a:rPr>
              <a:t> consumer’s rights since 1970s – enforcement </a:t>
            </a:r>
            <a:r>
              <a:rPr lang="en-US" sz="1200" kern="1200" dirty="0">
                <a:solidFill>
                  <a:schemeClr val="tx1"/>
                </a:solidFill>
                <a:latin typeface="Verdana"/>
                <a:ea typeface="+mn-ea"/>
                <a:cs typeface="Verdana"/>
              </a:rPr>
              <a:t>of the first federal privacy laws: the Fair Credit Reporting Act. </a:t>
            </a:r>
            <a:endParaRPr lang="en-US" sz="1200" kern="1200" dirty="0">
              <a:solidFill>
                <a:schemeClr val="tx1"/>
              </a:solidFill>
              <a:effectLst/>
              <a:latin typeface="Verdana"/>
              <a:ea typeface="+mn-ea"/>
              <a:cs typeface="Verdana"/>
            </a:endParaRP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public may be troubled by the collection and sharing of their data.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public may have no idea that data</a:t>
            </a:r>
            <a:r>
              <a:rPr lang="en-US" sz="1200" kern="1200" baseline="0" dirty="0">
                <a:solidFill>
                  <a:schemeClr val="tx1"/>
                </a:solidFill>
                <a:effectLst/>
                <a:latin typeface="Verdana"/>
                <a:ea typeface="+mn-ea"/>
                <a:cs typeface="Verdana"/>
              </a:rPr>
              <a:t> </a:t>
            </a:r>
            <a:r>
              <a:rPr lang="en-US" sz="1200" kern="1200" dirty="0">
                <a:solidFill>
                  <a:schemeClr val="tx1"/>
                </a:solidFill>
                <a:effectLst/>
                <a:latin typeface="Verdana"/>
                <a:ea typeface="+mn-ea"/>
                <a:cs typeface="Verdana"/>
              </a:rPr>
              <a:t>collection and sharing happens.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public may be aware of data collection and sharing but view it as worthwhile trade-off in exchange</a:t>
            </a:r>
            <a:r>
              <a:rPr lang="en-US" sz="1200" kern="1200" baseline="0" dirty="0">
                <a:solidFill>
                  <a:schemeClr val="tx1"/>
                </a:solidFill>
                <a:effectLst/>
                <a:latin typeface="Verdana"/>
                <a:ea typeface="+mn-ea"/>
                <a:cs typeface="Verdana"/>
              </a:rPr>
              <a:t> </a:t>
            </a:r>
            <a:r>
              <a:rPr lang="en-US" sz="1200" kern="1200" dirty="0">
                <a:solidFill>
                  <a:schemeClr val="tx1"/>
                </a:solidFill>
                <a:effectLst/>
                <a:latin typeface="Verdana"/>
                <a:ea typeface="+mn-ea"/>
                <a:cs typeface="Verdana"/>
              </a:rPr>
              <a:t>for services</a:t>
            </a:r>
            <a:r>
              <a:rPr lang="en-US" sz="1200" kern="1200" baseline="0" dirty="0">
                <a:solidFill>
                  <a:schemeClr val="tx1"/>
                </a:solidFill>
                <a:effectLst/>
                <a:latin typeface="Verdana"/>
                <a:ea typeface="+mn-ea"/>
                <a:cs typeface="Verdana"/>
              </a:rPr>
              <a:t> and</a:t>
            </a:r>
            <a:r>
              <a:rPr lang="en-US" sz="1200" kern="1200" dirty="0">
                <a:solidFill>
                  <a:schemeClr val="tx1"/>
                </a:solidFill>
                <a:effectLst/>
                <a:latin typeface="Verdana"/>
                <a:ea typeface="+mn-ea"/>
                <a:cs typeface="Verdana"/>
              </a:rPr>
              <a:t> convenience.</a:t>
            </a:r>
            <a:r>
              <a:rPr lang="en-US" sz="1200" kern="1200" baseline="0" dirty="0">
                <a:solidFill>
                  <a:schemeClr val="tx1"/>
                </a:solidFill>
                <a:effectLst/>
                <a:latin typeface="Verdana"/>
                <a:ea typeface="+mn-ea"/>
                <a:cs typeface="Verdana"/>
              </a:rPr>
              <a:t>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public</a:t>
            </a:r>
            <a:r>
              <a:rPr lang="en-US" sz="1200" kern="1200" baseline="0" dirty="0">
                <a:solidFill>
                  <a:schemeClr val="tx1"/>
                </a:solidFill>
                <a:effectLst/>
                <a:latin typeface="Verdana"/>
                <a:ea typeface="+mn-ea"/>
                <a:cs typeface="Verdana"/>
              </a:rPr>
              <a:t> </a:t>
            </a:r>
            <a:r>
              <a:rPr lang="en-US" sz="1200" kern="1200" dirty="0">
                <a:solidFill>
                  <a:schemeClr val="tx1"/>
                </a:solidFill>
                <a:effectLst/>
                <a:latin typeface="Verdana"/>
                <a:ea typeface="+mn-ea"/>
                <a:cs typeface="Verdana"/>
              </a:rPr>
              <a:t>may be aware that collection and sharing takes place, but may not understand the risks.</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public’s comfort may depend upon context</a:t>
            </a:r>
            <a:r>
              <a:rPr lang="en-US" sz="1200" kern="1200" baseline="0" dirty="0">
                <a:solidFill>
                  <a:schemeClr val="tx1"/>
                </a:solidFill>
                <a:effectLst/>
                <a:latin typeface="Verdana"/>
                <a:ea typeface="+mn-ea"/>
                <a:cs typeface="Verdana"/>
              </a:rPr>
              <a:t> and amount of sharing, e.g., small amounts are fine but compiled are disturbing.</a:t>
            </a:r>
            <a:r>
              <a:rPr lang="en-US" sz="1200" kern="1200" dirty="0">
                <a:solidFill>
                  <a:schemeClr val="tx1"/>
                </a:solidFill>
                <a:effectLst/>
                <a:latin typeface="Verdana"/>
                <a:ea typeface="+mn-ea"/>
                <a:cs typeface="Verdana"/>
              </a:rPr>
              <a:t> </a:t>
            </a:r>
            <a:endParaRPr lang="en-US" sz="1400"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2</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baseline="0" dirty="0">
                <a:latin typeface="Verdana"/>
                <a:cs typeface="Verdana"/>
              </a:rPr>
              <a:t>Different laws and regulations exist – organizations must be aware of jurisdictional differences.</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3</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dirty="0">
                <a:latin typeface="Verdana"/>
                <a:cs typeface="Verdana"/>
              </a:rPr>
              <a:t>PII:</a:t>
            </a:r>
            <a:r>
              <a:rPr lang="en-US" sz="1200" baseline="0" dirty="0">
                <a:latin typeface="Verdana"/>
                <a:cs typeface="Verdana"/>
              </a:rPr>
              <a:t> </a:t>
            </a:r>
            <a:r>
              <a:rPr lang="en-US" sz="1200" i="0" baseline="0" dirty="0">
                <a:latin typeface="Verdana"/>
                <a:cs typeface="Verdana"/>
              </a:rPr>
              <a:t>I</a:t>
            </a:r>
            <a:r>
              <a:rPr lang="en-US" sz="1200" i="0" kern="1200" dirty="0">
                <a:solidFill>
                  <a:schemeClr val="tx1"/>
                </a:solidFill>
                <a:latin typeface="Verdana"/>
                <a:ea typeface="+mn-ea"/>
                <a:cs typeface="Verdana"/>
              </a:rPr>
              <a:t>nformation which can be used to distinguish or trace an individual's identity, such as their name, social security number, biometric records, or when combined with other personal or identifying information which is linkable to an individual, such as date and place of birth, mother’s maiden name.</a:t>
            </a:r>
            <a:endParaRPr lang="en-US" sz="1200" i="0" kern="1200" baseline="0" dirty="0">
              <a:solidFill>
                <a:schemeClr val="tx1"/>
              </a:solidFill>
              <a:latin typeface="Verdana"/>
              <a:ea typeface="+mn-ea"/>
              <a:cs typeface="Verdana"/>
            </a:endParaRPr>
          </a:p>
          <a:p>
            <a:pPr marL="342900" indent="-342900">
              <a:buAutoNum type="arabicParenBoth"/>
            </a:pPr>
            <a:r>
              <a:rPr lang="en-US" sz="1200" dirty="0">
                <a:latin typeface="Verdana"/>
                <a:cs typeface="Verdana"/>
              </a:rPr>
              <a:t>PHI:</a:t>
            </a:r>
            <a:r>
              <a:rPr lang="en-US" sz="1200" baseline="0" dirty="0">
                <a:latin typeface="Verdana"/>
                <a:cs typeface="Verdana"/>
              </a:rPr>
              <a:t> Includes PII plus others such as </a:t>
            </a:r>
            <a:r>
              <a:rPr lang="en-US" sz="1200" kern="1200" baseline="0" dirty="0">
                <a:solidFill>
                  <a:schemeClr val="tx1"/>
                </a:solidFill>
                <a:latin typeface="Verdana"/>
                <a:ea typeface="+mn-ea"/>
                <a:cs typeface="Verdana"/>
              </a:rPr>
              <a:t>m</a:t>
            </a:r>
            <a:r>
              <a:rPr lang="en-US" sz="1200" kern="1200" dirty="0">
                <a:solidFill>
                  <a:schemeClr val="tx1"/>
                </a:solidFill>
                <a:latin typeface="Verdana"/>
                <a:ea typeface="+mn-ea"/>
                <a:cs typeface="Verdana"/>
              </a:rPr>
              <a:t>edical record numbers and</a:t>
            </a:r>
            <a:r>
              <a:rPr lang="en-US" sz="1200" kern="1200" baseline="0" dirty="0">
                <a:solidFill>
                  <a:schemeClr val="tx1"/>
                </a:solidFill>
                <a:latin typeface="Verdana"/>
                <a:ea typeface="+mn-ea"/>
                <a:cs typeface="Verdana"/>
              </a:rPr>
              <a:t> health insurance beneficiary numbers. HIPAA lists 18 categories.</a:t>
            </a:r>
            <a:endParaRPr lang="en-US" sz="1200" kern="1200" dirty="0">
              <a:solidFill>
                <a:schemeClr val="tx1"/>
              </a:solidFill>
              <a:latin typeface="Verdana"/>
              <a:ea typeface="+mn-ea"/>
              <a:cs typeface="Verdana"/>
            </a:endParaRPr>
          </a:p>
          <a:p>
            <a:pPr marL="342900" indent="-342900">
              <a:buAutoNum type="arabicParenBoth"/>
            </a:pPr>
            <a:r>
              <a:rPr lang="en-US" sz="1200" dirty="0">
                <a:latin typeface="Verdana"/>
                <a:cs typeface="Verdana"/>
              </a:rPr>
              <a:t>PCI:</a:t>
            </a:r>
            <a:r>
              <a:rPr lang="en-US" sz="1200" baseline="0" dirty="0">
                <a:latin typeface="Verdana"/>
                <a:cs typeface="Verdana"/>
              </a:rPr>
              <a:t> Also includes financial info such as account numbers.</a:t>
            </a:r>
          </a:p>
          <a:p>
            <a:pPr marL="342900" indent="-342900">
              <a:buAutoNum type="arabicParenBoth"/>
            </a:pPr>
            <a:r>
              <a:rPr lang="en-US" sz="1200" b="0" kern="1200" baseline="0" dirty="0">
                <a:solidFill>
                  <a:schemeClr val="tx1"/>
                </a:solidFill>
                <a:effectLst/>
                <a:latin typeface="Verdana"/>
                <a:ea typeface="+mn-ea"/>
                <a:cs typeface="Verdana"/>
              </a:rPr>
              <a:t>Student </a:t>
            </a:r>
            <a:r>
              <a:rPr lang="en-US" sz="1200" b="0" kern="1200" dirty="0">
                <a:solidFill>
                  <a:schemeClr val="tx1"/>
                </a:solidFill>
                <a:effectLst/>
                <a:latin typeface="Verdana"/>
                <a:ea typeface="+mn-ea"/>
                <a:cs typeface="Verdana"/>
              </a:rPr>
              <a:t>education records may include date of birth, date of enrollment, bus route, immunization history, achievement test scores and grades, enrollment and attendance, awards, degrees achieved, and special education plans and evaluations. </a:t>
            </a:r>
            <a:endParaRPr lang="en-US" sz="1200" dirty="0">
              <a:latin typeface="Verdana"/>
              <a:cs typeface="Verdana"/>
            </a:endParaRPr>
          </a:p>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4</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kern="1200" dirty="0">
                <a:solidFill>
                  <a:schemeClr val="tx1"/>
                </a:solidFill>
                <a:latin typeface="Verdana"/>
                <a:ea typeface="+mn-ea"/>
                <a:cs typeface="Verdana"/>
              </a:rPr>
              <a:t>ISO (International Standard Organization) is an independent, non-governmental international organization with a membership of 163 national standards bodies. Experts, from members, share knowledge</a:t>
            </a:r>
            <a:r>
              <a:rPr lang="en-US" sz="1200" kern="1200" baseline="0" dirty="0">
                <a:solidFill>
                  <a:schemeClr val="tx1"/>
                </a:solidFill>
                <a:latin typeface="Verdana"/>
                <a:ea typeface="+mn-ea"/>
                <a:cs typeface="Verdana"/>
              </a:rPr>
              <a:t> and develop </a:t>
            </a:r>
            <a:r>
              <a:rPr lang="en-US" sz="1200" u="sng" kern="1200" baseline="0" dirty="0">
                <a:solidFill>
                  <a:schemeClr val="tx1"/>
                </a:solidFill>
                <a:latin typeface="Verdana"/>
                <a:ea typeface="+mn-ea"/>
                <a:cs typeface="Verdana"/>
              </a:rPr>
              <a:t>voluntary</a:t>
            </a:r>
            <a:r>
              <a:rPr lang="en-US" sz="1200" kern="1200" baseline="0" dirty="0">
                <a:solidFill>
                  <a:schemeClr val="tx1"/>
                </a:solidFill>
                <a:latin typeface="Verdana"/>
                <a:ea typeface="+mn-ea"/>
                <a:cs typeface="Verdana"/>
              </a:rPr>
              <a:t> consensus-based market relevant international standards.</a:t>
            </a:r>
          </a:p>
          <a:p>
            <a:pPr marL="342900" indent="-342900">
              <a:buAutoNum type="arabicParenBoth"/>
            </a:pPr>
            <a:r>
              <a:rPr lang="en-US" sz="1200" u="none" kern="1200" baseline="0" dirty="0">
                <a:solidFill>
                  <a:schemeClr val="tx1"/>
                </a:solidFill>
                <a:latin typeface="Verdana"/>
                <a:ea typeface="+mn-ea"/>
                <a:cs typeface="Verdana"/>
              </a:rPr>
              <a:t>ISO 270xx examples</a:t>
            </a:r>
            <a:r>
              <a:rPr lang="en-US" sz="1200" i="0" u="none" kern="1200" baseline="0" dirty="0">
                <a:solidFill>
                  <a:schemeClr val="tx1"/>
                </a:solidFill>
                <a:latin typeface="Verdana"/>
                <a:ea typeface="+mn-ea"/>
                <a:cs typeface="Verdana"/>
              </a:rPr>
              <a:t>: </a:t>
            </a:r>
            <a:r>
              <a:rPr lang="en-US" sz="1200" i="0" kern="1200" dirty="0">
                <a:solidFill>
                  <a:schemeClr val="tx1"/>
                </a:solidFill>
                <a:latin typeface="Verdana"/>
                <a:ea typeface="+mn-ea"/>
                <a:cs typeface="Verdana"/>
              </a:rPr>
              <a:t> ISO/IEC 27001, Information security management systems; ISO/IEC 27002, Code of practice for information security controls; ISO/IEC 27018Code of practice for protection of personally identifiable information (PII) in public clouds acting as PII processors.</a:t>
            </a:r>
            <a:endParaRPr lang="en-US" sz="1200" i="0" u="none" kern="1200" dirty="0">
              <a:solidFill>
                <a:schemeClr val="tx1"/>
              </a:solidFill>
              <a:latin typeface="Verdana"/>
              <a:ea typeface="+mn-e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5</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u="none" kern="1200" dirty="0">
                <a:solidFill>
                  <a:schemeClr val="tx1"/>
                </a:solidFill>
                <a:latin typeface="Verdana"/>
                <a:ea typeface="+mn-ea"/>
                <a:cs typeface="Verdana"/>
              </a:rPr>
              <a:t>NIST</a:t>
            </a:r>
            <a:r>
              <a:rPr lang="en-US" sz="1200" u="none" kern="1200" baseline="0" dirty="0">
                <a:solidFill>
                  <a:schemeClr val="tx1"/>
                </a:solidFill>
                <a:latin typeface="Verdana"/>
                <a:ea typeface="+mn-ea"/>
                <a:cs typeface="Verdana"/>
              </a:rPr>
              <a:t> (National Institute of Standards and Technology) </a:t>
            </a:r>
            <a:r>
              <a:rPr lang="en-US" sz="1200" kern="1200" dirty="0">
                <a:solidFill>
                  <a:schemeClr val="tx1"/>
                </a:solidFill>
                <a:latin typeface="Verdana"/>
                <a:ea typeface="+mn-ea"/>
                <a:cs typeface="Verdana"/>
              </a:rPr>
              <a:t>was founded in 1901 as a non-regulatory federal agency within the US Dept. of Commerce. NIST’s mission is to promote US innovation and industrial competiveness by advancing measurement science, standards, and technology</a:t>
            </a:r>
            <a:r>
              <a:rPr lang="en-US" sz="1200" kern="1200" baseline="0" dirty="0">
                <a:solidFill>
                  <a:schemeClr val="tx1"/>
                </a:solidFill>
                <a:latin typeface="Verdana"/>
                <a:ea typeface="+mn-ea"/>
                <a:cs typeface="Verdana"/>
              </a:rPr>
              <a:t> that enhance economic security.</a:t>
            </a:r>
          </a:p>
          <a:p>
            <a:pPr marL="342900" indent="-342900">
              <a:buAutoNum type="arabicParenBoth"/>
            </a:pPr>
            <a:r>
              <a:rPr lang="en-US" sz="1200" kern="1200" baseline="0" dirty="0">
                <a:solidFill>
                  <a:schemeClr val="tx1"/>
                </a:solidFill>
                <a:latin typeface="Verdana"/>
                <a:ea typeface="+mn-ea"/>
                <a:cs typeface="Verdana"/>
              </a:rPr>
              <a:t>SP 800-122 is officially named </a:t>
            </a:r>
            <a:r>
              <a:rPr lang="en-US" sz="1200" i="1" dirty="0">
                <a:latin typeface="Verdana"/>
                <a:cs typeface="Verdana"/>
              </a:rPr>
              <a:t>Guide to Protecting the Confidentiality of Personally Identifiable Information (PII). </a:t>
            </a:r>
            <a:r>
              <a:rPr lang="en-US" sz="1200" i="0" dirty="0">
                <a:latin typeface="Verdana"/>
                <a:cs typeface="Verdana"/>
              </a:rPr>
              <a:t>Published 2010.</a:t>
            </a:r>
          </a:p>
          <a:p>
            <a:pPr marL="342900" indent="-342900">
              <a:buAutoNum type="arabicParenBoth"/>
            </a:pPr>
            <a:r>
              <a:rPr lang="en-US" sz="1200" b="0" i="0" u="none" strike="noStrike" kern="1200" dirty="0">
                <a:solidFill>
                  <a:schemeClr val="tx1"/>
                </a:solidFill>
                <a:effectLst/>
                <a:latin typeface="+mn-lt"/>
                <a:ea typeface="+mn-ea"/>
                <a:cs typeface="+mn-cs"/>
              </a:rPr>
              <a:t>SP 800-122 provides some selected security control examples from </a:t>
            </a:r>
            <a:r>
              <a:rPr lang="en-US" sz="1200" b="1" i="0" u="none" strike="noStrike" kern="1200" dirty="0">
                <a:solidFill>
                  <a:schemeClr val="tx1"/>
                </a:solidFill>
                <a:effectLst/>
                <a:latin typeface="+mn-lt"/>
                <a:ea typeface="+mn-ea"/>
                <a:cs typeface="+mn-cs"/>
              </a:rPr>
              <a:t>NIST SP 800-53 </a:t>
            </a:r>
            <a:r>
              <a:rPr lang="en-US" sz="1200" b="0" i="0" u="none" strike="noStrike" kern="1200" dirty="0">
                <a:solidFill>
                  <a:schemeClr val="tx1"/>
                </a:solidFill>
                <a:effectLst/>
                <a:latin typeface="+mn-lt"/>
                <a:ea typeface="+mn-ea"/>
                <a:cs typeface="+mn-cs"/>
              </a:rPr>
              <a:t>(2005-2019).</a:t>
            </a:r>
            <a:endParaRPr lang="en-US" sz="1200" b="0" i="1" dirty="0">
              <a:latin typeface="Verdana"/>
              <a:cs typeface="Verdana"/>
            </a:endParaRPr>
          </a:p>
        </p:txBody>
      </p:sp>
      <p:sp>
        <p:nvSpPr>
          <p:cNvPr id="4" name="Slide Number Placeholder 3"/>
          <p:cNvSpPr>
            <a:spLocks noGrp="1"/>
          </p:cNvSpPr>
          <p:nvPr>
            <p:ph type="sldNum" sz="quarter" idx="10"/>
          </p:nvPr>
        </p:nvSpPr>
        <p:spPr/>
        <p:txBody>
          <a:bodyPr/>
          <a:lstStyle/>
          <a:p>
            <a:fld id="{62FA223D-0791-B949-A37D-68CC0DDCFA78}" type="slidenum">
              <a:rPr lang="en-US" smtClean="0"/>
              <a:t>6</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 creation of SOX followed one of the most turbulent periods in US corporate history. The very public collapse of corporate giants like Enron and WorldCom damaged the fundamental trust in US corporations and cost investors billions of dollars.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Although, primarily an</a:t>
            </a:r>
            <a:r>
              <a:rPr lang="en-US" sz="1200" kern="1200" baseline="0" dirty="0">
                <a:solidFill>
                  <a:schemeClr val="tx1"/>
                </a:solidFill>
                <a:effectLst/>
                <a:latin typeface="Verdana"/>
                <a:ea typeface="+mn-ea"/>
                <a:cs typeface="Verdana"/>
              </a:rPr>
              <a:t> accounting and financial reporting mandate, </a:t>
            </a:r>
            <a:r>
              <a:rPr lang="en-US" sz="1200" kern="1200" dirty="0">
                <a:solidFill>
                  <a:schemeClr val="tx1"/>
                </a:solidFill>
                <a:effectLst/>
                <a:latin typeface="Verdana"/>
                <a:ea typeface="+mn-ea"/>
                <a:cs typeface="Verdana"/>
              </a:rPr>
              <a:t>Sarbanes-Oxley has affected overall awareness and management of internal controls in public corporations.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Therefore, access management</a:t>
            </a:r>
            <a:r>
              <a:rPr lang="en-US" sz="1200" kern="1200" baseline="0" dirty="0">
                <a:solidFill>
                  <a:schemeClr val="tx1"/>
                </a:solidFill>
                <a:effectLst/>
                <a:latin typeface="Verdana"/>
                <a:ea typeface="+mn-ea"/>
                <a:cs typeface="Verdana"/>
              </a:rPr>
              <a:t> and other data security controls become vital -&gt; best IT security practices.</a:t>
            </a:r>
            <a:endParaRPr lang="en-US" sz="1200" kern="1200" dirty="0">
              <a:solidFill>
                <a:schemeClr val="tx1"/>
              </a:solidFill>
              <a:effectLst/>
              <a:latin typeface="Verdana"/>
              <a:ea typeface="+mn-ea"/>
              <a:cs typeface="Verdana"/>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7</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kern="1200" dirty="0">
                <a:solidFill>
                  <a:schemeClr val="tx1"/>
                </a:solidFill>
                <a:effectLst/>
                <a:latin typeface="Verdana"/>
                <a:ea typeface="+mn-ea"/>
                <a:cs typeface="Verdana"/>
              </a:rPr>
              <a:t>Also</a:t>
            </a:r>
            <a:r>
              <a:rPr lang="en-US" sz="1200" kern="1200" baseline="0" dirty="0">
                <a:solidFill>
                  <a:schemeClr val="tx1"/>
                </a:solidFill>
                <a:effectLst/>
                <a:latin typeface="Verdana"/>
                <a:ea typeface="+mn-ea"/>
                <a:cs typeface="Verdana"/>
              </a:rPr>
              <a:t> known as: </a:t>
            </a:r>
            <a:r>
              <a:rPr lang="en-US" sz="1200" kern="1200" dirty="0">
                <a:solidFill>
                  <a:schemeClr val="tx1"/>
                </a:solidFill>
                <a:effectLst/>
                <a:latin typeface="Verdana"/>
                <a:ea typeface="+mn-ea"/>
                <a:cs typeface="Verdana"/>
              </a:rPr>
              <a:t>Financial Modernization Act of 1999</a:t>
            </a:r>
            <a:r>
              <a:rPr lang="en-US" sz="1200" dirty="0">
                <a:effectLst/>
                <a:latin typeface="Verdana"/>
                <a:cs typeface="Verdana"/>
              </a:rPr>
              <a:t> </a:t>
            </a:r>
          </a:p>
          <a:p>
            <a:pPr marL="342900" indent="-342900">
              <a:buAutoNum type="arabicParenBoth"/>
            </a:pPr>
            <a:r>
              <a:rPr lang="en-US" sz="1200" kern="1200" dirty="0">
                <a:solidFill>
                  <a:schemeClr val="tx1"/>
                </a:solidFill>
                <a:latin typeface="Verdana"/>
                <a:ea typeface="+mn-ea"/>
                <a:cs typeface="Verdana"/>
              </a:rPr>
              <a:t>The law defines “financial institution” broadly to cover many businesses who might not describe themselves that way</a:t>
            </a:r>
            <a:r>
              <a:rPr lang="en-US" sz="1200" kern="1200" baseline="0" dirty="0">
                <a:solidFill>
                  <a:schemeClr val="tx1"/>
                </a:solidFill>
                <a:latin typeface="Verdana"/>
                <a:ea typeface="+mn-ea"/>
                <a:cs typeface="Verdana"/>
              </a:rPr>
              <a:t> e.g., auto dealers who extend credit.</a:t>
            </a:r>
            <a:endParaRPr lang="en-US" sz="1200" dirty="0">
              <a:effectLst/>
              <a:latin typeface="Verdana"/>
              <a:cs typeface="Verdana"/>
            </a:endParaRPr>
          </a:p>
          <a:p>
            <a:pPr marL="342900" indent="-342900">
              <a:buAutoNum type="arabicParenBoth"/>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8</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AutoNum type="arabicParenBoth"/>
            </a:pPr>
            <a:r>
              <a:rPr lang="en-US" sz="1200" dirty="0">
                <a:latin typeface="Verdana"/>
                <a:cs typeface="Verdana"/>
              </a:rPr>
              <a:t>1996</a:t>
            </a:r>
            <a:r>
              <a:rPr lang="en-US" sz="1200" baseline="0" dirty="0">
                <a:latin typeface="Verdana"/>
                <a:cs typeface="Verdana"/>
              </a:rPr>
              <a:t> enacted, modifications through 2009.</a:t>
            </a:r>
          </a:p>
          <a:p>
            <a:pPr marL="342900" indent="-342900">
              <a:buAutoNum type="arabicParenBoth"/>
            </a:pPr>
            <a:r>
              <a:rPr lang="en-US" sz="1200" b="0" kern="1200" dirty="0">
                <a:solidFill>
                  <a:schemeClr val="tx1"/>
                </a:solidFill>
                <a:latin typeface="Verdana"/>
                <a:ea typeface="+mn-ea"/>
                <a:cs typeface="Verdana"/>
              </a:rPr>
              <a:t>Covered entities:</a:t>
            </a:r>
            <a:r>
              <a:rPr lang="en-US" sz="1200" b="0" kern="1200" baseline="0" dirty="0">
                <a:solidFill>
                  <a:schemeClr val="tx1"/>
                </a:solidFill>
                <a:latin typeface="Verdana"/>
                <a:ea typeface="+mn-ea"/>
                <a:cs typeface="Verdana"/>
              </a:rPr>
              <a:t> </a:t>
            </a:r>
            <a:r>
              <a:rPr lang="en-US" sz="1200" b="0" kern="1200" dirty="0">
                <a:solidFill>
                  <a:schemeClr val="tx1"/>
                </a:solidFill>
                <a:latin typeface="Verdana"/>
                <a:ea typeface="+mn-ea"/>
                <a:cs typeface="Verdana"/>
              </a:rPr>
              <a:t>Health Plans, Health Care Providers,</a:t>
            </a:r>
            <a:r>
              <a:rPr lang="en-US" sz="1200" b="0" kern="1200" baseline="0" dirty="0">
                <a:solidFill>
                  <a:schemeClr val="tx1"/>
                </a:solidFill>
                <a:latin typeface="Verdana"/>
                <a:ea typeface="+mn-ea"/>
                <a:cs typeface="Verdana"/>
              </a:rPr>
              <a:t> </a:t>
            </a:r>
            <a:r>
              <a:rPr lang="en-US" sz="1200" b="0" kern="1200" dirty="0">
                <a:solidFill>
                  <a:schemeClr val="tx1"/>
                </a:solidFill>
                <a:latin typeface="Verdana"/>
                <a:ea typeface="+mn-ea"/>
                <a:cs typeface="Verdana"/>
              </a:rPr>
              <a:t>Health Care Clearinghouses.</a:t>
            </a:r>
            <a:r>
              <a:rPr lang="en-US" sz="1200" b="0" kern="1200" baseline="0" dirty="0">
                <a:solidFill>
                  <a:schemeClr val="tx1"/>
                </a:solidFill>
                <a:latin typeface="Verdana"/>
                <a:ea typeface="+mn-ea"/>
                <a:cs typeface="Verdana"/>
              </a:rPr>
              <a:t> </a:t>
            </a:r>
            <a:r>
              <a:rPr lang="en-US" sz="1200" b="0" kern="1200" dirty="0">
                <a:solidFill>
                  <a:schemeClr val="tx1"/>
                </a:solidFill>
                <a:latin typeface="Verdana"/>
                <a:ea typeface="+mn-ea"/>
                <a:cs typeface="Verdana"/>
              </a:rPr>
              <a:t>In addition, business associates (contractors) of covered entities must follow parts of the HIPAA regulations.</a:t>
            </a:r>
          </a:p>
          <a:p>
            <a:pPr marL="342900" indent="-342900">
              <a:buAutoNum type="arabicParenBoth"/>
            </a:pPr>
            <a:r>
              <a:rPr lang="en-US" sz="1200" b="0" kern="1200" baseline="0" dirty="0">
                <a:solidFill>
                  <a:schemeClr val="tx1"/>
                </a:solidFill>
                <a:latin typeface="Verdana"/>
                <a:ea typeface="+mn-ea"/>
                <a:cs typeface="Verdana"/>
              </a:rPr>
              <a:t>Privacy Rule: </a:t>
            </a:r>
            <a:r>
              <a:rPr lang="en-US" sz="1200" dirty="0">
                <a:latin typeface="Verdana"/>
                <a:cs typeface="Verdana"/>
              </a:rPr>
              <a:t>also gives patients rights over their health information, including rights to examine and obtain a copy of their health records, and to request corrections.</a:t>
            </a:r>
            <a:endParaRPr lang="en-US" sz="1200" b="0" baseline="0" dirty="0">
              <a:latin typeface="Verdana"/>
              <a:cs typeface="Verdana"/>
            </a:endParaRPr>
          </a:p>
          <a:p>
            <a:pPr marL="342900" indent="-342900">
              <a:buAutoNum type="arabicParenBoth"/>
            </a:pPr>
            <a:r>
              <a:rPr lang="en-US" sz="1200" kern="1200" dirty="0">
                <a:solidFill>
                  <a:schemeClr val="tx1"/>
                </a:solidFill>
                <a:latin typeface="Verdana"/>
                <a:ea typeface="+mn-ea"/>
                <a:cs typeface="Verdana"/>
              </a:rPr>
              <a:t>Security Rule: requires appropriate administrative, physical and technical safeguards to ensure the confidentiality, integrity, and security of electronic protected health information. </a:t>
            </a:r>
          </a:p>
          <a:p>
            <a:pPr marL="342900" indent="-342900">
              <a:buAutoNum type="arabicParenBoth"/>
            </a:pPr>
            <a:r>
              <a:rPr lang="en-US" sz="1200" dirty="0">
                <a:latin typeface="Verdana"/>
                <a:cs typeface="Verdana"/>
              </a:rPr>
              <a:t>Enforcement Rule – </a:t>
            </a:r>
            <a:r>
              <a:rPr lang="en-US" sz="1200" kern="1200" dirty="0">
                <a:solidFill>
                  <a:schemeClr val="tx1"/>
                </a:solidFill>
                <a:latin typeface="Verdana"/>
                <a:ea typeface="+mn-ea"/>
                <a:cs typeface="Verdana"/>
              </a:rPr>
              <a:t>The Health Information Technology for Economic and Clinical Health (HITECH) Act, 2009, promotes the adoption and meaningful use of health information technology and </a:t>
            </a:r>
            <a:r>
              <a:rPr lang="en-US" sz="1200" dirty="0">
                <a:latin typeface="Verdana"/>
                <a:cs typeface="Verdana"/>
              </a:rPr>
              <a:t>strengthens the civil and criminal enforcement of the HIPAA rules. </a:t>
            </a:r>
          </a:p>
        </p:txBody>
      </p:sp>
      <p:sp>
        <p:nvSpPr>
          <p:cNvPr id="4" name="Slide Number Placeholder 3"/>
          <p:cNvSpPr>
            <a:spLocks noGrp="1"/>
          </p:cNvSpPr>
          <p:nvPr>
            <p:ph type="sldNum" sz="quarter" idx="10"/>
          </p:nvPr>
        </p:nvSpPr>
        <p:spPr/>
        <p:txBody>
          <a:bodyPr/>
          <a:lstStyle/>
          <a:p>
            <a:fld id="{62FA223D-0791-B949-A37D-68CC0DDCFA78}" type="slidenum">
              <a:rPr lang="en-US" smtClean="0"/>
              <a:t>9</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dirty="0">
                <a:latin typeface="Verdana"/>
                <a:cs typeface="Verdana"/>
              </a:rPr>
              <a:t>Published in 2006 with revisions through 2016.</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dirty="0">
                <a:latin typeface="Verdana"/>
                <a:cs typeface="Verdana"/>
              </a:rPr>
              <a:t>Facilitates the broad adoption of consistent data security measures globally.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PCI DSS applies to </a:t>
            </a:r>
            <a:r>
              <a:rPr lang="en-US" sz="1200" b="1" i="1" kern="1200" dirty="0">
                <a:solidFill>
                  <a:schemeClr val="tx1"/>
                </a:solidFill>
                <a:effectLst/>
                <a:latin typeface="Verdana"/>
                <a:ea typeface="+mn-ea"/>
                <a:cs typeface="Verdana"/>
              </a:rPr>
              <a:t>all </a:t>
            </a:r>
            <a:r>
              <a:rPr lang="en-US" sz="1200" kern="1200" dirty="0">
                <a:solidFill>
                  <a:schemeClr val="tx1"/>
                </a:solidFill>
                <a:effectLst/>
                <a:latin typeface="Verdana"/>
                <a:ea typeface="+mn-ea"/>
                <a:cs typeface="Verdana"/>
              </a:rPr>
              <a:t>entities involved in payment card processing—including merchants, processors, acquirers, issuers, and service providers.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kern="1200" dirty="0">
                <a:solidFill>
                  <a:schemeClr val="tx1"/>
                </a:solidFill>
                <a:effectLst/>
                <a:latin typeface="Verdana"/>
                <a:ea typeface="+mn-ea"/>
                <a:cs typeface="Verdana"/>
              </a:rPr>
              <a:t>PCI DSS also applies to </a:t>
            </a:r>
            <a:r>
              <a:rPr lang="en-US" sz="1200" b="1" i="1" kern="1200" dirty="0">
                <a:solidFill>
                  <a:schemeClr val="tx1"/>
                </a:solidFill>
                <a:effectLst/>
                <a:latin typeface="Verdana"/>
                <a:ea typeface="+mn-ea"/>
                <a:cs typeface="Verdana"/>
              </a:rPr>
              <a:t>all </a:t>
            </a:r>
            <a:r>
              <a:rPr lang="en-US" sz="1200" kern="1200" dirty="0">
                <a:solidFill>
                  <a:schemeClr val="tx1"/>
                </a:solidFill>
                <a:effectLst/>
                <a:latin typeface="Verdana"/>
                <a:ea typeface="+mn-ea"/>
                <a:cs typeface="Verdana"/>
              </a:rPr>
              <a:t>other entities that store, process or transmit cardholder data and/or sensitive authentication data</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dirty="0">
                <a:latin typeface="Verdana"/>
                <a:cs typeface="Verdana"/>
              </a:rPr>
              <a:t>The PCI DSS objectives translates into 12 requirements for securing data in motion and at rest.</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10</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b="0" kern="1200" dirty="0">
                <a:solidFill>
                  <a:schemeClr val="tx1"/>
                </a:solidFill>
                <a:effectLst/>
                <a:latin typeface="Verdana"/>
                <a:ea typeface="+mn-ea"/>
                <a:cs typeface="Verdana"/>
              </a:rPr>
              <a:t>Passed 1974, amended</a:t>
            </a:r>
            <a:r>
              <a:rPr lang="en-US" sz="1200" b="0" kern="1200" baseline="0" dirty="0">
                <a:solidFill>
                  <a:schemeClr val="tx1"/>
                </a:solidFill>
                <a:effectLst/>
                <a:latin typeface="Verdana"/>
                <a:ea typeface="+mn-ea"/>
                <a:cs typeface="Verdana"/>
              </a:rPr>
              <a:t> 9 times 1974 - 2001</a:t>
            </a:r>
            <a:endParaRPr lang="en-US" sz="1200" b="0" kern="1200" dirty="0">
              <a:solidFill>
                <a:schemeClr val="tx1"/>
              </a:solidFill>
              <a:effectLst/>
              <a:latin typeface="Verdana"/>
              <a:ea typeface="+mn-ea"/>
              <a:cs typeface="Verdana"/>
            </a:endParaRP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b="0" kern="1200" dirty="0">
                <a:solidFill>
                  <a:schemeClr val="tx1"/>
                </a:solidFill>
                <a:effectLst/>
                <a:latin typeface="Verdana"/>
                <a:ea typeface="+mn-ea"/>
                <a:cs typeface="Verdana"/>
              </a:rPr>
              <a:t>Parents can still have access if the eligible student is a dependent for tax purposes. </a:t>
            </a:r>
          </a:p>
          <a:p>
            <a:pPr marL="342900" marR="0" indent="-342900" algn="l" defTabSz="457200" rtl="0" eaLnBrk="1" fontAlgn="auto" latinLnBrk="0" hangingPunct="1">
              <a:lnSpc>
                <a:spcPct val="100000"/>
              </a:lnSpc>
              <a:spcBef>
                <a:spcPts val="0"/>
              </a:spcBef>
              <a:spcAft>
                <a:spcPts val="0"/>
              </a:spcAft>
              <a:buClrTx/>
              <a:buSzTx/>
              <a:buFontTx/>
              <a:buAutoNum type="arabicParenBoth"/>
              <a:tabLst/>
              <a:defRPr/>
            </a:pPr>
            <a:r>
              <a:rPr lang="en-US" sz="1200" dirty="0">
                <a:latin typeface="Verdana"/>
                <a:cs typeface="Verdana"/>
              </a:rPr>
              <a:t>“Education records” is defined as those records, files, documents, and other materials which contain information directly related to a student; and are maintained by an educational agency or institution or by a person acting for such agency or institution.</a:t>
            </a:r>
          </a:p>
          <a:p>
            <a:pPr marL="342900" indent="-342900">
              <a:buAutoNum type="arabicParenBoth"/>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11</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12</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13</a:t>
            </a:fld>
            <a:endParaRPr lang="en-US" dirty="0"/>
          </a:p>
        </p:txBody>
      </p:sp>
    </p:spTree>
    <p:extLst>
      <p:ext uri="{BB962C8B-B14F-4D97-AF65-F5344CB8AC3E}">
        <p14:creationId xmlns:p14="http://schemas.microsoft.com/office/powerpoint/2010/main" val="2498349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sz="1400" dirty="0"/>
          </a:p>
        </p:txBody>
      </p:sp>
      <p:sp>
        <p:nvSpPr>
          <p:cNvPr id="4" name="Slide Number Placeholder 3"/>
          <p:cNvSpPr>
            <a:spLocks noGrp="1"/>
          </p:cNvSpPr>
          <p:nvPr>
            <p:ph type="sldNum" sz="quarter" idx="10"/>
          </p:nvPr>
        </p:nvSpPr>
        <p:spPr/>
        <p:txBody>
          <a:bodyPr/>
          <a:lstStyle/>
          <a:p>
            <a:fld id="{62FA223D-0791-B949-A37D-68CC0DDCFA78}" type="slidenum">
              <a:rPr lang="en-US" smtClean="0"/>
              <a:t>14</a:t>
            </a:fld>
            <a:endParaRPr lang="en-US" dirty="0"/>
          </a:p>
        </p:txBody>
      </p:sp>
    </p:spTree>
    <p:extLst>
      <p:ext uri="{BB962C8B-B14F-4D97-AF65-F5344CB8AC3E}">
        <p14:creationId xmlns:p14="http://schemas.microsoft.com/office/powerpoint/2010/main" val="2498349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4273748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169593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727323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7C3D7B5-B83E-7840-8B01-76312A1964D7}" type="datetimeFigureOut">
              <a:rPr lang="en-US" smtClean="0"/>
              <a:t>11/3/20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3420784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7C3D7B5-B83E-7840-8B01-76312A1964D7}" type="datetimeFigureOut">
              <a:rPr lang="en-US" smtClean="0"/>
              <a:t>11/3/20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139480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7C3D7B5-B83E-7840-8B01-76312A1964D7}" type="datetimeFigureOut">
              <a:rPr lang="en-US" smtClean="0"/>
              <a:t>11/3/20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054915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3D7B5-B83E-7840-8B01-76312A1964D7}" type="datetimeFigureOut">
              <a:rPr lang="en-US" smtClean="0"/>
              <a:t>11/3/20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3558326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3D7B5-B83E-7840-8B01-76312A1964D7}" type="datetimeFigureOut">
              <a:rPr lang="en-US" smtClean="0"/>
              <a:t>11/3/20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929264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7C3D7B5-B83E-7840-8B01-76312A1964D7}" type="datetimeFigureOut">
              <a:rPr lang="en-US" smtClean="0"/>
              <a:t>11/3/20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486578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2025876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C3D7B5-B83E-7840-8B01-76312A1964D7}" type="datetimeFigureOut">
              <a:rPr lang="en-US" smtClean="0"/>
              <a:t>11/3/20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4CCAAD-DDFE-4542-91EE-B3163A1266B1}" type="slidenum">
              <a:rPr lang="en-US" smtClean="0"/>
              <a:t>‹#›</a:t>
            </a:fld>
            <a:endParaRPr lang="en-US" dirty="0"/>
          </a:p>
        </p:txBody>
      </p:sp>
    </p:spTree>
    <p:extLst>
      <p:ext uri="{BB962C8B-B14F-4D97-AF65-F5344CB8AC3E}">
        <p14:creationId xmlns:p14="http://schemas.microsoft.com/office/powerpoint/2010/main" val="580878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C3D7B5-B83E-7840-8B01-76312A1964D7}" type="datetimeFigureOut">
              <a:rPr lang="en-US" smtClean="0"/>
              <a:t>11/3/20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4CCAAD-DDFE-4542-91EE-B3163A1266B1}" type="slidenum">
              <a:rPr lang="en-US" smtClean="0"/>
              <a:t>‹#›</a:t>
            </a:fld>
            <a:endParaRPr lang="en-US" dirty="0"/>
          </a:p>
        </p:txBody>
      </p:sp>
    </p:spTree>
    <p:extLst>
      <p:ext uri="{BB962C8B-B14F-4D97-AF65-F5344CB8AC3E}">
        <p14:creationId xmlns:p14="http://schemas.microsoft.com/office/powerpoint/2010/main" val="502775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www.gpo.gov/fdsys/pkg/PLAW-104publ191/pdf/PLAW-104publ191.pdf" TargetMode="External"/><Relationship Id="rId3" Type="http://schemas.openxmlformats.org/officeDocument/2006/relationships/hyperlink" Target="https://www.iso.org/obp/ui/%23iso:std:iso-iec:27000:ed-4:v1:en" TargetMode="External"/><Relationship Id="rId7" Type="http://schemas.openxmlformats.org/officeDocument/2006/relationships/hyperlink" Target="https://www.pcisecuritystandards.org/documents/PCI_DSS_v3-2.pdf?agreement=true&amp;time=1470701891969"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www.gpo.gov/fdsys/pkg/PLAW-106publ102/pdf/PLAW-106publ102.pdf" TargetMode="External"/><Relationship Id="rId5" Type="http://schemas.openxmlformats.org/officeDocument/2006/relationships/hyperlink" Target="http://legcounsel.house.gov/Comps/Sarbanes-oxley%20Act%20Of%202002.pdf" TargetMode="External"/><Relationship Id="rId4" Type="http://schemas.openxmlformats.org/officeDocument/2006/relationships/hyperlink" Target="http://csrc.nist.gov/publications/nistpubs/800-122/sp800-122.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www.ecfr.gov/cgi-bin/text-idx?rgn=div5&amp;node=34:1.1.1.1.33"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www.ftc.gov/reports/preliminary-ftc-staff-report-protecting-consumer-privacy-era-rapid-change-proposed-framework" TargetMode="External"/><Relationship Id="rId4" Type="http://schemas.openxmlformats.org/officeDocument/2006/relationships/hyperlink" Target="http://www.knowprivacy.org/report/KnowPrivacy_Final_Report.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E62"/>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1288271"/>
          </a:xfrm>
          <a:solidFill>
            <a:schemeClr val="bg1">
              <a:lumMod val="85000"/>
            </a:schemeClr>
          </a:solidFill>
          <a:effectLst>
            <a:outerShdw blurRad="50800" dist="38100" dir="2700000" algn="tl" rotWithShape="0">
              <a:srgbClr val="000000">
                <a:alpha val="43000"/>
              </a:srgbClr>
            </a:outerShdw>
          </a:effectLst>
        </p:spPr>
        <p:txBody>
          <a:bodyPr>
            <a:normAutofit/>
          </a:bodyPr>
          <a:lstStyle/>
          <a:p>
            <a:r>
              <a:rPr lang="en-US" sz="4000" dirty="0">
                <a:solidFill>
                  <a:srgbClr val="002E62"/>
                </a:solidFill>
                <a:latin typeface="Verdana"/>
                <a:cs typeface="Verdana"/>
              </a:rPr>
              <a:t>Regulated Data</a:t>
            </a:r>
          </a:p>
        </p:txBody>
      </p:sp>
      <p:sp>
        <p:nvSpPr>
          <p:cNvPr id="11" name="Rectangle 10"/>
          <p:cNvSpPr/>
          <p:nvPr/>
        </p:nvSpPr>
        <p:spPr>
          <a:xfrm>
            <a:off x="0" y="6295510"/>
            <a:ext cx="9144000" cy="328462"/>
          </a:xfrm>
          <a:prstGeom prst="rect">
            <a:avLst/>
          </a:prstGeom>
          <a:solidFill>
            <a:schemeClr val="bg1">
              <a:lumMod val="85000"/>
            </a:schemeClr>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2E62"/>
                </a:solidFill>
              </a:rPr>
              <a:t>    </a:t>
            </a:r>
            <a:r>
              <a:rPr lang="en-US" sz="1600" dirty="0">
                <a:solidFill>
                  <a:srgbClr val="002E62"/>
                </a:solidFill>
                <a:latin typeface="Verdana"/>
                <a:cs typeface="Verdana"/>
              </a:rPr>
              <a:t>CS 151</a:t>
            </a:r>
          </a:p>
        </p:txBody>
      </p:sp>
      <p:pic>
        <p:nvPicPr>
          <p:cNvPr id="3" name="Picture 2" descr="Nevada_N_blue_reverse.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812" y="2228538"/>
            <a:ext cx="2060377" cy="2060377"/>
          </a:xfrm>
          <a:prstGeom prst="rect">
            <a:avLst/>
          </a:prstGeom>
        </p:spPr>
      </p:pic>
      <p:sp>
        <p:nvSpPr>
          <p:cNvPr id="5" name="TextBox 4"/>
          <p:cNvSpPr txBox="1"/>
          <p:nvPr/>
        </p:nvSpPr>
        <p:spPr>
          <a:xfrm>
            <a:off x="2229486" y="4615448"/>
            <a:ext cx="4776484" cy="707886"/>
          </a:xfrm>
          <a:prstGeom prst="rect">
            <a:avLst/>
          </a:prstGeom>
          <a:noFill/>
        </p:spPr>
        <p:txBody>
          <a:bodyPr wrap="square" rtlCol="0">
            <a:spAutoFit/>
          </a:bodyPr>
          <a:lstStyle/>
          <a:p>
            <a:pPr algn="ctr"/>
            <a:r>
              <a:rPr lang="en-US" sz="2000" dirty="0">
                <a:solidFill>
                  <a:schemeClr val="bg1">
                    <a:lumMod val="85000"/>
                  </a:schemeClr>
                </a:solidFill>
                <a:latin typeface="Verdana"/>
                <a:cs typeface="Verdana"/>
              </a:rPr>
              <a:t>Nancy LaTourrette, CISSP</a:t>
            </a:r>
          </a:p>
          <a:p>
            <a:pPr algn="ctr"/>
            <a:r>
              <a:rPr lang="en-US" sz="2000" dirty="0">
                <a:solidFill>
                  <a:schemeClr val="bg1">
                    <a:lumMod val="85000"/>
                  </a:schemeClr>
                </a:solidFill>
                <a:latin typeface="Verdana"/>
                <a:cs typeface="Verdana"/>
              </a:rPr>
              <a:t>Computer Science &amp; Engineering</a:t>
            </a:r>
          </a:p>
        </p:txBody>
      </p:sp>
    </p:spTree>
    <p:extLst>
      <p:ext uri="{BB962C8B-B14F-4D97-AF65-F5344CB8AC3E}">
        <p14:creationId xmlns:p14="http://schemas.microsoft.com/office/powerpoint/2010/main" val="2055808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Privacy Laws &amp; Regulations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708981"/>
          </a:xfrm>
          <a:prstGeom prst="rect">
            <a:avLst/>
          </a:prstGeom>
          <a:noFill/>
        </p:spPr>
        <p:txBody>
          <a:bodyPr wrap="square" rtlCol="0">
            <a:spAutoFit/>
          </a:bodyPr>
          <a:lstStyle/>
          <a:p>
            <a:endParaRPr lang="en-US" sz="2200" dirty="0">
              <a:latin typeface="Verdana"/>
              <a:cs typeface="Verdana"/>
            </a:endParaRPr>
          </a:p>
          <a:p>
            <a:r>
              <a:rPr lang="en-US" sz="2200" i="1" dirty="0">
                <a:latin typeface="Verdana"/>
                <a:cs typeface="Verdana"/>
              </a:rPr>
              <a:t>“Although privacy often has been said to mean “the right to be let alone,”</a:t>
            </a:r>
            <a:r>
              <a:rPr lang="en-US" sz="1600" i="1" baseline="30000" dirty="0">
                <a:latin typeface="Verdana"/>
                <a:cs typeface="Verdana"/>
              </a:rPr>
              <a:t>1</a:t>
            </a:r>
            <a:r>
              <a:rPr lang="en-US" sz="2200" i="1" dirty="0">
                <a:latin typeface="Verdana"/>
                <a:cs typeface="Verdana"/>
              </a:rPr>
              <a:t> the application of this concept in modern times is by no means straightforward. Consumers live in a world where information about their purchasing behavior, online browsing habits, and other online and offline activity is collected, analyzed, combined, used, and shared, often instantaneously and invisibly.”</a:t>
            </a:r>
          </a:p>
          <a:p>
            <a:endParaRPr lang="en-US" sz="2200" i="1" dirty="0">
              <a:latin typeface="Verdana"/>
              <a:cs typeface="Verdana"/>
            </a:endParaRPr>
          </a:p>
          <a:p>
            <a:r>
              <a:rPr lang="en-US" sz="2100" dirty="0">
                <a:latin typeface="Verdana"/>
                <a:cs typeface="Verdana"/>
              </a:rPr>
              <a:t>        -- FTC Staff Report, Protecting Consumer Privacy In An                       		  Era Of Rapid Change, 2010</a:t>
            </a:r>
          </a:p>
          <a:p>
            <a:endParaRPr lang="en-US" sz="2200" dirty="0">
              <a:latin typeface="Verdana"/>
              <a:cs typeface="Verdana"/>
            </a:endParaRPr>
          </a:p>
          <a:p>
            <a:endParaRPr lang="en-US" sz="2200" dirty="0">
              <a:latin typeface="Verdana"/>
              <a:cs typeface="Verdana"/>
            </a:endParaRPr>
          </a:p>
          <a:p>
            <a:r>
              <a:rPr lang="en-US" sz="1600" baseline="30000" dirty="0"/>
              <a:t>1 </a:t>
            </a:r>
            <a:r>
              <a:rPr lang="en-US" sz="1600" dirty="0"/>
              <a:t>Samuel D. Warren &amp; Louis D. Brandeis, </a:t>
            </a:r>
            <a:r>
              <a:rPr lang="en-US" sz="1600" i="1" dirty="0"/>
              <a:t>The Right to Privacy</a:t>
            </a:r>
            <a:r>
              <a:rPr lang="en-US" sz="1600" dirty="0"/>
              <a:t>, 4 Harv. L. Rev. 193, 193 (1890). </a:t>
            </a:r>
          </a:p>
        </p:txBody>
      </p:sp>
    </p:spTree>
    <p:extLst>
      <p:ext uri="{BB962C8B-B14F-4D97-AF65-F5344CB8AC3E}">
        <p14:creationId xmlns:p14="http://schemas.microsoft.com/office/powerpoint/2010/main" val="2802225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Data Regulations &amp; Standards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5001369"/>
          </a:xfrm>
          <a:prstGeom prst="rect">
            <a:avLst/>
          </a:prstGeom>
          <a:noFill/>
        </p:spPr>
        <p:txBody>
          <a:bodyPr wrap="square" rtlCol="0">
            <a:spAutoFit/>
          </a:bodyPr>
          <a:lstStyle/>
          <a:p>
            <a:r>
              <a:rPr lang="en-US" sz="2200" i="1" dirty="0">
                <a:latin typeface="Verdana"/>
                <a:cs typeface="Verdana"/>
              </a:rPr>
              <a:t>Privacy laws and regulations pertain to the rights and obligations of individuals and organizations in regards to data assets. </a:t>
            </a:r>
          </a:p>
          <a:p>
            <a:endParaRPr lang="en-US" sz="1600" dirty="0">
              <a:latin typeface="Verdana"/>
              <a:cs typeface="Verdana"/>
            </a:endParaRPr>
          </a:p>
          <a:p>
            <a:pPr marL="342900" indent="-342900">
              <a:buFont typeface="Arial"/>
              <a:buChar char="•"/>
            </a:pPr>
            <a:r>
              <a:rPr lang="en-US" sz="2100" dirty="0">
                <a:latin typeface="Verdana"/>
                <a:cs typeface="Verdana"/>
              </a:rPr>
              <a:t>The threat, and reality, of security breaches has led to laws, regulations, and standards to prevent the the loss or misuse of personal data.</a:t>
            </a:r>
          </a:p>
          <a:p>
            <a:endParaRPr lang="en-US" sz="1200" dirty="0">
              <a:latin typeface="Verdana"/>
              <a:cs typeface="Verdana"/>
            </a:endParaRPr>
          </a:p>
          <a:p>
            <a:pPr marL="342900" indent="-342900">
              <a:buFont typeface="Arial"/>
              <a:buChar char="•"/>
            </a:pPr>
            <a:r>
              <a:rPr lang="en-US" sz="2100" dirty="0">
                <a:latin typeface="Verdana"/>
                <a:cs typeface="Verdana"/>
              </a:rPr>
              <a:t>Organizations must comply with regulations to </a:t>
            </a:r>
            <a:r>
              <a:rPr lang="en-US" sz="2100" dirty="0">
                <a:solidFill>
                  <a:srgbClr val="FF0000"/>
                </a:solidFill>
                <a:latin typeface="Verdana"/>
                <a:cs typeface="Verdana"/>
              </a:rPr>
              <a:t>protect the data assets collected, shared, stored or processed</a:t>
            </a:r>
            <a:r>
              <a:rPr lang="en-US" sz="2100" dirty="0">
                <a:latin typeface="Verdana"/>
                <a:cs typeface="Verdana"/>
              </a:rPr>
              <a:t>.</a:t>
            </a:r>
          </a:p>
          <a:p>
            <a:endParaRPr lang="en-US" sz="1200" dirty="0">
              <a:latin typeface="Verdana"/>
              <a:cs typeface="Verdana"/>
            </a:endParaRPr>
          </a:p>
          <a:p>
            <a:pPr marL="342900" indent="-342900">
              <a:buFont typeface="Arial"/>
              <a:buChar char="•"/>
            </a:pPr>
            <a:r>
              <a:rPr lang="en-US" sz="2100" dirty="0">
                <a:latin typeface="Verdana"/>
                <a:cs typeface="Verdana"/>
              </a:rPr>
              <a:t>Organizations must be familiar with the laws and regulations protecting these data assets. </a:t>
            </a:r>
          </a:p>
          <a:p>
            <a:endParaRPr lang="en-US" sz="1200" dirty="0">
              <a:latin typeface="Verdana"/>
              <a:cs typeface="Verdana"/>
            </a:endParaRPr>
          </a:p>
          <a:p>
            <a:pPr marL="342900" indent="-342900">
              <a:buFont typeface="Arial"/>
              <a:buChar char="•"/>
            </a:pPr>
            <a:r>
              <a:rPr lang="en-US" sz="2100" dirty="0">
                <a:latin typeface="Verdana"/>
                <a:cs typeface="Verdana"/>
              </a:rPr>
              <a:t>Several types of </a:t>
            </a:r>
            <a:r>
              <a:rPr lang="en-US" sz="2100" dirty="0">
                <a:solidFill>
                  <a:srgbClr val="FF0000"/>
                </a:solidFill>
                <a:latin typeface="Verdana"/>
                <a:cs typeface="Verdana"/>
              </a:rPr>
              <a:t>data have been identified and classified for special protection</a:t>
            </a:r>
            <a:r>
              <a:rPr lang="en-US" sz="2100" i="1" dirty="0">
                <a:latin typeface="Verdana"/>
                <a:cs typeface="Verdana"/>
              </a:rPr>
              <a:t>. </a:t>
            </a:r>
            <a:endParaRPr lang="en-US" sz="2100" dirty="0"/>
          </a:p>
        </p:txBody>
      </p:sp>
    </p:spTree>
    <p:extLst>
      <p:ext uri="{BB962C8B-B14F-4D97-AF65-F5344CB8AC3E}">
        <p14:creationId xmlns:p14="http://schemas.microsoft.com/office/powerpoint/2010/main" val="1108147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Regulated Data Classifications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903152" cy="4662815"/>
          </a:xfrm>
          <a:prstGeom prst="rect">
            <a:avLst/>
          </a:prstGeom>
          <a:noFill/>
        </p:spPr>
        <p:txBody>
          <a:bodyPr wrap="square" rtlCol="0">
            <a:spAutoFit/>
          </a:bodyPr>
          <a:lstStyle/>
          <a:p>
            <a:endParaRPr lang="en-US" dirty="0">
              <a:latin typeface="Verdana"/>
              <a:cs typeface="Verdana"/>
            </a:endParaRPr>
          </a:p>
          <a:p>
            <a:r>
              <a:rPr lang="en-US" sz="2200" i="1" dirty="0">
                <a:latin typeface="Verdana"/>
                <a:cs typeface="Verdana"/>
              </a:rPr>
              <a:t>Important data classifications, applicable laws and standards:</a:t>
            </a:r>
          </a:p>
          <a:p>
            <a:endParaRPr lang="en-US" sz="2000" dirty="0">
              <a:latin typeface="Verdana"/>
              <a:cs typeface="Verdana"/>
            </a:endParaRPr>
          </a:p>
          <a:p>
            <a:pPr marL="342900" indent="-342900">
              <a:buFont typeface="Arial"/>
              <a:buChar char="•"/>
            </a:pPr>
            <a:r>
              <a:rPr lang="en-US" sz="2100" dirty="0">
                <a:solidFill>
                  <a:srgbClr val="1F497D"/>
                </a:solidFill>
                <a:latin typeface="Verdana"/>
                <a:cs typeface="Verdana"/>
              </a:rPr>
              <a:t>Personally Identifiable Information </a:t>
            </a:r>
            <a:r>
              <a:rPr lang="en-US" sz="2100" dirty="0">
                <a:solidFill>
                  <a:srgbClr val="FF0000"/>
                </a:solidFill>
                <a:latin typeface="Verdana"/>
                <a:cs typeface="Verdana"/>
              </a:rPr>
              <a:t>(PII)</a:t>
            </a:r>
            <a:r>
              <a:rPr lang="en-US" sz="2100" dirty="0">
                <a:solidFill>
                  <a:srgbClr val="1F497D"/>
                </a:solidFill>
                <a:latin typeface="Verdana"/>
                <a:cs typeface="Verdana"/>
              </a:rPr>
              <a:t> </a:t>
            </a:r>
          </a:p>
          <a:p>
            <a:pPr marL="800100" lvl="1" indent="-342900">
              <a:buSzPct val="50000"/>
              <a:buFont typeface="Wingdings" charset="2"/>
              <a:buChar char=""/>
            </a:pPr>
            <a:r>
              <a:rPr lang="en-US" sz="2100" dirty="0">
                <a:latin typeface="Verdana"/>
                <a:cs typeface="Verdana"/>
              </a:rPr>
              <a:t>Sarbanes-Oxley and Gramm-Leach-Bliley Acts</a:t>
            </a:r>
          </a:p>
          <a:p>
            <a:pPr lvl="1">
              <a:buSzPct val="50000"/>
            </a:pPr>
            <a:endParaRPr lang="en-US" sz="1600" dirty="0">
              <a:latin typeface="Verdana"/>
              <a:cs typeface="Verdana"/>
            </a:endParaRPr>
          </a:p>
          <a:p>
            <a:pPr marL="342900" indent="-342900">
              <a:buFont typeface="Arial"/>
              <a:buChar char="•"/>
            </a:pPr>
            <a:r>
              <a:rPr lang="en-US" sz="2100" dirty="0">
                <a:solidFill>
                  <a:srgbClr val="1F497D"/>
                </a:solidFill>
                <a:latin typeface="Verdana"/>
                <a:cs typeface="Verdana"/>
              </a:rPr>
              <a:t>Protected Health Information </a:t>
            </a:r>
            <a:r>
              <a:rPr lang="en-US" sz="2100" dirty="0">
                <a:solidFill>
                  <a:srgbClr val="FF0000"/>
                </a:solidFill>
                <a:latin typeface="Verdana"/>
                <a:cs typeface="Verdana"/>
              </a:rPr>
              <a:t>(PHI)</a:t>
            </a:r>
          </a:p>
          <a:p>
            <a:pPr marL="800100" lvl="1" indent="-342900">
              <a:buSzPct val="50000"/>
              <a:buFont typeface="Wingdings" charset="2"/>
              <a:buChar char="²"/>
            </a:pPr>
            <a:r>
              <a:rPr lang="en-US" sz="2100" dirty="0">
                <a:latin typeface="Verdana"/>
                <a:cs typeface="Verdana"/>
              </a:rPr>
              <a:t>Health Insurance Portability &amp; Accountability Act </a:t>
            </a:r>
            <a:r>
              <a:rPr lang="en-US" sz="2100" dirty="0">
                <a:solidFill>
                  <a:srgbClr val="FF0000"/>
                </a:solidFill>
                <a:latin typeface="Verdana"/>
                <a:cs typeface="Verdana"/>
              </a:rPr>
              <a:t>(HIPAA)</a:t>
            </a:r>
          </a:p>
          <a:p>
            <a:pPr lvl="1">
              <a:buSzPct val="50000"/>
            </a:pPr>
            <a:endParaRPr lang="en-US" sz="1600" dirty="0">
              <a:latin typeface="Verdana"/>
              <a:cs typeface="Verdana"/>
            </a:endParaRPr>
          </a:p>
          <a:p>
            <a:pPr marL="342900" indent="-342900">
              <a:buFont typeface="Arial"/>
              <a:buChar char="•"/>
            </a:pPr>
            <a:r>
              <a:rPr lang="en-US" sz="2100" dirty="0">
                <a:solidFill>
                  <a:srgbClr val="1F497D"/>
                </a:solidFill>
                <a:latin typeface="Verdana"/>
                <a:cs typeface="Verdana"/>
              </a:rPr>
              <a:t>Payment Card Industry </a:t>
            </a:r>
            <a:r>
              <a:rPr lang="en-US" sz="2100" dirty="0">
                <a:solidFill>
                  <a:schemeClr val="tx1">
                    <a:lumMod val="50000"/>
                    <a:lumOff val="50000"/>
                  </a:schemeClr>
                </a:solidFill>
                <a:latin typeface="Verdana"/>
                <a:cs typeface="Verdana"/>
              </a:rPr>
              <a:t>[Data] </a:t>
            </a:r>
            <a:r>
              <a:rPr lang="en-US" sz="2100" dirty="0">
                <a:solidFill>
                  <a:srgbClr val="FF0000"/>
                </a:solidFill>
                <a:latin typeface="Verdana"/>
                <a:cs typeface="Verdana"/>
              </a:rPr>
              <a:t>(PCI)</a:t>
            </a:r>
          </a:p>
          <a:p>
            <a:pPr marL="800100" lvl="1" indent="-342900">
              <a:buSzPct val="50000"/>
              <a:buFont typeface="Wingdings" charset="2"/>
              <a:buChar char="²"/>
            </a:pPr>
            <a:r>
              <a:rPr lang="en-US" sz="2100" dirty="0">
                <a:solidFill>
                  <a:srgbClr val="000000"/>
                </a:solidFill>
                <a:latin typeface="Verdana"/>
                <a:cs typeface="Verdana"/>
              </a:rPr>
              <a:t>Payment Card Industry Data Security Standard </a:t>
            </a:r>
            <a:r>
              <a:rPr lang="en-US" sz="2100" dirty="0">
                <a:solidFill>
                  <a:srgbClr val="FF0000"/>
                </a:solidFill>
                <a:latin typeface="Verdana"/>
                <a:cs typeface="Verdana"/>
              </a:rPr>
              <a:t>(PCI DSS)</a:t>
            </a:r>
          </a:p>
          <a:p>
            <a:pPr lvl="1">
              <a:buSzPct val="50000"/>
            </a:pPr>
            <a:endParaRPr lang="en-US" sz="1600" dirty="0">
              <a:solidFill>
                <a:srgbClr val="000000"/>
              </a:solidFill>
              <a:latin typeface="Verdana"/>
              <a:cs typeface="Verdana"/>
            </a:endParaRPr>
          </a:p>
          <a:p>
            <a:pPr marL="342900" indent="-342900">
              <a:buSzPct val="100000"/>
              <a:buFont typeface="Arial"/>
              <a:buChar char="•"/>
            </a:pPr>
            <a:r>
              <a:rPr lang="en-US" sz="2100" dirty="0">
                <a:solidFill>
                  <a:srgbClr val="000000"/>
                </a:solidFill>
                <a:latin typeface="Verdana"/>
                <a:cs typeface="Verdana"/>
              </a:rPr>
              <a:t> </a:t>
            </a:r>
            <a:r>
              <a:rPr lang="en-US" sz="2100" dirty="0">
                <a:solidFill>
                  <a:srgbClr val="1F497D"/>
                </a:solidFill>
                <a:latin typeface="Verdana"/>
                <a:cs typeface="Verdana"/>
              </a:rPr>
              <a:t>Student Education Records </a:t>
            </a:r>
          </a:p>
          <a:p>
            <a:pPr marL="800100" lvl="1" indent="-342900">
              <a:buSzPct val="50000"/>
              <a:buFont typeface="Wingdings" charset="2"/>
              <a:buChar char="²"/>
            </a:pPr>
            <a:r>
              <a:rPr lang="en-US" sz="2100" dirty="0">
                <a:solidFill>
                  <a:srgbClr val="000000"/>
                </a:solidFill>
                <a:latin typeface="Verdana"/>
                <a:cs typeface="Verdana"/>
              </a:rPr>
              <a:t>The Federal Family Educational Rights and Privacy Act of 1974 </a:t>
            </a:r>
            <a:r>
              <a:rPr lang="en-US" sz="2100" dirty="0">
                <a:solidFill>
                  <a:srgbClr val="FF0000"/>
                </a:solidFill>
                <a:latin typeface="Verdana"/>
                <a:cs typeface="Verdana"/>
              </a:rPr>
              <a:t>(FERPA)</a:t>
            </a:r>
          </a:p>
        </p:txBody>
      </p:sp>
    </p:spTree>
    <p:extLst>
      <p:ext uri="{BB962C8B-B14F-4D97-AF65-F5344CB8AC3E}">
        <p14:creationId xmlns:p14="http://schemas.microsoft.com/office/powerpoint/2010/main" val="3162964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Data Protection Standards (ISO)</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601260"/>
          </a:xfrm>
          <a:prstGeom prst="rect">
            <a:avLst/>
          </a:prstGeom>
          <a:noFill/>
        </p:spPr>
        <p:txBody>
          <a:bodyPr wrap="square" rtlCol="0">
            <a:spAutoFit/>
          </a:bodyPr>
          <a:lstStyle/>
          <a:p>
            <a:r>
              <a:rPr lang="en-US" sz="2200" i="1" dirty="0">
                <a:solidFill>
                  <a:srgbClr val="1F497D"/>
                </a:solidFill>
                <a:latin typeface="Verdana"/>
                <a:cs typeface="Verdana"/>
              </a:rPr>
              <a:t>The ISO 27000 </a:t>
            </a:r>
            <a:r>
              <a:rPr lang="en-US" sz="2200" i="1" dirty="0">
                <a:latin typeface="Verdana"/>
                <a:cs typeface="Verdana"/>
              </a:rPr>
              <a:t>family of standards helps organizations manage the security of information assets.</a:t>
            </a:r>
          </a:p>
          <a:p>
            <a:endParaRPr lang="en-US" sz="2200" dirty="0">
              <a:latin typeface="Verdana"/>
              <a:cs typeface="Verdana"/>
            </a:endParaRPr>
          </a:p>
          <a:p>
            <a:pPr marL="342900" indent="-342900">
              <a:buFont typeface="Arial"/>
              <a:buChar char="•"/>
            </a:pPr>
            <a:r>
              <a:rPr lang="en-US" sz="2100" dirty="0">
                <a:solidFill>
                  <a:srgbClr val="FF0000"/>
                </a:solidFill>
                <a:latin typeface="Verdana"/>
                <a:cs typeface="Verdana"/>
              </a:rPr>
              <a:t>Information assets</a:t>
            </a:r>
            <a:r>
              <a:rPr lang="en-US" sz="2100" dirty="0">
                <a:latin typeface="Verdana"/>
                <a:cs typeface="Verdana"/>
              </a:rPr>
              <a:t> include financial information, intellectual property, employee details or information entrusted by third parties.</a:t>
            </a:r>
          </a:p>
          <a:p>
            <a:endParaRPr lang="en-US" sz="1600" dirty="0">
              <a:latin typeface="Verdana"/>
              <a:cs typeface="Verdana"/>
            </a:endParaRPr>
          </a:p>
          <a:p>
            <a:pPr marL="342900" indent="-342900">
              <a:buFont typeface="Arial"/>
              <a:buChar char="•"/>
            </a:pPr>
            <a:r>
              <a:rPr lang="en-US" sz="2100" dirty="0">
                <a:latin typeface="Verdana"/>
                <a:cs typeface="Verdana"/>
              </a:rPr>
              <a:t>Standards range from </a:t>
            </a:r>
            <a:r>
              <a:rPr lang="en-US" sz="2100" dirty="0">
                <a:solidFill>
                  <a:srgbClr val="FF0000"/>
                </a:solidFill>
                <a:latin typeface="Verdana"/>
                <a:cs typeface="Verdana"/>
              </a:rPr>
              <a:t>requirements</a:t>
            </a:r>
            <a:r>
              <a:rPr lang="en-US" sz="2100" dirty="0">
                <a:latin typeface="Verdana"/>
                <a:cs typeface="Verdana"/>
              </a:rPr>
              <a:t> for information security management systems, controls, measurement and risk management to auditing. </a:t>
            </a:r>
          </a:p>
          <a:p>
            <a:endParaRPr lang="en-US" sz="1600" dirty="0">
              <a:latin typeface="Verdana"/>
              <a:cs typeface="Verdana"/>
            </a:endParaRPr>
          </a:p>
          <a:p>
            <a:pPr marL="342900" indent="-342900">
              <a:buFont typeface="Arial"/>
              <a:buChar char="•"/>
            </a:pPr>
            <a:r>
              <a:rPr lang="en-US" sz="2100" dirty="0">
                <a:latin typeface="Verdana"/>
                <a:cs typeface="Verdana"/>
              </a:rPr>
              <a:t>The 27000 group of standards </a:t>
            </a:r>
            <a:r>
              <a:rPr lang="en-US" sz="2100" dirty="0">
                <a:solidFill>
                  <a:srgbClr val="FF0000"/>
                </a:solidFill>
                <a:latin typeface="Verdana"/>
                <a:cs typeface="Verdana"/>
              </a:rPr>
              <a:t>also addresses specific industries</a:t>
            </a:r>
            <a:r>
              <a:rPr lang="en-US" sz="2100" dirty="0">
                <a:latin typeface="Verdana"/>
                <a:cs typeface="Verdana"/>
              </a:rPr>
              <a:t> and related data such as energy utilities, cloud services and health informatics.</a:t>
            </a:r>
          </a:p>
        </p:txBody>
      </p:sp>
    </p:spTree>
    <p:extLst>
      <p:ext uri="{BB962C8B-B14F-4D97-AF65-F5344CB8AC3E}">
        <p14:creationId xmlns:p14="http://schemas.microsoft.com/office/powerpoint/2010/main" val="111146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Data Protection Standards (NIST)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dirty="0">
                <a:solidFill>
                  <a:schemeClr val="bg1">
                    <a:lumMod val="85000"/>
                  </a:schemeClr>
                </a:solidFill>
                <a:latin typeface="Verdana"/>
                <a:cs typeface="Verdana"/>
              </a:rPr>
              <a:t>CS 151</a:t>
            </a:r>
          </a:p>
        </p:txBody>
      </p:sp>
      <p:sp>
        <p:nvSpPr>
          <p:cNvPr id="2" name="TextBox 1"/>
          <p:cNvSpPr txBox="1"/>
          <p:nvPr/>
        </p:nvSpPr>
        <p:spPr>
          <a:xfrm>
            <a:off x="240848" y="1368589"/>
            <a:ext cx="8659567" cy="4308872"/>
          </a:xfrm>
          <a:prstGeom prst="rect">
            <a:avLst/>
          </a:prstGeom>
          <a:noFill/>
        </p:spPr>
        <p:txBody>
          <a:bodyPr wrap="square" rtlCol="0">
            <a:spAutoFit/>
          </a:bodyPr>
          <a:lstStyle/>
          <a:p>
            <a:r>
              <a:rPr lang="en-US" sz="2200" i="1" dirty="0">
                <a:solidFill>
                  <a:srgbClr val="1F497D"/>
                </a:solidFill>
                <a:latin typeface="Verdana"/>
                <a:cs typeface="Verdana"/>
              </a:rPr>
              <a:t>NIST Special Publication 800-122 </a:t>
            </a:r>
            <a:r>
              <a:rPr lang="en-US" sz="2200" i="1" dirty="0">
                <a:latin typeface="Verdana"/>
                <a:cs typeface="Verdana"/>
              </a:rPr>
              <a:t>– provides guidelines for a risk-based approach to protecting the confidentiality of Personally Identifiable Information (PII). </a:t>
            </a:r>
          </a:p>
          <a:p>
            <a:endParaRPr lang="en-US" dirty="0">
              <a:latin typeface="Verdana"/>
              <a:cs typeface="Verdana"/>
            </a:endParaRPr>
          </a:p>
          <a:p>
            <a:pPr marL="342900" indent="-342900">
              <a:buFont typeface="Arial"/>
              <a:buChar char="•"/>
            </a:pPr>
            <a:r>
              <a:rPr lang="en-US" sz="2100" dirty="0">
                <a:solidFill>
                  <a:srgbClr val="FF0000"/>
                </a:solidFill>
                <a:latin typeface="Verdana"/>
                <a:cs typeface="Verdana"/>
              </a:rPr>
              <a:t>Identify</a:t>
            </a:r>
            <a:r>
              <a:rPr lang="en-US" sz="2100" dirty="0">
                <a:latin typeface="Verdana"/>
                <a:cs typeface="Verdana"/>
              </a:rPr>
              <a:t> all PII residing in an organization’s environment.</a:t>
            </a:r>
          </a:p>
          <a:p>
            <a:endParaRPr lang="en-US" sz="1600" dirty="0">
              <a:latin typeface="Verdana"/>
              <a:cs typeface="Verdana"/>
            </a:endParaRPr>
          </a:p>
          <a:p>
            <a:pPr marL="342900" indent="-342900">
              <a:buFont typeface="Arial"/>
              <a:buChar char="•"/>
            </a:pPr>
            <a:r>
              <a:rPr lang="en-US" sz="2100" dirty="0">
                <a:solidFill>
                  <a:srgbClr val="FF0000"/>
                </a:solidFill>
                <a:latin typeface="Verdana"/>
                <a:cs typeface="Verdana"/>
              </a:rPr>
              <a:t>Minimize</a:t>
            </a:r>
            <a:r>
              <a:rPr lang="en-US" sz="2100" dirty="0">
                <a:latin typeface="Verdana"/>
                <a:cs typeface="Verdana"/>
              </a:rPr>
              <a:t> the use, collection, and retention of PII. </a:t>
            </a:r>
          </a:p>
          <a:p>
            <a:endParaRPr lang="en-US" sz="1600" dirty="0">
              <a:latin typeface="Verdana"/>
              <a:cs typeface="Verdana"/>
            </a:endParaRPr>
          </a:p>
          <a:p>
            <a:pPr marL="342900" indent="-342900">
              <a:buFont typeface="Arial"/>
              <a:buChar char="•"/>
            </a:pPr>
            <a:r>
              <a:rPr lang="en-US" sz="2100" dirty="0">
                <a:solidFill>
                  <a:srgbClr val="FF0000"/>
                </a:solidFill>
                <a:latin typeface="Verdana"/>
                <a:cs typeface="Verdana"/>
              </a:rPr>
              <a:t>Categorize</a:t>
            </a:r>
            <a:r>
              <a:rPr lang="en-US" sz="2100" dirty="0">
                <a:latin typeface="Verdana"/>
                <a:cs typeface="Verdana"/>
              </a:rPr>
              <a:t> PII by confidentiality impact level and apply appropriate safeguards based on that level. </a:t>
            </a:r>
          </a:p>
          <a:p>
            <a:endParaRPr lang="en-US" sz="1600" dirty="0">
              <a:latin typeface="Verdana"/>
              <a:cs typeface="Verdana"/>
            </a:endParaRPr>
          </a:p>
          <a:p>
            <a:pPr marL="342900" indent="-342900">
              <a:buFont typeface="Arial"/>
              <a:buChar char="•"/>
            </a:pPr>
            <a:r>
              <a:rPr lang="en-US" sz="2100" dirty="0">
                <a:solidFill>
                  <a:srgbClr val="FF0000"/>
                </a:solidFill>
                <a:latin typeface="Verdana"/>
                <a:cs typeface="Verdana"/>
              </a:rPr>
              <a:t>Develop</a:t>
            </a:r>
            <a:r>
              <a:rPr lang="en-US" sz="2100" dirty="0">
                <a:latin typeface="Verdana"/>
                <a:cs typeface="Verdana"/>
              </a:rPr>
              <a:t> an incident response plan to handle PII breaches. </a:t>
            </a:r>
          </a:p>
          <a:p>
            <a:endParaRPr lang="en-US" sz="1600" dirty="0">
              <a:latin typeface="Verdana"/>
              <a:cs typeface="Verdana"/>
            </a:endParaRPr>
          </a:p>
          <a:p>
            <a:pPr marL="342900" indent="-342900">
              <a:buFont typeface="Arial"/>
              <a:buChar char="•"/>
            </a:pPr>
            <a:r>
              <a:rPr lang="en-US" sz="2100" dirty="0">
                <a:solidFill>
                  <a:srgbClr val="FF0000"/>
                </a:solidFill>
                <a:latin typeface="Verdana"/>
                <a:cs typeface="Verdana"/>
              </a:rPr>
              <a:t>Coordination</a:t>
            </a:r>
            <a:r>
              <a:rPr lang="en-US" sz="2100" dirty="0">
                <a:latin typeface="Verdana"/>
                <a:cs typeface="Verdana"/>
              </a:rPr>
              <a:t> among C-level officers regarding all PII issues.</a:t>
            </a:r>
          </a:p>
        </p:txBody>
      </p:sp>
    </p:spTree>
    <p:extLst>
      <p:ext uri="{BB962C8B-B14F-4D97-AF65-F5344CB8AC3E}">
        <p14:creationId xmlns:p14="http://schemas.microsoft.com/office/powerpoint/2010/main" val="3601460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Sarbanes-Oxley Act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616648"/>
          </a:xfrm>
          <a:prstGeom prst="rect">
            <a:avLst/>
          </a:prstGeom>
          <a:noFill/>
        </p:spPr>
        <p:txBody>
          <a:bodyPr wrap="square" rtlCol="0">
            <a:spAutoFit/>
          </a:bodyPr>
          <a:lstStyle/>
          <a:p>
            <a:endParaRPr lang="en-US" sz="1600" i="1" dirty="0">
              <a:latin typeface="Verdana"/>
              <a:cs typeface="Verdana"/>
            </a:endParaRPr>
          </a:p>
          <a:p>
            <a:r>
              <a:rPr lang="en-US" sz="2200" i="1" dirty="0">
                <a:solidFill>
                  <a:srgbClr val="1F497D"/>
                </a:solidFill>
                <a:latin typeface="Verdana"/>
                <a:cs typeface="Verdana"/>
              </a:rPr>
              <a:t>The Sarbanes-Oxley Act of 2002 </a:t>
            </a:r>
            <a:r>
              <a:rPr lang="en-US" sz="2200" i="1" dirty="0">
                <a:latin typeface="Verdana"/>
                <a:cs typeface="Verdana"/>
              </a:rPr>
              <a:t>is a federal law which establishes </a:t>
            </a:r>
            <a:r>
              <a:rPr lang="en-US" sz="2200" i="1" dirty="0">
                <a:solidFill>
                  <a:srgbClr val="FF0000"/>
                </a:solidFill>
                <a:latin typeface="Verdana"/>
                <a:cs typeface="Verdana"/>
              </a:rPr>
              <a:t>requirements for financial systems</a:t>
            </a:r>
            <a:r>
              <a:rPr lang="en-US" sz="2200" i="1" dirty="0">
                <a:latin typeface="Verdana"/>
                <a:cs typeface="Verdana"/>
              </a:rPr>
              <a:t>, to deter fraud and increase corporate accountability.  </a:t>
            </a:r>
          </a:p>
          <a:p>
            <a:endParaRPr lang="en-US" sz="1600" dirty="0">
              <a:latin typeface="Verdana"/>
              <a:cs typeface="Verdana"/>
            </a:endParaRPr>
          </a:p>
          <a:p>
            <a:pPr marL="342900" indent="-342900">
              <a:buFont typeface="Arial"/>
              <a:buChar char="•"/>
            </a:pPr>
            <a:r>
              <a:rPr lang="en-US" sz="2100" dirty="0">
                <a:latin typeface="Verdana"/>
                <a:cs typeface="Verdana"/>
              </a:rPr>
              <a:t>Sections 302 and 404 of Sarbanes-Oxley indirectly force the scrutiny of information security controls for compliance.</a:t>
            </a:r>
          </a:p>
          <a:p>
            <a:endParaRPr lang="en-US" sz="1400" dirty="0">
              <a:latin typeface="Verdana"/>
              <a:cs typeface="Verdana"/>
            </a:endParaRPr>
          </a:p>
          <a:p>
            <a:pPr marL="800100" lvl="1" indent="-342900">
              <a:buSzPct val="50000"/>
              <a:buFont typeface="Wingdings" charset="2"/>
              <a:buChar char="²"/>
            </a:pPr>
            <a:r>
              <a:rPr lang="en-US" sz="2100" dirty="0">
                <a:solidFill>
                  <a:srgbClr val="1F497D"/>
                </a:solidFill>
                <a:latin typeface="Verdana"/>
                <a:cs typeface="Verdana"/>
              </a:rPr>
              <a:t>Section 302 </a:t>
            </a:r>
            <a:r>
              <a:rPr lang="en-US" sz="2100" dirty="0">
                <a:latin typeface="Verdana"/>
                <a:cs typeface="Verdana"/>
              </a:rPr>
              <a:t>- compliance requirements to </a:t>
            </a:r>
            <a:r>
              <a:rPr lang="en-US" sz="2100" dirty="0">
                <a:solidFill>
                  <a:srgbClr val="FF0000"/>
                </a:solidFill>
                <a:latin typeface="Verdana"/>
                <a:cs typeface="Verdana"/>
              </a:rPr>
              <a:t>list all deficiencies</a:t>
            </a:r>
            <a:r>
              <a:rPr lang="en-US" sz="2100" dirty="0">
                <a:latin typeface="Verdana"/>
                <a:cs typeface="Verdana"/>
              </a:rPr>
              <a:t> in internal controls and information; </a:t>
            </a:r>
            <a:r>
              <a:rPr lang="en-US" sz="2100" dirty="0">
                <a:solidFill>
                  <a:srgbClr val="FF0000"/>
                </a:solidFill>
                <a:latin typeface="Verdana"/>
                <a:cs typeface="Verdana"/>
              </a:rPr>
              <a:t>report fraud</a:t>
            </a:r>
            <a:r>
              <a:rPr lang="en-US" sz="2100" dirty="0">
                <a:latin typeface="Verdana"/>
                <a:cs typeface="Verdana"/>
              </a:rPr>
              <a:t> involving internal employees. </a:t>
            </a:r>
          </a:p>
          <a:p>
            <a:pPr lvl="1">
              <a:buSzPct val="50000"/>
            </a:pPr>
            <a:endParaRPr lang="en-US" sz="1400" dirty="0">
              <a:latin typeface="Verdana"/>
              <a:cs typeface="Verdana"/>
            </a:endParaRPr>
          </a:p>
          <a:p>
            <a:pPr marL="800100" lvl="1" indent="-342900">
              <a:buSzPct val="50000"/>
              <a:buFont typeface="Wingdings" charset="2"/>
              <a:buChar char="²"/>
            </a:pPr>
            <a:r>
              <a:rPr lang="en-US" sz="2100" dirty="0">
                <a:solidFill>
                  <a:srgbClr val="1F497D"/>
                </a:solidFill>
                <a:latin typeface="Verdana"/>
                <a:cs typeface="Verdana"/>
              </a:rPr>
              <a:t>Section 404 </a:t>
            </a:r>
            <a:r>
              <a:rPr lang="en-US" sz="2100" dirty="0">
                <a:latin typeface="Verdana"/>
                <a:cs typeface="Verdana"/>
              </a:rPr>
              <a:t>– requirements to </a:t>
            </a:r>
            <a:r>
              <a:rPr lang="en-US" sz="2100" dirty="0">
                <a:solidFill>
                  <a:srgbClr val="FF0000"/>
                </a:solidFill>
                <a:latin typeface="Verdana"/>
                <a:cs typeface="Verdana"/>
              </a:rPr>
              <a:t>assess the effectiveness of internal controls</a:t>
            </a:r>
            <a:r>
              <a:rPr lang="en-US" sz="2100" dirty="0">
                <a:latin typeface="Verdana"/>
                <a:cs typeface="Verdana"/>
              </a:rPr>
              <a:t>; outside auditors; report assessment annually to the SEC. </a:t>
            </a:r>
          </a:p>
        </p:txBody>
      </p:sp>
    </p:spTree>
    <p:extLst>
      <p:ext uri="{BB962C8B-B14F-4D97-AF65-F5344CB8AC3E}">
        <p14:creationId xmlns:p14="http://schemas.microsoft.com/office/powerpoint/2010/main" val="1626031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Gramm-Leach-Bliley Act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693593"/>
          </a:xfrm>
          <a:prstGeom prst="rect">
            <a:avLst/>
          </a:prstGeom>
          <a:noFill/>
        </p:spPr>
        <p:txBody>
          <a:bodyPr wrap="square" rtlCol="0">
            <a:spAutoFit/>
          </a:bodyPr>
          <a:lstStyle/>
          <a:p>
            <a:r>
              <a:rPr lang="en-US" sz="2200" i="1" dirty="0">
                <a:solidFill>
                  <a:srgbClr val="1F497D"/>
                </a:solidFill>
                <a:latin typeface="Verdana"/>
                <a:cs typeface="Verdana"/>
              </a:rPr>
              <a:t>The </a:t>
            </a:r>
            <a:r>
              <a:rPr lang="en-US" sz="2200" i="1" dirty="0">
                <a:solidFill>
                  <a:schemeClr val="accent1">
                    <a:lumMod val="75000"/>
                  </a:schemeClr>
                </a:solidFill>
                <a:latin typeface="Verdana"/>
                <a:cs typeface="Verdana"/>
              </a:rPr>
              <a:t>Gramm-Leach-Bliley</a:t>
            </a:r>
            <a:r>
              <a:rPr lang="en-US" sz="2200" i="1" dirty="0">
                <a:solidFill>
                  <a:srgbClr val="1F497D"/>
                </a:solidFill>
                <a:latin typeface="Verdana"/>
                <a:cs typeface="Verdana"/>
              </a:rPr>
              <a:t> Act </a:t>
            </a:r>
            <a:r>
              <a:rPr lang="en-US" sz="2200" i="1" dirty="0">
                <a:latin typeface="Verdana"/>
                <a:cs typeface="Verdana"/>
              </a:rPr>
              <a:t>requires financial institutions to </a:t>
            </a:r>
            <a:r>
              <a:rPr lang="en-US" sz="2200" i="1" dirty="0">
                <a:solidFill>
                  <a:srgbClr val="FF0000"/>
                </a:solidFill>
                <a:latin typeface="Verdana"/>
                <a:cs typeface="Verdana"/>
              </a:rPr>
              <a:t>explain their information-sharing practices </a:t>
            </a:r>
            <a:r>
              <a:rPr lang="en-US" sz="2200" i="1" dirty="0">
                <a:latin typeface="Verdana"/>
                <a:cs typeface="Verdana"/>
              </a:rPr>
              <a:t>to customers and to safeguard sensitive data.</a:t>
            </a:r>
          </a:p>
          <a:p>
            <a:endParaRPr lang="en-US" sz="1600" dirty="0">
              <a:latin typeface="Verdana"/>
              <a:cs typeface="Verdana"/>
            </a:endParaRPr>
          </a:p>
          <a:p>
            <a:pPr marL="342900" indent="-342900">
              <a:buFont typeface="Arial"/>
              <a:buChar char="•"/>
            </a:pPr>
            <a:r>
              <a:rPr lang="en-US" sz="2100" dirty="0">
                <a:solidFill>
                  <a:srgbClr val="1F497D"/>
                </a:solidFill>
                <a:latin typeface="Verdana"/>
                <a:cs typeface="Verdana"/>
              </a:rPr>
              <a:t>Financial Privacy Rule </a:t>
            </a:r>
            <a:r>
              <a:rPr lang="en-US" sz="2100" dirty="0">
                <a:latin typeface="Verdana"/>
                <a:cs typeface="Verdana"/>
              </a:rPr>
              <a:t>– a required </a:t>
            </a:r>
            <a:r>
              <a:rPr lang="en-US" sz="2100" dirty="0">
                <a:solidFill>
                  <a:srgbClr val="FF0000"/>
                </a:solidFill>
                <a:latin typeface="Verdana"/>
                <a:cs typeface="Verdana"/>
              </a:rPr>
              <a:t>privacy notice </a:t>
            </a:r>
            <a:r>
              <a:rPr lang="en-US" sz="2100" dirty="0">
                <a:latin typeface="Verdana"/>
                <a:cs typeface="Verdana"/>
              </a:rPr>
              <a:t>of institutional privacy practices: information collection; information sharing; and safeguarding the information.</a:t>
            </a:r>
          </a:p>
          <a:p>
            <a:endParaRPr lang="en-US" sz="1400" dirty="0">
              <a:latin typeface="Verdana"/>
              <a:cs typeface="Verdana"/>
            </a:endParaRPr>
          </a:p>
          <a:p>
            <a:pPr marL="342900" indent="-342900">
              <a:buFont typeface="Arial"/>
              <a:buChar char="•"/>
            </a:pPr>
            <a:r>
              <a:rPr lang="en-US" sz="2100" dirty="0">
                <a:solidFill>
                  <a:srgbClr val="1F497D"/>
                </a:solidFill>
                <a:latin typeface="Verdana"/>
                <a:cs typeface="Verdana"/>
              </a:rPr>
              <a:t>The Safeguards Rule </a:t>
            </a:r>
            <a:r>
              <a:rPr lang="en-US" sz="2100" dirty="0">
                <a:latin typeface="Verdana"/>
                <a:cs typeface="Verdana"/>
              </a:rPr>
              <a:t>- requires financial institutions to </a:t>
            </a:r>
            <a:r>
              <a:rPr lang="en-US" sz="2100" dirty="0">
                <a:solidFill>
                  <a:srgbClr val="FF0000"/>
                </a:solidFill>
                <a:latin typeface="Verdana"/>
                <a:cs typeface="Verdana"/>
              </a:rPr>
              <a:t>secure customer records </a:t>
            </a:r>
            <a:r>
              <a:rPr lang="en-US" sz="2100" dirty="0">
                <a:latin typeface="Verdana"/>
                <a:cs typeface="Verdana"/>
              </a:rPr>
              <a:t>and information to protect confidentiality and maintain integrity. </a:t>
            </a:r>
          </a:p>
          <a:p>
            <a:endParaRPr lang="en-US" sz="1400" dirty="0">
              <a:latin typeface="Verdana"/>
              <a:cs typeface="Verdana"/>
            </a:endParaRPr>
          </a:p>
          <a:p>
            <a:pPr marL="342900" indent="-342900">
              <a:buFont typeface="Arial"/>
              <a:buChar char="•"/>
            </a:pPr>
            <a:r>
              <a:rPr lang="en-US" sz="2100" dirty="0">
                <a:solidFill>
                  <a:srgbClr val="1F497D"/>
                </a:solidFill>
                <a:latin typeface="Verdana"/>
                <a:cs typeface="Verdana"/>
              </a:rPr>
              <a:t>Pretexting Provisions </a:t>
            </a:r>
            <a:r>
              <a:rPr lang="en-US" sz="2100" dirty="0">
                <a:latin typeface="Verdana"/>
                <a:cs typeface="Verdana"/>
              </a:rPr>
              <a:t>– </a:t>
            </a:r>
            <a:r>
              <a:rPr lang="en-US" sz="2100" dirty="0">
                <a:solidFill>
                  <a:srgbClr val="FF0000"/>
                </a:solidFill>
                <a:latin typeface="Verdana"/>
                <a:cs typeface="Verdana"/>
              </a:rPr>
              <a:t>protects consumers </a:t>
            </a:r>
            <a:r>
              <a:rPr lang="en-US" sz="2100" dirty="0">
                <a:latin typeface="Verdana"/>
                <a:cs typeface="Verdana"/>
              </a:rPr>
              <a:t>from personal financial information obtained under fraudulent circumstances.</a:t>
            </a:r>
          </a:p>
        </p:txBody>
      </p:sp>
    </p:spTree>
    <p:extLst>
      <p:ext uri="{BB962C8B-B14F-4D97-AF65-F5344CB8AC3E}">
        <p14:creationId xmlns:p14="http://schemas.microsoft.com/office/powerpoint/2010/main" val="2538958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85120"/>
            <a:ext cx="9144000" cy="907199"/>
          </a:xfrm>
          <a:solidFill>
            <a:srgbClr val="002E62"/>
          </a:solidFill>
          <a:effectLst>
            <a:outerShdw blurRad="50800" dist="38100" dir="2700000" algn="tl" rotWithShape="0">
              <a:srgbClr val="000000">
                <a:alpha val="43000"/>
              </a:srgbClr>
            </a:outerShdw>
          </a:effectLst>
        </p:spPr>
        <p:txBody>
          <a:bodyPr>
            <a:noAutofit/>
          </a:bodyPr>
          <a:lstStyle/>
          <a:p>
            <a:r>
              <a:rPr lang="en-US" sz="2800" dirty="0">
                <a:solidFill>
                  <a:schemeClr val="bg1">
                    <a:lumMod val="95000"/>
                  </a:schemeClr>
                </a:solidFill>
                <a:latin typeface="Verdana"/>
                <a:cs typeface="Verdana"/>
              </a:rPr>
              <a:t>Health Insurance Portability &amp; Accountability Act </a:t>
            </a:r>
            <a:r>
              <a:rPr lang="en-US" sz="3200" dirty="0">
                <a:solidFill>
                  <a:schemeClr val="bg1">
                    <a:lumMod val="95000"/>
                  </a:schemeClr>
                </a:solidFill>
                <a:latin typeface="Verdana"/>
                <a:cs typeface="Verdana"/>
              </a:rPr>
              <a:t>(HIPAA)</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662815"/>
          </a:xfrm>
          <a:prstGeom prst="rect">
            <a:avLst/>
          </a:prstGeom>
          <a:noFill/>
        </p:spPr>
        <p:txBody>
          <a:bodyPr wrap="square" rtlCol="0">
            <a:spAutoFit/>
          </a:bodyPr>
          <a:lstStyle/>
          <a:p>
            <a:r>
              <a:rPr lang="en-US" sz="2200" i="1" dirty="0">
                <a:solidFill>
                  <a:srgbClr val="1F497D"/>
                </a:solidFill>
                <a:latin typeface="Verdana"/>
                <a:cs typeface="Verdana"/>
              </a:rPr>
              <a:t>Health Insurance Portability &amp; Accountability Act (HIPAA) </a:t>
            </a:r>
            <a:r>
              <a:rPr lang="en-US" sz="2200" i="1" dirty="0">
                <a:latin typeface="Verdana"/>
                <a:cs typeface="Verdana"/>
              </a:rPr>
              <a:t>is United States legislation that provides data privacy and security provisions for </a:t>
            </a:r>
            <a:r>
              <a:rPr lang="en-US" sz="2200" i="1" dirty="0">
                <a:solidFill>
                  <a:srgbClr val="FF0000"/>
                </a:solidFill>
                <a:latin typeface="Verdana"/>
                <a:cs typeface="Verdana"/>
              </a:rPr>
              <a:t>safeguarding medical information</a:t>
            </a:r>
            <a:r>
              <a:rPr lang="en-US" sz="2200" i="1" dirty="0">
                <a:latin typeface="Verdana"/>
                <a:cs typeface="Verdana"/>
              </a:rPr>
              <a:t>.</a:t>
            </a:r>
          </a:p>
          <a:p>
            <a:endParaRPr lang="en-US" sz="1600" dirty="0">
              <a:latin typeface="Verdana"/>
              <a:cs typeface="Verdana"/>
            </a:endParaRPr>
          </a:p>
          <a:p>
            <a:pPr marL="342900" indent="-342900">
              <a:buFont typeface="Arial"/>
              <a:buChar char="•"/>
            </a:pPr>
            <a:r>
              <a:rPr lang="en-US" sz="2100" dirty="0">
                <a:solidFill>
                  <a:srgbClr val="1F497D"/>
                </a:solidFill>
                <a:latin typeface="Verdana"/>
                <a:cs typeface="Verdana"/>
              </a:rPr>
              <a:t>Privacy Rule </a:t>
            </a:r>
            <a:r>
              <a:rPr lang="en-US" sz="2100" dirty="0">
                <a:latin typeface="Verdana"/>
                <a:cs typeface="Verdana"/>
              </a:rPr>
              <a:t>– requires safeguards to protect the privacy of PHI; </a:t>
            </a:r>
            <a:r>
              <a:rPr lang="en-US" sz="2100" dirty="0">
                <a:solidFill>
                  <a:srgbClr val="FF0000"/>
                </a:solidFill>
                <a:latin typeface="Verdana"/>
                <a:cs typeface="Verdana"/>
              </a:rPr>
              <a:t>sets limits and conditions </a:t>
            </a:r>
            <a:r>
              <a:rPr lang="en-US" sz="2100" dirty="0">
                <a:latin typeface="Verdana"/>
                <a:cs typeface="Verdana"/>
              </a:rPr>
              <a:t>on the uses and disclosures without patient authorization. </a:t>
            </a:r>
          </a:p>
          <a:p>
            <a:endParaRPr lang="en-US" sz="1400" dirty="0">
              <a:latin typeface="Verdana"/>
              <a:cs typeface="Verdana"/>
            </a:endParaRPr>
          </a:p>
          <a:p>
            <a:pPr marL="342900" indent="-342900">
              <a:buFont typeface="Arial"/>
              <a:buChar char="•"/>
            </a:pPr>
            <a:r>
              <a:rPr lang="en-US" sz="2100" dirty="0">
                <a:solidFill>
                  <a:srgbClr val="1F497D"/>
                </a:solidFill>
                <a:latin typeface="Verdana"/>
                <a:cs typeface="Verdana"/>
              </a:rPr>
              <a:t>Security Rule </a:t>
            </a:r>
            <a:r>
              <a:rPr lang="en-US" sz="2100" dirty="0">
                <a:latin typeface="Verdana"/>
                <a:cs typeface="Verdana"/>
              </a:rPr>
              <a:t>- establishes </a:t>
            </a:r>
            <a:r>
              <a:rPr lang="en-US" sz="2100" dirty="0">
                <a:solidFill>
                  <a:srgbClr val="FF0000"/>
                </a:solidFill>
                <a:latin typeface="Verdana"/>
                <a:cs typeface="Verdana"/>
              </a:rPr>
              <a:t>national standards </a:t>
            </a:r>
            <a:r>
              <a:rPr lang="en-US" sz="2100" dirty="0">
                <a:latin typeface="Verdana"/>
                <a:cs typeface="Verdana"/>
              </a:rPr>
              <a:t>to protect electronic PHI that is created, received, used, or maintained by a covered entity.</a:t>
            </a:r>
          </a:p>
          <a:p>
            <a:endParaRPr lang="en-US" sz="1400" dirty="0">
              <a:latin typeface="Verdana"/>
              <a:cs typeface="Verdana"/>
            </a:endParaRPr>
          </a:p>
          <a:p>
            <a:pPr marL="342900" indent="-342900">
              <a:buFont typeface="Arial"/>
              <a:buChar char="•"/>
            </a:pPr>
            <a:r>
              <a:rPr lang="en-US" sz="2100" dirty="0">
                <a:solidFill>
                  <a:srgbClr val="1F497D"/>
                </a:solidFill>
                <a:latin typeface="Verdana"/>
                <a:cs typeface="Verdana"/>
              </a:rPr>
              <a:t>Enforcement Rule </a:t>
            </a:r>
            <a:r>
              <a:rPr lang="en-US" sz="2100" dirty="0">
                <a:latin typeface="Verdana"/>
                <a:cs typeface="Verdana"/>
              </a:rPr>
              <a:t>- contains </a:t>
            </a:r>
            <a:r>
              <a:rPr lang="en-US" sz="2100" dirty="0">
                <a:solidFill>
                  <a:srgbClr val="FF0000"/>
                </a:solidFill>
                <a:latin typeface="Verdana"/>
                <a:cs typeface="Verdana"/>
              </a:rPr>
              <a:t>provisions relating to compliance and penalties</a:t>
            </a:r>
            <a:r>
              <a:rPr lang="en-US" sz="2100" dirty="0">
                <a:latin typeface="Verdana"/>
                <a:cs typeface="Verdana"/>
              </a:rPr>
              <a:t>. HITECH Act addresses privacy and security concerns associated with </a:t>
            </a:r>
            <a:r>
              <a:rPr lang="en-US" sz="2100" dirty="0">
                <a:solidFill>
                  <a:srgbClr val="FF0000"/>
                </a:solidFill>
                <a:latin typeface="Verdana"/>
                <a:cs typeface="Verdana"/>
              </a:rPr>
              <a:t>transmission of PHI</a:t>
            </a:r>
            <a:r>
              <a:rPr lang="en-US" sz="2100" dirty="0">
                <a:latin typeface="Verdana"/>
                <a:cs typeface="Verdana"/>
              </a:rPr>
              <a:t>.</a:t>
            </a:r>
          </a:p>
        </p:txBody>
      </p:sp>
    </p:spTree>
    <p:extLst>
      <p:ext uri="{BB962C8B-B14F-4D97-AF65-F5344CB8AC3E}">
        <p14:creationId xmlns:p14="http://schemas.microsoft.com/office/powerpoint/2010/main" val="2255639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85120"/>
            <a:ext cx="9144000" cy="907199"/>
          </a:xfrm>
          <a:solidFill>
            <a:srgbClr val="002E62"/>
          </a:solidFill>
          <a:effectLst>
            <a:outerShdw blurRad="50800" dist="38100" dir="2700000" algn="tl" rotWithShape="0">
              <a:srgbClr val="000000">
                <a:alpha val="43000"/>
              </a:srgbClr>
            </a:outerShdw>
          </a:effectLst>
        </p:spPr>
        <p:txBody>
          <a:bodyPr>
            <a:noAutofit/>
          </a:bodyPr>
          <a:lstStyle/>
          <a:p>
            <a:r>
              <a:rPr lang="en-US" sz="2800" dirty="0">
                <a:solidFill>
                  <a:schemeClr val="bg1">
                    <a:lumMod val="95000"/>
                  </a:schemeClr>
                </a:solidFill>
                <a:latin typeface="Verdana"/>
                <a:cs typeface="Verdana"/>
              </a:rPr>
              <a:t>Payment Card Industry Data Security Standard </a:t>
            </a:r>
            <a:r>
              <a:rPr lang="en-US" sz="3200" dirty="0">
                <a:solidFill>
                  <a:schemeClr val="bg1">
                    <a:lumMod val="95000"/>
                  </a:schemeClr>
                </a:solidFill>
                <a:latin typeface="Verdana"/>
                <a:cs typeface="Verdana"/>
              </a:rPr>
              <a:t>(PCI DSS)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616648"/>
          </a:xfrm>
          <a:prstGeom prst="rect">
            <a:avLst/>
          </a:prstGeom>
          <a:noFill/>
        </p:spPr>
        <p:txBody>
          <a:bodyPr wrap="square" rtlCol="0">
            <a:spAutoFit/>
          </a:bodyPr>
          <a:lstStyle/>
          <a:p>
            <a:endParaRPr lang="en-US" sz="1600" dirty="0">
              <a:solidFill>
                <a:srgbClr val="1F497D"/>
              </a:solidFill>
              <a:latin typeface="Verdana"/>
              <a:cs typeface="Verdana"/>
            </a:endParaRPr>
          </a:p>
          <a:p>
            <a:r>
              <a:rPr lang="en-US" sz="2200" i="1" dirty="0">
                <a:solidFill>
                  <a:srgbClr val="1F497D"/>
                </a:solidFill>
                <a:latin typeface="Verdana"/>
                <a:cs typeface="Verdana"/>
              </a:rPr>
              <a:t>The Payment Card Industry Data Security Standard (PCI DSS) </a:t>
            </a:r>
            <a:r>
              <a:rPr lang="en-US" sz="2200" i="1" dirty="0">
                <a:latin typeface="Verdana"/>
                <a:cs typeface="Verdana"/>
              </a:rPr>
              <a:t>provides a </a:t>
            </a:r>
            <a:r>
              <a:rPr lang="en-US" sz="2200" i="1" dirty="0">
                <a:solidFill>
                  <a:srgbClr val="FF0000"/>
                </a:solidFill>
                <a:latin typeface="Verdana"/>
                <a:cs typeface="Verdana"/>
              </a:rPr>
              <a:t>baseline of technical and operational requirements</a:t>
            </a:r>
            <a:r>
              <a:rPr lang="en-US" sz="2200" i="1" dirty="0">
                <a:latin typeface="Verdana"/>
                <a:cs typeface="Verdana"/>
              </a:rPr>
              <a:t> designed to protect account data. </a:t>
            </a:r>
          </a:p>
          <a:p>
            <a:endParaRPr lang="en-US" sz="1600" dirty="0">
              <a:latin typeface="Verdana"/>
              <a:cs typeface="Verdana"/>
            </a:endParaRPr>
          </a:p>
          <a:p>
            <a:pPr marL="342900" indent="-342900">
              <a:buFont typeface="Arial"/>
              <a:buChar char="•"/>
            </a:pPr>
            <a:r>
              <a:rPr lang="en-US" sz="2100" dirty="0">
                <a:latin typeface="Verdana"/>
                <a:cs typeface="Verdana"/>
              </a:rPr>
              <a:t>Build and maintain a </a:t>
            </a:r>
            <a:r>
              <a:rPr lang="en-US" sz="2100" dirty="0">
                <a:solidFill>
                  <a:srgbClr val="FF0000"/>
                </a:solidFill>
                <a:latin typeface="Verdana"/>
                <a:cs typeface="Verdana"/>
              </a:rPr>
              <a:t>secure network </a:t>
            </a:r>
            <a:r>
              <a:rPr lang="en-US" sz="2100" dirty="0">
                <a:latin typeface="Verdana"/>
                <a:cs typeface="Verdana"/>
              </a:rPr>
              <a:t>and systems </a:t>
            </a:r>
          </a:p>
          <a:p>
            <a:endParaRPr lang="en-US" sz="1400" dirty="0">
              <a:latin typeface="Verdana"/>
              <a:cs typeface="Verdana"/>
            </a:endParaRPr>
          </a:p>
          <a:p>
            <a:pPr marL="342900" indent="-342900">
              <a:buFont typeface="Arial"/>
              <a:buChar char="•"/>
            </a:pPr>
            <a:r>
              <a:rPr lang="en-US" sz="2100" dirty="0">
                <a:solidFill>
                  <a:srgbClr val="FF0000"/>
                </a:solidFill>
                <a:latin typeface="Verdana"/>
                <a:cs typeface="Verdana"/>
              </a:rPr>
              <a:t>Protect</a:t>
            </a:r>
            <a:r>
              <a:rPr lang="en-US" sz="2100" dirty="0">
                <a:latin typeface="Verdana"/>
                <a:cs typeface="Verdana"/>
              </a:rPr>
              <a:t> cardholder data </a:t>
            </a:r>
          </a:p>
          <a:p>
            <a:endParaRPr lang="en-US" sz="1400" dirty="0">
              <a:latin typeface="Verdana"/>
              <a:cs typeface="Verdana"/>
            </a:endParaRPr>
          </a:p>
          <a:p>
            <a:pPr marL="342900" indent="-342900">
              <a:buFont typeface="Arial"/>
              <a:buChar char="•"/>
            </a:pPr>
            <a:r>
              <a:rPr lang="en-US" sz="2100" dirty="0">
                <a:latin typeface="Verdana"/>
                <a:cs typeface="Verdana"/>
              </a:rPr>
              <a:t>Maintain a vulnerability </a:t>
            </a:r>
            <a:r>
              <a:rPr lang="en-US" sz="2100" dirty="0">
                <a:solidFill>
                  <a:srgbClr val="FF0000"/>
                </a:solidFill>
                <a:latin typeface="Verdana"/>
                <a:cs typeface="Verdana"/>
              </a:rPr>
              <a:t>management program </a:t>
            </a:r>
          </a:p>
          <a:p>
            <a:endParaRPr lang="en-US" sz="1400" dirty="0">
              <a:latin typeface="Verdana"/>
              <a:cs typeface="Verdana"/>
            </a:endParaRPr>
          </a:p>
          <a:p>
            <a:pPr marL="342900" indent="-342900">
              <a:buFont typeface="Arial"/>
              <a:buChar char="•"/>
            </a:pPr>
            <a:r>
              <a:rPr lang="en-US" sz="2100" dirty="0">
                <a:latin typeface="Verdana"/>
                <a:cs typeface="Verdana"/>
              </a:rPr>
              <a:t>Implement strong </a:t>
            </a:r>
            <a:r>
              <a:rPr lang="en-US" sz="2100" dirty="0">
                <a:solidFill>
                  <a:srgbClr val="FF0000"/>
                </a:solidFill>
                <a:latin typeface="Verdana"/>
                <a:cs typeface="Verdana"/>
              </a:rPr>
              <a:t>access control measures </a:t>
            </a:r>
          </a:p>
          <a:p>
            <a:endParaRPr lang="en-US" sz="1400" dirty="0">
              <a:latin typeface="Verdana"/>
              <a:cs typeface="Verdana"/>
            </a:endParaRPr>
          </a:p>
          <a:p>
            <a:pPr marL="342900" indent="-342900">
              <a:buFont typeface="Arial"/>
              <a:buChar char="•"/>
            </a:pPr>
            <a:r>
              <a:rPr lang="en-US" sz="2100" dirty="0">
                <a:latin typeface="Verdana"/>
                <a:cs typeface="Verdana"/>
              </a:rPr>
              <a:t>Regularly </a:t>
            </a:r>
            <a:r>
              <a:rPr lang="en-US" sz="2100" dirty="0">
                <a:solidFill>
                  <a:srgbClr val="FF0000"/>
                </a:solidFill>
                <a:latin typeface="Verdana"/>
                <a:cs typeface="Verdana"/>
              </a:rPr>
              <a:t>monitor and test </a:t>
            </a:r>
            <a:r>
              <a:rPr lang="en-US" sz="2100" dirty="0">
                <a:latin typeface="Verdana"/>
                <a:cs typeface="Verdana"/>
              </a:rPr>
              <a:t>networks </a:t>
            </a:r>
          </a:p>
          <a:p>
            <a:endParaRPr lang="en-US" sz="1400" dirty="0">
              <a:latin typeface="Verdana"/>
              <a:cs typeface="Verdana"/>
            </a:endParaRPr>
          </a:p>
          <a:p>
            <a:pPr marL="342900" indent="-342900">
              <a:buFont typeface="Arial"/>
              <a:buChar char="•"/>
            </a:pPr>
            <a:r>
              <a:rPr lang="en-US" sz="2100" dirty="0">
                <a:latin typeface="Verdana"/>
                <a:cs typeface="Verdana"/>
              </a:rPr>
              <a:t>Maintain an </a:t>
            </a:r>
            <a:r>
              <a:rPr lang="en-US" sz="2100" dirty="0">
                <a:solidFill>
                  <a:srgbClr val="FF0000"/>
                </a:solidFill>
                <a:latin typeface="Verdana"/>
                <a:cs typeface="Verdana"/>
              </a:rPr>
              <a:t>information security policy </a:t>
            </a:r>
          </a:p>
        </p:txBody>
      </p:sp>
    </p:spTree>
    <p:extLst>
      <p:ext uri="{BB962C8B-B14F-4D97-AF65-F5344CB8AC3E}">
        <p14:creationId xmlns:p14="http://schemas.microsoft.com/office/powerpoint/2010/main" val="3978817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285120"/>
            <a:ext cx="9144000" cy="907199"/>
          </a:xfrm>
          <a:solidFill>
            <a:srgbClr val="002E62"/>
          </a:solidFill>
          <a:effectLst>
            <a:outerShdw blurRad="50800" dist="38100" dir="2700000" algn="tl" rotWithShape="0">
              <a:srgbClr val="000000">
                <a:alpha val="43000"/>
              </a:srgbClr>
            </a:outerShdw>
          </a:effectLst>
        </p:spPr>
        <p:txBody>
          <a:bodyPr>
            <a:noAutofit/>
          </a:bodyPr>
          <a:lstStyle/>
          <a:p>
            <a:r>
              <a:rPr lang="en-US" sz="2800" dirty="0">
                <a:solidFill>
                  <a:srgbClr val="F2F2F2"/>
                </a:solidFill>
                <a:latin typeface="Verdana"/>
                <a:cs typeface="Verdana"/>
              </a:rPr>
              <a:t>Family Educational Rights and Privacy Act </a:t>
            </a:r>
            <a:r>
              <a:rPr lang="en-US" sz="3200" dirty="0">
                <a:solidFill>
                  <a:schemeClr val="bg1">
                    <a:lumMod val="95000"/>
                  </a:schemeClr>
                </a:solidFill>
                <a:latin typeface="Verdana"/>
                <a:cs typeface="Verdana"/>
              </a:rPr>
              <a:t>(FERPA)</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693593"/>
          </a:xfrm>
          <a:prstGeom prst="rect">
            <a:avLst/>
          </a:prstGeom>
          <a:noFill/>
        </p:spPr>
        <p:txBody>
          <a:bodyPr wrap="square" rtlCol="0">
            <a:spAutoFit/>
          </a:bodyPr>
          <a:lstStyle/>
          <a:p>
            <a:r>
              <a:rPr lang="en-US" sz="2200" i="1" dirty="0">
                <a:solidFill>
                  <a:srgbClr val="1F497D"/>
                </a:solidFill>
                <a:latin typeface="Verdana"/>
                <a:cs typeface="Verdana"/>
              </a:rPr>
              <a:t>Family Educational Rights and Privacy Act (FERPA) </a:t>
            </a:r>
            <a:r>
              <a:rPr lang="en-US" sz="2200" i="1" dirty="0">
                <a:latin typeface="Verdana"/>
                <a:cs typeface="Verdana"/>
              </a:rPr>
              <a:t>is a federal law that protects the </a:t>
            </a:r>
            <a:r>
              <a:rPr lang="en-US" sz="2200" i="1" dirty="0">
                <a:solidFill>
                  <a:srgbClr val="FF0000"/>
                </a:solidFill>
                <a:latin typeface="Verdana"/>
                <a:cs typeface="Verdana"/>
              </a:rPr>
              <a:t>privacy of student education records</a:t>
            </a:r>
            <a:r>
              <a:rPr lang="en-US" sz="2200" i="1" dirty="0">
                <a:latin typeface="Verdana"/>
                <a:cs typeface="Verdana"/>
              </a:rPr>
              <a:t>.</a:t>
            </a:r>
          </a:p>
          <a:p>
            <a:endParaRPr lang="en-US" sz="1600" dirty="0">
              <a:latin typeface="Verdana"/>
              <a:cs typeface="Verdana"/>
            </a:endParaRPr>
          </a:p>
          <a:p>
            <a:pPr marL="342900" indent="-342900">
              <a:buFont typeface="Arial"/>
              <a:buChar char="•"/>
            </a:pPr>
            <a:r>
              <a:rPr lang="en-US" sz="2100" dirty="0">
                <a:latin typeface="Verdana"/>
                <a:cs typeface="Verdana"/>
              </a:rPr>
              <a:t>FERPA </a:t>
            </a:r>
            <a:r>
              <a:rPr lang="en-US" sz="2100" dirty="0">
                <a:solidFill>
                  <a:srgbClr val="FF0000"/>
                </a:solidFill>
                <a:latin typeface="Verdana"/>
                <a:cs typeface="Verdana"/>
              </a:rPr>
              <a:t>rights regarding education records</a:t>
            </a:r>
            <a:r>
              <a:rPr lang="en-US" sz="2100" dirty="0">
                <a:latin typeface="Verdana"/>
                <a:cs typeface="Verdana"/>
              </a:rPr>
              <a:t>:</a:t>
            </a:r>
          </a:p>
          <a:p>
            <a:pPr marL="800100" lvl="1" indent="-342900">
              <a:buSzPct val="50000"/>
              <a:buFont typeface="Wingdings" charset="2"/>
              <a:buChar char="²"/>
            </a:pPr>
            <a:r>
              <a:rPr lang="en-US" sz="2100" dirty="0">
                <a:latin typeface="Verdana"/>
                <a:cs typeface="Verdana"/>
              </a:rPr>
              <a:t>Inspect and Review</a:t>
            </a:r>
          </a:p>
          <a:p>
            <a:pPr marL="800100" lvl="1" indent="-342900">
              <a:buSzPct val="50000"/>
              <a:buFont typeface="Wingdings" charset="2"/>
              <a:buChar char="²"/>
            </a:pPr>
            <a:r>
              <a:rPr lang="en-US" sz="2100" dirty="0">
                <a:latin typeface="Verdana"/>
                <a:cs typeface="Verdana"/>
              </a:rPr>
              <a:t>Access </a:t>
            </a:r>
          </a:p>
          <a:p>
            <a:pPr marL="800100" lvl="1" indent="-342900">
              <a:buSzPct val="50000"/>
              <a:buFont typeface="Wingdings" charset="2"/>
              <a:buChar char="²"/>
            </a:pPr>
            <a:r>
              <a:rPr lang="en-US" sz="2100" dirty="0">
                <a:latin typeface="Verdana"/>
                <a:cs typeface="Verdana"/>
              </a:rPr>
              <a:t>Challenge the Content </a:t>
            </a:r>
          </a:p>
          <a:p>
            <a:pPr marL="800100" lvl="1" indent="-342900">
              <a:buSzPct val="50000"/>
              <a:buFont typeface="Wingdings" charset="2"/>
              <a:buChar char="²"/>
            </a:pPr>
            <a:r>
              <a:rPr lang="en-US" sz="2100" dirty="0">
                <a:latin typeface="Verdana"/>
                <a:cs typeface="Verdana"/>
              </a:rPr>
              <a:t>Consent to Disclosure</a:t>
            </a:r>
          </a:p>
          <a:p>
            <a:pPr lvl="1"/>
            <a:endParaRPr lang="en-US" sz="1400" dirty="0">
              <a:latin typeface="Verdana"/>
              <a:cs typeface="Verdana"/>
            </a:endParaRPr>
          </a:p>
          <a:p>
            <a:pPr marL="342900" indent="-342900">
              <a:buFont typeface="Arial"/>
              <a:buChar char="•"/>
            </a:pPr>
            <a:r>
              <a:rPr lang="en-US" sz="2100" dirty="0">
                <a:latin typeface="Verdana"/>
                <a:cs typeface="Verdana"/>
              </a:rPr>
              <a:t>FERPA </a:t>
            </a:r>
            <a:r>
              <a:rPr lang="en-US" sz="2100" dirty="0">
                <a:solidFill>
                  <a:srgbClr val="FF0000"/>
                </a:solidFill>
                <a:latin typeface="Verdana"/>
                <a:cs typeface="Verdana"/>
              </a:rPr>
              <a:t>initially grants the rights to parents</a:t>
            </a:r>
            <a:r>
              <a:rPr lang="en-US" sz="2100" dirty="0">
                <a:latin typeface="Verdana"/>
                <a:cs typeface="Verdana"/>
              </a:rPr>
              <a:t>. </a:t>
            </a:r>
          </a:p>
          <a:p>
            <a:endParaRPr lang="en-US" sz="1400" dirty="0">
              <a:latin typeface="Verdana"/>
              <a:cs typeface="Verdana"/>
            </a:endParaRPr>
          </a:p>
          <a:p>
            <a:pPr marL="342900" indent="-342900">
              <a:buFont typeface="Arial"/>
              <a:buChar char="•"/>
            </a:pPr>
            <a:r>
              <a:rPr lang="en-US" sz="2100" dirty="0">
                <a:solidFill>
                  <a:srgbClr val="FF0000"/>
                </a:solidFill>
                <a:latin typeface="Verdana"/>
                <a:cs typeface="Verdana"/>
              </a:rPr>
              <a:t>Rights transfer</a:t>
            </a:r>
            <a:r>
              <a:rPr lang="en-US" sz="2100" dirty="0">
                <a:latin typeface="Verdana"/>
                <a:cs typeface="Verdana"/>
              </a:rPr>
              <a:t> </a:t>
            </a:r>
            <a:r>
              <a:rPr lang="en-US" sz="2100" dirty="0">
                <a:solidFill>
                  <a:srgbClr val="FF0000"/>
                </a:solidFill>
                <a:latin typeface="Verdana"/>
                <a:cs typeface="Verdana"/>
              </a:rPr>
              <a:t>to eligible students </a:t>
            </a:r>
            <a:r>
              <a:rPr lang="en-US" sz="2100" dirty="0">
                <a:latin typeface="Verdana"/>
                <a:cs typeface="Verdana"/>
              </a:rPr>
              <a:t>when they: </a:t>
            </a:r>
          </a:p>
          <a:p>
            <a:pPr marL="800100" lvl="1" indent="-342900">
              <a:buSzPct val="50000"/>
              <a:buFont typeface="Wingdings" charset="2"/>
              <a:buChar char="²"/>
            </a:pPr>
            <a:r>
              <a:rPr lang="en-US" sz="2100" dirty="0">
                <a:latin typeface="Verdana"/>
                <a:cs typeface="Verdana"/>
              </a:rPr>
              <a:t>attain 18 years of age, or </a:t>
            </a:r>
          </a:p>
          <a:p>
            <a:pPr marL="800100" lvl="1" indent="-342900">
              <a:buSzPct val="50000"/>
              <a:buFont typeface="Wingdings" charset="2"/>
              <a:buChar char="²"/>
            </a:pPr>
            <a:r>
              <a:rPr lang="en-US" sz="2100" dirty="0">
                <a:latin typeface="Verdana"/>
                <a:cs typeface="Verdana"/>
              </a:rPr>
              <a:t>attend a postsecondary education institution. </a:t>
            </a:r>
          </a:p>
        </p:txBody>
      </p:sp>
    </p:spTree>
    <p:extLst>
      <p:ext uri="{BB962C8B-B14F-4D97-AF65-F5344CB8AC3E}">
        <p14:creationId xmlns:p14="http://schemas.microsoft.com/office/powerpoint/2010/main" val="2910352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Acknowledgement</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5" name="TextBox 4"/>
          <p:cNvSpPr txBox="1"/>
          <p:nvPr/>
        </p:nvSpPr>
        <p:spPr>
          <a:xfrm>
            <a:off x="309965" y="1389317"/>
            <a:ext cx="8659567" cy="707886"/>
          </a:xfrm>
          <a:prstGeom prst="rect">
            <a:avLst/>
          </a:prstGeom>
          <a:noFill/>
        </p:spPr>
        <p:txBody>
          <a:bodyPr wrap="square" rtlCol="0">
            <a:spAutoFit/>
          </a:bodyPr>
          <a:lstStyle/>
          <a:p>
            <a:pPr algn="ctr"/>
            <a:r>
              <a:rPr lang="en-US" sz="2000" dirty="0">
                <a:latin typeface="Verdana"/>
                <a:cs typeface="Verdana"/>
              </a:rPr>
              <a:t>This material is based upon work supported by the National </a:t>
            </a:r>
          </a:p>
          <a:p>
            <a:r>
              <a:rPr lang="en-US" sz="2000" dirty="0">
                <a:latin typeface="Verdana"/>
                <a:cs typeface="Verdana"/>
              </a:rPr>
              <a:t>     Science Foundation under Grant No. 1516724.</a:t>
            </a:r>
          </a:p>
        </p:txBody>
      </p:sp>
      <p:pic>
        <p:nvPicPr>
          <p:cNvPr id="6" name="Picture 5" descr="nsf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9460" y="2952460"/>
            <a:ext cx="2045081" cy="2057400"/>
          </a:xfrm>
          <a:prstGeom prst="rect">
            <a:avLst/>
          </a:prstGeom>
        </p:spPr>
      </p:pic>
    </p:spTree>
    <p:extLst>
      <p:ext uri="{BB962C8B-B14F-4D97-AF65-F5344CB8AC3E}">
        <p14:creationId xmlns:p14="http://schemas.microsoft.com/office/powerpoint/2010/main" val="1810881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References</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dirty="0">
                <a:solidFill>
                  <a:schemeClr val="bg1">
                    <a:lumMod val="85000"/>
                  </a:schemeClr>
                </a:solidFill>
                <a:latin typeface="Verdana"/>
                <a:cs typeface="Verdana"/>
              </a:rPr>
              <a:t>CS 151</a:t>
            </a:r>
          </a:p>
        </p:txBody>
      </p:sp>
      <p:sp>
        <p:nvSpPr>
          <p:cNvPr id="2" name="TextBox 1"/>
          <p:cNvSpPr txBox="1"/>
          <p:nvPr/>
        </p:nvSpPr>
        <p:spPr>
          <a:xfrm>
            <a:off x="240848" y="1368589"/>
            <a:ext cx="8659567" cy="4770537"/>
          </a:xfrm>
          <a:prstGeom prst="rect">
            <a:avLst/>
          </a:prstGeom>
          <a:noFill/>
        </p:spPr>
        <p:txBody>
          <a:bodyPr wrap="square" rtlCol="0">
            <a:spAutoFit/>
          </a:bodyPr>
          <a:lstStyle/>
          <a:p>
            <a:r>
              <a:rPr lang="en-US" sz="1600" dirty="0">
                <a:latin typeface="Verdana"/>
                <a:cs typeface="Verdana"/>
              </a:rPr>
              <a:t>[1] ISO 27000, INFORMATION SECURITY MANAGEMENT SYSTEMS, </a:t>
            </a:r>
            <a:r>
              <a:rPr lang="en-US" sz="1600" dirty="0">
                <a:latin typeface="Verdana"/>
                <a:cs typeface="Verdana"/>
                <a:hlinkClick r:id="rId3"/>
              </a:rPr>
              <a:t>https://www.iso.org/obp/ui/ - iso:std:iso-iec:27000:ed-4:v1:en</a:t>
            </a:r>
            <a:endParaRPr lang="en-US" sz="1600" dirty="0">
              <a:latin typeface="Verdana"/>
              <a:cs typeface="Verdana"/>
            </a:endParaRPr>
          </a:p>
          <a:p>
            <a:endParaRPr lang="en-US" sz="1600" dirty="0">
              <a:latin typeface="Verdana"/>
              <a:cs typeface="Verdana"/>
            </a:endParaRPr>
          </a:p>
          <a:p>
            <a:r>
              <a:rPr lang="en-US" sz="1600" dirty="0">
                <a:latin typeface="Verdana"/>
                <a:cs typeface="Verdana"/>
              </a:rPr>
              <a:t>[2] NIST SP 800-122, GUIDE TO PROTECTING THE CONFIDENTIALITY OF PERSONALLY IDENTIFIABLE INFORMATION (PII), </a:t>
            </a:r>
            <a:r>
              <a:rPr lang="en-US" sz="1600" dirty="0">
                <a:latin typeface="Verdana"/>
                <a:cs typeface="Verdana"/>
                <a:hlinkClick r:id="rId4"/>
              </a:rPr>
              <a:t>http://csrc.nist.gov/publications/nistpubs/800-122/sp800-122.pdf</a:t>
            </a:r>
            <a:endParaRPr lang="en-US" sz="1600" dirty="0">
              <a:latin typeface="Verdana"/>
              <a:cs typeface="Verdana"/>
            </a:endParaRPr>
          </a:p>
          <a:p>
            <a:endParaRPr lang="en-US" sz="1600" dirty="0">
              <a:latin typeface="Verdana"/>
              <a:cs typeface="Verdana"/>
            </a:endParaRPr>
          </a:p>
          <a:p>
            <a:r>
              <a:rPr lang="en-US" sz="1600" dirty="0">
                <a:latin typeface="Verdana"/>
                <a:cs typeface="Verdana"/>
              </a:rPr>
              <a:t>[3] SARBANES-OXLEY ACT OF 2002,  </a:t>
            </a:r>
            <a:r>
              <a:rPr lang="en-US" sz="1600" dirty="0">
                <a:latin typeface="Verdana"/>
                <a:cs typeface="Verdana"/>
                <a:hlinkClick r:id="rId5"/>
              </a:rPr>
              <a:t>http://legcounsel.house.gov/Comps/Sarbanes-oxley Act Of 2002.pdf</a:t>
            </a:r>
            <a:endParaRPr lang="en-US" sz="1600" dirty="0">
              <a:latin typeface="Verdana"/>
              <a:cs typeface="Verdana"/>
            </a:endParaRPr>
          </a:p>
          <a:p>
            <a:endParaRPr lang="en-US" sz="1600" dirty="0">
              <a:latin typeface="Verdana"/>
              <a:cs typeface="Verdana"/>
            </a:endParaRPr>
          </a:p>
          <a:p>
            <a:r>
              <a:rPr lang="en-US" sz="1600" dirty="0">
                <a:latin typeface="Verdana"/>
                <a:cs typeface="Verdana"/>
              </a:rPr>
              <a:t>[4] </a:t>
            </a:r>
            <a:r>
              <a:rPr lang="en-US" sz="1600" dirty="0">
                <a:solidFill>
                  <a:srgbClr val="000000"/>
                </a:solidFill>
                <a:latin typeface="Verdana"/>
                <a:cs typeface="Verdana"/>
              </a:rPr>
              <a:t>GRAMM-LEACH-BLILEY ACT, </a:t>
            </a:r>
            <a:r>
              <a:rPr lang="en-US" sz="1600" dirty="0">
                <a:solidFill>
                  <a:srgbClr val="000000"/>
                </a:solidFill>
                <a:latin typeface="Verdana"/>
                <a:cs typeface="Verdana"/>
                <a:hlinkClick r:id="rId6"/>
              </a:rPr>
              <a:t>https://www.gpo.gov/fdsys/pkg/PLAW-106publ102/pdf/PLAW-106publ102.pdf</a:t>
            </a:r>
            <a:endParaRPr lang="en-US" sz="1600" dirty="0">
              <a:solidFill>
                <a:srgbClr val="000000"/>
              </a:solidFill>
              <a:latin typeface="Verdana"/>
              <a:cs typeface="Verdana"/>
            </a:endParaRPr>
          </a:p>
          <a:p>
            <a:endParaRPr lang="en-US" sz="1600" dirty="0">
              <a:solidFill>
                <a:srgbClr val="000000"/>
              </a:solidFill>
              <a:latin typeface="Verdana"/>
              <a:cs typeface="Verdana"/>
            </a:endParaRPr>
          </a:p>
          <a:p>
            <a:r>
              <a:rPr lang="en-US" sz="1600" dirty="0">
                <a:latin typeface="Verdana"/>
                <a:cs typeface="Verdana"/>
              </a:rPr>
              <a:t>[5] </a:t>
            </a:r>
            <a:r>
              <a:rPr lang="en-US" sz="1600" dirty="0">
                <a:solidFill>
                  <a:srgbClr val="000000"/>
                </a:solidFill>
                <a:latin typeface="Verdana"/>
                <a:cs typeface="Verdana"/>
              </a:rPr>
              <a:t>PAYMENT CARD INDUSTRY DATA SECURITY STANDARD</a:t>
            </a:r>
            <a:r>
              <a:rPr lang="en-US" sz="1600" dirty="0">
                <a:latin typeface="Verdana"/>
                <a:cs typeface="Verdana"/>
              </a:rPr>
              <a:t>, </a:t>
            </a:r>
            <a:r>
              <a:rPr lang="en-US" sz="1600" dirty="0">
                <a:latin typeface="Verdana"/>
                <a:cs typeface="Verdana"/>
                <a:hlinkClick r:id="rId7"/>
              </a:rPr>
              <a:t>https://www.pcisecuritystandards.org/documents/PCI_DSS_v3-2.pdf?agreement=true&amp;time=1470701891969</a:t>
            </a:r>
            <a:endParaRPr lang="en-US" sz="1600" dirty="0">
              <a:latin typeface="Verdana"/>
              <a:cs typeface="Verdana"/>
            </a:endParaRPr>
          </a:p>
          <a:p>
            <a:endParaRPr lang="en-US" sz="1600" dirty="0">
              <a:latin typeface="Verdana"/>
              <a:cs typeface="Verdana"/>
            </a:endParaRPr>
          </a:p>
          <a:p>
            <a:r>
              <a:rPr lang="en-US" sz="1600" dirty="0">
                <a:latin typeface="Verdana"/>
                <a:cs typeface="Verdana"/>
              </a:rPr>
              <a:t>[6] HEALTH INSURANCE PORTABILITY AND ACCOUNTABILITY ACT OF 1996, </a:t>
            </a:r>
            <a:r>
              <a:rPr lang="en-US" sz="1600" dirty="0">
                <a:latin typeface="Verdana"/>
                <a:cs typeface="Verdana"/>
                <a:hlinkClick r:id="rId8"/>
              </a:rPr>
              <a:t>https://www.gpo.gov/fdsys/pkg/PLAW-104publ191/pdf/PLAW-104publ191.pdf</a:t>
            </a:r>
            <a:endParaRPr lang="en-US" sz="1600" dirty="0">
              <a:latin typeface="Verdana"/>
              <a:cs typeface="Verdana"/>
            </a:endParaRPr>
          </a:p>
        </p:txBody>
      </p:sp>
    </p:spTree>
    <p:extLst>
      <p:ext uri="{BB962C8B-B14F-4D97-AF65-F5344CB8AC3E}">
        <p14:creationId xmlns:p14="http://schemas.microsoft.com/office/powerpoint/2010/main" val="2926918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361307"/>
            <a:ext cx="9144000" cy="755462"/>
          </a:xfrm>
          <a:solidFill>
            <a:srgbClr val="002E62"/>
          </a:solidFill>
          <a:effectLst>
            <a:outerShdw blurRad="50800" dist="38100" dir="2700000" algn="tl" rotWithShape="0">
              <a:srgbClr val="000000">
                <a:alpha val="43000"/>
              </a:srgbClr>
            </a:outerShdw>
          </a:effectLst>
        </p:spPr>
        <p:txBody>
          <a:bodyPr>
            <a:normAutofit/>
          </a:bodyPr>
          <a:lstStyle/>
          <a:p>
            <a:r>
              <a:rPr lang="en-US" sz="3600" dirty="0">
                <a:solidFill>
                  <a:schemeClr val="bg1">
                    <a:lumMod val="85000"/>
                  </a:schemeClr>
                </a:solidFill>
                <a:latin typeface="Verdana"/>
                <a:cs typeface="Verdana"/>
              </a:rPr>
              <a:t>References </a:t>
            </a:r>
            <a:r>
              <a:rPr lang="en-US" sz="3200" dirty="0">
                <a:solidFill>
                  <a:schemeClr val="bg1">
                    <a:lumMod val="85000"/>
                  </a:schemeClr>
                </a:solidFill>
                <a:latin typeface="Verdana"/>
                <a:cs typeface="Verdana"/>
              </a:rPr>
              <a:t>(cont’d)</a:t>
            </a:r>
          </a:p>
        </p:txBody>
      </p:sp>
      <p:sp>
        <p:nvSpPr>
          <p:cNvPr id="11" name="Rectangle 10"/>
          <p:cNvSpPr/>
          <p:nvPr/>
        </p:nvSpPr>
        <p:spPr>
          <a:xfrm>
            <a:off x="0" y="6295510"/>
            <a:ext cx="9144000" cy="328462"/>
          </a:xfrm>
          <a:prstGeom prst="rect">
            <a:avLst/>
          </a:prstGeom>
          <a:solidFill>
            <a:srgbClr val="002E62"/>
          </a:solidFill>
          <a:ln>
            <a:solidFill>
              <a:srgbClr val="002E6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B3B3B3"/>
                </a:solidFill>
              </a:rPr>
              <a:t>    </a:t>
            </a:r>
            <a:r>
              <a:rPr lang="en-US" sz="1600">
                <a:solidFill>
                  <a:schemeClr val="bg1">
                    <a:lumMod val="85000"/>
                  </a:schemeClr>
                </a:solidFill>
                <a:latin typeface="Verdana"/>
                <a:cs typeface="Verdana"/>
              </a:rPr>
              <a:t>CS 151</a:t>
            </a:r>
            <a:endParaRPr lang="en-US" sz="1600" dirty="0">
              <a:solidFill>
                <a:schemeClr val="bg1">
                  <a:lumMod val="85000"/>
                </a:schemeClr>
              </a:solidFill>
              <a:latin typeface="Verdana"/>
              <a:cs typeface="Verdana"/>
            </a:endParaRPr>
          </a:p>
        </p:txBody>
      </p:sp>
      <p:sp>
        <p:nvSpPr>
          <p:cNvPr id="2" name="TextBox 1"/>
          <p:cNvSpPr txBox="1"/>
          <p:nvPr/>
        </p:nvSpPr>
        <p:spPr>
          <a:xfrm>
            <a:off x="240848" y="1368589"/>
            <a:ext cx="8659567" cy="2308324"/>
          </a:xfrm>
          <a:prstGeom prst="rect">
            <a:avLst/>
          </a:prstGeom>
          <a:noFill/>
        </p:spPr>
        <p:txBody>
          <a:bodyPr wrap="square" rtlCol="0">
            <a:spAutoFit/>
          </a:bodyPr>
          <a:lstStyle/>
          <a:p>
            <a:r>
              <a:rPr lang="en-US" sz="1600" dirty="0">
                <a:latin typeface="Verdana"/>
                <a:cs typeface="Verdana"/>
              </a:rPr>
              <a:t>[7] FAMILY EDUCATIONAL RIGHTS AND PRIVACY ACT, </a:t>
            </a:r>
            <a:r>
              <a:rPr lang="en-US" sz="1600" dirty="0">
                <a:latin typeface="Verdana"/>
                <a:cs typeface="Verdana"/>
                <a:hlinkClick r:id="rId3"/>
              </a:rPr>
              <a:t>http://www.ecfr.gov/cgi-bin/text-idx?rgn=div5&amp;node=34:1.1.1.1.33</a:t>
            </a:r>
            <a:endParaRPr lang="en-US" sz="1600" dirty="0">
              <a:latin typeface="Verdana"/>
              <a:cs typeface="Verdana"/>
            </a:endParaRPr>
          </a:p>
          <a:p>
            <a:endParaRPr lang="en-US" sz="1600" dirty="0">
              <a:latin typeface="Verdana"/>
              <a:cs typeface="Verdana"/>
            </a:endParaRPr>
          </a:p>
          <a:p>
            <a:r>
              <a:rPr lang="en-US" sz="1600" dirty="0">
                <a:latin typeface="Verdana"/>
                <a:cs typeface="Verdana"/>
              </a:rPr>
              <a:t>[8] UC BERKELEY, SCHOOL OF INFORMATION - KNOW PRIVACY, </a:t>
            </a:r>
          </a:p>
          <a:p>
            <a:r>
              <a:rPr lang="en-US" sz="1600" dirty="0">
                <a:latin typeface="Verdana"/>
                <a:cs typeface="Verdana"/>
                <a:hlinkClick r:id="rId4"/>
              </a:rPr>
              <a:t>http://www.knowprivacy.org/report/KnowPrivacy_Final_Report.pdf</a:t>
            </a:r>
            <a:endParaRPr lang="en-US" sz="1600" dirty="0">
              <a:latin typeface="Verdana"/>
              <a:cs typeface="Verdana"/>
            </a:endParaRPr>
          </a:p>
          <a:p>
            <a:endParaRPr lang="en-US" sz="1600" dirty="0">
              <a:latin typeface="Verdana"/>
              <a:cs typeface="Verdana"/>
            </a:endParaRPr>
          </a:p>
          <a:p>
            <a:r>
              <a:rPr lang="en-US" sz="1600" dirty="0">
                <a:latin typeface="Verdana"/>
                <a:cs typeface="Verdana"/>
              </a:rPr>
              <a:t>[9] FTC STAFF REPORT – PROTECTING CONSUMER PRIVACY IN AN ERA OF RAPID CHANGE, </a:t>
            </a:r>
            <a:r>
              <a:rPr lang="en-US" sz="1600" dirty="0">
                <a:latin typeface="Verdana"/>
                <a:cs typeface="Verdana"/>
                <a:hlinkClick r:id="rId5"/>
              </a:rPr>
              <a:t>https://www.ftc.gov/reports/preliminary-ftc-staff-report-protecting-consumer-privacy-era-rapid-change-proposed-framework</a:t>
            </a:r>
            <a:endParaRPr lang="en-US" sz="1600" dirty="0">
              <a:latin typeface="Verdana"/>
              <a:cs typeface="Verdana"/>
            </a:endParaRPr>
          </a:p>
        </p:txBody>
      </p:sp>
    </p:spTree>
    <p:extLst>
      <p:ext uri="{BB962C8B-B14F-4D97-AF65-F5344CB8AC3E}">
        <p14:creationId xmlns:p14="http://schemas.microsoft.com/office/powerpoint/2010/main" val="2283285233"/>
      </p:ext>
    </p:extLst>
  </p:cSld>
  <p:clrMapOvr>
    <a:masterClrMapping/>
  </p:clrMapOvr>
</p:sld>
</file>

<file path=ppt/theme/theme1.xml><?xml version="1.0" encoding="utf-8"?>
<a:theme xmlns:a="http://schemas.openxmlformats.org/drawingml/2006/main" name="cybercorps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cybercorpsTemplate.potx</Template>
  <TotalTime>1957</TotalTime>
  <Words>2084</Words>
  <Application>Microsoft Macintosh PowerPoint</Application>
  <PresentationFormat>On-screen Show (4:3)</PresentationFormat>
  <Paragraphs>194</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Verdana</vt:lpstr>
      <vt:lpstr>Wingdings</vt:lpstr>
      <vt:lpstr>cybercorpsTemplate</vt:lpstr>
      <vt:lpstr>Regulated Data</vt:lpstr>
      <vt:lpstr>Privacy Laws &amp; Regulations</vt:lpstr>
      <vt:lpstr>Data Regulations &amp; Standards</vt:lpstr>
      <vt:lpstr>Regulated Data Classifications</vt:lpstr>
      <vt:lpstr>Data Protection Standards (ISO)</vt:lpstr>
      <vt:lpstr>Data Protection Standards (NIST)</vt:lpstr>
      <vt:lpstr>Sarbanes-Oxley Act</vt:lpstr>
      <vt:lpstr>Gramm-Leach-Bliley Act</vt:lpstr>
      <vt:lpstr>Health Insurance Portability &amp; Accountability Act (HIPAA)</vt:lpstr>
      <vt:lpstr>Payment Card Industry Data Security Standard (PCI DSS)</vt:lpstr>
      <vt:lpstr>Family Educational Rights and Privacy Act (FERPA)</vt:lpstr>
      <vt:lpstr>Acknowledgement</vt:lpstr>
      <vt:lpstr>References</vt:lpstr>
      <vt:lpstr>References (cont’d)</vt:lpstr>
    </vt:vector>
  </TitlesOfParts>
  <Company>University of Nevada, Reno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Nancy LaTourrette</dc:creator>
  <cp:lastModifiedBy>Nancy P Latourrette</cp:lastModifiedBy>
  <cp:revision>127</cp:revision>
  <cp:lastPrinted>2016-08-11T00:54:37Z</cp:lastPrinted>
  <dcterms:created xsi:type="dcterms:W3CDTF">2016-02-28T22:40:58Z</dcterms:created>
  <dcterms:modified xsi:type="dcterms:W3CDTF">2020-11-03T18:27:15Z</dcterms:modified>
</cp:coreProperties>
</file>