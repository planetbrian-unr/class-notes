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685" r:id="rId2"/>
  </p:sldMasterIdLst>
  <p:notesMasterIdLst>
    <p:notesMasterId r:id="rId40"/>
  </p:notesMasterIdLst>
  <p:handoutMasterIdLst>
    <p:handoutMasterId r:id="rId41"/>
  </p:handoutMasterIdLst>
  <p:sldIdLst>
    <p:sldId id="354" r:id="rId3"/>
    <p:sldId id="355" r:id="rId4"/>
    <p:sldId id="275" r:id="rId5"/>
    <p:sldId id="356" r:id="rId6"/>
    <p:sldId id="312" r:id="rId7"/>
    <p:sldId id="357" r:id="rId8"/>
    <p:sldId id="358" r:id="rId9"/>
    <p:sldId id="313" r:id="rId10"/>
    <p:sldId id="314" r:id="rId11"/>
    <p:sldId id="279" r:id="rId12"/>
    <p:sldId id="384" r:id="rId13"/>
    <p:sldId id="388" r:id="rId14"/>
    <p:sldId id="387" r:id="rId15"/>
    <p:sldId id="361" r:id="rId16"/>
    <p:sldId id="385" r:id="rId17"/>
    <p:sldId id="360" r:id="rId18"/>
    <p:sldId id="363" r:id="rId19"/>
    <p:sldId id="362" r:id="rId20"/>
    <p:sldId id="364" r:id="rId21"/>
    <p:sldId id="366" r:id="rId22"/>
    <p:sldId id="367" r:id="rId23"/>
    <p:sldId id="386" r:id="rId24"/>
    <p:sldId id="374" r:id="rId25"/>
    <p:sldId id="368" r:id="rId26"/>
    <p:sldId id="391" r:id="rId27"/>
    <p:sldId id="365" r:id="rId28"/>
    <p:sldId id="369" r:id="rId29"/>
    <p:sldId id="389" r:id="rId30"/>
    <p:sldId id="390" r:id="rId31"/>
    <p:sldId id="375" r:id="rId32"/>
    <p:sldId id="299" r:id="rId33"/>
    <p:sldId id="392" r:id="rId34"/>
    <p:sldId id="376" r:id="rId35"/>
    <p:sldId id="379" r:id="rId36"/>
    <p:sldId id="381" r:id="rId37"/>
    <p:sldId id="382" r:id="rId38"/>
    <p:sldId id="383" r:id="rId39"/>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6" autoAdjust="0"/>
    <p:restoredTop sz="89766" autoAdjust="0"/>
  </p:normalViewPr>
  <p:slideViewPr>
    <p:cSldViewPr>
      <p:cViewPr>
        <p:scale>
          <a:sx n="100" d="100"/>
          <a:sy n="100" d="100"/>
        </p:scale>
        <p:origin x="1720" y="160"/>
      </p:cViewPr>
      <p:guideLst>
        <p:guide orient="horz" pos="2160"/>
        <p:guide pos="2880"/>
      </p:guideLst>
    </p:cSldViewPr>
  </p:slideViewPr>
  <p:outlineViewPr>
    <p:cViewPr>
      <p:scale>
        <a:sx n="33" d="100"/>
        <a:sy n="33" d="100"/>
      </p:scale>
      <p:origin x="0" y="-4512"/>
    </p:cViewPr>
  </p:outlineViewPr>
  <p:notesTextViewPr>
    <p:cViewPr>
      <p:scale>
        <a:sx n="150" d="100"/>
        <a:sy n="150" d="100"/>
      </p:scale>
      <p:origin x="0" y="0"/>
    </p:cViewPr>
  </p:notesTextViewPr>
  <p:sorterViewPr>
    <p:cViewPr>
      <p:scale>
        <a:sx n="66" d="100"/>
        <a:sy n="66" d="100"/>
      </p:scale>
      <p:origin x="0" y="0"/>
    </p:cViewPr>
  </p:sorterViewPr>
  <p:notesViewPr>
    <p:cSldViewPr>
      <p:cViewPr varScale="1">
        <p:scale>
          <a:sx n="121" d="100"/>
          <a:sy n="121" d="100"/>
        </p:scale>
        <p:origin x="-1344"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F3DE4E-6DAF-BD43-A85C-1EDF3C446A1E}"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6D8F7BBC-740A-8A4C-9427-D926A9BFA2DE}">
      <dgm:prSet/>
      <dgm:spPr>
        <a:ln>
          <a:solidFill>
            <a:schemeClr val="bg2">
              <a:lumMod val="75000"/>
            </a:schemeClr>
          </a:solidFill>
        </a:ln>
        <a:effectLst/>
      </dgm:spPr>
      <dgm:t>
        <a:bodyPr/>
        <a:lstStyle/>
        <a:p>
          <a:pPr rtl="0">
            <a:lnSpc>
              <a:spcPct val="110000"/>
            </a:lnSpc>
          </a:pPr>
          <a:r>
            <a:rPr lang="en-US" dirty="0"/>
            <a:t>Session identifier</a:t>
          </a:r>
        </a:p>
      </dgm:t>
    </dgm:pt>
    <dgm:pt modelId="{64F76874-9A4B-1D4C-A998-0F023B628B9C}" type="parTrans" cxnId="{FEAAAD84-B4A9-9D45-BFBA-CA033977A1E7}">
      <dgm:prSet/>
      <dgm:spPr/>
      <dgm:t>
        <a:bodyPr/>
        <a:lstStyle/>
        <a:p>
          <a:endParaRPr lang="en-US"/>
        </a:p>
      </dgm:t>
    </dgm:pt>
    <dgm:pt modelId="{A6DA4D64-9DEE-4A49-BD3D-CB1138ABD119}" type="sibTrans" cxnId="{FEAAAD84-B4A9-9D45-BFBA-CA033977A1E7}">
      <dgm:prSet/>
      <dgm:spPr/>
      <dgm:t>
        <a:bodyPr/>
        <a:lstStyle/>
        <a:p>
          <a:endParaRPr lang="en-US"/>
        </a:p>
      </dgm:t>
    </dgm:pt>
    <dgm:pt modelId="{8382F78D-E468-3440-A64F-358F0068217D}">
      <dgm:prSet/>
      <dgm:spPr>
        <a:effectLst/>
      </dgm:spPr>
      <dgm:t>
        <a:bodyPr/>
        <a:lstStyle/>
        <a:p>
          <a:pPr rtl="0"/>
          <a:r>
            <a:rPr lang="en-US" dirty="0">
              <a:solidFill>
                <a:schemeClr val="bg1"/>
              </a:solidFill>
            </a:rPr>
            <a:t>An arbitrary byte sequence chosen by the server to identify an active or resumable session state</a:t>
          </a:r>
        </a:p>
      </dgm:t>
    </dgm:pt>
    <dgm:pt modelId="{8684C6DD-2A2D-E341-814F-017F710512BD}" type="parTrans" cxnId="{BE973F7A-A45E-064F-8DFB-54B076F7E5C4}">
      <dgm:prSet/>
      <dgm:spPr/>
      <dgm:t>
        <a:bodyPr/>
        <a:lstStyle/>
        <a:p>
          <a:endParaRPr lang="en-US"/>
        </a:p>
      </dgm:t>
    </dgm:pt>
    <dgm:pt modelId="{29540A49-E937-BF4B-A577-E1F780233507}" type="sibTrans" cxnId="{BE973F7A-A45E-064F-8DFB-54B076F7E5C4}">
      <dgm:prSet/>
      <dgm:spPr/>
      <dgm:t>
        <a:bodyPr/>
        <a:lstStyle/>
        <a:p>
          <a:endParaRPr lang="en-US"/>
        </a:p>
      </dgm:t>
    </dgm:pt>
    <dgm:pt modelId="{C0F17812-76D6-3947-B0C3-CFA36910D4D6}">
      <dgm:prSet/>
      <dgm:spPr>
        <a:ln>
          <a:solidFill>
            <a:schemeClr val="bg2">
              <a:lumMod val="75000"/>
            </a:schemeClr>
          </a:solidFill>
        </a:ln>
        <a:effectLst/>
      </dgm:spPr>
      <dgm:t>
        <a:bodyPr/>
        <a:lstStyle/>
        <a:p>
          <a:pPr rtl="0">
            <a:lnSpc>
              <a:spcPct val="110000"/>
            </a:lnSpc>
          </a:pPr>
          <a:r>
            <a:rPr lang="en-US" dirty="0">
              <a:solidFill>
                <a:srgbClr val="000000"/>
              </a:solidFill>
            </a:rPr>
            <a:t>Peer certificate</a:t>
          </a:r>
        </a:p>
      </dgm:t>
    </dgm:pt>
    <dgm:pt modelId="{8540C46F-3385-454E-A116-6B08CEA58899}" type="parTrans" cxnId="{9E42A67C-6F29-554A-8966-156150F089E5}">
      <dgm:prSet/>
      <dgm:spPr/>
      <dgm:t>
        <a:bodyPr/>
        <a:lstStyle/>
        <a:p>
          <a:endParaRPr lang="en-US"/>
        </a:p>
      </dgm:t>
    </dgm:pt>
    <dgm:pt modelId="{F928645F-1274-7143-9D00-63762A22A143}" type="sibTrans" cxnId="{9E42A67C-6F29-554A-8966-156150F089E5}">
      <dgm:prSet/>
      <dgm:spPr/>
      <dgm:t>
        <a:bodyPr/>
        <a:lstStyle/>
        <a:p>
          <a:endParaRPr lang="en-US"/>
        </a:p>
      </dgm:t>
    </dgm:pt>
    <dgm:pt modelId="{B16DAC5C-E172-0541-9872-8C2DDAED40A4}">
      <dgm:prSet/>
      <dgm:spPr>
        <a:effectLst/>
      </dgm:spPr>
      <dgm:t>
        <a:bodyPr/>
        <a:lstStyle/>
        <a:p>
          <a:pPr rtl="0"/>
          <a:r>
            <a:rPr lang="en-US" dirty="0">
              <a:solidFill>
                <a:srgbClr val="FFFFFF"/>
              </a:solidFill>
            </a:rPr>
            <a:t>An X509.v3 certificate of the peer. </a:t>
          </a:r>
          <a:r>
            <a:rPr lang="en-US" dirty="0">
              <a:solidFill>
                <a:srgbClr val="FFFF00"/>
              </a:solidFill>
            </a:rPr>
            <a:t>Used to verify the identity</a:t>
          </a:r>
          <a:r>
            <a:rPr lang="en-US" dirty="0">
              <a:solidFill>
                <a:srgbClr val="FFFFFF"/>
              </a:solidFill>
            </a:rPr>
            <a:t>.</a:t>
          </a:r>
        </a:p>
        <a:p>
          <a:pPr rtl="0"/>
          <a:endParaRPr lang="en-US" dirty="0">
            <a:solidFill>
              <a:srgbClr val="FFFFFF"/>
            </a:solidFill>
          </a:endParaRPr>
        </a:p>
      </dgm:t>
    </dgm:pt>
    <dgm:pt modelId="{13E26DD3-EB3A-014C-9990-21D0E465E280}" type="parTrans" cxnId="{F76FD580-A0E4-2C4A-B4F5-0D3AB89491FD}">
      <dgm:prSet/>
      <dgm:spPr/>
      <dgm:t>
        <a:bodyPr/>
        <a:lstStyle/>
        <a:p>
          <a:endParaRPr lang="en-US"/>
        </a:p>
      </dgm:t>
    </dgm:pt>
    <dgm:pt modelId="{320D4051-8026-2641-850B-AFBDB95578E2}" type="sibTrans" cxnId="{F76FD580-A0E4-2C4A-B4F5-0D3AB89491FD}">
      <dgm:prSet/>
      <dgm:spPr/>
      <dgm:t>
        <a:bodyPr/>
        <a:lstStyle/>
        <a:p>
          <a:endParaRPr lang="en-US"/>
        </a:p>
      </dgm:t>
    </dgm:pt>
    <dgm:pt modelId="{EAC18A97-27DC-B144-A10F-9D65A986D40E}">
      <dgm:prSet/>
      <dgm:spPr>
        <a:ln>
          <a:solidFill>
            <a:schemeClr val="bg2">
              <a:lumMod val="75000"/>
            </a:schemeClr>
          </a:solidFill>
        </a:ln>
        <a:effectLst/>
      </dgm:spPr>
      <dgm:t>
        <a:bodyPr/>
        <a:lstStyle/>
        <a:p>
          <a:pPr rtl="0">
            <a:lnSpc>
              <a:spcPct val="110000"/>
            </a:lnSpc>
          </a:pPr>
          <a:r>
            <a:rPr lang="en-US" dirty="0"/>
            <a:t>Compression method</a:t>
          </a:r>
        </a:p>
      </dgm:t>
    </dgm:pt>
    <dgm:pt modelId="{897382FA-D3F0-8A45-9960-CDD2DC8CEF02}" type="parTrans" cxnId="{7C64C78D-7E39-3742-A0D7-2EAA2994F65A}">
      <dgm:prSet/>
      <dgm:spPr/>
      <dgm:t>
        <a:bodyPr/>
        <a:lstStyle/>
        <a:p>
          <a:endParaRPr lang="en-US"/>
        </a:p>
      </dgm:t>
    </dgm:pt>
    <dgm:pt modelId="{291E037F-0091-5046-B769-81F10F8B0537}" type="sibTrans" cxnId="{7C64C78D-7E39-3742-A0D7-2EAA2994F65A}">
      <dgm:prSet/>
      <dgm:spPr/>
      <dgm:t>
        <a:bodyPr/>
        <a:lstStyle/>
        <a:p>
          <a:endParaRPr lang="en-US"/>
        </a:p>
      </dgm:t>
    </dgm:pt>
    <dgm:pt modelId="{84084736-5032-0E40-B20C-7C287C5E0FEB}">
      <dgm:prSet/>
      <dgm:spPr>
        <a:effectLst/>
      </dgm:spPr>
      <dgm:t>
        <a:bodyPr/>
        <a:lstStyle/>
        <a:p>
          <a:pPr rtl="0"/>
          <a:r>
            <a:rPr lang="en-US" dirty="0"/>
            <a:t>The algorithm used to compress data prior to encryption</a:t>
          </a:r>
        </a:p>
      </dgm:t>
    </dgm:pt>
    <dgm:pt modelId="{15F5704C-38E4-A245-839A-C73B473AE95E}" type="parTrans" cxnId="{0D3112EB-CE5C-B246-B585-48C35AE78FA8}">
      <dgm:prSet/>
      <dgm:spPr/>
      <dgm:t>
        <a:bodyPr/>
        <a:lstStyle/>
        <a:p>
          <a:endParaRPr lang="en-US"/>
        </a:p>
      </dgm:t>
    </dgm:pt>
    <dgm:pt modelId="{3E2C5E80-C487-484F-81C2-E6EC6F0BCE89}" type="sibTrans" cxnId="{0D3112EB-CE5C-B246-B585-48C35AE78FA8}">
      <dgm:prSet/>
      <dgm:spPr/>
      <dgm:t>
        <a:bodyPr/>
        <a:lstStyle/>
        <a:p>
          <a:endParaRPr lang="en-US"/>
        </a:p>
      </dgm:t>
    </dgm:pt>
    <dgm:pt modelId="{9DDC117E-AF68-5843-9E99-3DC7EB25ADA0}">
      <dgm:prSet/>
      <dgm:spPr>
        <a:ln>
          <a:solidFill>
            <a:schemeClr val="bg2">
              <a:lumMod val="75000"/>
            </a:schemeClr>
          </a:solidFill>
        </a:ln>
        <a:effectLst/>
      </dgm:spPr>
      <dgm:t>
        <a:bodyPr/>
        <a:lstStyle/>
        <a:p>
          <a:pPr rtl="0">
            <a:lnSpc>
              <a:spcPct val="80000"/>
            </a:lnSpc>
          </a:pPr>
          <a:r>
            <a:rPr lang="en-US" dirty="0">
              <a:solidFill>
                <a:schemeClr val="tx1"/>
              </a:solidFill>
            </a:rPr>
            <a:t>Cipher </a:t>
          </a:r>
        </a:p>
        <a:p>
          <a:pPr rtl="0">
            <a:lnSpc>
              <a:spcPct val="80000"/>
            </a:lnSpc>
          </a:pPr>
          <a:r>
            <a:rPr lang="en-US" dirty="0">
              <a:solidFill>
                <a:schemeClr val="tx1"/>
              </a:solidFill>
            </a:rPr>
            <a:t>spec</a:t>
          </a:r>
        </a:p>
      </dgm:t>
    </dgm:pt>
    <dgm:pt modelId="{BE13CB96-9AF0-EB40-AF41-F77F7225BAC8}" type="parTrans" cxnId="{D9952184-A1AF-7549-B207-3D2B4E8A0336}">
      <dgm:prSet/>
      <dgm:spPr/>
      <dgm:t>
        <a:bodyPr/>
        <a:lstStyle/>
        <a:p>
          <a:endParaRPr lang="en-US"/>
        </a:p>
      </dgm:t>
    </dgm:pt>
    <dgm:pt modelId="{A46915E4-87C4-4043-8D96-4A661F1B3E2B}" type="sibTrans" cxnId="{D9952184-A1AF-7549-B207-3D2B4E8A0336}">
      <dgm:prSet/>
      <dgm:spPr/>
      <dgm:t>
        <a:bodyPr/>
        <a:lstStyle/>
        <a:p>
          <a:endParaRPr lang="en-US"/>
        </a:p>
      </dgm:t>
    </dgm:pt>
    <dgm:pt modelId="{0D3DBE77-5E35-034D-9AA9-AC7EC570C533}">
      <dgm:prSet/>
      <dgm:spPr>
        <a:effectLst/>
      </dgm:spPr>
      <dgm:t>
        <a:bodyPr/>
        <a:lstStyle/>
        <a:p>
          <a:pPr rtl="0"/>
          <a:r>
            <a:rPr lang="en-US" dirty="0"/>
            <a:t>Specifies the bulk data encryption algorithm and a hash algorithm used for MAC calculation; also defines cryptographic attributes such as the hash_size</a:t>
          </a:r>
        </a:p>
      </dgm:t>
    </dgm:pt>
    <dgm:pt modelId="{DAF81873-E1E9-594F-919A-4A415230D305}" type="parTrans" cxnId="{9D57014E-9CCA-0A42-8977-72017E6E5AD6}">
      <dgm:prSet/>
      <dgm:spPr/>
      <dgm:t>
        <a:bodyPr/>
        <a:lstStyle/>
        <a:p>
          <a:endParaRPr lang="en-US"/>
        </a:p>
      </dgm:t>
    </dgm:pt>
    <dgm:pt modelId="{EC93567B-72C8-174E-A031-F995A4EBEF48}" type="sibTrans" cxnId="{9D57014E-9CCA-0A42-8977-72017E6E5AD6}">
      <dgm:prSet/>
      <dgm:spPr/>
      <dgm:t>
        <a:bodyPr/>
        <a:lstStyle/>
        <a:p>
          <a:endParaRPr lang="en-US"/>
        </a:p>
      </dgm:t>
    </dgm:pt>
    <dgm:pt modelId="{E04A0AF3-F816-7549-8BAC-5B57B10D9849}">
      <dgm:prSet/>
      <dgm:spPr>
        <a:ln>
          <a:solidFill>
            <a:schemeClr val="bg2">
              <a:lumMod val="75000"/>
            </a:schemeClr>
          </a:solidFill>
        </a:ln>
        <a:effectLst/>
      </dgm:spPr>
      <dgm:t>
        <a:bodyPr/>
        <a:lstStyle/>
        <a:p>
          <a:pPr rtl="0">
            <a:lnSpc>
              <a:spcPct val="80000"/>
            </a:lnSpc>
          </a:pPr>
          <a:r>
            <a:rPr lang="en-US" dirty="0"/>
            <a:t>Master </a:t>
          </a:r>
        </a:p>
        <a:p>
          <a:pPr rtl="0">
            <a:lnSpc>
              <a:spcPct val="80000"/>
            </a:lnSpc>
          </a:pPr>
          <a:r>
            <a:rPr lang="en-US" dirty="0"/>
            <a:t>secret</a:t>
          </a:r>
        </a:p>
      </dgm:t>
    </dgm:pt>
    <dgm:pt modelId="{AC4B6122-5AE3-7240-B85F-2574A5591457}" type="parTrans" cxnId="{C45B8857-40ED-3345-B44F-3B6C77B57E6B}">
      <dgm:prSet/>
      <dgm:spPr/>
      <dgm:t>
        <a:bodyPr/>
        <a:lstStyle/>
        <a:p>
          <a:endParaRPr lang="en-US"/>
        </a:p>
      </dgm:t>
    </dgm:pt>
    <dgm:pt modelId="{C16DD06F-6B7B-7249-B403-A30F33FCD2DE}" type="sibTrans" cxnId="{C45B8857-40ED-3345-B44F-3B6C77B57E6B}">
      <dgm:prSet/>
      <dgm:spPr/>
      <dgm:t>
        <a:bodyPr/>
        <a:lstStyle/>
        <a:p>
          <a:endParaRPr lang="en-US"/>
        </a:p>
      </dgm:t>
    </dgm:pt>
    <dgm:pt modelId="{29DE9CAF-84EA-2B41-8AAB-7CE53FDA2925}">
      <dgm:prSet/>
      <dgm:spPr>
        <a:effectLst/>
      </dgm:spPr>
      <dgm:t>
        <a:bodyPr/>
        <a:lstStyle/>
        <a:p>
          <a:pPr rtl="0"/>
          <a:r>
            <a:rPr lang="en-US" dirty="0"/>
            <a:t>48-byte secret shared between the client and the server. </a:t>
          </a:r>
          <a:r>
            <a:rPr lang="en-US" dirty="0">
              <a:solidFill>
                <a:srgbClr val="FFFF00"/>
              </a:solidFill>
            </a:rPr>
            <a:t>Used to generate session keys</a:t>
          </a:r>
          <a:r>
            <a:rPr lang="en-US" dirty="0"/>
            <a:t>.</a:t>
          </a:r>
        </a:p>
        <a:p>
          <a:pPr rtl="0"/>
          <a:endParaRPr lang="en-US" dirty="0"/>
        </a:p>
      </dgm:t>
    </dgm:pt>
    <dgm:pt modelId="{001C024F-7F63-8944-9099-3F6A6333EE76}" type="parTrans" cxnId="{C16D1667-CB0E-7E42-AAB4-95E2A4D5A618}">
      <dgm:prSet/>
      <dgm:spPr/>
      <dgm:t>
        <a:bodyPr/>
        <a:lstStyle/>
        <a:p>
          <a:endParaRPr lang="en-US"/>
        </a:p>
      </dgm:t>
    </dgm:pt>
    <dgm:pt modelId="{DD7652E5-50C3-6B42-8E29-2977A697F20E}" type="sibTrans" cxnId="{C16D1667-CB0E-7E42-AAB4-95E2A4D5A618}">
      <dgm:prSet/>
      <dgm:spPr/>
      <dgm:t>
        <a:bodyPr/>
        <a:lstStyle/>
        <a:p>
          <a:endParaRPr lang="en-US"/>
        </a:p>
      </dgm:t>
    </dgm:pt>
    <dgm:pt modelId="{9557F4B9-936E-E043-881D-9E4A7CC27127}">
      <dgm:prSet/>
      <dgm:spPr>
        <a:ln>
          <a:solidFill>
            <a:schemeClr val="bg2">
              <a:lumMod val="75000"/>
            </a:schemeClr>
          </a:solidFill>
        </a:ln>
        <a:effectLst/>
      </dgm:spPr>
      <dgm:t>
        <a:bodyPr/>
        <a:lstStyle/>
        <a:p>
          <a:pPr rtl="0">
            <a:lnSpc>
              <a:spcPct val="80000"/>
            </a:lnSpc>
          </a:pPr>
          <a:r>
            <a:rPr lang="en-US" dirty="0"/>
            <a:t>Is </a:t>
          </a:r>
        </a:p>
        <a:p>
          <a:pPr rtl="0">
            <a:lnSpc>
              <a:spcPct val="80000"/>
            </a:lnSpc>
          </a:pPr>
          <a:r>
            <a:rPr lang="en-US" dirty="0"/>
            <a:t>resumable</a:t>
          </a:r>
        </a:p>
      </dgm:t>
    </dgm:pt>
    <dgm:pt modelId="{1D962CDB-B5DE-5640-AF87-83D45013C0D1}" type="parTrans" cxnId="{3F1DE502-1B73-0241-BD77-E632B5DA12EF}">
      <dgm:prSet/>
      <dgm:spPr/>
      <dgm:t>
        <a:bodyPr/>
        <a:lstStyle/>
        <a:p>
          <a:endParaRPr lang="en-US"/>
        </a:p>
      </dgm:t>
    </dgm:pt>
    <dgm:pt modelId="{D88FF403-B365-6245-9600-96CE0284BB48}" type="sibTrans" cxnId="{3F1DE502-1B73-0241-BD77-E632B5DA12EF}">
      <dgm:prSet/>
      <dgm:spPr/>
      <dgm:t>
        <a:bodyPr/>
        <a:lstStyle/>
        <a:p>
          <a:endParaRPr lang="en-US"/>
        </a:p>
      </dgm:t>
    </dgm:pt>
    <dgm:pt modelId="{62B37CCF-6C16-E740-8CD1-F8C3F4F5E504}">
      <dgm:prSet/>
      <dgm:spPr>
        <a:effectLst/>
      </dgm:spPr>
      <dgm:t>
        <a:bodyPr/>
        <a:lstStyle/>
        <a:p>
          <a:pPr rtl="0"/>
          <a:r>
            <a:rPr lang="en-US" dirty="0"/>
            <a:t>A flag indicating whether the session can be used to initiate new connections</a:t>
          </a:r>
        </a:p>
      </dgm:t>
    </dgm:pt>
    <dgm:pt modelId="{D48B0ED2-486F-724F-8430-4F50E9209C92}" type="parTrans" cxnId="{70D07AA8-7A9E-E040-B0A1-8C806D64AB74}">
      <dgm:prSet/>
      <dgm:spPr/>
      <dgm:t>
        <a:bodyPr/>
        <a:lstStyle/>
        <a:p>
          <a:endParaRPr lang="en-US"/>
        </a:p>
      </dgm:t>
    </dgm:pt>
    <dgm:pt modelId="{45430BB6-BD68-8B4C-81C7-DD655FC465ED}" type="sibTrans" cxnId="{70D07AA8-7A9E-E040-B0A1-8C806D64AB74}">
      <dgm:prSet/>
      <dgm:spPr/>
      <dgm:t>
        <a:bodyPr/>
        <a:lstStyle/>
        <a:p>
          <a:endParaRPr lang="en-US"/>
        </a:p>
      </dgm:t>
    </dgm:pt>
    <dgm:pt modelId="{BB299834-EA8B-5647-9C4B-11E8233D2609}" type="pres">
      <dgm:prSet presAssocID="{A5F3DE4E-6DAF-BD43-A85C-1EDF3C446A1E}" presName="theList" presStyleCnt="0">
        <dgm:presLayoutVars>
          <dgm:dir/>
          <dgm:animLvl val="lvl"/>
          <dgm:resizeHandles val="exact"/>
        </dgm:presLayoutVars>
      </dgm:prSet>
      <dgm:spPr/>
    </dgm:pt>
    <dgm:pt modelId="{464EE982-DDC3-3949-A999-EDC2B56F72AB}" type="pres">
      <dgm:prSet presAssocID="{6D8F7BBC-740A-8A4C-9427-D926A9BFA2DE}" presName="compNode" presStyleCnt="0"/>
      <dgm:spPr/>
    </dgm:pt>
    <dgm:pt modelId="{B978609A-B009-D04C-A3FA-8F8FE3A7D3B4}" type="pres">
      <dgm:prSet presAssocID="{6D8F7BBC-740A-8A4C-9427-D926A9BFA2DE}" presName="aNode" presStyleLbl="bgShp" presStyleIdx="0" presStyleCnt="6"/>
      <dgm:spPr/>
    </dgm:pt>
    <dgm:pt modelId="{D0F5662C-7B9A-7549-8A52-04C360B1E9DC}" type="pres">
      <dgm:prSet presAssocID="{6D8F7BBC-740A-8A4C-9427-D926A9BFA2DE}" presName="textNode" presStyleLbl="bgShp" presStyleIdx="0" presStyleCnt="6"/>
      <dgm:spPr/>
    </dgm:pt>
    <dgm:pt modelId="{BBF4867F-11FE-4C42-AEA7-E580E351FE34}" type="pres">
      <dgm:prSet presAssocID="{6D8F7BBC-740A-8A4C-9427-D926A9BFA2DE}" presName="compChildNode" presStyleCnt="0"/>
      <dgm:spPr/>
    </dgm:pt>
    <dgm:pt modelId="{31AB0319-BE67-114C-99FC-9D99BDAFB2A0}" type="pres">
      <dgm:prSet presAssocID="{6D8F7BBC-740A-8A4C-9427-D926A9BFA2DE}" presName="theInnerList" presStyleCnt="0"/>
      <dgm:spPr/>
    </dgm:pt>
    <dgm:pt modelId="{F5B6A124-B107-574E-8267-A8251DC0F0D2}" type="pres">
      <dgm:prSet presAssocID="{8382F78D-E468-3440-A64F-358F0068217D}" presName="childNode" presStyleLbl="node1" presStyleIdx="0" presStyleCnt="6">
        <dgm:presLayoutVars>
          <dgm:bulletEnabled val="1"/>
        </dgm:presLayoutVars>
      </dgm:prSet>
      <dgm:spPr/>
    </dgm:pt>
    <dgm:pt modelId="{B9BB8B99-39E6-804A-81A0-17AF29B05B79}" type="pres">
      <dgm:prSet presAssocID="{6D8F7BBC-740A-8A4C-9427-D926A9BFA2DE}" presName="aSpace" presStyleCnt="0"/>
      <dgm:spPr/>
    </dgm:pt>
    <dgm:pt modelId="{A01E68F7-EAC0-934D-BC86-DE19F6B52140}" type="pres">
      <dgm:prSet presAssocID="{C0F17812-76D6-3947-B0C3-CFA36910D4D6}" presName="compNode" presStyleCnt="0"/>
      <dgm:spPr/>
    </dgm:pt>
    <dgm:pt modelId="{37720813-09DC-0D43-8726-FEF831974E71}" type="pres">
      <dgm:prSet presAssocID="{C0F17812-76D6-3947-B0C3-CFA36910D4D6}" presName="aNode" presStyleLbl="bgShp" presStyleIdx="1" presStyleCnt="6"/>
      <dgm:spPr/>
    </dgm:pt>
    <dgm:pt modelId="{2EAC4359-044B-C54C-852D-CA2250D4A834}" type="pres">
      <dgm:prSet presAssocID="{C0F17812-76D6-3947-B0C3-CFA36910D4D6}" presName="textNode" presStyleLbl="bgShp" presStyleIdx="1" presStyleCnt="6"/>
      <dgm:spPr/>
    </dgm:pt>
    <dgm:pt modelId="{566B947D-C47D-164B-9202-922C83B41822}" type="pres">
      <dgm:prSet presAssocID="{C0F17812-76D6-3947-B0C3-CFA36910D4D6}" presName="compChildNode" presStyleCnt="0"/>
      <dgm:spPr/>
    </dgm:pt>
    <dgm:pt modelId="{61D9C7BB-E1EF-BE43-BE04-1FD66498AA63}" type="pres">
      <dgm:prSet presAssocID="{C0F17812-76D6-3947-B0C3-CFA36910D4D6}" presName="theInnerList" presStyleCnt="0"/>
      <dgm:spPr/>
    </dgm:pt>
    <dgm:pt modelId="{4BAC7494-6691-5540-9E84-64138A9590BF}" type="pres">
      <dgm:prSet presAssocID="{B16DAC5C-E172-0541-9872-8C2DDAED40A4}" presName="childNode" presStyleLbl="node1" presStyleIdx="1" presStyleCnt="6">
        <dgm:presLayoutVars>
          <dgm:bulletEnabled val="1"/>
        </dgm:presLayoutVars>
      </dgm:prSet>
      <dgm:spPr/>
    </dgm:pt>
    <dgm:pt modelId="{08838F3B-D74F-AB49-AFA2-929EE87CBD73}" type="pres">
      <dgm:prSet presAssocID="{C0F17812-76D6-3947-B0C3-CFA36910D4D6}" presName="aSpace" presStyleCnt="0"/>
      <dgm:spPr/>
    </dgm:pt>
    <dgm:pt modelId="{0B1A6265-1240-754F-956A-2747A1DC4821}" type="pres">
      <dgm:prSet presAssocID="{EAC18A97-27DC-B144-A10F-9D65A986D40E}" presName="compNode" presStyleCnt="0"/>
      <dgm:spPr/>
    </dgm:pt>
    <dgm:pt modelId="{36DE3875-DEFB-7F4C-937C-9E976FA7A00B}" type="pres">
      <dgm:prSet presAssocID="{EAC18A97-27DC-B144-A10F-9D65A986D40E}" presName="aNode" presStyleLbl="bgShp" presStyleIdx="2" presStyleCnt="6"/>
      <dgm:spPr/>
    </dgm:pt>
    <dgm:pt modelId="{9739B01C-9278-5E47-884F-AF89AE74E4CA}" type="pres">
      <dgm:prSet presAssocID="{EAC18A97-27DC-B144-A10F-9D65A986D40E}" presName="textNode" presStyleLbl="bgShp" presStyleIdx="2" presStyleCnt="6"/>
      <dgm:spPr/>
    </dgm:pt>
    <dgm:pt modelId="{2A74653C-E81F-3847-A2F9-0085DAFE6172}" type="pres">
      <dgm:prSet presAssocID="{EAC18A97-27DC-B144-A10F-9D65A986D40E}" presName="compChildNode" presStyleCnt="0"/>
      <dgm:spPr/>
    </dgm:pt>
    <dgm:pt modelId="{2C162677-248F-1744-84F0-31D64D1C4492}" type="pres">
      <dgm:prSet presAssocID="{EAC18A97-27DC-B144-A10F-9D65A986D40E}" presName="theInnerList" presStyleCnt="0"/>
      <dgm:spPr/>
    </dgm:pt>
    <dgm:pt modelId="{A418C61E-2CF9-9744-86CB-49F4785FBC10}" type="pres">
      <dgm:prSet presAssocID="{84084736-5032-0E40-B20C-7C287C5E0FEB}" presName="childNode" presStyleLbl="node1" presStyleIdx="2" presStyleCnt="6">
        <dgm:presLayoutVars>
          <dgm:bulletEnabled val="1"/>
        </dgm:presLayoutVars>
      </dgm:prSet>
      <dgm:spPr/>
    </dgm:pt>
    <dgm:pt modelId="{33464EFE-70C6-EB43-A546-9B246F8ADBE1}" type="pres">
      <dgm:prSet presAssocID="{EAC18A97-27DC-B144-A10F-9D65A986D40E}" presName="aSpace" presStyleCnt="0"/>
      <dgm:spPr/>
    </dgm:pt>
    <dgm:pt modelId="{A6DD7631-F4B0-B949-A0E9-8F08D259D152}" type="pres">
      <dgm:prSet presAssocID="{9DDC117E-AF68-5843-9E99-3DC7EB25ADA0}" presName="compNode" presStyleCnt="0"/>
      <dgm:spPr/>
    </dgm:pt>
    <dgm:pt modelId="{2E7FED49-57CD-7745-80D7-28C445B0D9DA}" type="pres">
      <dgm:prSet presAssocID="{9DDC117E-AF68-5843-9E99-3DC7EB25ADA0}" presName="aNode" presStyleLbl="bgShp" presStyleIdx="3" presStyleCnt="6"/>
      <dgm:spPr/>
    </dgm:pt>
    <dgm:pt modelId="{B564A802-7FA2-394B-9520-FF6525729638}" type="pres">
      <dgm:prSet presAssocID="{9DDC117E-AF68-5843-9E99-3DC7EB25ADA0}" presName="textNode" presStyleLbl="bgShp" presStyleIdx="3" presStyleCnt="6"/>
      <dgm:spPr/>
    </dgm:pt>
    <dgm:pt modelId="{EF885A03-BC38-B746-916C-EBE2278C6E84}" type="pres">
      <dgm:prSet presAssocID="{9DDC117E-AF68-5843-9E99-3DC7EB25ADA0}" presName="compChildNode" presStyleCnt="0"/>
      <dgm:spPr/>
    </dgm:pt>
    <dgm:pt modelId="{E521B996-2D09-D94C-8F24-8CE6C2164159}" type="pres">
      <dgm:prSet presAssocID="{9DDC117E-AF68-5843-9E99-3DC7EB25ADA0}" presName="theInnerList" presStyleCnt="0"/>
      <dgm:spPr/>
    </dgm:pt>
    <dgm:pt modelId="{CF5F0EF7-9814-CF4C-9A4C-692818C28C28}" type="pres">
      <dgm:prSet presAssocID="{0D3DBE77-5E35-034D-9AA9-AC7EC570C533}" presName="childNode" presStyleLbl="node1" presStyleIdx="3" presStyleCnt="6">
        <dgm:presLayoutVars>
          <dgm:bulletEnabled val="1"/>
        </dgm:presLayoutVars>
      </dgm:prSet>
      <dgm:spPr/>
    </dgm:pt>
    <dgm:pt modelId="{BF77C866-12BD-D244-82CA-DC23E3573972}" type="pres">
      <dgm:prSet presAssocID="{9DDC117E-AF68-5843-9E99-3DC7EB25ADA0}" presName="aSpace" presStyleCnt="0"/>
      <dgm:spPr/>
    </dgm:pt>
    <dgm:pt modelId="{2639D4D7-E102-D24D-8606-0BCDB094917E}" type="pres">
      <dgm:prSet presAssocID="{E04A0AF3-F816-7549-8BAC-5B57B10D9849}" presName="compNode" presStyleCnt="0"/>
      <dgm:spPr/>
    </dgm:pt>
    <dgm:pt modelId="{E28B94FF-AA50-DA49-9E33-283EB97B697F}" type="pres">
      <dgm:prSet presAssocID="{E04A0AF3-F816-7549-8BAC-5B57B10D9849}" presName="aNode" presStyleLbl="bgShp" presStyleIdx="4" presStyleCnt="6"/>
      <dgm:spPr/>
    </dgm:pt>
    <dgm:pt modelId="{DE3CB904-78B6-C841-89E7-1CF134B844EC}" type="pres">
      <dgm:prSet presAssocID="{E04A0AF3-F816-7549-8BAC-5B57B10D9849}" presName="textNode" presStyleLbl="bgShp" presStyleIdx="4" presStyleCnt="6"/>
      <dgm:spPr/>
    </dgm:pt>
    <dgm:pt modelId="{C0067FC1-6347-2241-8F5B-D30789273798}" type="pres">
      <dgm:prSet presAssocID="{E04A0AF3-F816-7549-8BAC-5B57B10D9849}" presName="compChildNode" presStyleCnt="0"/>
      <dgm:spPr/>
    </dgm:pt>
    <dgm:pt modelId="{17AA235E-561E-C44D-AB0F-E1DBADDF8386}" type="pres">
      <dgm:prSet presAssocID="{E04A0AF3-F816-7549-8BAC-5B57B10D9849}" presName="theInnerList" presStyleCnt="0"/>
      <dgm:spPr/>
    </dgm:pt>
    <dgm:pt modelId="{BE87C3C9-B00C-F944-85FE-8E09483A0354}" type="pres">
      <dgm:prSet presAssocID="{29DE9CAF-84EA-2B41-8AAB-7CE53FDA2925}" presName="childNode" presStyleLbl="node1" presStyleIdx="4" presStyleCnt="6">
        <dgm:presLayoutVars>
          <dgm:bulletEnabled val="1"/>
        </dgm:presLayoutVars>
      </dgm:prSet>
      <dgm:spPr/>
    </dgm:pt>
    <dgm:pt modelId="{51A881CE-37C7-2E49-9FB8-1D239CA487EA}" type="pres">
      <dgm:prSet presAssocID="{E04A0AF3-F816-7549-8BAC-5B57B10D9849}" presName="aSpace" presStyleCnt="0"/>
      <dgm:spPr/>
    </dgm:pt>
    <dgm:pt modelId="{35D51A9C-7BF8-9048-94BF-26D702AE33B0}" type="pres">
      <dgm:prSet presAssocID="{9557F4B9-936E-E043-881D-9E4A7CC27127}" presName="compNode" presStyleCnt="0"/>
      <dgm:spPr/>
    </dgm:pt>
    <dgm:pt modelId="{2087E774-7261-444D-9D7A-25920C44F10F}" type="pres">
      <dgm:prSet presAssocID="{9557F4B9-936E-E043-881D-9E4A7CC27127}" presName="aNode" presStyleLbl="bgShp" presStyleIdx="5" presStyleCnt="6"/>
      <dgm:spPr/>
    </dgm:pt>
    <dgm:pt modelId="{0C96AA60-F4E3-CA4A-918F-5322A6FA48AF}" type="pres">
      <dgm:prSet presAssocID="{9557F4B9-936E-E043-881D-9E4A7CC27127}" presName="textNode" presStyleLbl="bgShp" presStyleIdx="5" presStyleCnt="6"/>
      <dgm:spPr/>
    </dgm:pt>
    <dgm:pt modelId="{0A8A5E02-C49B-8845-B244-1947BFB25DE5}" type="pres">
      <dgm:prSet presAssocID="{9557F4B9-936E-E043-881D-9E4A7CC27127}" presName="compChildNode" presStyleCnt="0"/>
      <dgm:spPr/>
    </dgm:pt>
    <dgm:pt modelId="{305BCD54-624B-3E48-A0F2-6DBD5432072D}" type="pres">
      <dgm:prSet presAssocID="{9557F4B9-936E-E043-881D-9E4A7CC27127}" presName="theInnerList" presStyleCnt="0"/>
      <dgm:spPr/>
    </dgm:pt>
    <dgm:pt modelId="{F83743C7-8ED2-464F-BBBA-644492BEC57B}" type="pres">
      <dgm:prSet presAssocID="{62B37CCF-6C16-E740-8CD1-F8C3F4F5E504}" presName="childNode" presStyleLbl="node1" presStyleIdx="5" presStyleCnt="6">
        <dgm:presLayoutVars>
          <dgm:bulletEnabled val="1"/>
        </dgm:presLayoutVars>
      </dgm:prSet>
      <dgm:spPr/>
    </dgm:pt>
  </dgm:ptLst>
  <dgm:cxnLst>
    <dgm:cxn modelId="{3F1DE502-1B73-0241-BD77-E632B5DA12EF}" srcId="{A5F3DE4E-6DAF-BD43-A85C-1EDF3C446A1E}" destId="{9557F4B9-936E-E043-881D-9E4A7CC27127}" srcOrd="5" destOrd="0" parTransId="{1D962CDB-B5DE-5640-AF87-83D45013C0D1}" sibTransId="{D88FF403-B365-6245-9600-96CE0284BB48}"/>
    <dgm:cxn modelId="{3ACA3624-637F-6548-93AD-BE719837A42B}" type="presOf" srcId="{29DE9CAF-84EA-2B41-8AAB-7CE53FDA2925}" destId="{BE87C3C9-B00C-F944-85FE-8E09483A0354}" srcOrd="0" destOrd="0" presId="urn:microsoft.com/office/officeart/2005/8/layout/lProcess2"/>
    <dgm:cxn modelId="{5816B925-26CE-0E4B-A5BB-71F244622A22}" type="presOf" srcId="{6D8F7BBC-740A-8A4C-9427-D926A9BFA2DE}" destId="{B978609A-B009-D04C-A3FA-8F8FE3A7D3B4}" srcOrd="0" destOrd="0" presId="urn:microsoft.com/office/officeart/2005/8/layout/lProcess2"/>
    <dgm:cxn modelId="{3C04E82B-CA9D-A449-9B36-76D94CAFF0E7}" type="presOf" srcId="{9557F4B9-936E-E043-881D-9E4A7CC27127}" destId="{2087E774-7261-444D-9D7A-25920C44F10F}" srcOrd="0" destOrd="0" presId="urn:microsoft.com/office/officeart/2005/8/layout/lProcess2"/>
    <dgm:cxn modelId="{4358CB37-A123-4944-B89D-91F0C9AA1EB9}" type="presOf" srcId="{EAC18A97-27DC-B144-A10F-9D65A986D40E}" destId="{9739B01C-9278-5E47-884F-AF89AE74E4CA}" srcOrd="1" destOrd="0" presId="urn:microsoft.com/office/officeart/2005/8/layout/lProcess2"/>
    <dgm:cxn modelId="{CE61E241-35A3-9545-9456-1984EC603512}" type="presOf" srcId="{0D3DBE77-5E35-034D-9AA9-AC7EC570C533}" destId="{CF5F0EF7-9814-CF4C-9A4C-692818C28C28}" srcOrd="0" destOrd="0" presId="urn:microsoft.com/office/officeart/2005/8/layout/lProcess2"/>
    <dgm:cxn modelId="{669FA842-06CA-0B4B-ADCC-08C64B1FEE5E}" type="presOf" srcId="{E04A0AF3-F816-7549-8BAC-5B57B10D9849}" destId="{DE3CB904-78B6-C841-89E7-1CF134B844EC}" srcOrd="1" destOrd="0" presId="urn:microsoft.com/office/officeart/2005/8/layout/lProcess2"/>
    <dgm:cxn modelId="{E064704C-9784-8941-ADF2-FAA46BA82299}" type="presOf" srcId="{C0F17812-76D6-3947-B0C3-CFA36910D4D6}" destId="{2EAC4359-044B-C54C-852D-CA2250D4A834}" srcOrd="1" destOrd="0" presId="urn:microsoft.com/office/officeart/2005/8/layout/lProcess2"/>
    <dgm:cxn modelId="{9D57014E-9CCA-0A42-8977-72017E6E5AD6}" srcId="{9DDC117E-AF68-5843-9E99-3DC7EB25ADA0}" destId="{0D3DBE77-5E35-034D-9AA9-AC7EC570C533}" srcOrd="0" destOrd="0" parTransId="{DAF81873-E1E9-594F-919A-4A415230D305}" sibTransId="{EC93567B-72C8-174E-A031-F995A4EBEF48}"/>
    <dgm:cxn modelId="{3A735F51-8B56-CB45-B5B0-D4E894F2618E}" type="presOf" srcId="{84084736-5032-0E40-B20C-7C287C5E0FEB}" destId="{A418C61E-2CF9-9744-86CB-49F4785FBC10}" srcOrd="0" destOrd="0" presId="urn:microsoft.com/office/officeart/2005/8/layout/lProcess2"/>
    <dgm:cxn modelId="{0E36F051-9998-A24C-B8FE-680512D883CC}" type="presOf" srcId="{E04A0AF3-F816-7549-8BAC-5B57B10D9849}" destId="{E28B94FF-AA50-DA49-9E33-283EB97B697F}" srcOrd="0" destOrd="0" presId="urn:microsoft.com/office/officeart/2005/8/layout/lProcess2"/>
    <dgm:cxn modelId="{C45B8857-40ED-3345-B44F-3B6C77B57E6B}" srcId="{A5F3DE4E-6DAF-BD43-A85C-1EDF3C446A1E}" destId="{E04A0AF3-F816-7549-8BAC-5B57B10D9849}" srcOrd="4" destOrd="0" parTransId="{AC4B6122-5AE3-7240-B85F-2574A5591457}" sibTransId="{C16DD06F-6B7B-7249-B403-A30F33FCD2DE}"/>
    <dgm:cxn modelId="{A27C7563-1AEC-E24E-8D30-AB0409BA9728}" type="presOf" srcId="{9557F4B9-936E-E043-881D-9E4A7CC27127}" destId="{0C96AA60-F4E3-CA4A-918F-5322A6FA48AF}" srcOrd="1" destOrd="0" presId="urn:microsoft.com/office/officeart/2005/8/layout/lProcess2"/>
    <dgm:cxn modelId="{ACFF7963-76A3-BA4B-A167-2FB404C3D4A0}" type="presOf" srcId="{62B37CCF-6C16-E740-8CD1-F8C3F4F5E504}" destId="{F83743C7-8ED2-464F-BBBA-644492BEC57B}" srcOrd="0" destOrd="0" presId="urn:microsoft.com/office/officeart/2005/8/layout/lProcess2"/>
    <dgm:cxn modelId="{C16D1667-CB0E-7E42-AAB4-95E2A4D5A618}" srcId="{E04A0AF3-F816-7549-8BAC-5B57B10D9849}" destId="{29DE9CAF-84EA-2B41-8AAB-7CE53FDA2925}" srcOrd="0" destOrd="0" parTransId="{001C024F-7F63-8944-9099-3F6A6333EE76}" sibTransId="{DD7652E5-50C3-6B42-8E29-2977A697F20E}"/>
    <dgm:cxn modelId="{60CACC73-1B0D-3D4F-8E42-8F9E7FFA167D}" type="presOf" srcId="{8382F78D-E468-3440-A64F-358F0068217D}" destId="{F5B6A124-B107-574E-8267-A8251DC0F0D2}" srcOrd="0" destOrd="0" presId="urn:microsoft.com/office/officeart/2005/8/layout/lProcess2"/>
    <dgm:cxn modelId="{BE973F7A-A45E-064F-8DFB-54B076F7E5C4}" srcId="{6D8F7BBC-740A-8A4C-9427-D926A9BFA2DE}" destId="{8382F78D-E468-3440-A64F-358F0068217D}" srcOrd="0" destOrd="0" parTransId="{8684C6DD-2A2D-E341-814F-017F710512BD}" sibTransId="{29540A49-E937-BF4B-A577-E1F780233507}"/>
    <dgm:cxn modelId="{9E42A67C-6F29-554A-8966-156150F089E5}" srcId="{A5F3DE4E-6DAF-BD43-A85C-1EDF3C446A1E}" destId="{C0F17812-76D6-3947-B0C3-CFA36910D4D6}" srcOrd="1" destOrd="0" parTransId="{8540C46F-3385-454E-A116-6B08CEA58899}" sibTransId="{F928645F-1274-7143-9D00-63762A22A143}"/>
    <dgm:cxn modelId="{F76FD580-A0E4-2C4A-B4F5-0D3AB89491FD}" srcId="{C0F17812-76D6-3947-B0C3-CFA36910D4D6}" destId="{B16DAC5C-E172-0541-9872-8C2DDAED40A4}" srcOrd="0" destOrd="0" parTransId="{13E26DD3-EB3A-014C-9990-21D0E465E280}" sibTransId="{320D4051-8026-2641-850B-AFBDB95578E2}"/>
    <dgm:cxn modelId="{D9952184-A1AF-7549-B207-3D2B4E8A0336}" srcId="{A5F3DE4E-6DAF-BD43-A85C-1EDF3C446A1E}" destId="{9DDC117E-AF68-5843-9E99-3DC7EB25ADA0}" srcOrd="3" destOrd="0" parTransId="{BE13CB96-9AF0-EB40-AF41-F77F7225BAC8}" sibTransId="{A46915E4-87C4-4043-8D96-4A661F1B3E2B}"/>
    <dgm:cxn modelId="{FEAAAD84-B4A9-9D45-BFBA-CA033977A1E7}" srcId="{A5F3DE4E-6DAF-BD43-A85C-1EDF3C446A1E}" destId="{6D8F7BBC-740A-8A4C-9427-D926A9BFA2DE}" srcOrd="0" destOrd="0" parTransId="{64F76874-9A4B-1D4C-A998-0F023B628B9C}" sibTransId="{A6DA4D64-9DEE-4A49-BD3D-CB1138ABD119}"/>
    <dgm:cxn modelId="{6724C98A-5A8D-FD45-8829-CF9382139D1B}" type="presOf" srcId="{EAC18A97-27DC-B144-A10F-9D65A986D40E}" destId="{36DE3875-DEFB-7F4C-937C-9E976FA7A00B}" srcOrd="0" destOrd="0" presId="urn:microsoft.com/office/officeart/2005/8/layout/lProcess2"/>
    <dgm:cxn modelId="{7C64C78D-7E39-3742-A0D7-2EAA2994F65A}" srcId="{A5F3DE4E-6DAF-BD43-A85C-1EDF3C446A1E}" destId="{EAC18A97-27DC-B144-A10F-9D65A986D40E}" srcOrd="2" destOrd="0" parTransId="{897382FA-D3F0-8A45-9960-CDD2DC8CEF02}" sibTransId="{291E037F-0091-5046-B769-81F10F8B0537}"/>
    <dgm:cxn modelId="{0FF88C90-E955-864B-B795-FCC00C73C55D}" type="presOf" srcId="{A5F3DE4E-6DAF-BD43-A85C-1EDF3C446A1E}" destId="{BB299834-EA8B-5647-9C4B-11E8233D2609}" srcOrd="0" destOrd="0" presId="urn:microsoft.com/office/officeart/2005/8/layout/lProcess2"/>
    <dgm:cxn modelId="{E9CB4AA2-318A-5546-A546-9CA45F09BDDA}" type="presOf" srcId="{C0F17812-76D6-3947-B0C3-CFA36910D4D6}" destId="{37720813-09DC-0D43-8726-FEF831974E71}" srcOrd="0" destOrd="0" presId="urn:microsoft.com/office/officeart/2005/8/layout/lProcess2"/>
    <dgm:cxn modelId="{70D07AA8-7A9E-E040-B0A1-8C806D64AB74}" srcId="{9557F4B9-936E-E043-881D-9E4A7CC27127}" destId="{62B37CCF-6C16-E740-8CD1-F8C3F4F5E504}" srcOrd="0" destOrd="0" parTransId="{D48B0ED2-486F-724F-8430-4F50E9209C92}" sibTransId="{45430BB6-BD68-8B4C-81C7-DD655FC465ED}"/>
    <dgm:cxn modelId="{76AFC8B4-8D27-0B46-9DF5-09D88A5D8B78}" type="presOf" srcId="{9DDC117E-AF68-5843-9E99-3DC7EB25ADA0}" destId="{B564A802-7FA2-394B-9520-FF6525729638}" srcOrd="1" destOrd="0" presId="urn:microsoft.com/office/officeart/2005/8/layout/lProcess2"/>
    <dgm:cxn modelId="{5ED3E9C9-9DBE-1C48-8412-3CB572BDA2C3}" type="presOf" srcId="{6D8F7BBC-740A-8A4C-9427-D926A9BFA2DE}" destId="{D0F5662C-7B9A-7549-8A52-04C360B1E9DC}" srcOrd="1" destOrd="0" presId="urn:microsoft.com/office/officeart/2005/8/layout/lProcess2"/>
    <dgm:cxn modelId="{71C92BE5-8210-AC44-8EF9-98389660784D}" type="presOf" srcId="{9DDC117E-AF68-5843-9E99-3DC7EB25ADA0}" destId="{2E7FED49-57CD-7745-80D7-28C445B0D9DA}" srcOrd="0" destOrd="0" presId="urn:microsoft.com/office/officeart/2005/8/layout/lProcess2"/>
    <dgm:cxn modelId="{0D3112EB-CE5C-B246-B585-48C35AE78FA8}" srcId="{EAC18A97-27DC-B144-A10F-9D65A986D40E}" destId="{84084736-5032-0E40-B20C-7C287C5E0FEB}" srcOrd="0" destOrd="0" parTransId="{15F5704C-38E4-A245-839A-C73B473AE95E}" sibTransId="{3E2C5E80-C487-484F-81C2-E6EC6F0BCE89}"/>
    <dgm:cxn modelId="{89F480FA-9754-C148-BF6C-95580A401F86}" type="presOf" srcId="{B16DAC5C-E172-0541-9872-8C2DDAED40A4}" destId="{4BAC7494-6691-5540-9E84-64138A9590BF}" srcOrd="0" destOrd="0" presId="urn:microsoft.com/office/officeart/2005/8/layout/lProcess2"/>
    <dgm:cxn modelId="{B83B3778-5632-2D43-857E-3A466FD46289}" type="presParOf" srcId="{BB299834-EA8B-5647-9C4B-11E8233D2609}" destId="{464EE982-DDC3-3949-A999-EDC2B56F72AB}" srcOrd="0" destOrd="0" presId="urn:microsoft.com/office/officeart/2005/8/layout/lProcess2"/>
    <dgm:cxn modelId="{75D75491-6329-EC41-BA07-719A740CF22F}" type="presParOf" srcId="{464EE982-DDC3-3949-A999-EDC2B56F72AB}" destId="{B978609A-B009-D04C-A3FA-8F8FE3A7D3B4}" srcOrd="0" destOrd="0" presId="urn:microsoft.com/office/officeart/2005/8/layout/lProcess2"/>
    <dgm:cxn modelId="{6CBC6428-C6E7-C843-ACC6-EF984E574A39}" type="presParOf" srcId="{464EE982-DDC3-3949-A999-EDC2B56F72AB}" destId="{D0F5662C-7B9A-7549-8A52-04C360B1E9DC}" srcOrd="1" destOrd="0" presId="urn:microsoft.com/office/officeart/2005/8/layout/lProcess2"/>
    <dgm:cxn modelId="{A616C005-537A-FE40-A96F-23AB0DC8ADDD}" type="presParOf" srcId="{464EE982-DDC3-3949-A999-EDC2B56F72AB}" destId="{BBF4867F-11FE-4C42-AEA7-E580E351FE34}" srcOrd="2" destOrd="0" presId="urn:microsoft.com/office/officeart/2005/8/layout/lProcess2"/>
    <dgm:cxn modelId="{2088E431-B96E-A14E-9F83-536E2E3429F6}" type="presParOf" srcId="{BBF4867F-11FE-4C42-AEA7-E580E351FE34}" destId="{31AB0319-BE67-114C-99FC-9D99BDAFB2A0}" srcOrd="0" destOrd="0" presId="urn:microsoft.com/office/officeart/2005/8/layout/lProcess2"/>
    <dgm:cxn modelId="{3A9283A8-6C6C-A644-B778-4C7451924330}" type="presParOf" srcId="{31AB0319-BE67-114C-99FC-9D99BDAFB2A0}" destId="{F5B6A124-B107-574E-8267-A8251DC0F0D2}" srcOrd="0" destOrd="0" presId="urn:microsoft.com/office/officeart/2005/8/layout/lProcess2"/>
    <dgm:cxn modelId="{8A3490E4-BA84-5A44-90C1-8127B0ED97F2}" type="presParOf" srcId="{BB299834-EA8B-5647-9C4B-11E8233D2609}" destId="{B9BB8B99-39E6-804A-81A0-17AF29B05B79}" srcOrd="1" destOrd="0" presId="urn:microsoft.com/office/officeart/2005/8/layout/lProcess2"/>
    <dgm:cxn modelId="{D959E712-4B68-9E40-A73D-AECBF3A38814}" type="presParOf" srcId="{BB299834-EA8B-5647-9C4B-11E8233D2609}" destId="{A01E68F7-EAC0-934D-BC86-DE19F6B52140}" srcOrd="2" destOrd="0" presId="urn:microsoft.com/office/officeart/2005/8/layout/lProcess2"/>
    <dgm:cxn modelId="{B7C942FF-463C-4446-A4D6-23DA5DE1A30E}" type="presParOf" srcId="{A01E68F7-EAC0-934D-BC86-DE19F6B52140}" destId="{37720813-09DC-0D43-8726-FEF831974E71}" srcOrd="0" destOrd="0" presId="urn:microsoft.com/office/officeart/2005/8/layout/lProcess2"/>
    <dgm:cxn modelId="{3952D1EF-D9B2-F44A-9F07-DBC2DF076686}" type="presParOf" srcId="{A01E68F7-EAC0-934D-BC86-DE19F6B52140}" destId="{2EAC4359-044B-C54C-852D-CA2250D4A834}" srcOrd="1" destOrd="0" presId="urn:microsoft.com/office/officeart/2005/8/layout/lProcess2"/>
    <dgm:cxn modelId="{8D222557-E374-B044-B6B9-49CE3EC30CA1}" type="presParOf" srcId="{A01E68F7-EAC0-934D-BC86-DE19F6B52140}" destId="{566B947D-C47D-164B-9202-922C83B41822}" srcOrd="2" destOrd="0" presId="urn:microsoft.com/office/officeart/2005/8/layout/lProcess2"/>
    <dgm:cxn modelId="{2469B93D-E96A-8142-BD13-61D1565F65D7}" type="presParOf" srcId="{566B947D-C47D-164B-9202-922C83B41822}" destId="{61D9C7BB-E1EF-BE43-BE04-1FD66498AA63}" srcOrd="0" destOrd="0" presId="urn:microsoft.com/office/officeart/2005/8/layout/lProcess2"/>
    <dgm:cxn modelId="{26AFE4F8-871A-9747-A227-1EDAA86AE01D}" type="presParOf" srcId="{61D9C7BB-E1EF-BE43-BE04-1FD66498AA63}" destId="{4BAC7494-6691-5540-9E84-64138A9590BF}" srcOrd="0" destOrd="0" presId="urn:microsoft.com/office/officeart/2005/8/layout/lProcess2"/>
    <dgm:cxn modelId="{D3EA42CE-FF02-CA44-BE62-A2AF693918CD}" type="presParOf" srcId="{BB299834-EA8B-5647-9C4B-11E8233D2609}" destId="{08838F3B-D74F-AB49-AFA2-929EE87CBD73}" srcOrd="3" destOrd="0" presId="urn:microsoft.com/office/officeart/2005/8/layout/lProcess2"/>
    <dgm:cxn modelId="{CF413DC6-623C-5248-B2A3-9B1E6937E882}" type="presParOf" srcId="{BB299834-EA8B-5647-9C4B-11E8233D2609}" destId="{0B1A6265-1240-754F-956A-2747A1DC4821}" srcOrd="4" destOrd="0" presId="urn:microsoft.com/office/officeart/2005/8/layout/lProcess2"/>
    <dgm:cxn modelId="{AB1F9342-1367-A046-952B-B5586C3744D6}" type="presParOf" srcId="{0B1A6265-1240-754F-956A-2747A1DC4821}" destId="{36DE3875-DEFB-7F4C-937C-9E976FA7A00B}" srcOrd="0" destOrd="0" presId="urn:microsoft.com/office/officeart/2005/8/layout/lProcess2"/>
    <dgm:cxn modelId="{30A16EB6-83E7-5944-9E19-1EF7CB1173DF}" type="presParOf" srcId="{0B1A6265-1240-754F-956A-2747A1DC4821}" destId="{9739B01C-9278-5E47-884F-AF89AE74E4CA}" srcOrd="1" destOrd="0" presId="urn:microsoft.com/office/officeart/2005/8/layout/lProcess2"/>
    <dgm:cxn modelId="{99B57F51-CA35-9E40-8227-10D8B7E930D9}" type="presParOf" srcId="{0B1A6265-1240-754F-956A-2747A1DC4821}" destId="{2A74653C-E81F-3847-A2F9-0085DAFE6172}" srcOrd="2" destOrd="0" presId="urn:microsoft.com/office/officeart/2005/8/layout/lProcess2"/>
    <dgm:cxn modelId="{41CDDAA5-C96D-384E-8D4E-3C67325B1660}" type="presParOf" srcId="{2A74653C-E81F-3847-A2F9-0085DAFE6172}" destId="{2C162677-248F-1744-84F0-31D64D1C4492}" srcOrd="0" destOrd="0" presId="urn:microsoft.com/office/officeart/2005/8/layout/lProcess2"/>
    <dgm:cxn modelId="{7CD63002-2B13-7B4D-8820-0F7F9C42A238}" type="presParOf" srcId="{2C162677-248F-1744-84F0-31D64D1C4492}" destId="{A418C61E-2CF9-9744-86CB-49F4785FBC10}" srcOrd="0" destOrd="0" presId="urn:microsoft.com/office/officeart/2005/8/layout/lProcess2"/>
    <dgm:cxn modelId="{44B68265-35B6-A945-865A-D1583693353F}" type="presParOf" srcId="{BB299834-EA8B-5647-9C4B-11E8233D2609}" destId="{33464EFE-70C6-EB43-A546-9B246F8ADBE1}" srcOrd="5" destOrd="0" presId="urn:microsoft.com/office/officeart/2005/8/layout/lProcess2"/>
    <dgm:cxn modelId="{2A0626DC-4A69-3344-A11F-87ED8749E2E6}" type="presParOf" srcId="{BB299834-EA8B-5647-9C4B-11E8233D2609}" destId="{A6DD7631-F4B0-B949-A0E9-8F08D259D152}" srcOrd="6" destOrd="0" presId="urn:microsoft.com/office/officeart/2005/8/layout/lProcess2"/>
    <dgm:cxn modelId="{E5FAAF39-0AC0-1D45-8B9A-00485D2C7DAF}" type="presParOf" srcId="{A6DD7631-F4B0-B949-A0E9-8F08D259D152}" destId="{2E7FED49-57CD-7745-80D7-28C445B0D9DA}" srcOrd="0" destOrd="0" presId="urn:microsoft.com/office/officeart/2005/8/layout/lProcess2"/>
    <dgm:cxn modelId="{2A1993EA-F29A-7146-99DA-7EC127082116}" type="presParOf" srcId="{A6DD7631-F4B0-B949-A0E9-8F08D259D152}" destId="{B564A802-7FA2-394B-9520-FF6525729638}" srcOrd="1" destOrd="0" presId="urn:microsoft.com/office/officeart/2005/8/layout/lProcess2"/>
    <dgm:cxn modelId="{E24B3732-BD87-DE45-95C9-1970E691ADCF}" type="presParOf" srcId="{A6DD7631-F4B0-B949-A0E9-8F08D259D152}" destId="{EF885A03-BC38-B746-916C-EBE2278C6E84}" srcOrd="2" destOrd="0" presId="urn:microsoft.com/office/officeart/2005/8/layout/lProcess2"/>
    <dgm:cxn modelId="{02285B5E-5DFC-614F-A8C9-010621F092E5}" type="presParOf" srcId="{EF885A03-BC38-B746-916C-EBE2278C6E84}" destId="{E521B996-2D09-D94C-8F24-8CE6C2164159}" srcOrd="0" destOrd="0" presId="urn:microsoft.com/office/officeart/2005/8/layout/lProcess2"/>
    <dgm:cxn modelId="{CA4B8791-498A-384E-A6FD-8F25293CA51A}" type="presParOf" srcId="{E521B996-2D09-D94C-8F24-8CE6C2164159}" destId="{CF5F0EF7-9814-CF4C-9A4C-692818C28C28}" srcOrd="0" destOrd="0" presId="urn:microsoft.com/office/officeart/2005/8/layout/lProcess2"/>
    <dgm:cxn modelId="{EDBF058D-3C5A-3F4B-B3C0-D2996E7667C5}" type="presParOf" srcId="{BB299834-EA8B-5647-9C4B-11E8233D2609}" destId="{BF77C866-12BD-D244-82CA-DC23E3573972}" srcOrd="7" destOrd="0" presId="urn:microsoft.com/office/officeart/2005/8/layout/lProcess2"/>
    <dgm:cxn modelId="{F42377F5-6D32-9849-B1B8-F1A853240681}" type="presParOf" srcId="{BB299834-EA8B-5647-9C4B-11E8233D2609}" destId="{2639D4D7-E102-D24D-8606-0BCDB094917E}" srcOrd="8" destOrd="0" presId="urn:microsoft.com/office/officeart/2005/8/layout/lProcess2"/>
    <dgm:cxn modelId="{DC1972E2-B721-4142-A59D-5C9005C3F335}" type="presParOf" srcId="{2639D4D7-E102-D24D-8606-0BCDB094917E}" destId="{E28B94FF-AA50-DA49-9E33-283EB97B697F}" srcOrd="0" destOrd="0" presId="urn:microsoft.com/office/officeart/2005/8/layout/lProcess2"/>
    <dgm:cxn modelId="{D28AB88D-892A-924C-9811-D46473C3306F}" type="presParOf" srcId="{2639D4D7-E102-D24D-8606-0BCDB094917E}" destId="{DE3CB904-78B6-C841-89E7-1CF134B844EC}" srcOrd="1" destOrd="0" presId="urn:microsoft.com/office/officeart/2005/8/layout/lProcess2"/>
    <dgm:cxn modelId="{CB052DA5-D30B-E444-AAEE-E36D7AB80A77}" type="presParOf" srcId="{2639D4D7-E102-D24D-8606-0BCDB094917E}" destId="{C0067FC1-6347-2241-8F5B-D30789273798}" srcOrd="2" destOrd="0" presId="urn:microsoft.com/office/officeart/2005/8/layout/lProcess2"/>
    <dgm:cxn modelId="{0EDE602A-FACD-C844-B0EE-CDE98BC2C201}" type="presParOf" srcId="{C0067FC1-6347-2241-8F5B-D30789273798}" destId="{17AA235E-561E-C44D-AB0F-E1DBADDF8386}" srcOrd="0" destOrd="0" presId="urn:microsoft.com/office/officeart/2005/8/layout/lProcess2"/>
    <dgm:cxn modelId="{E2D45B4B-8239-5241-BB1C-9EBAEBEFADEC}" type="presParOf" srcId="{17AA235E-561E-C44D-AB0F-E1DBADDF8386}" destId="{BE87C3C9-B00C-F944-85FE-8E09483A0354}" srcOrd="0" destOrd="0" presId="urn:microsoft.com/office/officeart/2005/8/layout/lProcess2"/>
    <dgm:cxn modelId="{F4CD1278-BD10-0D46-A3D5-2620600DF5C3}" type="presParOf" srcId="{BB299834-EA8B-5647-9C4B-11E8233D2609}" destId="{51A881CE-37C7-2E49-9FB8-1D239CA487EA}" srcOrd="9" destOrd="0" presId="urn:microsoft.com/office/officeart/2005/8/layout/lProcess2"/>
    <dgm:cxn modelId="{A3A14D3A-9F33-ED4C-BB94-5F703AE5F47E}" type="presParOf" srcId="{BB299834-EA8B-5647-9C4B-11E8233D2609}" destId="{35D51A9C-7BF8-9048-94BF-26D702AE33B0}" srcOrd="10" destOrd="0" presId="urn:microsoft.com/office/officeart/2005/8/layout/lProcess2"/>
    <dgm:cxn modelId="{216C7638-9B10-BB4E-A9A3-D8B6D8912C7E}" type="presParOf" srcId="{35D51A9C-7BF8-9048-94BF-26D702AE33B0}" destId="{2087E774-7261-444D-9D7A-25920C44F10F}" srcOrd="0" destOrd="0" presId="urn:microsoft.com/office/officeart/2005/8/layout/lProcess2"/>
    <dgm:cxn modelId="{9E19CAF6-AC57-614E-BEAE-C2453EB66805}" type="presParOf" srcId="{35D51A9C-7BF8-9048-94BF-26D702AE33B0}" destId="{0C96AA60-F4E3-CA4A-918F-5322A6FA48AF}" srcOrd="1" destOrd="0" presId="urn:microsoft.com/office/officeart/2005/8/layout/lProcess2"/>
    <dgm:cxn modelId="{D25FD51F-8F90-AF45-ADA1-839CBBF99557}" type="presParOf" srcId="{35D51A9C-7BF8-9048-94BF-26D702AE33B0}" destId="{0A8A5E02-C49B-8845-B244-1947BFB25DE5}" srcOrd="2" destOrd="0" presId="urn:microsoft.com/office/officeart/2005/8/layout/lProcess2"/>
    <dgm:cxn modelId="{752FD3CC-E572-F243-A387-DD08C6E84D35}" type="presParOf" srcId="{0A8A5E02-C49B-8845-B244-1947BFB25DE5}" destId="{305BCD54-624B-3E48-A0F2-6DBD5432072D}" srcOrd="0" destOrd="0" presId="urn:microsoft.com/office/officeart/2005/8/layout/lProcess2"/>
    <dgm:cxn modelId="{034855EF-00CF-E741-9576-EA0B79A28BB6}" type="presParOf" srcId="{305BCD54-624B-3E48-A0F2-6DBD5432072D}" destId="{F83743C7-8ED2-464F-BBBA-644492BEC57B}"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7BA7BE-3E47-1F47-B1E5-C90AB45BB203}"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10AE3E04-EEF6-464A-B692-8F6E81B98A17}">
      <dgm:prSet/>
      <dgm:spPr/>
      <dgm:t>
        <a:bodyPr/>
        <a:lstStyle/>
        <a:p>
          <a:pPr rtl="0"/>
          <a:r>
            <a:rPr lang="en-US" dirty="0">
              <a:effectLst>
                <a:outerShdw blurRad="38100" dist="38100" dir="2700000" algn="tl">
                  <a:srgbClr val="000000">
                    <a:alpha val="43137"/>
                  </a:srgbClr>
                </a:outerShdw>
              </a:effectLst>
            </a:rPr>
            <a:t>Server and client random</a:t>
          </a:r>
        </a:p>
      </dgm:t>
    </dgm:pt>
    <dgm:pt modelId="{617B66E7-2E34-1A4F-A5A4-3F06C651E9F7}" type="parTrans" cxnId="{1F46E203-5EE0-564C-AE2D-3047ECD20085}">
      <dgm:prSet/>
      <dgm:spPr/>
      <dgm:t>
        <a:bodyPr/>
        <a:lstStyle/>
        <a:p>
          <a:endParaRPr lang="en-US"/>
        </a:p>
      </dgm:t>
    </dgm:pt>
    <dgm:pt modelId="{D72C8448-F85D-314A-8823-9555E829C880}" type="sibTrans" cxnId="{1F46E203-5EE0-564C-AE2D-3047ECD20085}">
      <dgm:prSet/>
      <dgm:spPr/>
      <dgm:t>
        <a:bodyPr/>
        <a:lstStyle/>
        <a:p>
          <a:endParaRPr lang="en-US"/>
        </a:p>
      </dgm:t>
    </dgm:pt>
    <dgm:pt modelId="{42E8CBDC-BF91-164C-A7A4-6AC11B812216}">
      <dgm:prSet/>
      <dgm:spPr>
        <a:ln w="19050">
          <a:solidFill>
            <a:schemeClr val="tx2">
              <a:lumMod val="75000"/>
            </a:schemeClr>
          </a:solidFill>
        </a:ln>
      </dgm:spPr>
      <dgm:t>
        <a:bodyPr/>
        <a:lstStyle/>
        <a:p>
          <a:pPr rtl="0"/>
          <a:r>
            <a:rPr lang="en-US" dirty="0"/>
            <a:t>Byte sequences that are chosen by the server and client for each connection. Used for </a:t>
          </a:r>
          <a:r>
            <a:rPr lang="en-US" dirty="0">
              <a:solidFill>
                <a:srgbClr val="FF0000"/>
              </a:solidFill>
            </a:rPr>
            <a:t>key generation </a:t>
          </a:r>
          <a:r>
            <a:rPr lang="en-US" dirty="0"/>
            <a:t>and prevent </a:t>
          </a:r>
          <a:r>
            <a:rPr lang="en-US" dirty="0">
              <a:solidFill>
                <a:srgbClr val="FF0000"/>
              </a:solidFill>
            </a:rPr>
            <a:t>replay attack</a:t>
          </a:r>
          <a:r>
            <a:rPr lang="en-US" dirty="0"/>
            <a:t>.</a:t>
          </a:r>
        </a:p>
      </dgm:t>
    </dgm:pt>
    <dgm:pt modelId="{281C0C1F-6696-CC43-A34B-EDF49D03FA07}" type="parTrans" cxnId="{098066B5-6DCB-944C-B161-46464730069D}">
      <dgm:prSet/>
      <dgm:spPr/>
      <dgm:t>
        <a:bodyPr/>
        <a:lstStyle/>
        <a:p>
          <a:endParaRPr lang="en-US"/>
        </a:p>
      </dgm:t>
    </dgm:pt>
    <dgm:pt modelId="{9B9ADBEE-3956-C449-B631-ABD9C2AA708A}" type="sibTrans" cxnId="{098066B5-6DCB-944C-B161-46464730069D}">
      <dgm:prSet/>
      <dgm:spPr/>
      <dgm:t>
        <a:bodyPr/>
        <a:lstStyle/>
        <a:p>
          <a:endParaRPr lang="en-US"/>
        </a:p>
      </dgm:t>
    </dgm:pt>
    <dgm:pt modelId="{4F1CDAE1-A119-924A-95F8-415AE1414320}">
      <dgm:prSet/>
      <dgm:spPr/>
      <dgm:t>
        <a:bodyPr/>
        <a:lstStyle/>
        <a:p>
          <a:pPr rtl="0"/>
          <a:r>
            <a:rPr lang="en-US" dirty="0">
              <a:solidFill>
                <a:srgbClr val="FFFF00"/>
              </a:solidFill>
              <a:effectLst>
                <a:outerShdw blurRad="38100" dist="38100" dir="2700000" algn="tl">
                  <a:srgbClr val="000000">
                    <a:alpha val="43137"/>
                  </a:srgbClr>
                </a:outerShdw>
              </a:effectLst>
            </a:rPr>
            <a:t>Server write MAC secret</a:t>
          </a:r>
        </a:p>
      </dgm:t>
    </dgm:pt>
    <dgm:pt modelId="{447AF978-44A3-BC40-A0D1-E98ACF6EE921}" type="parTrans" cxnId="{B3195548-7225-784A-86F6-588FE37BB52C}">
      <dgm:prSet/>
      <dgm:spPr/>
      <dgm:t>
        <a:bodyPr/>
        <a:lstStyle/>
        <a:p>
          <a:endParaRPr lang="en-US"/>
        </a:p>
      </dgm:t>
    </dgm:pt>
    <dgm:pt modelId="{03B89D93-2DBD-614E-AC08-2C7DE9FE067F}" type="sibTrans" cxnId="{B3195548-7225-784A-86F6-588FE37BB52C}">
      <dgm:prSet/>
      <dgm:spPr/>
      <dgm:t>
        <a:bodyPr/>
        <a:lstStyle/>
        <a:p>
          <a:endParaRPr lang="en-US"/>
        </a:p>
      </dgm:t>
    </dgm:pt>
    <dgm:pt modelId="{1316CDFF-B9FC-9346-9F4C-FF3E663D995F}">
      <dgm:prSet/>
      <dgm:spPr>
        <a:ln w="19050">
          <a:solidFill>
            <a:schemeClr val="tx2">
              <a:lumMod val="75000"/>
            </a:schemeClr>
          </a:solidFill>
        </a:ln>
      </dgm:spPr>
      <dgm:t>
        <a:bodyPr/>
        <a:lstStyle/>
        <a:p>
          <a:pPr rtl="0"/>
          <a:r>
            <a:rPr lang="en-US" dirty="0"/>
            <a:t>The secret key used in MAC operations on data sent by the server</a:t>
          </a:r>
        </a:p>
      </dgm:t>
    </dgm:pt>
    <dgm:pt modelId="{849B2254-A302-1E41-B1F0-E56BC505E156}" type="parTrans" cxnId="{6773AA47-E499-084C-9CCA-13BBDBB0C2B6}">
      <dgm:prSet/>
      <dgm:spPr/>
      <dgm:t>
        <a:bodyPr/>
        <a:lstStyle/>
        <a:p>
          <a:endParaRPr lang="en-US"/>
        </a:p>
      </dgm:t>
    </dgm:pt>
    <dgm:pt modelId="{04F5510E-0D77-4E4E-9333-EBAC46963DB5}" type="sibTrans" cxnId="{6773AA47-E499-084C-9CCA-13BBDBB0C2B6}">
      <dgm:prSet/>
      <dgm:spPr/>
      <dgm:t>
        <a:bodyPr/>
        <a:lstStyle/>
        <a:p>
          <a:endParaRPr lang="en-US"/>
        </a:p>
      </dgm:t>
    </dgm:pt>
    <dgm:pt modelId="{6560DDAC-7D4D-214A-9AA8-879C7E5C23B1}">
      <dgm:prSet/>
      <dgm:spPr/>
      <dgm:t>
        <a:bodyPr/>
        <a:lstStyle/>
        <a:p>
          <a:pPr rtl="0"/>
          <a:r>
            <a:rPr lang="en-US" dirty="0">
              <a:solidFill>
                <a:srgbClr val="FFFF00"/>
              </a:solidFill>
              <a:effectLst>
                <a:outerShdw blurRad="38100" dist="38100" dir="2700000" algn="tl">
                  <a:srgbClr val="000000">
                    <a:alpha val="43137"/>
                  </a:srgbClr>
                </a:outerShdw>
              </a:effectLst>
            </a:rPr>
            <a:t>Client write MAC secret</a:t>
          </a:r>
        </a:p>
      </dgm:t>
    </dgm:pt>
    <dgm:pt modelId="{EFB72B97-E387-C943-A4D9-1356E85E843F}" type="parTrans" cxnId="{18FF0D9F-8083-9C41-B9F3-BC07BE569746}">
      <dgm:prSet/>
      <dgm:spPr/>
      <dgm:t>
        <a:bodyPr/>
        <a:lstStyle/>
        <a:p>
          <a:endParaRPr lang="en-US"/>
        </a:p>
      </dgm:t>
    </dgm:pt>
    <dgm:pt modelId="{FB24D80E-DEE2-6B4B-99BB-4651AC66D131}" type="sibTrans" cxnId="{18FF0D9F-8083-9C41-B9F3-BC07BE569746}">
      <dgm:prSet/>
      <dgm:spPr/>
      <dgm:t>
        <a:bodyPr/>
        <a:lstStyle/>
        <a:p>
          <a:endParaRPr lang="en-US"/>
        </a:p>
      </dgm:t>
    </dgm:pt>
    <dgm:pt modelId="{AF77DC2B-F3F8-324A-B163-5986AE544B3C}">
      <dgm:prSet/>
      <dgm:spPr>
        <a:ln w="19050">
          <a:solidFill>
            <a:schemeClr val="tx2">
              <a:lumMod val="75000"/>
            </a:schemeClr>
          </a:solidFill>
        </a:ln>
      </dgm:spPr>
      <dgm:t>
        <a:bodyPr/>
        <a:lstStyle/>
        <a:p>
          <a:pPr rtl="0"/>
          <a:r>
            <a:rPr lang="en-US" dirty="0"/>
            <a:t>The secret key used in MAC operations on data sent by the client</a:t>
          </a:r>
        </a:p>
      </dgm:t>
    </dgm:pt>
    <dgm:pt modelId="{CA4F2D3A-41BA-5244-A80E-F2891EABBEEC}" type="parTrans" cxnId="{FA46A6B4-911F-E44E-8226-3996571F925F}">
      <dgm:prSet/>
      <dgm:spPr/>
      <dgm:t>
        <a:bodyPr/>
        <a:lstStyle/>
        <a:p>
          <a:endParaRPr lang="en-US"/>
        </a:p>
      </dgm:t>
    </dgm:pt>
    <dgm:pt modelId="{AD8F482D-09CC-4B47-92B9-06892B5971AF}" type="sibTrans" cxnId="{FA46A6B4-911F-E44E-8226-3996571F925F}">
      <dgm:prSet/>
      <dgm:spPr/>
      <dgm:t>
        <a:bodyPr/>
        <a:lstStyle/>
        <a:p>
          <a:endParaRPr lang="en-US"/>
        </a:p>
      </dgm:t>
    </dgm:pt>
    <dgm:pt modelId="{B5735BE7-6896-B043-B95B-EC10E3BE1271}">
      <dgm:prSet/>
      <dgm:spPr/>
      <dgm:t>
        <a:bodyPr/>
        <a:lstStyle/>
        <a:p>
          <a:pPr rtl="0"/>
          <a:r>
            <a:rPr lang="en-US" dirty="0">
              <a:solidFill>
                <a:srgbClr val="FFFF00"/>
              </a:solidFill>
              <a:effectLst>
                <a:outerShdw blurRad="38100" dist="38100" dir="2700000" algn="tl">
                  <a:srgbClr val="000000">
                    <a:alpha val="43137"/>
                  </a:srgbClr>
                </a:outerShdw>
              </a:effectLst>
            </a:rPr>
            <a:t>Server write key</a:t>
          </a:r>
        </a:p>
      </dgm:t>
    </dgm:pt>
    <dgm:pt modelId="{A9EFD161-51BB-2449-90AB-77F535A40C74}" type="parTrans" cxnId="{E57E2C2E-E693-1E4B-8191-BBB218364B27}">
      <dgm:prSet/>
      <dgm:spPr/>
      <dgm:t>
        <a:bodyPr/>
        <a:lstStyle/>
        <a:p>
          <a:endParaRPr lang="en-US"/>
        </a:p>
      </dgm:t>
    </dgm:pt>
    <dgm:pt modelId="{B68B9B12-5286-EC43-B3A1-B18028FBC59F}" type="sibTrans" cxnId="{E57E2C2E-E693-1E4B-8191-BBB218364B27}">
      <dgm:prSet/>
      <dgm:spPr/>
      <dgm:t>
        <a:bodyPr/>
        <a:lstStyle/>
        <a:p>
          <a:endParaRPr lang="en-US"/>
        </a:p>
      </dgm:t>
    </dgm:pt>
    <dgm:pt modelId="{E541635A-A6F3-DB48-91D8-C658647291A8}">
      <dgm:prSet/>
      <dgm:spPr>
        <a:ln w="19050">
          <a:solidFill>
            <a:schemeClr val="tx2">
              <a:lumMod val="75000"/>
            </a:schemeClr>
          </a:solidFill>
        </a:ln>
      </dgm:spPr>
      <dgm:t>
        <a:bodyPr/>
        <a:lstStyle/>
        <a:p>
          <a:pPr rtl="0"/>
          <a:r>
            <a:rPr lang="en-US" dirty="0"/>
            <a:t>The secret encryption key for data encrypted by the server and decrypted by the client</a:t>
          </a:r>
        </a:p>
      </dgm:t>
    </dgm:pt>
    <dgm:pt modelId="{23AC078A-6698-D046-AE9C-7AE9364C82A2}" type="parTrans" cxnId="{507EE8A4-2B3C-A440-B240-0232A23C783A}">
      <dgm:prSet/>
      <dgm:spPr/>
      <dgm:t>
        <a:bodyPr/>
        <a:lstStyle/>
        <a:p>
          <a:endParaRPr lang="en-US"/>
        </a:p>
      </dgm:t>
    </dgm:pt>
    <dgm:pt modelId="{CF29C38D-42CA-474A-8922-8E4C801FE58D}" type="sibTrans" cxnId="{507EE8A4-2B3C-A440-B240-0232A23C783A}">
      <dgm:prSet/>
      <dgm:spPr/>
      <dgm:t>
        <a:bodyPr/>
        <a:lstStyle/>
        <a:p>
          <a:endParaRPr lang="en-US"/>
        </a:p>
      </dgm:t>
    </dgm:pt>
    <dgm:pt modelId="{05D5C0D5-90CB-7545-9C15-D77120B0A2F8}">
      <dgm:prSet/>
      <dgm:spPr/>
      <dgm:t>
        <a:bodyPr/>
        <a:lstStyle/>
        <a:p>
          <a:pPr rtl="0"/>
          <a:r>
            <a:rPr lang="en-US" dirty="0">
              <a:solidFill>
                <a:srgbClr val="FFFF00"/>
              </a:solidFill>
              <a:effectLst>
                <a:outerShdw blurRad="38100" dist="38100" dir="2700000" algn="tl">
                  <a:srgbClr val="000000">
                    <a:alpha val="43137"/>
                  </a:srgbClr>
                </a:outerShdw>
              </a:effectLst>
            </a:rPr>
            <a:t>Client write key</a:t>
          </a:r>
        </a:p>
      </dgm:t>
    </dgm:pt>
    <dgm:pt modelId="{45538E68-E8E5-A74A-8E16-D55919AEC2DB}" type="parTrans" cxnId="{3E689140-1905-B748-A73E-5BF8528BFD1A}">
      <dgm:prSet/>
      <dgm:spPr/>
      <dgm:t>
        <a:bodyPr/>
        <a:lstStyle/>
        <a:p>
          <a:endParaRPr lang="en-US"/>
        </a:p>
      </dgm:t>
    </dgm:pt>
    <dgm:pt modelId="{55F2BE60-46E3-5742-9EDF-70ABF6456131}" type="sibTrans" cxnId="{3E689140-1905-B748-A73E-5BF8528BFD1A}">
      <dgm:prSet/>
      <dgm:spPr/>
      <dgm:t>
        <a:bodyPr/>
        <a:lstStyle/>
        <a:p>
          <a:endParaRPr lang="en-US"/>
        </a:p>
      </dgm:t>
    </dgm:pt>
    <dgm:pt modelId="{E88C1C3A-EDFF-A948-81CF-5460D03B18D3}">
      <dgm:prSet/>
      <dgm:spPr>
        <a:ln w="19050">
          <a:solidFill>
            <a:schemeClr val="tx2">
              <a:lumMod val="75000"/>
            </a:schemeClr>
          </a:solidFill>
        </a:ln>
      </dgm:spPr>
      <dgm:t>
        <a:bodyPr/>
        <a:lstStyle/>
        <a:p>
          <a:pPr rtl="0"/>
          <a:r>
            <a:rPr lang="en-US" dirty="0"/>
            <a:t>The symmetric encryption key for data encrypted by the client and decrypted by the server</a:t>
          </a:r>
        </a:p>
      </dgm:t>
    </dgm:pt>
    <dgm:pt modelId="{176C2FD3-A702-A942-A16E-51D37F9EDF36}" type="parTrans" cxnId="{5483BF5E-398B-7943-96B6-0D54FF0C00A5}">
      <dgm:prSet/>
      <dgm:spPr/>
      <dgm:t>
        <a:bodyPr/>
        <a:lstStyle/>
        <a:p>
          <a:endParaRPr lang="en-US"/>
        </a:p>
      </dgm:t>
    </dgm:pt>
    <dgm:pt modelId="{3EAA3DDC-4A99-B247-8285-72173036A176}" type="sibTrans" cxnId="{5483BF5E-398B-7943-96B6-0D54FF0C00A5}">
      <dgm:prSet/>
      <dgm:spPr/>
      <dgm:t>
        <a:bodyPr/>
        <a:lstStyle/>
        <a:p>
          <a:endParaRPr lang="en-US"/>
        </a:p>
      </dgm:t>
    </dgm:pt>
    <dgm:pt modelId="{E199B192-9B06-0145-BA0F-100DD1B5C621}" type="pres">
      <dgm:prSet presAssocID="{5E7BA7BE-3E47-1F47-B1E5-C90AB45BB203}" presName="Name0" presStyleCnt="0">
        <dgm:presLayoutVars>
          <dgm:dir/>
          <dgm:animLvl val="lvl"/>
          <dgm:resizeHandles val="exact"/>
        </dgm:presLayoutVars>
      </dgm:prSet>
      <dgm:spPr/>
    </dgm:pt>
    <dgm:pt modelId="{21E8A21C-E9DE-CD42-892A-CB8B274B958D}" type="pres">
      <dgm:prSet presAssocID="{10AE3E04-EEF6-464A-B692-8F6E81B98A17}" presName="linNode" presStyleCnt="0"/>
      <dgm:spPr/>
    </dgm:pt>
    <dgm:pt modelId="{AB31F307-D6A3-5B4D-9204-68FD34BF8471}" type="pres">
      <dgm:prSet presAssocID="{10AE3E04-EEF6-464A-B692-8F6E81B98A17}" presName="parentText" presStyleLbl="node1" presStyleIdx="0" presStyleCnt="5" custScaleX="57526" custScaleY="90997">
        <dgm:presLayoutVars>
          <dgm:chMax val="1"/>
          <dgm:bulletEnabled val="1"/>
        </dgm:presLayoutVars>
      </dgm:prSet>
      <dgm:spPr/>
    </dgm:pt>
    <dgm:pt modelId="{C29A1AAE-CD42-3F47-93C9-E85F4D57A4EC}" type="pres">
      <dgm:prSet presAssocID="{10AE3E04-EEF6-464A-B692-8F6E81B98A17}" presName="descendantText" presStyleLbl="alignAccFollowNode1" presStyleIdx="0" presStyleCnt="5">
        <dgm:presLayoutVars>
          <dgm:bulletEnabled val="1"/>
        </dgm:presLayoutVars>
      </dgm:prSet>
      <dgm:spPr/>
    </dgm:pt>
    <dgm:pt modelId="{DCCF656E-CFB4-9549-9C39-7CF4F325A62E}" type="pres">
      <dgm:prSet presAssocID="{D72C8448-F85D-314A-8823-9555E829C880}" presName="sp" presStyleCnt="0"/>
      <dgm:spPr/>
    </dgm:pt>
    <dgm:pt modelId="{F368D57C-3A96-4643-AE2E-86DFCA1533A4}" type="pres">
      <dgm:prSet presAssocID="{4F1CDAE1-A119-924A-95F8-415AE1414320}" presName="linNode" presStyleCnt="0"/>
      <dgm:spPr/>
    </dgm:pt>
    <dgm:pt modelId="{D0357970-DB85-D24C-BDB1-176EEA4C36D2}" type="pres">
      <dgm:prSet presAssocID="{4F1CDAE1-A119-924A-95F8-415AE1414320}" presName="parentText" presStyleLbl="node1" presStyleIdx="1" presStyleCnt="5" custScaleX="57526" custScaleY="92670">
        <dgm:presLayoutVars>
          <dgm:chMax val="1"/>
          <dgm:bulletEnabled val="1"/>
        </dgm:presLayoutVars>
      </dgm:prSet>
      <dgm:spPr/>
    </dgm:pt>
    <dgm:pt modelId="{3EDCB463-4E72-F544-A3F9-973A619FE49F}" type="pres">
      <dgm:prSet presAssocID="{4F1CDAE1-A119-924A-95F8-415AE1414320}" presName="descendantText" presStyleLbl="alignAccFollowNode1" presStyleIdx="1" presStyleCnt="5">
        <dgm:presLayoutVars>
          <dgm:bulletEnabled val="1"/>
        </dgm:presLayoutVars>
      </dgm:prSet>
      <dgm:spPr/>
    </dgm:pt>
    <dgm:pt modelId="{FFDB7641-2A83-BF4B-A9B2-C34C6BACE0B5}" type="pres">
      <dgm:prSet presAssocID="{03B89D93-2DBD-614E-AC08-2C7DE9FE067F}" presName="sp" presStyleCnt="0"/>
      <dgm:spPr/>
    </dgm:pt>
    <dgm:pt modelId="{FC741E2F-2C4C-E14F-BCD3-235C80F01B38}" type="pres">
      <dgm:prSet presAssocID="{6560DDAC-7D4D-214A-9AA8-879C7E5C23B1}" presName="linNode" presStyleCnt="0"/>
      <dgm:spPr/>
    </dgm:pt>
    <dgm:pt modelId="{73AC2C07-3E80-9E40-B584-66C4F03A2C76}" type="pres">
      <dgm:prSet presAssocID="{6560DDAC-7D4D-214A-9AA8-879C7E5C23B1}" presName="parentText" presStyleLbl="node1" presStyleIdx="2" presStyleCnt="5" custScaleX="57526" custScaleY="95118">
        <dgm:presLayoutVars>
          <dgm:chMax val="1"/>
          <dgm:bulletEnabled val="1"/>
        </dgm:presLayoutVars>
      </dgm:prSet>
      <dgm:spPr/>
    </dgm:pt>
    <dgm:pt modelId="{B002FAE3-04D6-7643-985B-65254FEA663E}" type="pres">
      <dgm:prSet presAssocID="{6560DDAC-7D4D-214A-9AA8-879C7E5C23B1}" presName="descendantText" presStyleLbl="alignAccFollowNode1" presStyleIdx="2" presStyleCnt="5">
        <dgm:presLayoutVars>
          <dgm:bulletEnabled val="1"/>
        </dgm:presLayoutVars>
      </dgm:prSet>
      <dgm:spPr/>
    </dgm:pt>
    <dgm:pt modelId="{6AB1DF06-0AA8-2944-B6F5-5606BFBD087C}" type="pres">
      <dgm:prSet presAssocID="{FB24D80E-DEE2-6B4B-99BB-4651AC66D131}" presName="sp" presStyleCnt="0"/>
      <dgm:spPr/>
    </dgm:pt>
    <dgm:pt modelId="{E51F42F2-0EF5-0447-8F19-1BF9A52E120E}" type="pres">
      <dgm:prSet presAssocID="{B5735BE7-6896-B043-B95B-EC10E3BE1271}" presName="linNode" presStyleCnt="0"/>
      <dgm:spPr/>
    </dgm:pt>
    <dgm:pt modelId="{38EC38B6-367F-3F42-86DF-A57A3FC0697F}" type="pres">
      <dgm:prSet presAssocID="{B5735BE7-6896-B043-B95B-EC10E3BE1271}" presName="parentText" presStyleLbl="node1" presStyleIdx="3" presStyleCnt="5" custScaleX="57526" custScaleY="94053">
        <dgm:presLayoutVars>
          <dgm:chMax val="1"/>
          <dgm:bulletEnabled val="1"/>
        </dgm:presLayoutVars>
      </dgm:prSet>
      <dgm:spPr/>
    </dgm:pt>
    <dgm:pt modelId="{42B03287-F4B3-BD41-8DEA-3CDC6A7BBBCA}" type="pres">
      <dgm:prSet presAssocID="{B5735BE7-6896-B043-B95B-EC10E3BE1271}" presName="descendantText" presStyleLbl="alignAccFollowNode1" presStyleIdx="3" presStyleCnt="5">
        <dgm:presLayoutVars>
          <dgm:bulletEnabled val="1"/>
        </dgm:presLayoutVars>
      </dgm:prSet>
      <dgm:spPr/>
    </dgm:pt>
    <dgm:pt modelId="{C63389EE-3D74-B147-B6B1-4511929D71B5}" type="pres">
      <dgm:prSet presAssocID="{B68B9B12-5286-EC43-B3A1-B18028FBC59F}" presName="sp" presStyleCnt="0"/>
      <dgm:spPr/>
    </dgm:pt>
    <dgm:pt modelId="{05BED3BD-29AE-5B4A-8547-0C0ADF8B521E}" type="pres">
      <dgm:prSet presAssocID="{05D5C0D5-90CB-7545-9C15-D77120B0A2F8}" presName="linNode" presStyleCnt="0"/>
      <dgm:spPr/>
    </dgm:pt>
    <dgm:pt modelId="{A2DA323E-ACDB-7A4C-8D6D-E929AAC15355}" type="pres">
      <dgm:prSet presAssocID="{05D5C0D5-90CB-7545-9C15-D77120B0A2F8}" presName="parentText" presStyleLbl="node1" presStyleIdx="4" presStyleCnt="5" custScaleX="57526" custScaleY="88963">
        <dgm:presLayoutVars>
          <dgm:chMax val="1"/>
          <dgm:bulletEnabled val="1"/>
        </dgm:presLayoutVars>
      </dgm:prSet>
      <dgm:spPr/>
    </dgm:pt>
    <dgm:pt modelId="{F551B332-2D22-7746-90C7-D7539BCEEB2B}" type="pres">
      <dgm:prSet presAssocID="{05D5C0D5-90CB-7545-9C15-D77120B0A2F8}" presName="descendantText" presStyleLbl="alignAccFollowNode1" presStyleIdx="4" presStyleCnt="5">
        <dgm:presLayoutVars>
          <dgm:bulletEnabled val="1"/>
        </dgm:presLayoutVars>
      </dgm:prSet>
      <dgm:spPr/>
    </dgm:pt>
  </dgm:ptLst>
  <dgm:cxnLst>
    <dgm:cxn modelId="{1F46E203-5EE0-564C-AE2D-3047ECD20085}" srcId="{5E7BA7BE-3E47-1F47-B1E5-C90AB45BB203}" destId="{10AE3E04-EEF6-464A-B692-8F6E81B98A17}" srcOrd="0" destOrd="0" parTransId="{617B66E7-2E34-1A4F-A5A4-3F06C651E9F7}" sibTransId="{D72C8448-F85D-314A-8823-9555E829C880}"/>
    <dgm:cxn modelId="{C622A308-AFA4-A647-A1B1-7F450F74C297}" type="presOf" srcId="{1316CDFF-B9FC-9346-9F4C-FF3E663D995F}" destId="{3EDCB463-4E72-F544-A3F9-973A619FE49F}" srcOrd="0" destOrd="0" presId="urn:microsoft.com/office/officeart/2005/8/layout/vList5"/>
    <dgm:cxn modelId="{4DEB670A-B974-9F4A-AF1A-BE443CE542A8}" type="presOf" srcId="{42E8CBDC-BF91-164C-A7A4-6AC11B812216}" destId="{C29A1AAE-CD42-3F47-93C9-E85F4D57A4EC}" srcOrd="0" destOrd="0" presId="urn:microsoft.com/office/officeart/2005/8/layout/vList5"/>
    <dgm:cxn modelId="{BA3B1B22-4593-F743-A0DE-0EF6DCE7547F}" type="presOf" srcId="{6560DDAC-7D4D-214A-9AA8-879C7E5C23B1}" destId="{73AC2C07-3E80-9E40-B584-66C4F03A2C76}" srcOrd="0" destOrd="0" presId="urn:microsoft.com/office/officeart/2005/8/layout/vList5"/>
    <dgm:cxn modelId="{6BA72A2B-8AAE-194B-8828-C1885E6A0D53}" type="presOf" srcId="{4F1CDAE1-A119-924A-95F8-415AE1414320}" destId="{D0357970-DB85-D24C-BDB1-176EEA4C36D2}" srcOrd="0" destOrd="0" presId="urn:microsoft.com/office/officeart/2005/8/layout/vList5"/>
    <dgm:cxn modelId="{E57E2C2E-E693-1E4B-8191-BBB218364B27}" srcId="{5E7BA7BE-3E47-1F47-B1E5-C90AB45BB203}" destId="{B5735BE7-6896-B043-B95B-EC10E3BE1271}" srcOrd="3" destOrd="0" parTransId="{A9EFD161-51BB-2449-90AB-77F535A40C74}" sibTransId="{B68B9B12-5286-EC43-B3A1-B18028FBC59F}"/>
    <dgm:cxn modelId="{9A3EB532-F860-FF42-B1C2-BD1C0CABAD99}" type="presOf" srcId="{E88C1C3A-EDFF-A948-81CF-5460D03B18D3}" destId="{F551B332-2D22-7746-90C7-D7539BCEEB2B}" srcOrd="0" destOrd="0" presId="urn:microsoft.com/office/officeart/2005/8/layout/vList5"/>
    <dgm:cxn modelId="{3E689140-1905-B748-A73E-5BF8528BFD1A}" srcId="{5E7BA7BE-3E47-1F47-B1E5-C90AB45BB203}" destId="{05D5C0D5-90CB-7545-9C15-D77120B0A2F8}" srcOrd="4" destOrd="0" parTransId="{45538E68-E8E5-A74A-8E16-D55919AEC2DB}" sibTransId="{55F2BE60-46E3-5742-9EDF-70ABF6456131}"/>
    <dgm:cxn modelId="{781E0946-2E1C-1F40-A858-9D929F53B1E1}" type="presOf" srcId="{05D5C0D5-90CB-7545-9C15-D77120B0A2F8}" destId="{A2DA323E-ACDB-7A4C-8D6D-E929AAC15355}" srcOrd="0" destOrd="0" presId="urn:microsoft.com/office/officeart/2005/8/layout/vList5"/>
    <dgm:cxn modelId="{6773AA47-E499-084C-9CCA-13BBDBB0C2B6}" srcId="{4F1CDAE1-A119-924A-95F8-415AE1414320}" destId="{1316CDFF-B9FC-9346-9F4C-FF3E663D995F}" srcOrd="0" destOrd="0" parTransId="{849B2254-A302-1E41-B1F0-E56BC505E156}" sibTransId="{04F5510E-0D77-4E4E-9333-EBAC46963DB5}"/>
    <dgm:cxn modelId="{B3195548-7225-784A-86F6-588FE37BB52C}" srcId="{5E7BA7BE-3E47-1F47-B1E5-C90AB45BB203}" destId="{4F1CDAE1-A119-924A-95F8-415AE1414320}" srcOrd="1" destOrd="0" parTransId="{447AF978-44A3-BC40-A0D1-E98ACF6EE921}" sibTransId="{03B89D93-2DBD-614E-AC08-2C7DE9FE067F}"/>
    <dgm:cxn modelId="{5483BF5E-398B-7943-96B6-0D54FF0C00A5}" srcId="{05D5C0D5-90CB-7545-9C15-D77120B0A2F8}" destId="{E88C1C3A-EDFF-A948-81CF-5460D03B18D3}" srcOrd="0" destOrd="0" parTransId="{176C2FD3-A702-A942-A16E-51D37F9EDF36}" sibTransId="{3EAA3DDC-4A99-B247-8285-72173036A176}"/>
    <dgm:cxn modelId="{7952A274-8FE3-6444-B62C-2B79FA498E2F}" type="presOf" srcId="{E541635A-A6F3-DB48-91D8-C658647291A8}" destId="{42B03287-F4B3-BD41-8DEA-3CDC6A7BBBCA}" srcOrd="0" destOrd="0" presId="urn:microsoft.com/office/officeart/2005/8/layout/vList5"/>
    <dgm:cxn modelId="{E0F08B79-F88C-DD44-88E2-775E1CE659C1}" type="presOf" srcId="{10AE3E04-EEF6-464A-B692-8F6E81B98A17}" destId="{AB31F307-D6A3-5B4D-9204-68FD34BF8471}" srcOrd="0" destOrd="0" presId="urn:microsoft.com/office/officeart/2005/8/layout/vList5"/>
    <dgm:cxn modelId="{9BD6C68F-FBE7-A848-A6A1-EC8167FF6AF2}" type="presOf" srcId="{AF77DC2B-F3F8-324A-B163-5986AE544B3C}" destId="{B002FAE3-04D6-7643-985B-65254FEA663E}" srcOrd="0" destOrd="0" presId="urn:microsoft.com/office/officeart/2005/8/layout/vList5"/>
    <dgm:cxn modelId="{2A35D991-139A-6246-8E45-798C0A69300B}" type="presOf" srcId="{B5735BE7-6896-B043-B95B-EC10E3BE1271}" destId="{38EC38B6-367F-3F42-86DF-A57A3FC0697F}" srcOrd="0" destOrd="0" presId="urn:microsoft.com/office/officeart/2005/8/layout/vList5"/>
    <dgm:cxn modelId="{18FF0D9F-8083-9C41-B9F3-BC07BE569746}" srcId="{5E7BA7BE-3E47-1F47-B1E5-C90AB45BB203}" destId="{6560DDAC-7D4D-214A-9AA8-879C7E5C23B1}" srcOrd="2" destOrd="0" parTransId="{EFB72B97-E387-C943-A4D9-1356E85E843F}" sibTransId="{FB24D80E-DEE2-6B4B-99BB-4651AC66D131}"/>
    <dgm:cxn modelId="{E29C93A4-FCE8-4E40-B03C-F3C597E7EED1}" type="presOf" srcId="{5E7BA7BE-3E47-1F47-B1E5-C90AB45BB203}" destId="{E199B192-9B06-0145-BA0F-100DD1B5C621}" srcOrd="0" destOrd="0" presId="urn:microsoft.com/office/officeart/2005/8/layout/vList5"/>
    <dgm:cxn modelId="{507EE8A4-2B3C-A440-B240-0232A23C783A}" srcId="{B5735BE7-6896-B043-B95B-EC10E3BE1271}" destId="{E541635A-A6F3-DB48-91D8-C658647291A8}" srcOrd="0" destOrd="0" parTransId="{23AC078A-6698-D046-AE9C-7AE9364C82A2}" sibTransId="{CF29C38D-42CA-474A-8922-8E4C801FE58D}"/>
    <dgm:cxn modelId="{FA46A6B4-911F-E44E-8226-3996571F925F}" srcId="{6560DDAC-7D4D-214A-9AA8-879C7E5C23B1}" destId="{AF77DC2B-F3F8-324A-B163-5986AE544B3C}" srcOrd="0" destOrd="0" parTransId="{CA4F2D3A-41BA-5244-A80E-F2891EABBEEC}" sibTransId="{AD8F482D-09CC-4B47-92B9-06892B5971AF}"/>
    <dgm:cxn modelId="{098066B5-6DCB-944C-B161-46464730069D}" srcId="{10AE3E04-EEF6-464A-B692-8F6E81B98A17}" destId="{42E8CBDC-BF91-164C-A7A4-6AC11B812216}" srcOrd="0" destOrd="0" parTransId="{281C0C1F-6696-CC43-A34B-EDF49D03FA07}" sibTransId="{9B9ADBEE-3956-C449-B631-ABD9C2AA708A}"/>
    <dgm:cxn modelId="{F31F4314-5E5A-C246-A96E-3FEE5C18BC3D}" type="presParOf" srcId="{E199B192-9B06-0145-BA0F-100DD1B5C621}" destId="{21E8A21C-E9DE-CD42-892A-CB8B274B958D}" srcOrd="0" destOrd="0" presId="urn:microsoft.com/office/officeart/2005/8/layout/vList5"/>
    <dgm:cxn modelId="{384C1516-313A-F043-87BE-713607908508}" type="presParOf" srcId="{21E8A21C-E9DE-CD42-892A-CB8B274B958D}" destId="{AB31F307-D6A3-5B4D-9204-68FD34BF8471}" srcOrd="0" destOrd="0" presId="urn:microsoft.com/office/officeart/2005/8/layout/vList5"/>
    <dgm:cxn modelId="{76B8561D-B495-3449-AD07-13A13711C7BE}" type="presParOf" srcId="{21E8A21C-E9DE-CD42-892A-CB8B274B958D}" destId="{C29A1AAE-CD42-3F47-93C9-E85F4D57A4EC}" srcOrd="1" destOrd="0" presId="urn:microsoft.com/office/officeart/2005/8/layout/vList5"/>
    <dgm:cxn modelId="{977DF7D8-3C2C-2C48-BC42-463EC0D787C1}" type="presParOf" srcId="{E199B192-9B06-0145-BA0F-100DD1B5C621}" destId="{DCCF656E-CFB4-9549-9C39-7CF4F325A62E}" srcOrd="1" destOrd="0" presId="urn:microsoft.com/office/officeart/2005/8/layout/vList5"/>
    <dgm:cxn modelId="{43626327-1BBC-6B42-B3F8-63ED475D37C5}" type="presParOf" srcId="{E199B192-9B06-0145-BA0F-100DD1B5C621}" destId="{F368D57C-3A96-4643-AE2E-86DFCA1533A4}" srcOrd="2" destOrd="0" presId="urn:microsoft.com/office/officeart/2005/8/layout/vList5"/>
    <dgm:cxn modelId="{A851F564-9250-AE47-A97E-B38AD5B0BC8C}" type="presParOf" srcId="{F368D57C-3A96-4643-AE2E-86DFCA1533A4}" destId="{D0357970-DB85-D24C-BDB1-176EEA4C36D2}" srcOrd="0" destOrd="0" presId="urn:microsoft.com/office/officeart/2005/8/layout/vList5"/>
    <dgm:cxn modelId="{2050826A-DB3F-7448-BD5C-047613458CB4}" type="presParOf" srcId="{F368D57C-3A96-4643-AE2E-86DFCA1533A4}" destId="{3EDCB463-4E72-F544-A3F9-973A619FE49F}" srcOrd="1" destOrd="0" presId="urn:microsoft.com/office/officeart/2005/8/layout/vList5"/>
    <dgm:cxn modelId="{17F6DCB4-8C6C-5A4C-8190-23868D43BC78}" type="presParOf" srcId="{E199B192-9B06-0145-BA0F-100DD1B5C621}" destId="{FFDB7641-2A83-BF4B-A9B2-C34C6BACE0B5}" srcOrd="3" destOrd="0" presId="urn:microsoft.com/office/officeart/2005/8/layout/vList5"/>
    <dgm:cxn modelId="{ED259CB1-D2EA-EB44-ADBB-D5854FD76D15}" type="presParOf" srcId="{E199B192-9B06-0145-BA0F-100DD1B5C621}" destId="{FC741E2F-2C4C-E14F-BCD3-235C80F01B38}" srcOrd="4" destOrd="0" presId="urn:microsoft.com/office/officeart/2005/8/layout/vList5"/>
    <dgm:cxn modelId="{FBBE60D1-09D9-A148-8F7A-64DD569A58FA}" type="presParOf" srcId="{FC741E2F-2C4C-E14F-BCD3-235C80F01B38}" destId="{73AC2C07-3E80-9E40-B584-66C4F03A2C76}" srcOrd="0" destOrd="0" presId="urn:microsoft.com/office/officeart/2005/8/layout/vList5"/>
    <dgm:cxn modelId="{3AF32E04-FB8F-DE44-9583-0A3A24F467F2}" type="presParOf" srcId="{FC741E2F-2C4C-E14F-BCD3-235C80F01B38}" destId="{B002FAE3-04D6-7643-985B-65254FEA663E}" srcOrd="1" destOrd="0" presId="urn:microsoft.com/office/officeart/2005/8/layout/vList5"/>
    <dgm:cxn modelId="{90CA8DAB-7C14-AB4F-B4D6-7601579E22AD}" type="presParOf" srcId="{E199B192-9B06-0145-BA0F-100DD1B5C621}" destId="{6AB1DF06-0AA8-2944-B6F5-5606BFBD087C}" srcOrd="5" destOrd="0" presId="urn:microsoft.com/office/officeart/2005/8/layout/vList5"/>
    <dgm:cxn modelId="{A569B10A-6EC6-5A45-B5E8-B6BF0D51902F}" type="presParOf" srcId="{E199B192-9B06-0145-BA0F-100DD1B5C621}" destId="{E51F42F2-0EF5-0447-8F19-1BF9A52E120E}" srcOrd="6" destOrd="0" presId="urn:microsoft.com/office/officeart/2005/8/layout/vList5"/>
    <dgm:cxn modelId="{385FDAA3-6A5F-3345-AF1C-FA03440B30E2}" type="presParOf" srcId="{E51F42F2-0EF5-0447-8F19-1BF9A52E120E}" destId="{38EC38B6-367F-3F42-86DF-A57A3FC0697F}" srcOrd="0" destOrd="0" presId="urn:microsoft.com/office/officeart/2005/8/layout/vList5"/>
    <dgm:cxn modelId="{30FB4565-67C5-DF4A-B87D-A3FD49F160CD}" type="presParOf" srcId="{E51F42F2-0EF5-0447-8F19-1BF9A52E120E}" destId="{42B03287-F4B3-BD41-8DEA-3CDC6A7BBBCA}" srcOrd="1" destOrd="0" presId="urn:microsoft.com/office/officeart/2005/8/layout/vList5"/>
    <dgm:cxn modelId="{F0F58EC6-036D-8F48-9C12-DC350445FA50}" type="presParOf" srcId="{E199B192-9B06-0145-BA0F-100DD1B5C621}" destId="{C63389EE-3D74-B147-B6B1-4511929D71B5}" srcOrd="7" destOrd="0" presId="urn:microsoft.com/office/officeart/2005/8/layout/vList5"/>
    <dgm:cxn modelId="{795ED96E-601B-424C-A4CB-B475C3ADAB9D}" type="presParOf" srcId="{E199B192-9B06-0145-BA0F-100DD1B5C621}" destId="{05BED3BD-29AE-5B4A-8547-0C0ADF8B521E}" srcOrd="8" destOrd="0" presId="urn:microsoft.com/office/officeart/2005/8/layout/vList5"/>
    <dgm:cxn modelId="{902FCB7E-7725-CA41-9420-AA63442F5F99}" type="presParOf" srcId="{05BED3BD-29AE-5B4A-8547-0C0ADF8B521E}" destId="{A2DA323E-ACDB-7A4C-8D6D-E929AAC15355}" srcOrd="0" destOrd="0" presId="urn:microsoft.com/office/officeart/2005/8/layout/vList5"/>
    <dgm:cxn modelId="{EAC69B16-E235-2F49-9900-0C211495ECD6}" type="presParOf" srcId="{05BED3BD-29AE-5B4A-8547-0C0ADF8B521E}" destId="{F551B332-2D22-7746-90C7-D7539BCEEB2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9681EC-4831-FD42-B59C-5C099A638D2D}"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24C89A4-6AA6-3443-BD29-4EE66B91FC2D}">
      <dgm:prSet/>
      <dgm:spPr/>
      <dgm:t>
        <a:bodyPr/>
        <a:lstStyle/>
        <a:p>
          <a:pPr rtl="0"/>
          <a:r>
            <a:rPr lang="en-US" dirty="0">
              <a:effectLst>
                <a:outerShdw blurRad="38100" dist="38100" dir="2700000" algn="tl">
                  <a:srgbClr val="000000">
                    <a:alpha val="43137"/>
                  </a:srgbClr>
                </a:outerShdw>
              </a:effectLst>
            </a:rPr>
            <a:t>Initialization vectors</a:t>
          </a:r>
        </a:p>
      </dgm:t>
    </dgm:pt>
    <dgm:pt modelId="{FED78151-F6AF-DB4E-822E-6B04E44DD51B}" type="parTrans" cxnId="{F9D9A641-0E1D-9344-A27A-01FFFE3DAE4D}">
      <dgm:prSet/>
      <dgm:spPr/>
      <dgm:t>
        <a:bodyPr/>
        <a:lstStyle/>
        <a:p>
          <a:endParaRPr lang="en-US"/>
        </a:p>
      </dgm:t>
    </dgm:pt>
    <dgm:pt modelId="{95208C42-6423-AE46-B36C-74EC2DBE11AA}" type="sibTrans" cxnId="{F9D9A641-0E1D-9344-A27A-01FFFE3DAE4D}">
      <dgm:prSet/>
      <dgm:spPr/>
      <dgm:t>
        <a:bodyPr/>
        <a:lstStyle/>
        <a:p>
          <a:endParaRPr lang="en-US"/>
        </a:p>
      </dgm:t>
    </dgm:pt>
    <dgm:pt modelId="{34985D32-CE1C-3E45-922A-5D479800EC59}">
      <dgm:prSet/>
      <dgm:spPr>
        <a:ln w="19050">
          <a:solidFill>
            <a:schemeClr val="tx2">
              <a:lumMod val="75000"/>
            </a:schemeClr>
          </a:solidFill>
        </a:ln>
      </dgm:spPr>
      <dgm:t>
        <a:bodyPr/>
        <a:lstStyle/>
        <a:p>
          <a:pPr rtl="0"/>
          <a:r>
            <a:rPr lang="en-US" dirty="0"/>
            <a:t>When a block cipher in Cipher Block Chaining mode is used, an initialization vector (IV) is maintained for each key</a:t>
          </a:r>
        </a:p>
      </dgm:t>
    </dgm:pt>
    <dgm:pt modelId="{74D6A196-E4DA-444A-90D4-CF4ACC5DBDF0}" type="parTrans" cxnId="{B0BF3F5D-5EC6-BC46-8616-605C7029CDF2}">
      <dgm:prSet/>
      <dgm:spPr/>
      <dgm:t>
        <a:bodyPr/>
        <a:lstStyle/>
        <a:p>
          <a:endParaRPr lang="en-US"/>
        </a:p>
      </dgm:t>
    </dgm:pt>
    <dgm:pt modelId="{1F8A5267-4295-9145-AD76-734C5ECA83D3}" type="sibTrans" cxnId="{B0BF3F5D-5EC6-BC46-8616-605C7029CDF2}">
      <dgm:prSet/>
      <dgm:spPr/>
      <dgm:t>
        <a:bodyPr/>
        <a:lstStyle/>
        <a:p>
          <a:endParaRPr lang="en-US"/>
        </a:p>
      </dgm:t>
    </dgm:pt>
    <dgm:pt modelId="{7306B1EF-0865-2243-9056-6EDFF0C51F87}">
      <dgm:prSet/>
      <dgm:spPr/>
      <dgm:t>
        <a:bodyPr/>
        <a:lstStyle/>
        <a:p>
          <a:pPr rtl="0"/>
          <a:r>
            <a:rPr lang="en-US" dirty="0">
              <a:effectLst>
                <a:outerShdw blurRad="38100" dist="38100" dir="2700000" algn="tl">
                  <a:srgbClr val="000000">
                    <a:alpha val="43137"/>
                  </a:srgbClr>
                </a:outerShdw>
              </a:effectLst>
            </a:rPr>
            <a:t>Sequence numbers</a:t>
          </a:r>
        </a:p>
      </dgm:t>
    </dgm:pt>
    <dgm:pt modelId="{6B75B5A3-C65B-BB44-9ADA-DEBCFE4B2E85}" type="parTrans" cxnId="{18016932-46B7-7149-A841-044B83EE1436}">
      <dgm:prSet/>
      <dgm:spPr/>
      <dgm:t>
        <a:bodyPr/>
        <a:lstStyle/>
        <a:p>
          <a:endParaRPr lang="en-US"/>
        </a:p>
      </dgm:t>
    </dgm:pt>
    <dgm:pt modelId="{8B113E5F-0FD7-AB46-8194-0255D4E60CC7}" type="sibTrans" cxnId="{18016932-46B7-7149-A841-044B83EE1436}">
      <dgm:prSet/>
      <dgm:spPr/>
      <dgm:t>
        <a:bodyPr/>
        <a:lstStyle/>
        <a:p>
          <a:endParaRPr lang="en-US"/>
        </a:p>
      </dgm:t>
    </dgm:pt>
    <dgm:pt modelId="{DD5A9A91-12B9-6346-BA6A-D804B827AF28}">
      <dgm:prSet/>
      <dgm:spPr>
        <a:ln w="19050">
          <a:solidFill>
            <a:schemeClr val="tx2">
              <a:lumMod val="75000"/>
            </a:schemeClr>
          </a:solidFill>
        </a:ln>
      </dgm:spPr>
      <dgm:t>
        <a:bodyPr/>
        <a:lstStyle/>
        <a:p>
          <a:pPr rtl="0"/>
          <a:r>
            <a:rPr lang="en-US" dirty="0"/>
            <a:t>Each party maintains </a:t>
          </a:r>
          <a:r>
            <a:rPr lang="en-US" dirty="0">
              <a:solidFill>
                <a:srgbClr val="FF0000"/>
              </a:solidFill>
            </a:rPr>
            <a:t>separate sequence</a:t>
          </a:r>
          <a:r>
            <a:rPr lang="en-US" dirty="0"/>
            <a:t> numbers for transmitted and received messages for each connection</a:t>
          </a:r>
        </a:p>
      </dgm:t>
    </dgm:pt>
    <dgm:pt modelId="{0225D23E-FC30-D746-9A63-D2151FCD52A5}" type="parTrans" cxnId="{5A2AB748-B1DD-1543-8248-0ECB2F1252ED}">
      <dgm:prSet/>
      <dgm:spPr/>
      <dgm:t>
        <a:bodyPr/>
        <a:lstStyle/>
        <a:p>
          <a:endParaRPr lang="en-US"/>
        </a:p>
      </dgm:t>
    </dgm:pt>
    <dgm:pt modelId="{ABDB448C-F3FF-4548-9847-25B3C046924A}" type="sibTrans" cxnId="{5A2AB748-B1DD-1543-8248-0ECB2F1252ED}">
      <dgm:prSet/>
      <dgm:spPr/>
      <dgm:t>
        <a:bodyPr/>
        <a:lstStyle/>
        <a:p>
          <a:endParaRPr lang="en-US"/>
        </a:p>
      </dgm:t>
    </dgm:pt>
    <dgm:pt modelId="{8091B03A-75AA-474F-AEFD-F4C221105204}">
      <dgm:prSet/>
      <dgm:spPr>
        <a:ln w="19050">
          <a:solidFill>
            <a:schemeClr val="tx2">
              <a:lumMod val="75000"/>
            </a:schemeClr>
          </a:solidFill>
        </a:ln>
      </dgm:spPr>
      <dgm:t>
        <a:bodyPr/>
        <a:lstStyle/>
        <a:p>
          <a:pPr rtl="0"/>
          <a:r>
            <a:rPr lang="en-US" dirty="0"/>
            <a:t>When a party sends or receives a change cipher spec message, the appropriate sequence number is set to zero</a:t>
          </a:r>
        </a:p>
      </dgm:t>
    </dgm:pt>
    <dgm:pt modelId="{BEC39DDC-F4B4-C046-937E-5808DB5666A0}" type="parTrans" cxnId="{7B20EBCD-5689-554E-AAD6-F83D0ACDF02B}">
      <dgm:prSet/>
      <dgm:spPr/>
      <dgm:t>
        <a:bodyPr/>
        <a:lstStyle/>
        <a:p>
          <a:endParaRPr lang="en-US"/>
        </a:p>
      </dgm:t>
    </dgm:pt>
    <dgm:pt modelId="{6D1F88BC-C031-C846-BE76-35E73DD1D30D}" type="sibTrans" cxnId="{7B20EBCD-5689-554E-AAD6-F83D0ACDF02B}">
      <dgm:prSet/>
      <dgm:spPr/>
      <dgm:t>
        <a:bodyPr/>
        <a:lstStyle/>
        <a:p>
          <a:endParaRPr lang="en-US"/>
        </a:p>
      </dgm:t>
    </dgm:pt>
    <dgm:pt modelId="{8B8DCD33-72E6-8044-921D-3F2BF246D229}">
      <dgm:prSet/>
      <dgm:spPr>
        <a:ln w="19050">
          <a:solidFill>
            <a:schemeClr val="tx2">
              <a:lumMod val="75000"/>
            </a:schemeClr>
          </a:solidFill>
        </a:ln>
      </dgm:spPr>
      <dgm:t>
        <a:bodyPr/>
        <a:lstStyle/>
        <a:p>
          <a:pPr rtl="0"/>
          <a:r>
            <a:rPr lang="en-US" dirty="0"/>
            <a:t>Sequence numbers may not exceed 2</a:t>
          </a:r>
          <a:r>
            <a:rPr lang="en-US" baseline="30000" dirty="0"/>
            <a:t>64</a:t>
          </a:r>
          <a:r>
            <a:rPr lang="en-US" dirty="0"/>
            <a:t> – 1 (64 bits)</a:t>
          </a:r>
        </a:p>
      </dgm:t>
    </dgm:pt>
    <dgm:pt modelId="{37E40401-6C00-9D43-AF2A-64B016A24E76}" type="parTrans" cxnId="{873B8C93-7772-524F-9724-6CCBCA705926}">
      <dgm:prSet/>
      <dgm:spPr/>
      <dgm:t>
        <a:bodyPr/>
        <a:lstStyle/>
        <a:p>
          <a:endParaRPr lang="en-US"/>
        </a:p>
      </dgm:t>
    </dgm:pt>
    <dgm:pt modelId="{F41F762A-AA76-9B47-AF7D-F3A2971F114F}" type="sibTrans" cxnId="{873B8C93-7772-524F-9724-6CCBCA705926}">
      <dgm:prSet/>
      <dgm:spPr/>
      <dgm:t>
        <a:bodyPr/>
        <a:lstStyle/>
        <a:p>
          <a:endParaRPr lang="en-US"/>
        </a:p>
      </dgm:t>
    </dgm:pt>
    <dgm:pt modelId="{C2F8C2B4-8E20-9E4D-BD01-22055D338370}">
      <dgm:prSet/>
      <dgm:spPr>
        <a:ln w="19050">
          <a:solidFill>
            <a:schemeClr val="tx2">
              <a:lumMod val="75000"/>
            </a:schemeClr>
          </a:solidFill>
        </a:ln>
      </dgm:spPr>
      <dgm:t>
        <a:bodyPr/>
        <a:lstStyle/>
        <a:p>
          <a:r>
            <a:rPr lang="en-US" dirty="0"/>
            <a:t>This field is first initialized by the TLS Handshake Protocol</a:t>
          </a:r>
        </a:p>
      </dgm:t>
    </dgm:pt>
    <dgm:pt modelId="{BB46144E-73EE-F446-BE00-D432C82BED9C}" type="parTrans" cxnId="{4B5D79FC-E953-DA4B-8787-3EA70C7C0255}">
      <dgm:prSet/>
      <dgm:spPr/>
      <dgm:t>
        <a:bodyPr/>
        <a:lstStyle/>
        <a:p>
          <a:endParaRPr lang="en-US"/>
        </a:p>
      </dgm:t>
    </dgm:pt>
    <dgm:pt modelId="{6BE30579-E929-AA49-932E-49646B3ABC33}" type="sibTrans" cxnId="{4B5D79FC-E953-DA4B-8787-3EA70C7C0255}">
      <dgm:prSet/>
      <dgm:spPr/>
      <dgm:t>
        <a:bodyPr/>
        <a:lstStyle/>
        <a:p>
          <a:endParaRPr lang="en-US"/>
        </a:p>
      </dgm:t>
    </dgm:pt>
    <dgm:pt modelId="{F27297E8-6322-5B4E-892C-F5784C84D905}" type="pres">
      <dgm:prSet presAssocID="{2F9681EC-4831-FD42-B59C-5C099A638D2D}" presName="Name0" presStyleCnt="0">
        <dgm:presLayoutVars>
          <dgm:dir/>
          <dgm:animLvl val="lvl"/>
          <dgm:resizeHandles val="exact"/>
        </dgm:presLayoutVars>
      </dgm:prSet>
      <dgm:spPr/>
    </dgm:pt>
    <dgm:pt modelId="{D40C1B25-1F6F-0444-A5BD-4AADC3B0FF22}" type="pres">
      <dgm:prSet presAssocID="{024C89A4-6AA6-3443-BD29-4EE66B91FC2D}" presName="linNode" presStyleCnt="0"/>
      <dgm:spPr/>
    </dgm:pt>
    <dgm:pt modelId="{AAEC2D5B-2495-6F46-9A1B-08486F6FF577}" type="pres">
      <dgm:prSet presAssocID="{024C89A4-6AA6-3443-BD29-4EE66B91FC2D}" presName="parentText" presStyleLbl="node1" presStyleIdx="0" presStyleCnt="2" custScaleX="92593" custScaleY="85916">
        <dgm:presLayoutVars>
          <dgm:chMax val="1"/>
          <dgm:bulletEnabled val="1"/>
        </dgm:presLayoutVars>
      </dgm:prSet>
      <dgm:spPr/>
    </dgm:pt>
    <dgm:pt modelId="{3D4ABCB5-0C6A-7A48-B3CD-C704E06F7B05}" type="pres">
      <dgm:prSet presAssocID="{024C89A4-6AA6-3443-BD29-4EE66B91FC2D}" presName="descendantText" presStyleLbl="alignAccFollowNode1" presStyleIdx="0" presStyleCnt="2">
        <dgm:presLayoutVars>
          <dgm:bulletEnabled val="1"/>
        </dgm:presLayoutVars>
      </dgm:prSet>
      <dgm:spPr/>
    </dgm:pt>
    <dgm:pt modelId="{FB21B944-CF1A-1542-9388-A4A4A677DF26}" type="pres">
      <dgm:prSet presAssocID="{95208C42-6423-AE46-B36C-74EC2DBE11AA}" presName="sp" presStyleCnt="0"/>
      <dgm:spPr/>
    </dgm:pt>
    <dgm:pt modelId="{F5E9F5CC-1F75-3847-A597-0D1EA55F201D}" type="pres">
      <dgm:prSet presAssocID="{7306B1EF-0865-2243-9056-6EDFF0C51F87}" presName="linNode" presStyleCnt="0"/>
      <dgm:spPr/>
    </dgm:pt>
    <dgm:pt modelId="{DB48CF94-EB7F-4D41-9D55-8FAF07429072}" type="pres">
      <dgm:prSet presAssocID="{7306B1EF-0865-2243-9056-6EDFF0C51F87}" presName="parentText" presStyleLbl="node1" presStyleIdx="1" presStyleCnt="2" custScaleX="92593" custScaleY="81219">
        <dgm:presLayoutVars>
          <dgm:chMax val="1"/>
          <dgm:bulletEnabled val="1"/>
        </dgm:presLayoutVars>
      </dgm:prSet>
      <dgm:spPr/>
    </dgm:pt>
    <dgm:pt modelId="{DF27ABE6-AA87-E24C-8D06-3D4A4D91938C}" type="pres">
      <dgm:prSet presAssocID="{7306B1EF-0865-2243-9056-6EDFF0C51F87}" presName="descendantText" presStyleLbl="alignAccFollowNode1" presStyleIdx="1" presStyleCnt="2" custScaleY="111881">
        <dgm:presLayoutVars>
          <dgm:bulletEnabled val="1"/>
        </dgm:presLayoutVars>
      </dgm:prSet>
      <dgm:spPr/>
    </dgm:pt>
  </dgm:ptLst>
  <dgm:cxnLst>
    <dgm:cxn modelId="{E1AB5922-95BE-A343-895D-C678ACA6E40B}" type="presOf" srcId="{7306B1EF-0865-2243-9056-6EDFF0C51F87}" destId="{DB48CF94-EB7F-4D41-9D55-8FAF07429072}" srcOrd="0" destOrd="0" presId="urn:microsoft.com/office/officeart/2005/8/layout/vList5"/>
    <dgm:cxn modelId="{18A95723-B0BC-6146-B708-F53F3C7281F8}" type="presOf" srcId="{DD5A9A91-12B9-6346-BA6A-D804B827AF28}" destId="{DF27ABE6-AA87-E24C-8D06-3D4A4D91938C}" srcOrd="0" destOrd="0" presId="urn:microsoft.com/office/officeart/2005/8/layout/vList5"/>
    <dgm:cxn modelId="{18016932-46B7-7149-A841-044B83EE1436}" srcId="{2F9681EC-4831-FD42-B59C-5C099A638D2D}" destId="{7306B1EF-0865-2243-9056-6EDFF0C51F87}" srcOrd="1" destOrd="0" parTransId="{6B75B5A3-C65B-BB44-9ADA-DEBCFE4B2E85}" sibTransId="{8B113E5F-0FD7-AB46-8194-0255D4E60CC7}"/>
    <dgm:cxn modelId="{8A73B236-C966-2544-BCBF-9EBEE322B471}" type="presOf" srcId="{2F9681EC-4831-FD42-B59C-5C099A638D2D}" destId="{F27297E8-6322-5B4E-892C-F5784C84D905}" srcOrd="0" destOrd="0" presId="urn:microsoft.com/office/officeart/2005/8/layout/vList5"/>
    <dgm:cxn modelId="{3F1A5B3E-43C1-6D46-BC5A-E7EACEB758F4}" type="presOf" srcId="{C2F8C2B4-8E20-9E4D-BD01-22055D338370}" destId="{3D4ABCB5-0C6A-7A48-B3CD-C704E06F7B05}" srcOrd="0" destOrd="0" presId="urn:microsoft.com/office/officeart/2005/8/layout/vList5"/>
    <dgm:cxn modelId="{F9D9A641-0E1D-9344-A27A-01FFFE3DAE4D}" srcId="{2F9681EC-4831-FD42-B59C-5C099A638D2D}" destId="{024C89A4-6AA6-3443-BD29-4EE66B91FC2D}" srcOrd="0" destOrd="0" parTransId="{FED78151-F6AF-DB4E-822E-6B04E44DD51B}" sibTransId="{95208C42-6423-AE46-B36C-74EC2DBE11AA}"/>
    <dgm:cxn modelId="{5A2AB748-B1DD-1543-8248-0ECB2F1252ED}" srcId="{7306B1EF-0865-2243-9056-6EDFF0C51F87}" destId="{DD5A9A91-12B9-6346-BA6A-D804B827AF28}" srcOrd="0" destOrd="0" parTransId="{0225D23E-FC30-D746-9A63-D2151FCD52A5}" sibTransId="{ABDB448C-F3FF-4548-9847-25B3C046924A}"/>
    <dgm:cxn modelId="{E4F8B24A-4E04-9347-B97A-3DDC342E59BA}" type="presOf" srcId="{024C89A4-6AA6-3443-BD29-4EE66B91FC2D}" destId="{AAEC2D5B-2495-6F46-9A1B-08486F6FF577}" srcOrd="0" destOrd="0" presId="urn:microsoft.com/office/officeart/2005/8/layout/vList5"/>
    <dgm:cxn modelId="{B0BF3F5D-5EC6-BC46-8616-605C7029CDF2}" srcId="{024C89A4-6AA6-3443-BD29-4EE66B91FC2D}" destId="{34985D32-CE1C-3E45-922A-5D479800EC59}" srcOrd="1" destOrd="0" parTransId="{74D6A196-E4DA-444A-90D4-CF4ACC5DBDF0}" sibTransId="{1F8A5267-4295-9145-AD76-734C5ECA83D3}"/>
    <dgm:cxn modelId="{873B8C93-7772-524F-9724-6CCBCA705926}" srcId="{7306B1EF-0865-2243-9056-6EDFF0C51F87}" destId="{8B8DCD33-72E6-8044-921D-3F2BF246D229}" srcOrd="2" destOrd="0" parTransId="{37E40401-6C00-9D43-AF2A-64B016A24E76}" sibTransId="{F41F762A-AA76-9B47-AF7D-F3A2971F114F}"/>
    <dgm:cxn modelId="{428717A2-3405-6744-A653-9665E4666E3E}" type="presOf" srcId="{8B8DCD33-72E6-8044-921D-3F2BF246D229}" destId="{DF27ABE6-AA87-E24C-8D06-3D4A4D91938C}" srcOrd="0" destOrd="2" presId="urn:microsoft.com/office/officeart/2005/8/layout/vList5"/>
    <dgm:cxn modelId="{ADAF18B3-3E4F-0947-972F-8CA932E5D841}" type="presOf" srcId="{34985D32-CE1C-3E45-922A-5D479800EC59}" destId="{3D4ABCB5-0C6A-7A48-B3CD-C704E06F7B05}" srcOrd="0" destOrd="1" presId="urn:microsoft.com/office/officeart/2005/8/layout/vList5"/>
    <dgm:cxn modelId="{7B20EBCD-5689-554E-AAD6-F83D0ACDF02B}" srcId="{7306B1EF-0865-2243-9056-6EDFF0C51F87}" destId="{8091B03A-75AA-474F-AEFD-F4C221105204}" srcOrd="1" destOrd="0" parTransId="{BEC39DDC-F4B4-C046-937E-5808DB5666A0}" sibTransId="{6D1F88BC-C031-C846-BE76-35E73DD1D30D}"/>
    <dgm:cxn modelId="{6CBC84CF-C8E0-E441-819E-801855491E46}" type="presOf" srcId="{8091B03A-75AA-474F-AEFD-F4C221105204}" destId="{DF27ABE6-AA87-E24C-8D06-3D4A4D91938C}" srcOrd="0" destOrd="1" presId="urn:microsoft.com/office/officeart/2005/8/layout/vList5"/>
    <dgm:cxn modelId="{4B5D79FC-E953-DA4B-8787-3EA70C7C0255}" srcId="{024C89A4-6AA6-3443-BD29-4EE66B91FC2D}" destId="{C2F8C2B4-8E20-9E4D-BD01-22055D338370}" srcOrd="0" destOrd="0" parTransId="{BB46144E-73EE-F446-BE00-D432C82BED9C}" sibTransId="{6BE30579-E929-AA49-932E-49646B3ABC33}"/>
    <dgm:cxn modelId="{28326AD9-B357-FA49-A027-BE7AEA837EF4}" type="presParOf" srcId="{F27297E8-6322-5B4E-892C-F5784C84D905}" destId="{D40C1B25-1F6F-0444-A5BD-4AADC3B0FF22}" srcOrd="0" destOrd="0" presId="urn:microsoft.com/office/officeart/2005/8/layout/vList5"/>
    <dgm:cxn modelId="{B9EAAF2C-CBEB-2042-8296-CE49CC6A3730}" type="presParOf" srcId="{D40C1B25-1F6F-0444-A5BD-4AADC3B0FF22}" destId="{AAEC2D5B-2495-6F46-9A1B-08486F6FF577}" srcOrd="0" destOrd="0" presId="urn:microsoft.com/office/officeart/2005/8/layout/vList5"/>
    <dgm:cxn modelId="{16039F79-2806-1245-AE92-5D45D7D98DA5}" type="presParOf" srcId="{D40C1B25-1F6F-0444-A5BD-4AADC3B0FF22}" destId="{3D4ABCB5-0C6A-7A48-B3CD-C704E06F7B05}" srcOrd="1" destOrd="0" presId="urn:microsoft.com/office/officeart/2005/8/layout/vList5"/>
    <dgm:cxn modelId="{34078629-8BAA-154E-8B88-6DC80ABC1A5D}" type="presParOf" srcId="{F27297E8-6322-5B4E-892C-F5784C84D905}" destId="{FB21B944-CF1A-1542-9388-A4A4A677DF26}" srcOrd="1" destOrd="0" presId="urn:microsoft.com/office/officeart/2005/8/layout/vList5"/>
    <dgm:cxn modelId="{64AEDC6F-880E-6344-86BA-3D9E8F1E2E51}" type="presParOf" srcId="{F27297E8-6322-5B4E-892C-F5784C84D905}" destId="{F5E9F5CC-1F75-3847-A597-0D1EA55F201D}" srcOrd="2" destOrd="0" presId="urn:microsoft.com/office/officeart/2005/8/layout/vList5"/>
    <dgm:cxn modelId="{F55A79DB-E5E1-BA4D-9398-73467A211CCD}" type="presParOf" srcId="{F5E9F5CC-1F75-3847-A597-0D1EA55F201D}" destId="{DB48CF94-EB7F-4D41-9D55-8FAF07429072}" srcOrd="0" destOrd="0" presId="urn:microsoft.com/office/officeart/2005/8/layout/vList5"/>
    <dgm:cxn modelId="{5F37B2A6-4049-F346-8432-0F9CC051810C}" type="presParOf" srcId="{F5E9F5CC-1F75-3847-A597-0D1EA55F201D}" destId="{DF27ABE6-AA87-E24C-8D06-3D4A4D91938C}"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78609A-B009-D04C-A3FA-8F8FE3A7D3B4}">
      <dsp:nvSpPr>
        <dsp:cNvPr id="0" name=""/>
        <dsp:cNvSpPr/>
      </dsp:nvSpPr>
      <dsp:spPr>
        <a:xfrm>
          <a:off x="3506" y="0"/>
          <a:ext cx="1385441" cy="4930775"/>
        </a:xfrm>
        <a:prstGeom prst="roundRect">
          <a:avLst>
            <a:gd name="adj" fmla="val 10000"/>
          </a:avLst>
        </a:prstGeom>
        <a:solidFill>
          <a:schemeClr val="accent1">
            <a:tint val="40000"/>
            <a:hueOff val="0"/>
            <a:satOff val="0"/>
            <a:lumOff val="0"/>
            <a:alphaOff val="0"/>
          </a:schemeClr>
        </a:solidFill>
        <a:ln>
          <a:solidFill>
            <a:schemeClr val="bg2">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110000"/>
            </a:lnSpc>
            <a:spcBef>
              <a:spcPct val="0"/>
            </a:spcBef>
            <a:spcAft>
              <a:spcPct val="35000"/>
            </a:spcAft>
            <a:buNone/>
          </a:pPr>
          <a:r>
            <a:rPr lang="en-US" sz="1700" kern="1200" dirty="0"/>
            <a:t>Session identifier</a:t>
          </a:r>
        </a:p>
      </dsp:txBody>
      <dsp:txXfrm>
        <a:off x="3506" y="0"/>
        <a:ext cx="1385441" cy="1479232"/>
      </dsp:txXfrm>
    </dsp:sp>
    <dsp:sp modelId="{F5B6A124-B107-574E-8267-A8251DC0F0D2}">
      <dsp:nvSpPr>
        <dsp:cNvPr id="0" name=""/>
        <dsp:cNvSpPr/>
      </dsp:nvSpPr>
      <dsp:spPr>
        <a:xfrm>
          <a:off x="142050" y="1479232"/>
          <a:ext cx="1108352" cy="320500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kern="1200" dirty="0">
              <a:solidFill>
                <a:schemeClr val="bg1"/>
              </a:solidFill>
            </a:rPr>
            <a:t>An arbitrary byte sequence chosen by the server to identify an active or resumable session state</a:t>
          </a:r>
        </a:p>
      </dsp:txBody>
      <dsp:txXfrm>
        <a:off x="174513" y="1511695"/>
        <a:ext cx="1043426" cy="3140077"/>
      </dsp:txXfrm>
    </dsp:sp>
    <dsp:sp modelId="{37720813-09DC-0D43-8726-FEF831974E71}">
      <dsp:nvSpPr>
        <dsp:cNvPr id="0" name=""/>
        <dsp:cNvSpPr/>
      </dsp:nvSpPr>
      <dsp:spPr>
        <a:xfrm>
          <a:off x="1492855" y="0"/>
          <a:ext cx="1385441" cy="4930775"/>
        </a:xfrm>
        <a:prstGeom prst="roundRect">
          <a:avLst>
            <a:gd name="adj" fmla="val 10000"/>
          </a:avLst>
        </a:prstGeom>
        <a:solidFill>
          <a:schemeClr val="accent1">
            <a:tint val="40000"/>
            <a:hueOff val="0"/>
            <a:satOff val="0"/>
            <a:lumOff val="0"/>
            <a:alphaOff val="0"/>
          </a:schemeClr>
        </a:solidFill>
        <a:ln>
          <a:solidFill>
            <a:schemeClr val="bg2">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110000"/>
            </a:lnSpc>
            <a:spcBef>
              <a:spcPct val="0"/>
            </a:spcBef>
            <a:spcAft>
              <a:spcPct val="35000"/>
            </a:spcAft>
            <a:buNone/>
          </a:pPr>
          <a:r>
            <a:rPr lang="en-US" sz="1700" kern="1200" dirty="0">
              <a:solidFill>
                <a:srgbClr val="000000"/>
              </a:solidFill>
            </a:rPr>
            <a:t>Peer certificate</a:t>
          </a:r>
        </a:p>
      </dsp:txBody>
      <dsp:txXfrm>
        <a:off x="1492855" y="0"/>
        <a:ext cx="1385441" cy="1479232"/>
      </dsp:txXfrm>
    </dsp:sp>
    <dsp:sp modelId="{4BAC7494-6691-5540-9E84-64138A9590BF}">
      <dsp:nvSpPr>
        <dsp:cNvPr id="0" name=""/>
        <dsp:cNvSpPr/>
      </dsp:nvSpPr>
      <dsp:spPr>
        <a:xfrm>
          <a:off x="1631399" y="1479232"/>
          <a:ext cx="1108352" cy="320500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kern="1200" dirty="0">
              <a:solidFill>
                <a:srgbClr val="FFFFFF"/>
              </a:solidFill>
            </a:rPr>
            <a:t>An X509.v3 certificate of the peer. </a:t>
          </a:r>
          <a:r>
            <a:rPr lang="en-US" sz="1300" kern="1200" dirty="0">
              <a:solidFill>
                <a:srgbClr val="FFFF00"/>
              </a:solidFill>
            </a:rPr>
            <a:t>Used to verify the identity</a:t>
          </a:r>
          <a:r>
            <a:rPr lang="en-US" sz="1300" kern="1200" dirty="0">
              <a:solidFill>
                <a:srgbClr val="FFFFFF"/>
              </a:solidFill>
            </a:rPr>
            <a:t>.</a:t>
          </a:r>
        </a:p>
        <a:p>
          <a:pPr marL="0" lvl="0" indent="0" algn="ctr" defTabSz="577850" rtl="0">
            <a:lnSpc>
              <a:spcPct val="90000"/>
            </a:lnSpc>
            <a:spcBef>
              <a:spcPct val="0"/>
            </a:spcBef>
            <a:spcAft>
              <a:spcPct val="35000"/>
            </a:spcAft>
            <a:buNone/>
          </a:pPr>
          <a:endParaRPr lang="en-US" sz="1300" kern="1200" dirty="0">
            <a:solidFill>
              <a:srgbClr val="FFFFFF"/>
            </a:solidFill>
          </a:endParaRPr>
        </a:p>
      </dsp:txBody>
      <dsp:txXfrm>
        <a:off x="1663862" y="1511695"/>
        <a:ext cx="1043426" cy="3140077"/>
      </dsp:txXfrm>
    </dsp:sp>
    <dsp:sp modelId="{36DE3875-DEFB-7F4C-937C-9E976FA7A00B}">
      <dsp:nvSpPr>
        <dsp:cNvPr id="0" name=""/>
        <dsp:cNvSpPr/>
      </dsp:nvSpPr>
      <dsp:spPr>
        <a:xfrm>
          <a:off x="2982204" y="0"/>
          <a:ext cx="1385441" cy="4930775"/>
        </a:xfrm>
        <a:prstGeom prst="roundRect">
          <a:avLst>
            <a:gd name="adj" fmla="val 10000"/>
          </a:avLst>
        </a:prstGeom>
        <a:solidFill>
          <a:schemeClr val="accent1">
            <a:tint val="40000"/>
            <a:hueOff val="0"/>
            <a:satOff val="0"/>
            <a:lumOff val="0"/>
            <a:alphaOff val="0"/>
          </a:schemeClr>
        </a:solidFill>
        <a:ln>
          <a:solidFill>
            <a:schemeClr val="bg2">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110000"/>
            </a:lnSpc>
            <a:spcBef>
              <a:spcPct val="0"/>
            </a:spcBef>
            <a:spcAft>
              <a:spcPct val="35000"/>
            </a:spcAft>
            <a:buNone/>
          </a:pPr>
          <a:r>
            <a:rPr lang="en-US" sz="1700" kern="1200" dirty="0"/>
            <a:t>Compression method</a:t>
          </a:r>
        </a:p>
      </dsp:txBody>
      <dsp:txXfrm>
        <a:off x="2982204" y="0"/>
        <a:ext cx="1385441" cy="1479232"/>
      </dsp:txXfrm>
    </dsp:sp>
    <dsp:sp modelId="{A418C61E-2CF9-9744-86CB-49F4785FBC10}">
      <dsp:nvSpPr>
        <dsp:cNvPr id="0" name=""/>
        <dsp:cNvSpPr/>
      </dsp:nvSpPr>
      <dsp:spPr>
        <a:xfrm>
          <a:off x="3120749" y="1479232"/>
          <a:ext cx="1108352" cy="320500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kern="1200" dirty="0"/>
            <a:t>The algorithm used to compress data prior to encryption</a:t>
          </a:r>
        </a:p>
      </dsp:txBody>
      <dsp:txXfrm>
        <a:off x="3153212" y="1511695"/>
        <a:ext cx="1043426" cy="3140077"/>
      </dsp:txXfrm>
    </dsp:sp>
    <dsp:sp modelId="{2E7FED49-57CD-7745-80D7-28C445B0D9DA}">
      <dsp:nvSpPr>
        <dsp:cNvPr id="0" name=""/>
        <dsp:cNvSpPr/>
      </dsp:nvSpPr>
      <dsp:spPr>
        <a:xfrm>
          <a:off x="4471554" y="0"/>
          <a:ext cx="1385441" cy="4930775"/>
        </a:xfrm>
        <a:prstGeom prst="roundRect">
          <a:avLst>
            <a:gd name="adj" fmla="val 10000"/>
          </a:avLst>
        </a:prstGeom>
        <a:solidFill>
          <a:schemeClr val="accent1">
            <a:tint val="40000"/>
            <a:hueOff val="0"/>
            <a:satOff val="0"/>
            <a:lumOff val="0"/>
            <a:alphaOff val="0"/>
          </a:schemeClr>
        </a:solidFill>
        <a:ln>
          <a:solidFill>
            <a:schemeClr val="bg2">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80000"/>
            </a:lnSpc>
            <a:spcBef>
              <a:spcPct val="0"/>
            </a:spcBef>
            <a:spcAft>
              <a:spcPct val="35000"/>
            </a:spcAft>
            <a:buNone/>
          </a:pPr>
          <a:r>
            <a:rPr lang="en-US" sz="1700" kern="1200" dirty="0">
              <a:solidFill>
                <a:schemeClr val="tx1"/>
              </a:solidFill>
            </a:rPr>
            <a:t>Cipher </a:t>
          </a:r>
        </a:p>
        <a:p>
          <a:pPr marL="0" lvl="0" indent="0" algn="ctr" defTabSz="755650" rtl="0">
            <a:lnSpc>
              <a:spcPct val="80000"/>
            </a:lnSpc>
            <a:spcBef>
              <a:spcPct val="0"/>
            </a:spcBef>
            <a:spcAft>
              <a:spcPct val="35000"/>
            </a:spcAft>
            <a:buNone/>
          </a:pPr>
          <a:r>
            <a:rPr lang="en-US" sz="1700" kern="1200" dirty="0">
              <a:solidFill>
                <a:schemeClr val="tx1"/>
              </a:solidFill>
            </a:rPr>
            <a:t>spec</a:t>
          </a:r>
        </a:p>
      </dsp:txBody>
      <dsp:txXfrm>
        <a:off x="4471554" y="0"/>
        <a:ext cx="1385441" cy="1479232"/>
      </dsp:txXfrm>
    </dsp:sp>
    <dsp:sp modelId="{CF5F0EF7-9814-CF4C-9A4C-692818C28C28}">
      <dsp:nvSpPr>
        <dsp:cNvPr id="0" name=""/>
        <dsp:cNvSpPr/>
      </dsp:nvSpPr>
      <dsp:spPr>
        <a:xfrm>
          <a:off x="4610098" y="1479232"/>
          <a:ext cx="1108352" cy="320500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kern="1200" dirty="0"/>
            <a:t>Specifies the bulk data encryption algorithm and a hash algorithm used for MAC calculation; also defines cryptographic attributes such as the hash_size</a:t>
          </a:r>
        </a:p>
      </dsp:txBody>
      <dsp:txXfrm>
        <a:off x="4642561" y="1511695"/>
        <a:ext cx="1043426" cy="3140077"/>
      </dsp:txXfrm>
    </dsp:sp>
    <dsp:sp modelId="{E28B94FF-AA50-DA49-9E33-283EB97B697F}">
      <dsp:nvSpPr>
        <dsp:cNvPr id="0" name=""/>
        <dsp:cNvSpPr/>
      </dsp:nvSpPr>
      <dsp:spPr>
        <a:xfrm>
          <a:off x="5960903" y="0"/>
          <a:ext cx="1385441" cy="4930775"/>
        </a:xfrm>
        <a:prstGeom prst="roundRect">
          <a:avLst>
            <a:gd name="adj" fmla="val 10000"/>
          </a:avLst>
        </a:prstGeom>
        <a:solidFill>
          <a:schemeClr val="accent1">
            <a:tint val="40000"/>
            <a:hueOff val="0"/>
            <a:satOff val="0"/>
            <a:lumOff val="0"/>
            <a:alphaOff val="0"/>
          </a:schemeClr>
        </a:solidFill>
        <a:ln>
          <a:solidFill>
            <a:schemeClr val="bg2">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80000"/>
            </a:lnSpc>
            <a:spcBef>
              <a:spcPct val="0"/>
            </a:spcBef>
            <a:spcAft>
              <a:spcPct val="35000"/>
            </a:spcAft>
            <a:buNone/>
          </a:pPr>
          <a:r>
            <a:rPr lang="en-US" sz="1700" kern="1200" dirty="0"/>
            <a:t>Master </a:t>
          </a:r>
        </a:p>
        <a:p>
          <a:pPr marL="0" lvl="0" indent="0" algn="ctr" defTabSz="755650" rtl="0">
            <a:lnSpc>
              <a:spcPct val="80000"/>
            </a:lnSpc>
            <a:spcBef>
              <a:spcPct val="0"/>
            </a:spcBef>
            <a:spcAft>
              <a:spcPct val="35000"/>
            </a:spcAft>
            <a:buNone/>
          </a:pPr>
          <a:r>
            <a:rPr lang="en-US" sz="1700" kern="1200" dirty="0"/>
            <a:t>secret</a:t>
          </a:r>
        </a:p>
      </dsp:txBody>
      <dsp:txXfrm>
        <a:off x="5960903" y="0"/>
        <a:ext cx="1385441" cy="1479232"/>
      </dsp:txXfrm>
    </dsp:sp>
    <dsp:sp modelId="{BE87C3C9-B00C-F944-85FE-8E09483A0354}">
      <dsp:nvSpPr>
        <dsp:cNvPr id="0" name=""/>
        <dsp:cNvSpPr/>
      </dsp:nvSpPr>
      <dsp:spPr>
        <a:xfrm>
          <a:off x="6099447" y="1479232"/>
          <a:ext cx="1108352" cy="320500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kern="1200" dirty="0"/>
            <a:t>48-byte secret shared between the client and the server. </a:t>
          </a:r>
          <a:r>
            <a:rPr lang="en-US" sz="1300" kern="1200" dirty="0">
              <a:solidFill>
                <a:srgbClr val="FFFF00"/>
              </a:solidFill>
            </a:rPr>
            <a:t>Used to generate session keys</a:t>
          </a:r>
          <a:r>
            <a:rPr lang="en-US" sz="1300" kern="1200" dirty="0"/>
            <a:t>.</a:t>
          </a:r>
        </a:p>
        <a:p>
          <a:pPr marL="0" lvl="0" indent="0" algn="ctr" defTabSz="577850" rtl="0">
            <a:lnSpc>
              <a:spcPct val="90000"/>
            </a:lnSpc>
            <a:spcBef>
              <a:spcPct val="0"/>
            </a:spcBef>
            <a:spcAft>
              <a:spcPct val="35000"/>
            </a:spcAft>
            <a:buNone/>
          </a:pPr>
          <a:endParaRPr lang="en-US" sz="1300" kern="1200" dirty="0"/>
        </a:p>
      </dsp:txBody>
      <dsp:txXfrm>
        <a:off x="6131910" y="1511695"/>
        <a:ext cx="1043426" cy="3140077"/>
      </dsp:txXfrm>
    </dsp:sp>
    <dsp:sp modelId="{2087E774-7261-444D-9D7A-25920C44F10F}">
      <dsp:nvSpPr>
        <dsp:cNvPr id="0" name=""/>
        <dsp:cNvSpPr/>
      </dsp:nvSpPr>
      <dsp:spPr>
        <a:xfrm>
          <a:off x="7450252" y="0"/>
          <a:ext cx="1385441" cy="4930775"/>
        </a:xfrm>
        <a:prstGeom prst="roundRect">
          <a:avLst>
            <a:gd name="adj" fmla="val 10000"/>
          </a:avLst>
        </a:prstGeom>
        <a:solidFill>
          <a:schemeClr val="accent1">
            <a:tint val="40000"/>
            <a:hueOff val="0"/>
            <a:satOff val="0"/>
            <a:lumOff val="0"/>
            <a:alphaOff val="0"/>
          </a:schemeClr>
        </a:solidFill>
        <a:ln>
          <a:solidFill>
            <a:schemeClr val="bg2">
              <a:lumMod val="75000"/>
            </a:schemeClr>
          </a:solidFill>
        </a:ln>
        <a:effectLst/>
      </dsp:spPr>
      <dsp:style>
        <a:lnRef idx="0">
          <a:scrgbClr r="0" g="0" b="0"/>
        </a:lnRef>
        <a:fillRef idx="1">
          <a:scrgbClr r="0" g="0" b="0"/>
        </a:fillRef>
        <a:effectRef idx="2">
          <a:scrgbClr r="0" g="0" b="0"/>
        </a:effectRef>
        <a:fontRef idx="minor"/>
      </dsp:style>
      <dsp:txBody>
        <a:bodyPr spcFirstLastPara="0" vert="horz" wrap="square" lIns="64770" tIns="64770" rIns="64770" bIns="64770" numCol="1" spcCol="1270" anchor="ctr" anchorCtr="0">
          <a:noAutofit/>
        </a:bodyPr>
        <a:lstStyle/>
        <a:p>
          <a:pPr marL="0" lvl="0" indent="0" algn="ctr" defTabSz="755650" rtl="0">
            <a:lnSpc>
              <a:spcPct val="80000"/>
            </a:lnSpc>
            <a:spcBef>
              <a:spcPct val="0"/>
            </a:spcBef>
            <a:spcAft>
              <a:spcPct val="35000"/>
            </a:spcAft>
            <a:buNone/>
          </a:pPr>
          <a:r>
            <a:rPr lang="en-US" sz="1700" kern="1200" dirty="0"/>
            <a:t>Is </a:t>
          </a:r>
        </a:p>
        <a:p>
          <a:pPr marL="0" lvl="0" indent="0" algn="ctr" defTabSz="755650" rtl="0">
            <a:lnSpc>
              <a:spcPct val="80000"/>
            </a:lnSpc>
            <a:spcBef>
              <a:spcPct val="0"/>
            </a:spcBef>
            <a:spcAft>
              <a:spcPct val="35000"/>
            </a:spcAft>
            <a:buNone/>
          </a:pPr>
          <a:r>
            <a:rPr lang="en-US" sz="1700" kern="1200" dirty="0"/>
            <a:t>resumable</a:t>
          </a:r>
        </a:p>
      </dsp:txBody>
      <dsp:txXfrm>
        <a:off x="7450252" y="0"/>
        <a:ext cx="1385441" cy="1479232"/>
      </dsp:txXfrm>
    </dsp:sp>
    <dsp:sp modelId="{F83743C7-8ED2-464F-BBBA-644492BEC57B}">
      <dsp:nvSpPr>
        <dsp:cNvPr id="0" name=""/>
        <dsp:cNvSpPr/>
      </dsp:nvSpPr>
      <dsp:spPr>
        <a:xfrm>
          <a:off x="7588796" y="1479232"/>
          <a:ext cx="1108352" cy="3205003"/>
        </a:xfrm>
        <a:prstGeom prst="roundRect">
          <a:avLst>
            <a:gd name="adj" fmla="val 10000"/>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rtl="0">
            <a:lnSpc>
              <a:spcPct val="90000"/>
            </a:lnSpc>
            <a:spcBef>
              <a:spcPct val="0"/>
            </a:spcBef>
            <a:spcAft>
              <a:spcPct val="35000"/>
            </a:spcAft>
            <a:buNone/>
          </a:pPr>
          <a:r>
            <a:rPr lang="en-US" sz="1300" kern="1200" dirty="0"/>
            <a:t>A flag indicating whether the session can be used to initiate new connections</a:t>
          </a:r>
        </a:p>
      </dsp:txBody>
      <dsp:txXfrm>
        <a:off x="7621259" y="1511695"/>
        <a:ext cx="1043426" cy="31400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A1AAE-CD42-3F47-93C9-E85F4D57A4EC}">
      <dsp:nvSpPr>
        <dsp:cNvPr id="0" name=""/>
        <dsp:cNvSpPr/>
      </dsp:nvSpPr>
      <dsp:spPr>
        <a:xfrm rot="5400000">
          <a:off x="2413775" y="-1029694"/>
          <a:ext cx="822275" cy="299553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t>Byte sequences that are chosen by the server and client for each connection. Used for </a:t>
          </a:r>
          <a:r>
            <a:rPr lang="en-US" sz="1200" kern="1200" dirty="0">
              <a:solidFill>
                <a:srgbClr val="FF0000"/>
              </a:solidFill>
            </a:rPr>
            <a:t>key generation </a:t>
          </a:r>
          <a:r>
            <a:rPr lang="en-US" sz="1200" kern="1200" dirty="0"/>
            <a:t>and prevent </a:t>
          </a:r>
          <a:r>
            <a:rPr lang="en-US" sz="1200" kern="1200" dirty="0">
              <a:solidFill>
                <a:srgbClr val="FF0000"/>
              </a:solidFill>
            </a:rPr>
            <a:t>replay attack</a:t>
          </a:r>
          <a:r>
            <a:rPr lang="en-US" sz="1200" kern="1200" dirty="0"/>
            <a:t>.</a:t>
          </a:r>
        </a:p>
      </dsp:txBody>
      <dsp:txXfrm rot="-5400000">
        <a:off x="1327147" y="97074"/>
        <a:ext cx="2955392" cy="741995"/>
      </dsp:txXfrm>
    </dsp:sp>
    <dsp:sp modelId="{AB31F307-D6A3-5B4D-9204-68FD34BF8471}">
      <dsp:nvSpPr>
        <dsp:cNvPr id="0" name=""/>
        <dsp:cNvSpPr/>
      </dsp:nvSpPr>
      <dsp:spPr>
        <a:xfrm>
          <a:off x="357840" y="418"/>
          <a:ext cx="969305" cy="935307"/>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effectLst>
                <a:outerShdw blurRad="38100" dist="38100" dir="2700000" algn="tl">
                  <a:srgbClr val="000000">
                    <a:alpha val="43137"/>
                  </a:srgbClr>
                </a:outerShdw>
              </a:effectLst>
            </a:rPr>
            <a:t>Server and client random</a:t>
          </a:r>
        </a:p>
      </dsp:txBody>
      <dsp:txXfrm>
        <a:off x="403498" y="46076"/>
        <a:ext cx="877989" cy="843991"/>
      </dsp:txXfrm>
    </dsp:sp>
    <dsp:sp modelId="{3EDCB463-4E72-F544-A3F9-973A619FE49F}">
      <dsp:nvSpPr>
        <dsp:cNvPr id="0" name=""/>
        <dsp:cNvSpPr/>
      </dsp:nvSpPr>
      <dsp:spPr>
        <a:xfrm rot="5400000">
          <a:off x="2413775" y="-34397"/>
          <a:ext cx="822275" cy="299553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t>The secret key used in MAC operations on data sent by the server</a:t>
          </a:r>
        </a:p>
      </dsp:txBody>
      <dsp:txXfrm rot="-5400000">
        <a:off x="1327147" y="1092371"/>
        <a:ext cx="2955392" cy="741995"/>
      </dsp:txXfrm>
    </dsp:sp>
    <dsp:sp modelId="{D0357970-DB85-D24C-BDB1-176EEA4C36D2}">
      <dsp:nvSpPr>
        <dsp:cNvPr id="0" name=""/>
        <dsp:cNvSpPr/>
      </dsp:nvSpPr>
      <dsp:spPr>
        <a:xfrm>
          <a:off x="357840" y="987117"/>
          <a:ext cx="969305" cy="952503"/>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FF00"/>
              </a:solidFill>
              <a:effectLst>
                <a:outerShdw blurRad="38100" dist="38100" dir="2700000" algn="tl">
                  <a:srgbClr val="000000">
                    <a:alpha val="43137"/>
                  </a:srgbClr>
                </a:outerShdw>
              </a:effectLst>
            </a:rPr>
            <a:t>Server write MAC secret</a:t>
          </a:r>
        </a:p>
      </dsp:txBody>
      <dsp:txXfrm>
        <a:off x="404337" y="1033614"/>
        <a:ext cx="876311" cy="859509"/>
      </dsp:txXfrm>
    </dsp:sp>
    <dsp:sp modelId="{B002FAE3-04D6-7643-985B-65254FEA663E}">
      <dsp:nvSpPr>
        <dsp:cNvPr id="0" name=""/>
        <dsp:cNvSpPr/>
      </dsp:nvSpPr>
      <dsp:spPr>
        <a:xfrm rot="5400000">
          <a:off x="2413775" y="982079"/>
          <a:ext cx="822275" cy="299553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t>The secret key used in MAC operations on data sent by the client</a:t>
          </a:r>
        </a:p>
      </dsp:txBody>
      <dsp:txXfrm rot="-5400000">
        <a:off x="1327147" y="2108847"/>
        <a:ext cx="2955392" cy="741995"/>
      </dsp:txXfrm>
    </dsp:sp>
    <dsp:sp modelId="{73AC2C07-3E80-9E40-B584-66C4F03A2C76}">
      <dsp:nvSpPr>
        <dsp:cNvPr id="0" name=""/>
        <dsp:cNvSpPr/>
      </dsp:nvSpPr>
      <dsp:spPr>
        <a:xfrm>
          <a:off x="357840" y="1991013"/>
          <a:ext cx="969305" cy="977664"/>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FF00"/>
              </a:solidFill>
              <a:effectLst>
                <a:outerShdw blurRad="38100" dist="38100" dir="2700000" algn="tl">
                  <a:srgbClr val="000000">
                    <a:alpha val="43137"/>
                  </a:srgbClr>
                </a:outerShdw>
              </a:effectLst>
            </a:rPr>
            <a:t>Client write MAC secret</a:t>
          </a:r>
        </a:p>
      </dsp:txBody>
      <dsp:txXfrm>
        <a:off x="405158" y="2038331"/>
        <a:ext cx="874669" cy="883028"/>
      </dsp:txXfrm>
    </dsp:sp>
    <dsp:sp modelId="{42B03287-F4B3-BD41-8DEA-3CDC6A7BBBCA}">
      <dsp:nvSpPr>
        <dsp:cNvPr id="0" name=""/>
        <dsp:cNvSpPr/>
      </dsp:nvSpPr>
      <dsp:spPr>
        <a:xfrm rot="5400000">
          <a:off x="2413775" y="2005663"/>
          <a:ext cx="822275" cy="299553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t>The secret encryption key for data encrypted by the server and decrypted by the client</a:t>
          </a:r>
        </a:p>
      </dsp:txBody>
      <dsp:txXfrm rot="-5400000">
        <a:off x="1327147" y="3132431"/>
        <a:ext cx="2955392" cy="741995"/>
      </dsp:txXfrm>
    </dsp:sp>
    <dsp:sp modelId="{38EC38B6-367F-3F42-86DF-A57A3FC0697F}">
      <dsp:nvSpPr>
        <dsp:cNvPr id="0" name=""/>
        <dsp:cNvSpPr/>
      </dsp:nvSpPr>
      <dsp:spPr>
        <a:xfrm>
          <a:off x="357840" y="3020070"/>
          <a:ext cx="969305" cy="966718"/>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FF00"/>
              </a:solidFill>
              <a:effectLst>
                <a:outerShdw blurRad="38100" dist="38100" dir="2700000" algn="tl">
                  <a:srgbClr val="000000">
                    <a:alpha val="43137"/>
                  </a:srgbClr>
                </a:outerShdw>
              </a:effectLst>
            </a:rPr>
            <a:t>Server write key</a:t>
          </a:r>
        </a:p>
      </dsp:txBody>
      <dsp:txXfrm>
        <a:off x="405031" y="3067261"/>
        <a:ext cx="874923" cy="872336"/>
      </dsp:txXfrm>
    </dsp:sp>
    <dsp:sp modelId="{F551B332-2D22-7746-90C7-D7539BCEEB2B}">
      <dsp:nvSpPr>
        <dsp:cNvPr id="0" name=""/>
        <dsp:cNvSpPr/>
      </dsp:nvSpPr>
      <dsp:spPr>
        <a:xfrm rot="5400000">
          <a:off x="2413775" y="2997614"/>
          <a:ext cx="822275" cy="299553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rtl="0">
            <a:lnSpc>
              <a:spcPct val="90000"/>
            </a:lnSpc>
            <a:spcBef>
              <a:spcPct val="0"/>
            </a:spcBef>
            <a:spcAft>
              <a:spcPct val="15000"/>
            </a:spcAft>
            <a:buChar char="•"/>
          </a:pPr>
          <a:r>
            <a:rPr lang="en-US" sz="1200" kern="1200" dirty="0"/>
            <a:t>The symmetric encryption key for data encrypted by the client and decrypted by the server</a:t>
          </a:r>
        </a:p>
      </dsp:txBody>
      <dsp:txXfrm rot="-5400000">
        <a:off x="1327147" y="4124382"/>
        <a:ext cx="2955392" cy="741995"/>
      </dsp:txXfrm>
    </dsp:sp>
    <dsp:sp modelId="{A2DA323E-ACDB-7A4C-8D6D-E929AAC15355}">
      <dsp:nvSpPr>
        <dsp:cNvPr id="0" name=""/>
        <dsp:cNvSpPr/>
      </dsp:nvSpPr>
      <dsp:spPr>
        <a:xfrm>
          <a:off x="357840" y="4038180"/>
          <a:ext cx="969305" cy="914401"/>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rgbClr val="FFFF00"/>
              </a:solidFill>
              <a:effectLst>
                <a:outerShdw blurRad="38100" dist="38100" dir="2700000" algn="tl">
                  <a:srgbClr val="000000">
                    <a:alpha val="43137"/>
                  </a:srgbClr>
                </a:outerShdw>
              </a:effectLst>
            </a:rPr>
            <a:t>Client write key</a:t>
          </a:r>
        </a:p>
      </dsp:txBody>
      <dsp:txXfrm>
        <a:off x="402477" y="4082817"/>
        <a:ext cx="880031" cy="8251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4ABCB5-0C6A-7A48-B3CD-C704E06F7B05}">
      <dsp:nvSpPr>
        <dsp:cNvPr id="0" name=""/>
        <dsp:cNvSpPr/>
      </dsp:nvSpPr>
      <dsp:spPr>
        <a:xfrm rot="5400000">
          <a:off x="1617359" y="-105119"/>
          <a:ext cx="2251687" cy="263347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This field is first initialized by the TLS Handshake Protocol</a:t>
          </a:r>
        </a:p>
        <a:p>
          <a:pPr marL="114300" lvl="1" indent="-114300" algn="l" defTabSz="622300" rtl="0">
            <a:lnSpc>
              <a:spcPct val="90000"/>
            </a:lnSpc>
            <a:spcBef>
              <a:spcPct val="0"/>
            </a:spcBef>
            <a:spcAft>
              <a:spcPct val="15000"/>
            </a:spcAft>
            <a:buChar char="•"/>
          </a:pPr>
          <a:r>
            <a:rPr lang="en-US" sz="1400" kern="1200" dirty="0"/>
            <a:t>When a block cipher in Cipher Block Chaining mode is used, an initialization vector (IV) is maintained for each key</a:t>
          </a:r>
        </a:p>
      </dsp:txBody>
      <dsp:txXfrm rot="-5400000">
        <a:off x="1426467" y="195691"/>
        <a:ext cx="2523554" cy="2031851"/>
      </dsp:txXfrm>
    </dsp:sp>
    <dsp:sp modelId="{AAEC2D5B-2495-6F46-9A1B-08486F6FF577}">
      <dsp:nvSpPr>
        <dsp:cNvPr id="0" name=""/>
        <dsp:cNvSpPr/>
      </dsp:nvSpPr>
      <dsp:spPr>
        <a:xfrm>
          <a:off x="54860" y="2516"/>
          <a:ext cx="1371606" cy="241819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effectLst>
                <a:outerShdw blurRad="38100" dist="38100" dir="2700000" algn="tl">
                  <a:srgbClr val="000000">
                    <a:alpha val="43137"/>
                  </a:srgbClr>
                </a:outerShdw>
              </a:effectLst>
            </a:rPr>
            <a:t>Initialization vectors</a:t>
          </a:r>
        </a:p>
      </dsp:txBody>
      <dsp:txXfrm>
        <a:off x="121816" y="69472"/>
        <a:ext cx="1237694" cy="2284287"/>
      </dsp:txXfrm>
    </dsp:sp>
    <dsp:sp modelId="{DF27ABE6-AA87-E24C-8D06-3D4A4D91938C}">
      <dsp:nvSpPr>
        <dsp:cNvPr id="0" name=""/>
        <dsp:cNvSpPr/>
      </dsp:nvSpPr>
      <dsp:spPr>
        <a:xfrm rot="5400000">
          <a:off x="1483597" y="2504316"/>
          <a:ext cx="2519210" cy="2633472"/>
        </a:xfrm>
        <a:prstGeom prst="round2SameRect">
          <a:avLst/>
        </a:prstGeom>
        <a:solidFill>
          <a:schemeClr val="accent1">
            <a:alpha val="90000"/>
            <a:tint val="40000"/>
            <a:hueOff val="0"/>
            <a:satOff val="0"/>
            <a:lumOff val="0"/>
            <a:alphaOff val="0"/>
          </a:schemeClr>
        </a:solidFill>
        <a:ln w="19050" cap="flat" cmpd="sng" algn="ctr">
          <a:solidFill>
            <a:schemeClr val="tx2">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Each party maintains </a:t>
          </a:r>
          <a:r>
            <a:rPr lang="en-US" sz="1400" kern="1200" dirty="0">
              <a:solidFill>
                <a:srgbClr val="FF0000"/>
              </a:solidFill>
            </a:rPr>
            <a:t>separate sequence</a:t>
          </a:r>
          <a:r>
            <a:rPr lang="en-US" sz="1400" kern="1200" dirty="0"/>
            <a:t> numbers for transmitted and received messages for each connection</a:t>
          </a:r>
        </a:p>
        <a:p>
          <a:pPr marL="114300" lvl="1" indent="-114300" algn="l" defTabSz="622300" rtl="0">
            <a:lnSpc>
              <a:spcPct val="90000"/>
            </a:lnSpc>
            <a:spcBef>
              <a:spcPct val="0"/>
            </a:spcBef>
            <a:spcAft>
              <a:spcPct val="15000"/>
            </a:spcAft>
            <a:buChar char="•"/>
          </a:pPr>
          <a:r>
            <a:rPr lang="en-US" sz="1400" kern="1200" dirty="0"/>
            <a:t>When a party sends or receives a change cipher spec message, the appropriate sequence number is set to zero</a:t>
          </a:r>
        </a:p>
        <a:p>
          <a:pPr marL="114300" lvl="1" indent="-114300" algn="l" defTabSz="622300" rtl="0">
            <a:lnSpc>
              <a:spcPct val="90000"/>
            </a:lnSpc>
            <a:spcBef>
              <a:spcPct val="0"/>
            </a:spcBef>
            <a:spcAft>
              <a:spcPct val="15000"/>
            </a:spcAft>
            <a:buChar char="•"/>
          </a:pPr>
          <a:r>
            <a:rPr lang="en-US" sz="1400" kern="1200" dirty="0"/>
            <a:t>Sequence numbers may not exceed 2</a:t>
          </a:r>
          <a:r>
            <a:rPr lang="en-US" sz="1400" kern="1200" baseline="30000" dirty="0"/>
            <a:t>64</a:t>
          </a:r>
          <a:r>
            <a:rPr lang="en-US" sz="1400" kern="1200" dirty="0"/>
            <a:t> – 1 (64 bits)</a:t>
          </a:r>
        </a:p>
      </dsp:txBody>
      <dsp:txXfrm rot="-5400000">
        <a:off x="1426466" y="2684425"/>
        <a:ext cx="2510494" cy="2273254"/>
      </dsp:txXfrm>
    </dsp:sp>
    <dsp:sp modelId="{DB48CF94-EB7F-4D41-9D55-8FAF07429072}">
      <dsp:nvSpPr>
        <dsp:cNvPr id="0" name=""/>
        <dsp:cNvSpPr/>
      </dsp:nvSpPr>
      <dsp:spPr>
        <a:xfrm>
          <a:off x="54860" y="2678053"/>
          <a:ext cx="1371606" cy="2285997"/>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rtl="0">
            <a:lnSpc>
              <a:spcPct val="90000"/>
            </a:lnSpc>
            <a:spcBef>
              <a:spcPct val="0"/>
            </a:spcBef>
            <a:spcAft>
              <a:spcPct val="35000"/>
            </a:spcAft>
            <a:buNone/>
          </a:pPr>
          <a:r>
            <a:rPr lang="en-US" sz="1600" kern="1200" dirty="0">
              <a:effectLst>
                <a:outerShdw blurRad="38100" dist="38100" dir="2700000" algn="tl">
                  <a:srgbClr val="000000">
                    <a:alpha val="43137"/>
                  </a:srgbClr>
                </a:outerShdw>
              </a:effectLst>
            </a:rPr>
            <a:t>Sequence numbers</a:t>
          </a:r>
        </a:p>
      </dsp:txBody>
      <dsp:txXfrm>
        <a:off x="121816" y="2745009"/>
        <a:ext cx="1237694" cy="215208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73731" name="Rectangle 1027"/>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73732" name="Rectangle 1028"/>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73733" name="Rectangle 1029"/>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EF44FAB5-79B8-084C-AB75-E317614038DB}" type="slidenum">
              <a:rPr lang="en-AU"/>
              <a:pPr>
                <a:defRPr/>
              </a:pPr>
              <a:t>‹#›</a:t>
            </a:fld>
            <a:endParaRPr lang="en-AU"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AU"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AU" dirty="0"/>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AU"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CB959BEF-6AC3-7540-A43C-A7798D3FCAAB}"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2pPr>
    <a:lvl3pPr marL="9144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3pPr>
    <a:lvl4pPr marL="13716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4pPr>
    <a:lvl5pPr marL="1828800" algn="l" rtl="0" eaLnBrk="0" fontAlgn="base" hangingPunct="0">
      <a:spcBef>
        <a:spcPct val="30000"/>
      </a:spcBef>
      <a:spcAft>
        <a:spcPct val="0"/>
      </a:spcAft>
      <a:defRPr sz="1200" kern="1200">
        <a:solidFill>
          <a:schemeClr val="tx1"/>
        </a:solidFill>
        <a:latin typeface="Arial" pitchFamily="-107" charset="0"/>
        <a:ea typeface="ＭＳ Ｐゴシック" pitchFamily="-107"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AE354F64-2AA8-FF46-BAF6-E2D7195E894F}" type="slidenum">
              <a:rPr lang="en-AU">
                <a:latin typeface="Arial" pitchFamily="-84" charset="0"/>
              </a:rPr>
              <a:pPr/>
              <a:t>3</a:t>
            </a:fld>
            <a:endParaRPr lang="en-AU" dirty="0">
              <a:latin typeface="Arial" pitchFamily="-84"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p:cNvSpPr>
          <p:nvPr>
            <p:ph type="sldImg"/>
          </p:nvPr>
        </p:nvSpPr>
        <p:spPr>
          <a:ln/>
        </p:spPr>
      </p:sp>
      <p:sp>
        <p:nvSpPr>
          <p:cNvPr id="22531" name="Notes Placeholder 2"/>
          <p:cNvSpPr>
            <a:spLocks noGrp="1"/>
          </p:cNvSpPr>
          <p:nvPr>
            <p:ph type="body" idx="1"/>
          </p:nvPr>
        </p:nvSpPr>
        <p:spPr>
          <a:xfrm>
            <a:off x="685800" y="4343400"/>
            <a:ext cx="5486400" cy="4341813"/>
          </a:xfrm>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22532" name="Slide Number Placeholder 3"/>
          <p:cNvSpPr>
            <a:spLocks noGrp="1"/>
          </p:cNvSpPr>
          <p:nvPr>
            <p:ph type="sldNum" sz="quarter" idx="5"/>
          </p:nvPr>
        </p:nvSpPr>
        <p:spPr>
          <a:noFill/>
        </p:spPr>
        <p:txBody>
          <a:bodyPr/>
          <a:lstStyle/>
          <a:p>
            <a:fld id="{8FC5FFF2-2EBA-E949-9192-1BE0809E3858}" type="slidenum">
              <a:rPr lang="en-AU" smtClean="0">
                <a:latin typeface="Arial" pitchFamily="-84" charset="0"/>
              </a:rPr>
              <a:pPr/>
              <a:t>4</a:t>
            </a:fld>
            <a:endParaRPr lang="en-AU" dirty="0">
              <a:latin typeface="Arial" pitchFamily="-84" charset="0"/>
            </a:endParaRPr>
          </a:p>
        </p:txBody>
      </p:sp>
    </p:spTree>
    <p:extLst>
      <p:ext uri="{BB962C8B-B14F-4D97-AF65-F5344CB8AC3E}">
        <p14:creationId xmlns:p14="http://schemas.microsoft.com/office/powerpoint/2010/main" val="4195509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CB959BEF-6AC3-7540-A43C-A7798D3FCAAB}" type="slidenum">
              <a:rPr lang="en-AU" smtClean="0"/>
              <a:pPr>
                <a:defRPr/>
              </a:pPr>
              <a:t>5</a:t>
            </a:fld>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149BBB40-6CE4-E541-A4AF-3304713711AB}" type="slidenum">
              <a:rPr lang="en-AU">
                <a:latin typeface="Arial" pitchFamily="-84" charset="0"/>
              </a:rPr>
              <a:pPr/>
              <a:t>6</a:t>
            </a:fld>
            <a:endParaRPr lang="en-AU" dirty="0">
              <a:latin typeface="Arial" pitchFamily="-84" charset="0"/>
            </a:endParaRPr>
          </a:p>
        </p:txBody>
      </p:sp>
      <p:sp>
        <p:nvSpPr>
          <p:cNvPr id="24579" name="Rectangle 1026"/>
          <p:cNvSpPr>
            <a:spLocks noGrp="1" noRot="1" noChangeAspect="1" noChangeArrowheads="1" noTextEdit="1"/>
          </p:cNvSpPr>
          <p:nvPr>
            <p:ph type="sldImg"/>
          </p:nvPr>
        </p:nvSpPr>
        <p:spPr>
          <a:ln/>
        </p:spPr>
      </p:sp>
      <p:sp>
        <p:nvSpPr>
          <p:cNvPr id="24580" name="Rectangle 1027"/>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3726042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149BBB40-6CE4-E541-A4AF-3304713711AB}" type="slidenum">
              <a:rPr lang="en-AU">
                <a:latin typeface="Arial" pitchFamily="-84" charset="0"/>
              </a:rPr>
              <a:pPr/>
              <a:t>7</a:t>
            </a:fld>
            <a:endParaRPr lang="en-AU" dirty="0">
              <a:latin typeface="Arial" pitchFamily="-84" charset="0"/>
            </a:endParaRPr>
          </a:p>
        </p:txBody>
      </p:sp>
      <p:sp>
        <p:nvSpPr>
          <p:cNvPr id="24579" name="Rectangle 1026"/>
          <p:cNvSpPr>
            <a:spLocks noGrp="1" noRot="1" noChangeAspect="1" noChangeArrowheads="1" noTextEdit="1"/>
          </p:cNvSpPr>
          <p:nvPr>
            <p:ph type="sldImg"/>
          </p:nvPr>
        </p:nvSpPr>
        <p:spPr>
          <a:ln/>
        </p:spPr>
      </p:sp>
      <p:sp>
        <p:nvSpPr>
          <p:cNvPr id="24580" name="Rectangle 1027"/>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807405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effectLst/>
            </a:endParaRPr>
          </a:p>
        </p:txBody>
      </p:sp>
      <p:sp>
        <p:nvSpPr>
          <p:cNvPr id="4" name="Slide Number Placeholder 3"/>
          <p:cNvSpPr>
            <a:spLocks noGrp="1"/>
          </p:cNvSpPr>
          <p:nvPr>
            <p:ph type="sldNum" sz="quarter" idx="10"/>
          </p:nvPr>
        </p:nvSpPr>
        <p:spPr/>
        <p:txBody>
          <a:bodyPr/>
          <a:lstStyle/>
          <a:p>
            <a:pPr>
              <a:defRPr/>
            </a:pPr>
            <a:fld id="{CB959BEF-6AC3-7540-A43C-A7798D3FCAAB}" type="slidenum">
              <a:rPr lang="en-AU" smtClean="0"/>
              <a:pPr>
                <a:defRPr/>
              </a:pPr>
              <a:t>8</a:t>
            </a:fld>
            <a:endParaRPr lang="en-AU" dirty="0"/>
          </a:p>
        </p:txBody>
      </p:sp>
    </p:spTree>
    <p:extLst>
      <p:ext uri="{BB962C8B-B14F-4D97-AF65-F5344CB8AC3E}">
        <p14:creationId xmlns:p14="http://schemas.microsoft.com/office/powerpoint/2010/main" val="2589621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B959BEF-6AC3-7540-A43C-A7798D3FCAAB}" type="slidenum">
              <a:rPr lang="en-AU" smtClean="0"/>
              <a:pPr>
                <a:defRPr/>
              </a:pPr>
              <a:t>9</a:t>
            </a:fld>
            <a:endParaRPr lang="en-AU" dirty="0"/>
          </a:p>
        </p:txBody>
      </p:sp>
    </p:spTree>
    <p:extLst>
      <p:ext uri="{BB962C8B-B14F-4D97-AF65-F5344CB8AC3E}">
        <p14:creationId xmlns:p14="http://schemas.microsoft.com/office/powerpoint/2010/main" val="1480099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9C06F18-B536-FB42-84F3-5B3F423A0B16}" type="slidenum">
              <a:rPr lang="en-AU">
                <a:latin typeface="Arial" pitchFamily="-84" charset="0"/>
              </a:rPr>
              <a:pPr/>
              <a:t>10</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9B40E-9623-7E3E-C5D2-288EAAB05940}"/>
            </a:ext>
          </a:extLst>
        </p:cNvPr>
        <p:cNvGrpSpPr/>
        <p:nvPr/>
      </p:nvGrpSpPr>
      <p:grpSpPr>
        <a:xfrm>
          <a:off x="0" y="0"/>
          <a:ext cx="0" cy="0"/>
          <a:chOff x="0" y="0"/>
          <a:chExt cx="0" cy="0"/>
        </a:xfrm>
      </p:grpSpPr>
      <p:sp>
        <p:nvSpPr>
          <p:cNvPr id="30722" name="Rectangle 7">
            <a:extLst>
              <a:ext uri="{FF2B5EF4-FFF2-40B4-BE49-F238E27FC236}">
                <a16:creationId xmlns:a16="http://schemas.microsoft.com/office/drawing/2014/main" id="{D65F1C71-5E70-75C8-15E2-F3B82678DFD2}"/>
              </a:ext>
            </a:extLst>
          </p:cNvPr>
          <p:cNvSpPr>
            <a:spLocks noGrp="1" noChangeArrowheads="1"/>
          </p:cNvSpPr>
          <p:nvPr>
            <p:ph type="sldNum" sz="quarter" idx="5"/>
          </p:nvPr>
        </p:nvSpPr>
        <p:spPr>
          <a:noFill/>
        </p:spPr>
        <p:txBody>
          <a:bodyPr/>
          <a:lstStyle/>
          <a:p>
            <a:fld id="{C9C06F18-B536-FB42-84F3-5B3F423A0B16}" type="slidenum">
              <a:rPr lang="en-AU">
                <a:latin typeface="Arial" pitchFamily="-84" charset="0"/>
              </a:rPr>
              <a:pPr/>
              <a:t>11</a:t>
            </a:fld>
            <a:endParaRPr lang="en-AU" dirty="0">
              <a:latin typeface="Arial" pitchFamily="-84" charset="0"/>
            </a:endParaRPr>
          </a:p>
        </p:txBody>
      </p:sp>
      <p:sp>
        <p:nvSpPr>
          <p:cNvPr id="30723" name="Rectangle 2">
            <a:extLst>
              <a:ext uri="{FF2B5EF4-FFF2-40B4-BE49-F238E27FC236}">
                <a16:creationId xmlns:a16="http://schemas.microsoft.com/office/drawing/2014/main" id="{0832F763-C591-110C-1B2F-3B86237E1A8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16CAFE96-6069-6BEC-6481-846F0C3B218B}"/>
              </a:ext>
            </a:extLst>
          </p:cNvPr>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3033077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7F45-CBE3-785F-0837-9C516CB96833}"/>
            </a:ext>
          </a:extLst>
        </p:cNvPr>
        <p:cNvGrpSpPr/>
        <p:nvPr/>
      </p:nvGrpSpPr>
      <p:grpSpPr>
        <a:xfrm>
          <a:off x="0" y="0"/>
          <a:ext cx="0" cy="0"/>
          <a:chOff x="0" y="0"/>
          <a:chExt cx="0" cy="0"/>
        </a:xfrm>
      </p:grpSpPr>
      <p:sp>
        <p:nvSpPr>
          <p:cNvPr id="30722" name="Rectangle 7">
            <a:extLst>
              <a:ext uri="{FF2B5EF4-FFF2-40B4-BE49-F238E27FC236}">
                <a16:creationId xmlns:a16="http://schemas.microsoft.com/office/drawing/2014/main" id="{6F1BD99D-0878-9455-4D32-0A6CAF0DF983}"/>
              </a:ext>
            </a:extLst>
          </p:cNvPr>
          <p:cNvSpPr>
            <a:spLocks noGrp="1" noChangeArrowheads="1"/>
          </p:cNvSpPr>
          <p:nvPr>
            <p:ph type="sldNum" sz="quarter" idx="5"/>
          </p:nvPr>
        </p:nvSpPr>
        <p:spPr>
          <a:noFill/>
        </p:spPr>
        <p:txBody>
          <a:bodyPr/>
          <a:lstStyle/>
          <a:p>
            <a:fld id="{C9C06F18-B536-FB42-84F3-5B3F423A0B16}" type="slidenum">
              <a:rPr lang="en-AU">
                <a:latin typeface="Arial" pitchFamily="-84" charset="0"/>
              </a:rPr>
              <a:pPr/>
              <a:t>12</a:t>
            </a:fld>
            <a:endParaRPr lang="en-AU" dirty="0">
              <a:latin typeface="Arial" pitchFamily="-84" charset="0"/>
            </a:endParaRPr>
          </a:p>
        </p:txBody>
      </p:sp>
      <p:sp>
        <p:nvSpPr>
          <p:cNvPr id="30723" name="Rectangle 2">
            <a:extLst>
              <a:ext uri="{FF2B5EF4-FFF2-40B4-BE49-F238E27FC236}">
                <a16:creationId xmlns:a16="http://schemas.microsoft.com/office/drawing/2014/main" id="{51822999-977A-8F6A-3887-CA439A8A2DD3}"/>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844AD5F8-21D3-E862-5765-DAE9B92E26D4}"/>
              </a:ext>
            </a:extLst>
          </p:cNvPr>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622286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3F6D-872B-820B-AF86-C7D51B41DF59}"/>
            </a:ext>
          </a:extLst>
        </p:cNvPr>
        <p:cNvGrpSpPr/>
        <p:nvPr/>
      </p:nvGrpSpPr>
      <p:grpSpPr>
        <a:xfrm>
          <a:off x="0" y="0"/>
          <a:ext cx="0" cy="0"/>
          <a:chOff x="0" y="0"/>
          <a:chExt cx="0" cy="0"/>
        </a:xfrm>
      </p:grpSpPr>
      <p:sp>
        <p:nvSpPr>
          <p:cNvPr id="30722" name="Rectangle 7">
            <a:extLst>
              <a:ext uri="{FF2B5EF4-FFF2-40B4-BE49-F238E27FC236}">
                <a16:creationId xmlns:a16="http://schemas.microsoft.com/office/drawing/2014/main" id="{87AD9A3F-E5AF-F706-B947-2A50809DB9DE}"/>
              </a:ext>
            </a:extLst>
          </p:cNvPr>
          <p:cNvSpPr>
            <a:spLocks noGrp="1" noChangeArrowheads="1"/>
          </p:cNvSpPr>
          <p:nvPr>
            <p:ph type="sldNum" sz="quarter" idx="5"/>
          </p:nvPr>
        </p:nvSpPr>
        <p:spPr>
          <a:noFill/>
        </p:spPr>
        <p:txBody>
          <a:bodyPr/>
          <a:lstStyle/>
          <a:p>
            <a:fld id="{C9C06F18-B536-FB42-84F3-5B3F423A0B16}" type="slidenum">
              <a:rPr lang="en-AU">
                <a:latin typeface="Arial" pitchFamily="-84" charset="0"/>
              </a:rPr>
              <a:pPr/>
              <a:t>13</a:t>
            </a:fld>
            <a:endParaRPr lang="en-AU" dirty="0">
              <a:latin typeface="Arial" pitchFamily="-84" charset="0"/>
            </a:endParaRPr>
          </a:p>
        </p:txBody>
      </p:sp>
      <p:sp>
        <p:nvSpPr>
          <p:cNvPr id="30723" name="Rectangle 2">
            <a:extLst>
              <a:ext uri="{FF2B5EF4-FFF2-40B4-BE49-F238E27FC236}">
                <a16:creationId xmlns:a16="http://schemas.microsoft.com/office/drawing/2014/main" id="{9B33D685-04AB-A887-535C-CE23E6154DDE}"/>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BC57C8B-6C33-01DB-BDC4-E10EB147BF0D}"/>
              </a:ext>
            </a:extLst>
          </p:cNvPr>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251500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9C06F18-B536-FB42-84F3-5B3F423A0B16}" type="slidenum">
              <a:rPr lang="en-AU">
                <a:latin typeface="Arial" pitchFamily="-84" charset="0"/>
              </a:rPr>
              <a:pPr/>
              <a:t>14</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2784306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D0BC-CB1A-3A38-3FF8-A91180319971}"/>
            </a:ext>
          </a:extLst>
        </p:cNvPr>
        <p:cNvGrpSpPr/>
        <p:nvPr/>
      </p:nvGrpSpPr>
      <p:grpSpPr>
        <a:xfrm>
          <a:off x="0" y="0"/>
          <a:ext cx="0" cy="0"/>
          <a:chOff x="0" y="0"/>
          <a:chExt cx="0" cy="0"/>
        </a:xfrm>
      </p:grpSpPr>
      <p:sp>
        <p:nvSpPr>
          <p:cNvPr id="30722" name="Rectangle 7">
            <a:extLst>
              <a:ext uri="{FF2B5EF4-FFF2-40B4-BE49-F238E27FC236}">
                <a16:creationId xmlns:a16="http://schemas.microsoft.com/office/drawing/2014/main" id="{091CA0E3-0CD3-09F3-D02C-3E6FFCA563D3}"/>
              </a:ext>
            </a:extLst>
          </p:cNvPr>
          <p:cNvSpPr>
            <a:spLocks noGrp="1" noChangeArrowheads="1"/>
          </p:cNvSpPr>
          <p:nvPr>
            <p:ph type="sldNum" sz="quarter" idx="5"/>
          </p:nvPr>
        </p:nvSpPr>
        <p:spPr>
          <a:noFill/>
        </p:spPr>
        <p:txBody>
          <a:bodyPr/>
          <a:lstStyle/>
          <a:p>
            <a:fld id="{C9C06F18-B536-FB42-84F3-5B3F423A0B16}" type="slidenum">
              <a:rPr lang="en-AU">
                <a:latin typeface="Arial" pitchFamily="-84" charset="0"/>
              </a:rPr>
              <a:pPr/>
              <a:t>28</a:t>
            </a:fld>
            <a:endParaRPr lang="en-AU" dirty="0">
              <a:latin typeface="Arial" pitchFamily="-84" charset="0"/>
            </a:endParaRPr>
          </a:p>
        </p:txBody>
      </p:sp>
      <p:sp>
        <p:nvSpPr>
          <p:cNvPr id="30723" name="Rectangle 2">
            <a:extLst>
              <a:ext uri="{FF2B5EF4-FFF2-40B4-BE49-F238E27FC236}">
                <a16:creationId xmlns:a16="http://schemas.microsoft.com/office/drawing/2014/main" id="{D9F2917F-3573-9453-F248-DA9447631E0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D1B89518-FCE5-469A-6500-97D298721C4B}"/>
              </a:ext>
            </a:extLst>
          </p:cNvPr>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3810988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2ACF-2A5C-87C4-A0F0-B6B6F2DB1224}"/>
            </a:ext>
          </a:extLst>
        </p:cNvPr>
        <p:cNvGrpSpPr/>
        <p:nvPr/>
      </p:nvGrpSpPr>
      <p:grpSpPr>
        <a:xfrm>
          <a:off x="0" y="0"/>
          <a:ext cx="0" cy="0"/>
          <a:chOff x="0" y="0"/>
          <a:chExt cx="0" cy="0"/>
        </a:xfrm>
      </p:grpSpPr>
      <p:sp>
        <p:nvSpPr>
          <p:cNvPr id="30722" name="Rectangle 7">
            <a:extLst>
              <a:ext uri="{FF2B5EF4-FFF2-40B4-BE49-F238E27FC236}">
                <a16:creationId xmlns:a16="http://schemas.microsoft.com/office/drawing/2014/main" id="{25E2F571-0DB0-FAA7-2676-B0D1127FD936}"/>
              </a:ext>
            </a:extLst>
          </p:cNvPr>
          <p:cNvSpPr>
            <a:spLocks noGrp="1" noChangeArrowheads="1"/>
          </p:cNvSpPr>
          <p:nvPr>
            <p:ph type="sldNum" sz="quarter" idx="5"/>
          </p:nvPr>
        </p:nvSpPr>
        <p:spPr>
          <a:noFill/>
        </p:spPr>
        <p:txBody>
          <a:bodyPr/>
          <a:lstStyle/>
          <a:p>
            <a:fld id="{C9C06F18-B536-FB42-84F3-5B3F423A0B16}" type="slidenum">
              <a:rPr lang="en-AU">
                <a:latin typeface="Arial" pitchFamily="-84" charset="0"/>
              </a:rPr>
              <a:pPr/>
              <a:t>29</a:t>
            </a:fld>
            <a:endParaRPr lang="en-AU" dirty="0">
              <a:latin typeface="Arial" pitchFamily="-84" charset="0"/>
            </a:endParaRPr>
          </a:p>
        </p:txBody>
      </p:sp>
      <p:sp>
        <p:nvSpPr>
          <p:cNvPr id="30723" name="Rectangle 2">
            <a:extLst>
              <a:ext uri="{FF2B5EF4-FFF2-40B4-BE49-F238E27FC236}">
                <a16:creationId xmlns:a16="http://schemas.microsoft.com/office/drawing/2014/main" id="{62EA02BC-BA1E-2F45-1B95-73BBF1CFF22F}"/>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1DF34609-FF67-5633-66E6-48452ECA9D57}"/>
              </a:ext>
            </a:extLst>
          </p:cNvPr>
          <p:cNvSpPr>
            <a:spLocks noGrp="1" noChangeArrowheads="1"/>
          </p:cNvSpPr>
          <p:nvPr>
            <p:ph type="body" idx="1"/>
          </p:nvPr>
        </p:nvSpPr>
        <p:spPr>
          <a:noFill/>
          <a:ln/>
        </p:spPr>
        <p:txBody>
          <a:bodyPr/>
          <a:lstStyle/>
          <a:p>
            <a:pPr eaLnBrk="1" hangingPunct="1"/>
            <a:endParaRPr lang="en-AU"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1462099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47107" name="Notes Placeholder 2"/>
          <p:cNvSpPr>
            <a:spLocks noGrp="1"/>
          </p:cNvSpPr>
          <p:nvPr>
            <p:ph type="body" idx="1"/>
          </p:nvPr>
        </p:nvSpPr>
        <p:spPr>
          <a:noFill/>
          <a:ln/>
        </p:spPr>
        <p:txBody>
          <a:bodyPr/>
          <a:lstStyle/>
          <a:p>
            <a:endParaRPr lang="en-US" dirty="0">
              <a:effectLst/>
            </a:endParaRPr>
          </a:p>
        </p:txBody>
      </p:sp>
      <p:sp>
        <p:nvSpPr>
          <p:cNvPr id="47108" name="Slide Number Placeholder 3"/>
          <p:cNvSpPr>
            <a:spLocks noGrp="1"/>
          </p:cNvSpPr>
          <p:nvPr>
            <p:ph type="sldNum" sz="quarter" idx="5"/>
          </p:nvPr>
        </p:nvSpPr>
        <p:spPr>
          <a:noFill/>
        </p:spPr>
        <p:txBody>
          <a:bodyPr/>
          <a:lstStyle/>
          <a:p>
            <a:fld id="{D96FDCDC-D511-2842-9C3A-F505AF036E38}" type="slidenum">
              <a:rPr lang="en-AU" smtClean="0">
                <a:latin typeface="Arial" pitchFamily="-84" charset="0"/>
              </a:rPr>
              <a:pPr/>
              <a:t>31</a:t>
            </a:fld>
            <a:endParaRPr lang="en-AU" dirty="0">
              <a:latin typeface="Arial" pitchFamily="-84" charset="0"/>
            </a:endParaRPr>
          </a:p>
        </p:txBody>
      </p:sp>
    </p:spTree>
    <p:extLst>
      <p:ext uri="{BB962C8B-B14F-4D97-AF65-F5344CB8AC3E}">
        <p14:creationId xmlns:p14="http://schemas.microsoft.com/office/powerpoint/2010/main" val="764274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6866"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76867"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107"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r>
              <a:rPr lang="en-US"/>
              <a:t>© 2020 Pearson Education, Inc., Hoboken, NJ. All rights reserved.        </a:t>
            </a: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1098558D-EDEF-6E49-B96D-9C3FADE10CD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2C7668E8-CB30-1B4D-93AB-5D2DD1B60BE9}"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092AF57C-3280-0644-86E8-18FD8A22CD3E}"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AB9645CD-4595-C648-9785-F95E54BD1D9F}"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67715433-4EEF-DF40-A66B-7CF99177B5E7}"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6128E1A6-2C0A-DC46-9BC0-5CAA931D92DA}"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0C3E177B-2501-454C-AAE0-495436BCF2A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D5B29FC2-87A2-FA4F-86AA-E71D2B343C4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41DCA415-B046-FC48-9DF6-C959FC4A05BB}"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C9C647B1-DEAE-604C-8277-A0CE194EBD74}"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a:t>© 2020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60ED8F0B-58A5-DB41-9726-20EC5E8A0521}"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a:t>© 2020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dirty="0"/>
          </a:p>
        </p:txBody>
      </p:sp>
      <p:sp>
        <p:nvSpPr>
          <p:cNvPr id="8"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426BE87-E5FB-E549-B6FD-BE8C668A25A3}"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a:t>© 2020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1" name="Date Placeholder 3"/>
          <p:cNvSpPr>
            <a:spLocks noGrp="1"/>
          </p:cNvSpPr>
          <p:nvPr>
            <p:ph type="dt" sz="half" idx="10"/>
          </p:nvPr>
        </p:nvSpPr>
        <p:spPr/>
        <p:txBody>
          <a:bodyPr/>
          <a:lstStyle>
            <a:lvl1pPr>
              <a:defRPr/>
            </a:lvl1pPr>
          </a:lstStyle>
          <a:p>
            <a:pPr>
              <a:defRPr/>
            </a:pPr>
            <a:endParaRPr lang="en-US" dirty="0"/>
          </a:p>
        </p:txBody>
      </p:sp>
      <p:sp>
        <p:nvSpPr>
          <p:cNvPr id="12"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AB25685A-713B-8549-9275-7DEE06C1AF59}"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0"/>
          </p:nvPr>
        </p:nvSpPr>
        <p:spPr/>
        <p:txBody>
          <a:bodyPr/>
          <a:lstStyle>
            <a:lvl1pPr>
              <a:defRPr dirty="0"/>
            </a:lvl1pPr>
          </a:lstStyle>
          <a:p>
            <a:pPr>
              <a:defRPr/>
            </a:pPr>
            <a:endParaRPr lang="en-US" dirty="0"/>
          </a:p>
        </p:txBody>
      </p:sp>
      <p:sp>
        <p:nvSpPr>
          <p:cNvPr id="9" name="Footer Placeholder 5"/>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3A7342E1-65BB-6E4A-A0CC-A610AAC07D07}"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Date Placeholder 6"/>
          <p:cNvSpPr>
            <a:spLocks noGrp="1"/>
          </p:cNvSpPr>
          <p:nvPr>
            <p:ph type="dt" sz="half" idx="10"/>
          </p:nvPr>
        </p:nvSpPr>
        <p:spPr/>
        <p:txBody>
          <a:bodyPr/>
          <a:lstStyle>
            <a:lvl1pPr>
              <a:defRPr dirty="0"/>
            </a:lvl1pPr>
          </a:lstStyle>
          <a:p>
            <a:pPr>
              <a:defRPr/>
            </a:pPr>
            <a:endParaRPr lang="en-US" dirty="0"/>
          </a:p>
        </p:txBody>
      </p:sp>
      <p:sp>
        <p:nvSpPr>
          <p:cNvPr id="13" name="Footer Placeholder 7"/>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DCBB56AA-FE0D-774B-9115-3002173F52F9}"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6" name="Date Placeholder 2"/>
          <p:cNvSpPr>
            <a:spLocks noGrp="1"/>
          </p:cNvSpPr>
          <p:nvPr>
            <p:ph type="dt" sz="half" idx="10"/>
          </p:nvPr>
        </p:nvSpPr>
        <p:spPr/>
        <p:txBody>
          <a:bodyPr/>
          <a:lstStyle>
            <a:lvl1pPr>
              <a:defRPr dirty="0"/>
            </a:lvl1pPr>
          </a:lstStyle>
          <a:p>
            <a:pPr>
              <a:defRPr/>
            </a:pPr>
            <a:endParaRPr lang="en-US" dirty="0"/>
          </a:p>
        </p:txBody>
      </p:sp>
      <p:sp>
        <p:nvSpPr>
          <p:cNvPr id="7" name="Footer Placeholder 3"/>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4B5F1141-6830-8D46-9787-8E222FA999BD}"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dirty="0"/>
            </a:lvl1pPr>
          </a:lstStyle>
          <a:p>
            <a:pPr>
              <a:defRPr/>
            </a:pPr>
            <a:endParaRPr lang="en-US" dirty="0"/>
          </a:p>
        </p:txBody>
      </p:sp>
      <p:sp>
        <p:nvSpPr>
          <p:cNvPr id="4" name="Footer Placeholder 2"/>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44B1FC6E-DD23-0745-9A88-FF90FE027BF3}"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a:t>© 2020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a:solidFill>
                  <a:schemeClr val="tx2">
                    <a:lumMod val="40000"/>
                    <a:lumOff val="60000"/>
                  </a:schemeClr>
                </a:solidFill>
              </a:defRPr>
            </a:lvl1pPr>
          </a:lstStyle>
          <a:p>
            <a:pPr>
              <a:defRPr/>
            </a:pPr>
            <a:fld id="{13EBF9D1-F2F6-354E-8D82-1F22732BF26C}"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dirty="0"/>
            </a:lvl1pPr>
          </a:lstStyle>
          <a:p>
            <a:pPr>
              <a:defRPr/>
            </a:pPr>
            <a:endParaRPr lang="en-US" dirty="0"/>
          </a:p>
        </p:txBody>
      </p:sp>
      <p:sp>
        <p:nvSpPr>
          <p:cNvPr id="7" name="Footer Placeholder 5"/>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20113960-210B-8C44-ADE8-24754ADD31F9}"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dirty="0"/>
          </a:p>
        </p:txBody>
      </p:sp>
      <p:sp>
        <p:nvSpPr>
          <p:cNvPr id="9" name="Footer Placeholder 5"/>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E8C925CD-4C5D-6D4E-9FE4-4D8095B50739}"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dirty="0"/>
          </a:p>
        </p:txBody>
      </p:sp>
      <p:sp>
        <p:nvSpPr>
          <p:cNvPr id="8"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885A41B-8327-0E42-B599-5675DCE9B20E}"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dirty="0"/>
          </a:p>
        </p:txBody>
      </p:sp>
      <p:sp>
        <p:nvSpPr>
          <p:cNvPr id="8"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FED9FD7-61BB-7A44-8CC2-6AE4A679CA7C}"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75779"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75782"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3"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4"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5"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6"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7"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8"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89"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75790"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1"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2"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3"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4"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795"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6"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7"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8"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799"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0"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1"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2"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3"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4"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5"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6"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7"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8"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09"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0"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1"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2"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3"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4"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5"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6"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7"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8"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19"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0"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1"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2"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3"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4"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5"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6"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7"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8"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5829"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75831"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2"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3"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4"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5"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6"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75838"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39"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0"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5841"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5842"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5843"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75844"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a:t>© 2020 Pearson Education, Inc., Hoboken, NJ. All rights reserved.        </a:t>
            </a:r>
            <a:endParaRPr lang="en-US" dirty="0"/>
          </a:p>
        </p:txBody>
      </p:sp>
      <p:sp>
        <p:nvSpPr>
          <p:cNvPr id="75845"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39035AE5-5969-D34B-B84F-BCD4664DAD9A}" type="slidenum">
              <a:rPr lang="en-US"/>
              <a:pPr>
                <a:defRPr/>
              </a:pPr>
              <a:t>‹#›</a:t>
            </a:fld>
            <a:endParaRPr lang="en-US" dirty="0"/>
          </a:p>
        </p:txBody>
      </p:sp>
      <p:sp>
        <p:nvSpPr>
          <p:cNvPr id="75846"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pitchFamily="-107" charset="-128"/>
          <a:cs typeface="ＭＳ Ｐゴシック" pitchFamily="-107"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107" charset="0"/>
          <a:ea typeface="ＭＳ Ｐゴシック" pitchFamily="-107" charset="-128"/>
          <a:cs typeface="ＭＳ Ｐゴシック" pitchFamily="-107"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107"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pitchFamily="-107" charset="-128"/>
          <a:cs typeface="ＭＳ Ｐゴシック" pitchFamily="-107"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pitchFamily="-107"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pitchFamily="-107"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pitchFamily="-107"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pitchFamily="-107"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latin typeface="Arial" pitchFamily="-1" charset="0"/>
              </a:defRPr>
            </a:lvl1pPr>
          </a:lstStyle>
          <a:p>
            <a:pPr>
              <a:defRPr/>
            </a:pPr>
            <a:fld id="{3431E8D6-C4E6-E04D-BE90-11C56E0B4B44}"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a:t>© 2020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hf sldNum="0" hdr="0" dt="0"/>
  <p:txStyles>
    <p:titleStyle>
      <a:lvl1pPr algn="ctr" rtl="0" eaLnBrk="0" fontAlgn="base" hangingPunct="0">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doc/html/rfc5246"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datatracker.ietf.org/doc/html/rfc5246" TargetMode="Externa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58702A-BFEA-B9F0-1D2E-F3FB26811CBC}"/>
              </a:ext>
            </a:extLst>
          </p:cNvPr>
          <p:cNvSpPr>
            <a:spLocks noGrp="1"/>
          </p:cNvSpPr>
          <p:nvPr>
            <p:ph type="ftr" sz="quarter" idx="11"/>
          </p:nvPr>
        </p:nvSpPr>
        <p:spPr/>
        <p:txBody>
          <a:bodyPr/>
          <a:lstStyle/>
          <a:p>
            <a:pPr>
              <a:defRPr/>
            </a:pPr>
            <a:r>
              <a:rPr lang="en-US" dirty="0"/>
              <a:t>© 2020 Pearson Education, Inc., Hoboken, NJ. All rights reserved</a:t>
            </a:r>
          </a:p>
        </p:txBody>
      </p:sp>
      <p:pic>
        <p:nvPicPr>
          <p:cNvPr id="4" name="Picture 3">
            <a:extLst>
              <a:ext uri="{FF2B5EF4-FFF2-40B4-BE49-F238E27FC236}">
                <a16:creationId xmlns:a16="http://schemas.microsoft.com/office/drawing/2014/main" id="{DDB1861A-763D-5551-355E-BAAB9116F4C0}"/>
              </a:ext>
            </a:extLst>
          </p:cNvPr>
          <p:cNvPicPr>
            <a:picLocks noChangeAspect="1"/>
          </p:cNvPicPr>
          <p:nvPr/>
        </p:nvPicPr>
        <p:blipFill>
          <a:blip r:embed="rId2"/>
          <a:stretch>
            <a:fillRect/>
          </a:stretch>
        </p:blipFill>
        <p:spPr>
          <a:xfrm>
            <a:off x="4649447" y="523745"/>
            <a:ext cx="4521986" cy="5810509"/>
          </a:xfrm>
          <a:prstGeom prst="rect">
            <a:avLst/>
          </a:prstGeom>
        </p:spPr>
      </p:pic>
      <p:sp>
        <p:nvSpPr>
          <p:cNvPr id="10" name="Rectangle 2">
            <a:extLst>
              <a:ext uri="{FF2B5EF4-FFF2-40B4-BE49-F238E27FC236}">
                <a16:creationId xmlns:a16="http://schemas.microsoft.com/office/drawing/2014/main" id="{C53D45E4-C156-D7BC-BF9F-A07BC3F8BF0D}"/>
              </a:ext>
            </a:extLst>
          </p:cNvPr>
          <p:cNvSpPr txBox="1">
            <a:spLocks noChangeArrowheads="1"/>
          </p:cNvSpPr>
          <p:nvPr/>
        </p:nvSpPr>
        <p:spPr bwMode="auto">
          <a:xfrm>
            <a:off x="462321" y="1490951"/>
            <a:ext cx="3854932"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pitchFamily="2" charset="2"/>
              <a:buChar char="v"/>
              <a:defRPr sz="2800">
                <a:solidFill>
                  <a:schemeClr val="tx1"/>
                </a:solidFill>
                <a:latin typeface="Gill Sans MT" panose="020B0502020104020203" pitchFamily="34" charset="77"/>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itchFamily="2" charset="2"/>
              <a:buChar char="§"/>
              <a:defRPr sz="2400">
                <a:solidFill>
                  <a:schemeClr val="tx1"/>
                </a:solidFill>
                <a:latin typeface="Gill Sans MT" panose="020B0502020104020203" pitchFamily="34" charset="77"/>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9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en-US" sz="2000" dirty="0">
                <a:latin typeface="Calibri" panose="020F0502020204030204" pitchFamily="34" charset="0"/>
                <a:cs typeface="Calibri" panose="020F0502020204030204" pitchFamily="34" charset="0"/>
              </a:rPr>
              <a:t>University of Nevada – Reno</a:t>
            </a:r>
          </a:p>
          <a:p>
            <a:pPr>
              <a:lnSpc>
                <a:spcPct val="100000"/>
              </a:lnSpc>
              <a:spcBef>
                <a:spcPct val="0"/>
              </a:spcBef>
              <a:buClrTx/>
              <a:buSzTx/>
              <a:buFontTx/>
              <a:buNone/>
            </a:pPr>
            <a:r>
              <a:rPr lang="en-US" altLang="en-US" sz="2000" dirty="0">
                <a:latin typeface="Calibri" panose="020F0502020204030204" pitchFamily="34" charset="0"/>
                <a:cs typeface="Calibri" panose="020F0502020204030204" pitchFamily="34" charset="0"/>
              </a:rPr>
              <a:t>Computer Science &amp; Engineering Department</a:t>
            </a:r>
          </a:p>
          <a:p>
            <a:pPr>
              <a:lnSpc>
                <a:spcPct val="100000"/>
              </a:lnSpc>
              <a:spcBef>
                <a:spcPct val="0"/>
              </a:spcBef>
              <a:buClrTx/>
              <a:buSzTx/>
              <a:buFont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Font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r>
              <a:rPr lang="en-US" altLang="en-US" sz="2000" dirty="0">
                <a:latin typeface="Calibri" panose="020F0502020204030204" pitchFamily="34" charset="0"/>
                <a:cs typeface="Calibri" panose="020F0502020204030204" pitchFamily="34" charset="0"/>
              </a:rPr>
              <a:t>CS454/654 Reliability and Security of Computing Systems  - Fall 2024</a:t>
            </a:r>
          </a:p>
          <a:p>
            <a:pPr>
              <a:lnSpc>
                <a:spcPct val="100000"/>
              </a:lnSpc>
              <a:spcBef>
                <a:spcPct val="0"/>
              </a:spcBef>
              <a:buClrTx/>
              <a:buSzTx/>
              <a:buFontTx/>
              <a:buNone/>
            </a:pPr>
            <a:endParaRPr lang="en-US" altLang="en-US" sz="2000" u="sng"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FontTx/>
              <a:buNone/>
            </a:pPr>
            <a:endParaRPr lang="en-US" altLang="en-US" sz="2000"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02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book&#10;&#10;Description automatically generated">
            <a:extLst>
              <a:ext uri="{FF2B5EF4-FFF2-40B4-BE49-F238E27FC236}">
                <a16:creationId xmlns:a16="http://schemas.microsoft.com/office/drawing/2014/main" id="{C3C13DB7-B69E-25B8-6AA9-369D0F27D733}"/>
              </a:ext>
            </a:extLst>
          </p:cNvPr>
          <p:cNvPicPr>
            <a:picLocks noChangeAspect="1"/>
          </p:cNvPicPr>
          <p:nvPr/>
        </p:nvPicPr>
        <p:blipFill>
          <a:blip r:embed="rId2"/>
          <a:stretch>
            <a:fillRect/>
          </a:stretch>
        </p:blipFill>
        <p:spPr>
          <a:xfrm>
            <a:off x="1847850" y="196850"/>
            <a:ext cx="5448300" cy="6464300"/>
          </a:xfrm>
          <a:prstGeom prst="rect">
            <a:avLst/>
          </a:prstGeom>
        </p:spPr>
      </p:pic>
    </p:spTree>
    <p:extLst>
      <p:ext uri="{BB962C8B-B14F-4D97-AF65-F5344CB8AC3E}">
        <p14:creationId xmlns:p14="http://schemas.microsoft.com/office/powerpoint/2010/main" val="2944536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 y="39688"/>
            <a:ext cx="9144000" cy="1412875"/>
          </a:xfrm>
        </p:spPr>
        <p:txBody>
          <a:bodyPr/>
          <a:lstStyle/>
          <a:p>
            <a:r>
              <a:rPr lang="en-US" dirty="0"/>
              <a:t>Web Security Considerations</a:t>
            </a:r>
            <a:endParaRPr lang="en-AU" dirty="0"/>
          </a:p>
        </p:txBody>
      </p:sp>
      <p:sp>
        <p:nvSpPr>
          <p:cNvPr id="46083" name="Rectangle 3"/>
          <p:cNvSpPr>
            <a:spLocks noGrp="1" noChangeArrowheads="1"/>
          </p:cNvSpPr>
          <p:nvPr>
            <p:ph idx="1"/>
          </p:nvPr>
        </p:nvSpPr>
        <p:spPr>
          <a:xfrm>
            <a:off x="251520" y="1772816"/>
            <a:ext cx="8424936" cy="5248275"/>
          </a:xfrm>
        </p:spPr>
        <p:txBody>
          <a:bodyPr>
            <a:noAutofit/>
          </a:bodyPr>
          <a:lstStyle/>
          <a:p>
            <a:r>
              <a:rPr lang="en-US" sz="2000" dirty="0"/>
              <a:t>The World Wide Web is fundamentally a client/server application running over the Internet and TCP/IP</a:t>
            </a:r>
          </a:p>
          <a:p>
            <a:r>
              <a:rPr lang="en-US" sz="2000" dirty="0"/>
              <a:t>Overall</a:t>
            </a:r>
          </a:p>
          <a:p>
            <a:pPr lvl="1"/>
            <a:r>
              <a:rPr lang="en-US" sz="1800" dirty="0"/>
              <a:t>Web </a:t>
            </a:r>
            <a:r>
              <a:rPr lang="en-US" sz="1800" dirty="0">
                <a:solidFill>
                  <a:srgbClr val="FF0000"/>
                </a:solidFill>
              </a:rPr>
              <a:t>servers</a:t>
            </a:r>
            <a:r>
              <a:rPr lang="en-US" sz="1800" dirty="0"/>
              <a:t> are relatively </a:t>
            </a:r>
            <a:r>
              <a:rPr lang="en-US" sz="1800" dirty="0">
                <a:solidFill>
                  <a:srgbClr val="FF0000"/>
                </a:solidFill>
              </a:rPr>
              <a:t>easy to configure </a:t>
            </a:r>
            <a:r>
              <a:rPr lang="en-US" sz="1800" dirty="0"/>
              <a:t>and </a:t>
            </a:r>
            <a:r>
              <a:rPr lang="en-US" sz="1800" dirty="0">
                <a:solidFill>
                  <a:srgbClr val="FF0000"/>
                </a:solidFill>
              </a:rPr>
              <a:t>manage</a:t>
            </a:r>
            <a:r>
              <a:rPr lang="en-US" sz="1800" dirty="0"/>
              <a:t>.</a:t>
            </a:r>
          </a:p>
          <a:p>
            <a:pPr lvl="1"/>
            <a:r>
              <a:rPr lang="en-US" sz="1800" dirty="0"/>
              <a:t>Web </a:t>
            </a:r>
            <a:r>
              <a:rPr lang="en-US" sz="1800" dirty="0">
                <a:solidFill>
                  <a:srgbClr val="FF0000"/>
                </a:solidFill>
              </a:rPr>
              <a:t>content</a:t>
            </a:r>
            <a:r>
              <a:rPr lang="en-US" sz="1800" dirty="0"/>
              <a:t> is increasingly </a:t>
            </a:r>
            <a:r>
              <a:rPr lang="en-US" sz="1800" dirty="0">
                <a:solidFill>
                  <a:srgbClr val="FF0000"/>
                </a:solidFill>
              </a:rPr>
              <a:t>easy to develop</a:t>
            </a:r>
            <a:r>
              <a:rPr lang="en-US" sz="1800" dirty="0"/>
              <a:t>.</a:t>
            </a:r>
          </a:p>
          <a:p>
            <a:r>
              <a:rPr lang="en-US" sz="2000" dirty="0"/>
              <a:t>However</a:t>
            </a:r>
          </a:p>
          <a:p>
            <a:pPr lvl="1"/>
            <a:r>
              <a:rPr lang="en-US" sz="1800" dirty="0"/>
              <a:t>Web server as an entry point to organization's internal network.</a:t>
            </a:r>
          </a:p>
          <a:p>
            <a:pPr lvl="2"/>
            <a:r>
              <a:rPr lang="en-US" sz="1600" dirty="0"/>
              <a:t>SQL injections, remote code execution.</a:t>
            </a:r>
          </a:p>
          <a:p>
            <a:pPr lvl="1"/>
            <a:r>
              <a:rPr lang="en-US" sz="1800" dirty="0"/>
              <a:t>Users are everyday users and do not have technical expertise.</a:t>
            </a:r>
          </a:p>
          <a:p>
            <a:pPr lvl="2"/>
            <a:r>
              <a:rPr lang="en-US" sz="1600" dirty="0"/>
              <a:t>Lack of security awareness. </a:t>
            </a:r>
          </a:p>
          <a:p>
            <a:pPr lvl="3"/>
            <a:r>
              <a:rPr lang="en-US" sz="1600" dirty="0"/>
              <a:t>Phishing attacks, weak passwords, insecure browsing.</a:t>
            </a:r>
          </a:p>
        </p:txBody>
      </p:sp>
      <p:pic>
        <p:nvPicPr>
          <p:cNvPr id="4" name="Picture 3"/>
          <p:cNvPicPr>
            <a:picLocks noChangeAspect="1"/>
          </p:cNvPicPr>
          <p:nvPr/>
        </p:nvPicPr>
        <p:blipFill>
          <a:blip r:embed="rId3"/>
          <a:stretch>
            <a:fillRect/>
          </a:stretch>
        </p:blipFill>
        <p:spPr>
          <a:xfrm>
            <a:off x="6732240" y="4730750"/>
            <a:ext cx="2438772" cy="2127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table with text on it&#10;&#10;Description automatically generated">
            <a:extLst>
              <a:ext uri="{FF2B5EF4-FFF2-40B4-BE49-F238E27FC236}">
                <a16:creationId xmlns:a16="http://schemas.microsoft.com/office/drawing/2014/main" id="{D981B2D8-9461-1818-D240-A77B7A17FF59}"/>
              </a:ext>
            </a:extLst>
          </p:cNvPr>
          <p:cNvPicPr>
            <a:picLocks noChangeAspect="1"/>
          </p:cNvPicPr>
          <p:nvPr/>
        </p:nvPicPr>
        <p:blipFill>
          <a:blip r:embed="rId3"/>
          <a:stretch>
            <a:fillRect/>
          </a:stretch>
        </p:blipFill>
        <p:spPr>
          <a:xfrm>
            <a:off x="1403648" y="2295366"/>
            <a:ext cx="6888106" cy="4562634"/>
          </a:xfrm>
          <a:prstGeom prst="rect">
            <a:avLst/>
          </a:prstGeom>
        </p:spPr>
      </p:pic>
      <p:sp>
        <p:nvSpPr>
          <p:cNvPr id="7" name="Rectangle 3">
            <a:extLst>
              <a:ext uri="{FF2B5EF4-FFF2-40B4-BE49-F238E27FC236}">
                <a16:creationId xmlns:a16="http://schemas.microsoft.com/office/drawing/2014/main" id="{EE09F8CB-57DD-507B-05B8-A913276B657A}"/>
              </a:ext>
            </a:extLst>
          </p:cNvPr>
          <p:cNvSpPr txBox="1">
            <a:spLocks noChangeArrowheads="1"/>
          </p:cNvSpPr>
          <p:nvPr/>
        </p:nvSpPr>
        <p:spPr>
          <a:xfrm>
            <a:off x="251520" y="260648"/>
            <a:ext cx="8424936" cy="5248275"/>
          </a:xfrm>
          <a:prstGeom prst="rect">
            <a:avLst/>
          </a:prstGeom>
        </p:spPr>
        <p:txBody>
          <a:bodyPr>
            <a:noAutofit/>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Way to group these threats </a:t>
            </a:r>
          </a:p>
          <a:p>
            <a:pPr lvl="1"/>
            <a:r>
              <a:rPr lang="en-US" sz="1800" dirty="0"/>
              <a:t>Passive and Active attacks. </a:t>
            </a:r>
          </a:p>
          <a:p>
            <a:pPr lvl="2"/>
            <a:r>
              <a:rPr lang="en-US" sz="1600" dirty="0"/>
              <a:t>Passive: monitoring network traffic between browser and server</a:t>
            </a:r>
          </a:p>
          <a:p>
            <a:pPr lvl="2"/>
            <a:r>
              <a:rPr lang="en-US" sz="1600" dirty="0"/>
              <a:t>Active: impersonating either browser, or server, altering message, etc.</a:t>
            </a:r>
          </a:p>
          <a:p>
            <a:pPr lvl="1"/>
            <a:r>
              <a:rPr lang="en-US" sz="1800" dirty="0"/>
              <a:t>In terms of the </a:t>
            </a:r>
            <a:r>
              <a:rPr lang="en-US" sz="1800" dirty="0">
                <a:solidFill>
                  <a:srgbClr val="FF0000"/>
                </a:solidFill>
              </a:rPr>
              <a:t>location of the threat</a:t>
            </a:r>
            <a:r>
              <a:rPr lang="en-US" sz="1800" dirty="0"/>
              <a:t>: Web server, Web browser, and </a:t>
            </a:r>
            <a:r>
              <a:rPr lang="en-US" sz="1800" dirty="0">
                <a:solidFill>
                  <a:srgbClr val="FF0000"/>
                </a:solidFill>
              </a:rPr>
              <a:t>network traffic between browser and server</a:t>
            </a:r>
            <a:r>
              <a:rPr lang="en-US" sz="1800" dirty="0"/>
              <a:t>.</a:t>
            </a:r>
            <a:endParaRPr lang="en-US" sz="1200" dirty="0"/>
          </a:p>
        </p:txBody>
      </p:sp>
    </p:spTree>
    <p:extLst>
      <p:ext uri="{BB962C8B-B14F-4D97-AF65-F5344CB8AC3E}">
        <p14:creationId xmlns:p14="http://schemas.microsoft.com/office/powerpoint/2010/main" val="1636230138"/>
      </p:ext>
    </p:extLst>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network&#10;&#10;Description automatically generated">
            <a:extLst>
              <a:ext uri="{FF2B5EF4-FFF2-40B4-BE49-F238E27FC236}">
                <a16:creationId xmlns:a16="http://schemas.microsoft.com/office/drawing/2014/main" id="{D8E0CCD0-0E42-2BC3-BCFA-4845C7CF7DD2}"/>
              </a:ext>
            </a:extLst>
          </p:cNvPr>
          <p:cNvPicPr>
            <a:picLocks noChangeAspect="1"/>
          </p:cNvPicPr>
          <p:nvPr/>
        </p:nvPicPr>
        <p:blipFill>
          <a:blip r:embed="rId3"/>
          <a:stretch>
            <a:fillRect/>
          </a:stretch>
        </p:blipFill>
        <p:spPr>
          <a:xfrm>
            <a:off x="5636999" y="53765"/>
            <a:ext cx="3507001" cy="4320480"/>
          </a:xfrm>
          <a:prstGeom prst="rect">
            <a:avLst/>
          </a:prstGeom>
        </p:spPr>
      </p:pic>
      <p:pic>
        <p:nvPicPr>
          <p:cNvPr id="8" name="Picture 7" descr="A diagram of a diagram&#10;&#10;Description automatically generated with medium confidence">
            <a:extLst>
              <a:ext uri="{FF2B5EF4-FFF2-40B4-BE49-F238E27FC236}">
                <a16:creationId xmlns:a16="http://schemas.microsoft.com/office/drawing/2014/main" id="{4CC75B04-3106-D22E-D468-9A04E926E8DE}"/>
              </a:ext>
            </a:extLst>
          </p:cNvPr>
          <p:cNvPicPr>
            <a:picLocks noChangeAspect="1"/>
          </p:cNvPicPr>
          <p:nvPr/>
        </p:nvPicPr>
        <p:blipFill>
          <a:blip r:embed="rId4"/>
          <a:stretch>
            <a:fillRect/>
          </a:stretch>
        </p:blipFill>
        <p:spPr>
          <a:xfrm>
            <a:off x="4206004" y="4581127"/>
            <a:ext cx="4937996" cy="2217257"/>
          </a:xfrm>
          <a:prstGeom prst="rect">
            <a:avLst/>
          </a:prstGeom>
        </p:spPr>
      </p:pic>
      <p:pic>
        <p:nvPicPr>
          <p:cNvPr id="10" name="Picture 9" descr="A diagram of a network&#10;&#10;Description automatically generated with medium confidence">
            <a:extLst>
              <a:ext uri="{FF2B5EF4-FFF2-40B4-BE49-F238E27FC236}">
                <a16:creationId xmlns:a16="http://schemas.microsoft.com/office/drawing/2014/main" id="{58C6ABCE-506A-257F-F6D3-F81F8768B405}"/>
              </a:ext>
            </a:extLst>
          </p:cNvPr>
          <p:cNvPicPr>
            <a:picLocks noChangeAspect="1"/>
          </p:cNvPicPr>
          <p:nvPr/>
        </p:nvPicPr>
        <p:blipFill>
          <a:blip r:embed="rId5"/>
          <a:stretch>
            <a:fillRect/>
          </a:stretch>
        </p:blipFill>
        <p:spPr>
          <a:xfrm>
            <a:off x="107504" y="384985"/>
            <a:ext cx="5278958" cy="1448008"/>
          </a:xfrm>
          <a:prstGeom prst="rect">
            <a:avLst/>
          </a:prstGeom>
        </p:spPr>
      </p:pic>
      <p:sp>
        <p:nvSpPr>
          <p:cNvPr id="11" name="TextBox 10">
            <a:extLst>
              <a:ext uri="{FF2B5EF4-FFF2-40B4-BE49-F238E27FC236}">
                <a16:creationId xmlns:a16="http://schemas.microsoft.com/office/drawing/2014/main" id="{FB6BA46F-69E5-29B0-E2E6-8726BD34F2B6}"/>
              </a:ext>
            </a:extLst>
          </p:cNvPr>
          <p:cNvSpPr txBox="1"/>
          <p:nvPr/>
        </p:nvSpPr>
        <p:spPr>
          <a:xfrm>
            <a:off x="247635" y="3056186"/>
            <a:ext cx="3506088" cy="923330"/>
          </a:xfrm>
          <a:prstGeom prst="rect">
            <a:avLst/>
          </a:prstGeom>
          <a:noFill/>
        </p:spPr>
        <p:txBody>
          <a:bodyPr wrap="none" rtlCol="0">
            <a:spAutoFit/>
          </a:bodyPr>
          <a:lstStyle/>
          <a:p>
            <a:r>
              <a:rPr lang="en-US" dirty="0"/>
              <a:t>SSL: Secure Sockets Layer SSL</a:t>
            </a:r>
          </a:p>
          <a:p>
            <a:r>
              <a:rPr lang="en-US" dirty="0"/>
              <a:t>TLS: Transport Layer Security</a:t>
            </a:r>
          </a:p>
          <a:p>
            <a:endParaRPr lang="en-US" dirty="0"/>
          </a:p>
        </p:txBody>
      </p:sp>
      <p:sp>
        <p:nvSpPr>
          <p:cNvPr id="13" name="TextBox 12">
            <a:extLst>
              <a:ext uri="{FF2B5EF4-FFF2-40B4-BE49-F238E27FC236}">
                <a16:creationId xmlns:a16="http://schemas.microsoft.com/office/drawing/2014/main" id="{1837738E-3E14-6E31-DE90-98550101A170}"/>
              </a:ext>
            </a:extLst>
          </p:cNvPr>
          <p:cNvSpPr txBox="1"/>
          <p:nvPr/>
        </p:nvSpPr>
        <p:spPr>
          <a:xfrm>
            <a:off x="247635" y="2132856"/>
            <a:ext cx="2095445" cy="923330"/>
          </a:xfrm>
          <a:prstGeom prst="rect">
            <a:avLst/>
          </a:prstGeom>
          <a:noFill/>
        </p:spPr>
        <p:txBody>
          <a:bodyPr wrap="none" rtlCol="0">
            <a:spAutoFit/>
          </a:bodyPr>
          <a:lstStyle/>
          <a:p>
            <a:r>
              <a:rPr lang="en-US" dirty="0"/>
              <a:t>HTTPS</a:t>
            </a:r>
          </a:p>
          <a:p>
            <a:r>
              <a:rPr lang="en-US" dirty="0"/>
              <a:t>SSH: Secure Shell</a:t>
            </a:r>
          </a:p>
          <a:p>
            <a:endParaRPr lang="en-US" dirty="0"/>
          </a:p>
        </p:txBody>
      </p:sp>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73DCA2-79B7-4003-E395-B98830D99004}"/>
              </a:ext>
            </a:extLst>
          </p:cNvPr>
          <p:cNvSpPr>
            <a:spLocks noGrp="1"/>
          </p:cNvSpPr>
          <p:nvPr>
            <p:ph idx="1"/>
          </p:nvPr>
        </p:nvSpPr>
        <p:spPr>
          <a:xfrm>
            <a:off x="251520" y="1753050"/>
            <a:ext cx="7570787" cy="4289425"/>
          </a:xfrm>
        </p:spPr>
        <p:txBody>
          <a:bodyPr/>
          <a:lstStyle/>
          <a:p>
            <a:r>
              <a:rPr lang="en-US" sz="2000" dirty="0"/>
              <a:t>TLS: Transport Layer Security protocol</a:t>
            </a:r>
          </a:p>
          <a:p>
            <a:r>
              <a:rPr lang="en-US" sz="2000" dirty="0"/>
              <a:t>Evolved from SSL, and SSL is not used anymore.</a:t>
            </a:r>
          </a:p>
          <a:p>
            <a:r>
              <a:rPr lang="en-US" sz="2000" dirty="0"/>
              <a:t>TLS:  RFC 5246</a:t>
            </a:r>
          </a:p>
          <a:p>
            <a:pPr lvl="1"/>
            <a:r>
              <a:rPr lang="en-US" sz="1800" dirty="0">
                <a:hlinkClick r:id="rId3"/>
              </a:rPr>
              <a:t>https://datatracker.ietf.org/doc/html/rfc5246</a:t>
            </a:r>
            <a:endParaRPr lang="en-US" sz="1800" dirty="0"/>
          </a:p>
          <a:p>
            <a:r>
              <a:rPr lang="en-US" sz="2000" dirty="0"/>
              <a:t>Rely on TCP.</a:t>
            </a:r>
          </a:p>
          <a:p>
            <a:r>
              <a:rPr lang="en-US" sz="2000" dirty="0"/>
              <a:t>Provides service to HTTP </a:t>
            </a:r>
          </a:p>
          <a:p>
            <a:pPr lvl="1"/>
            <a:r>
              <a:rPr lang="en-US" sz="1800" dirty="0"/>
              <a:t>Hypertext Transfer Protocol</a:t>
            </a:r>
          </a:p>
        </p:txBody>
      </p:sp>
      <p:pic>
        <p:nvPicPr>
          <p:cNvPr id="6" name="Picture 5" descr="A document with text and numbers&#10;&#10;Description automatically generated">
            <a:extLst>
              <a:ext uri="{FF2B5EF4-FFF2-40B4-BE49-F238E27FC236}">
                <a16:creationId xmlns:a16="http://schemas.microsoft.com/office/drawing/2014/main" id="{DC7A91A3-2F34-5942-7068-A30F35423EA2}"/>
              </a:ext>
            </a:extLst>
          </p:cNvPr>
          <p:cNvPicPr>
            <a:picLocks noChangeAspect="1"/>
          </p:cNvPicPr>
          <p:nvPr/>
        </p:nvPicPr>
        <p:blipFill>
          <a:blip r:embed="rId4"/>
          <a:stretch>
            <a:fillRect/>
          </a:stretch>
        </p:blipFill>
        <p:spPr>
          <a:xfrm>
            <a:off x="5940152" y="2591824"/>
            <a:ext cx="3203848" cy="4266176"/>
          </a:xfrm>
          <a:prstGeom prst="rect">
            <a:avLst/>
          </a:prstGeom>
        </p:spPr>
      </p:pic>
      <p:sp>
        <p:nvSpPr>
          <p:cNvPr id="12" name="Rectangle 2">
            <a:extLst>
              <a:ext uri="{FF2B5EF4-FFF2-40B4-BE49-F238E27FC236}">
                <a16:creationId xmlns:a16="http://schemas.microsoft.com/office/drawing/2014/main" id="{09F4FC83-67F7-C567-4152-DE2F504EE0DC}"/>
              </a:ext>
            </a:extLst>
          </p:cNvPr>
          <p:cNvSpPr>
            <a:spLocks noGrp="1" noChangeArrowheads="1"/>
          </p:cNvSpPr>
          <p:nvPr>
            <p:ph type="title"/>
          </p:nvPr>
        </p:nvSpPr>
        <p:spPr>
          <a:xfrm>
            <a:off x="179512" y="39688"/>
            <a:ext cx="8712967" cy="1412875"/>
          </a:xfrm>
        </p:spPr>
        <p:txBody>
          <a:bodyPr/>
          <a:lstStyle/>
          <a:p>
            <a:r>
              <a:rPr lang="en-US" sz="5000" dirty="0"/>
              <a:t>Transport Layer Security (TLS)</a:t>
            </a:r>
            <a:endParaRPr lang="en-AU" sz="5000" dirty="0"/>
          </a:p>
        </p:txBody>
      </p:sp>
    </p:spTree>
    <p:extLst>
      <p:ext uri="{BB962C8B-B14F-4D97-AF65-F5344CB8AC3E}">
        <p14:creationId xmlns:p14="http://schemas.microsoft.com/office/powerpoint/2010/main" val="2475464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79512" y="39688"/>
            <a:ext cx="8712967" cy="1412875"/>
          </a:xfrm>
        </p:spPr>
        <p:txBody>
          <a:bodyPr/>
          <a:lstStyle/>
          <a:p>
            <a:r>
              <a:rPr lang="en-US" sz="5000" dirty="0"/>
              <a:t>Transport Layer Security (TLS)</a:t>
            </a:r>
            <a:endParaRPr lang="en-AU" sz="5000" dirty="0"/>
          </a:p>
        </p:txBody>
      </p:sp>
      <p:sp>
        <p:nvSpPr>
          <p:cNvPr id="3" name="Content Placeholder 2">
            <a:extLst>
              <a:ext uri="{FF2B5EF4-FFF2-40B4-BE49-F238E27FC236}">
                <a16:creationId xmlns:a16="http://schemas.microsoft.com/office/drawing/2014/main" id="{CB73DCA2-79B7-4003-E395-B98830D99004}"/>
              </a:ext>
            </a:extLst>
          </p:cNvPr>
          <p:cNvSpPr>
            <a:spLocks noGrp="1"/>
          </p:cNvSpPr>
          <p:nvPr>
            <p:ph idx="1"/>
          </p:nvPr>
        </p:nvSpPr>
        <p:spPr>
          <a:xfrm>
            <a:off x="251520" y="1753050"/>
            <a:ext cx="8892480" cy="4289425"/>
          </a:xfrm>
        </p:spPr>
        <p:txBody>
          <a:bodyPr/>
          <a:lstStyle/>
          <a:p>
            <a:r>
              <a:rPr lang="en-US" sz="2000" dirty="0"/>
              <a:t>Two important TLS concepts are the </a:t>
            </a:r>
            <a:r>
              <a:rPr lang="en-US" sz="2000" dirty="0">
                <a:solidFill>
                  <a:srgbClr val="FF0000"/>
                </a:solidFill>
              </a:rPr>
              <a:t>TLS session </a:t>
            </a:r>
            <a:r>
              <a:rPr lang="en-US" sz="2000" dirty="0"/>
              <a:t>and the </a:t>
            </a:r>
            <a:r>
              <a:rPr lang="en-US" sz="2000" dirty="0">
                <a:solidFill>
                  <a:srgbClr val="FF0000"/>
                </a:solidFill>
              </a:rPr>
              <a:t>TLS connection</a:t>
            </a:r>
          </a:p>
          <a:p>
            <a:pPr marL="0" indent="0">
              <a:buNone/>
            </a:pPr>
            <a:r>
              <a:rPr lang="en-US" sz="2000" b="1" dirty="0">
                <a:solidFill>
                  <a:schemeClr val="tx1"/>
                </a:solidFill>
              </a:rPr>
              <a:t>TLS session</a:t>
            </a:r>
          </a:p>
          <a:p>
            <a:pPr marL="0" indent="0">
              <a:spcBef>
                <a:spcPts val="0"/>
              </a:spcBef>
            </a:pPr>
            <a:r>
              <a:rPr lang="en-US" sz="2000" dirty="0">
                <a:solidFill>
                  <a:srgbClr val="FF0000"/>
                </a:solidFill>
              </a:rPr>
              <a:t>Established</a:t>
            </a:r>
            <a:r>
              <a:rPr lang="en-US" sz="2000" dirty="0">
                <a:solidFill>
                  <a:schemeClr val="tx1"/>
                </a:solidFill>
              </a:rPr>
              <a:t> during </a:t>
            </a:r>
            <a:r>
              <a:rPr lang="en-US" sz="2000" dirty="0">
                <a:solidFill>
                  <a:srgbClr val="FF0000"/>
                </a:solidFill>
              </a:rPr>
              <a:t>handshake phase</a:t>
            </a:r>
            <a:r>
              <a:rPr lang="en-US" sz="2000" dirty="0">
                <a:solidFill>
                  <a:schemeClr val="tx1"/>
                </a:solidFill>
              </a:rPr>
              <a:t>.</a:t>
            </a:r>
          </a:p>
          <a:p>
            <a:pPr marL="0" indent="0">
              <a:spcBef>
                <a:spcPts val="0"/>
              </a:spcBef>
            </a:pPr>
            <a:r>
              <a:rPr lang="en-US" sz="2000" dirty="0">
                <a:solidFill>
                  <a:schemeClr val="tx1"/>
                </a:solidFill>
              </a:rPr>
              <a:t>Can be reused to establish new connection. </a:t>
            </a:r>
          </a:p>
          <a:p>
            <a:pPr marL="0" indent="0">
              <a:spcBef>
                <a:spcPts val="0"/>
              </a:spcBef>
            </a:pPr>
            <a:r>
              <a:rPr lang="en-US" sz="2000" dirty="0">
                <a:solidFill>
                  <a:srgbClr val="FF0000"/>
                </a:solidFill>
              </a:rPr>
              <a:t>Persist</a:t>
            </a:r>
            <a:r>
              <a:rPr lang="en-US" sz="2000" dirty="0">
                <a:solidFill>
                  <a:schemeClr val="tx1"/>
                </a:solidFill>
              </a:rPr>
              <a:t> until explicitly terminated or timed out.</a:t>
            </a:r>
          </a:p>
          <a:p>
            <a:pPr marL="0" indent="0">
              <a:spcBef>
                <a:spcPts val="0"/>
              </a:spcBef>
            </a:pPr>
            <a:r>
              <a:rPr lang="en-US" sz="2000" dirty="0">
                <a:solidFill>
                  <a:srgbClr val="FF0000"/>
                </a:solidFill>
              </a:rPr>
              <a:t>Stores</a:t>
            </a:r>
            <a:r>
              <a:rPr lang="en-US" sz="2000" dirty="0">
                <a:solidFill>
                  <a:schemeClr val="tx1"/>
                </a:solidFill>
              </a:rPr>
              <a:t> cryptographic </a:t>
            </a:r>
            <a:r>
              <a:rPr lang="en-US" sz="2000" dirty="0">
                <a:solidFill>
                  <a:srgbClr val="FF0000"/>
                </a:solidFill>
              </a:rPr>
              <a:t>parameters </a:t>
            </a:r>
            <a:r>
              <a:rPr lang="en-US" sz="2000" dirty="0">
                <a:solidFill>
                  <a:schemeClr val="tx1"/>
                </a:solidFill>
              </a:rPr>
              <a:t>(Session Identifier, peer certificate, Compression method, cipher spec, master secret, etc.) for connections.</a:t>
            </a:r>
          </a:p>
          <a:p>
            <a:pPr marL="0" indent="0">
              <a:spcBef>
                <a:spcPts val="0"/>
              </a:spcBef>
            </a:pPr>
            <a:endParaRPr lang="en-US" sz="2000" dirty="0">
              <a:solidFill>
                <a:schemeClr val="tx1"/>
              </a:solidFill>
            </a:endParaRPr>
          </a:p>
          <a:p>
            <a:pPr marL="0" indent="0">
              <a:spcBef>
                <a:spcPts val="0"/>
              </a:spcBef>
              <a:buNone/>
            </a:pPr>
            <a:r>
              <a:rPr lang="en-US" sz="2000" b="1" dirty="0">
                <a:solidFill>
                  <a:schemeClr val="tx1"/>
                </a:solidFill>
              </a:rPr>
              <a:t>TLS connection</a:t>
            </a:r>
          </a:p>
          <a:p>
            <a:pPr marL="0" indent="0">
              <a:spcBef>
                <a:spcPts val="0"/>
              </a:spcBef>
            </a:pPr>
            <a:r>
              <a:rPr lang="en-US" sz="2000" dirty="0">
                <a:solidFill>
                  <a:schemeClr val="tx1"/>
                </a:solidFill>
              </a:rPr>
              <a:t>Single peer to peer communication. GET request to URL</a:t>
            </a:r>
          </a:p>
          <a:p>
            <a:pPr marL="0" indent="0">
              <a:spcBef>
                <a:spcPts val="0"/>
              </a:spcBef>
            </a:pPr>
            <a:r>
              <a:rPr lang="en-US" sz="2000" dirty="0">
                <a:solidFill>
                  <a:schemeClr val="tx1"/>
                </a:solidFill>
              </a:rPr>
              <a:t>Uses </a:t>
            </a:r>
            <a:r>
              <a:rPr lang="en-US" sz="2000" dirty="0">
                <a:solidFill>
                  <a:srgbClr val="FF0000"/>
                </a:solidFill>
              </a:rPr>
              <a:t>parameters</a:t>
            </a:r>
            <a:r>
              <a:rPr lang="en-US" sz="2000" dirty="0">
                <a:solidFill>
                  <a:schemeClr val="tx1"/>
                </a:solidFill>
              </a:rPr>
              <a:t> </a:t>
            </a:r>
            <a:r>
              <a:rPr lang="en-US" sz="2000" dirty="0">
                <a:solidFill>
                  <a:srgbClr val="FF0000"/>
                </a:solidFill>
              </a:rPr>
              <a:t>provided by the session</a:t>
            </a:r>
            <a:r>
              <a:rPr lang="en-US" sz="2000" dirty="0">
                <a:solidFill>
                  <a:schemeClr val="tx1"/>
                </a:solidFill>
              </a:rPr>
              <a:t>, to enable secure transport of data.</a:t>
            </a:r>
          </a:p>
          <a:p>
            <a:pPr marL="0" indent="0">
              <a:spcBef>
                <a:spcPts val="0"/>
              </a:spcBef>
            </a:pPr>
            <a:r>
              <a:rPr lang="en-US" sz="2000" dirty="0">
                <a:solidFill>
                  <a:schemeClr val="tx1"/>
                </a:solidFill>
              </a:rPr>
              <a:t>Temporary, typically lasts for the duration of data transfer, and can not be reused one closed.</a:t>
            </a:r>
            <a:endParaRPr lang="en-US" sz="2000" b="1" dirty="0">
              <a:solidFill>
                <a:schemeClr val="tx1"/>
              </a:solidFill>
            </a:endParaRPr>
          </a:p>
          <a:p>
            <a:pPr marL="0" indent="0">
              <a:spcBef>
                <a:spcPts val="0"/>
              </a:spcBef>
            </a:pPr>
            <a:endParaRPr lang="en-US" sz="2000" dirty="0">
              <a:solidFill>
                <a:schemeClr val="tx1"/>
              </a:solidFill>
            </a:endParaRPr>
          </a:p>
        </p:txBody>
      </p:sp>
    </p:spTree>
    <p:extLst>
      <p:ext uri="{BB962C8B-B14F-4D97-AF65-F5344CB8AC3E}">
        <p14:creationId xmlns:p14="http://schemas.microsoft.com/office/powerpoint/2010/main" val="283438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296399" cy="1412875"/>
          </a:xfrm>
        </p:spPr>
        <p:txBody>
          <a:bodyPr/>
          <a:lstStyle/>
          <a:p>
            <a:r>
              <a:rPr lang="en-US" sz="3000" dirty="0"/>
              <a:t>A session state is defined by the following parameters:</a:t>
            </a:r>
          </a:p>
        </p:txBody>
      </p:sp>
      <p:graphicFrame>
        <p:nvGraphicFramePr>
          <p:cNvPr id="8" name="Content Placeholder 7"/>
          <p:cNvGraphicFramePr>
            <a:graphicFrameLocks noGrp="1"/>
          </p:cNvGraphicFramePr>
          <p:nvPr>
            <p:ph sz="half" idx="1"/>
            <p:extLst>
              <p:ext uri="{D42A27DB-BD31-4B8C-83A1-F6EECF244321}">
                <p14:modId xmlns:p14="http://schemas.microsoft.com/office/powerpoint/2010/main" val="1104674897"/>
              </p:ext>
            </p:extLst>
          </p:nvPr>
        </p:nvGraphicFramePr>
        <p:xfrm>
          <a:off x="152400" y="1600200"/>
          <a:ext cx="8839200" cy="4930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662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296399" cy="1412875"/>
          </a:xfrm>
        </p:spPr>
        <p:txBody>
          <a:bodyPr/>
          <a:lstStyle/>
          <a:p>
            <a:r>
              <a:rPr lang="en-US" sz="2800" dirty="0"/>
              <a:t>A connection state is defined by the following parameters</a:t>
            </a:r>
            <a:r>
              <a:rPr lang="en-US" sz="2400" dirty="0"/>
              <a:t>:</a:t>
            </a:r>
          </a:p>
        </p:txBody>
      </p:sp>
      <p:graphicFrame>
        <p:nvGraphicFramePr>
          <p:cNvPr id="8" name="Content Placeholder 7"/>
          <p:cNvGraphicFramePr>
            <a:graphicFrameLocks noGrp="1"/>
          </p:cNvGraphicFramePr>
          <p:nvPr>
            <p:ph sz="half" idx="1"/>
            <p:extLst>
              <p:ext uri="{D42A27DB-BD31-4B8C-83A1-F6EECF244321}">
                <p14:modId xmlns:p14="http://schemas.microsoft.com/office/powerpoint/2010/main" val="1474359518"/>
              </p:ext>
            </p:extLst>
          </p:nvPr>
        </p:nvGraphicFramePr>
        <p:xfrm>
          <a:off x="35496" y="1600200"/>
          <a:ext cx="468052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Content Placeholder 8"/>
          <p:cNvGraphicFramePr>
            <a:graphicFrameLocks noGrp="1"/>
          </p:cNvGraphicFramePr>
          <p:nvPr>
            <p:ph sz="half" idx="2"/>
            <p:extLst>
              <p:ext uri="{D42A27DB-BD31-4B8C-83A1-F6EECF244321}">
                <p14:modId xmlns:p14="http://schemas.microsoft.com/office/powerpoint/2010/main" val="789723775"/>
              </p:ext>
            </p:extLst>
          </p:nvPr>
        </p:nvGraphicFramePr>
        <p:xfrm>
          <a:off x="4800600" y="1600200"/>
          <a:ext cx="4114800" cy="508317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6526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TLS Handshake</a:t>
            </a:r>
            <a:endParaRPr lang="en-AU" dirty="0"/>
          </a:p>
        </p:txBody>
      </p:sp>
      <p:sp>
        <p:nvSpPr>
          <p:cNvPr id="3" name="Content Placeholder 2">
            <a:extLst>
              <a:ext uri="{FF2B5EF4-FFF2-40B4-BE49-F238E27FC236}">
                <a16:creationId xmlns:a16="http://schemas.microsoft.com/office/drawing/2014/main" id="{F8F70D69-B714-CEC3-1F4B-035DADB069A1}"/>
              </a:ext>
            </a:extLst>
          </p:cNvPr>
          <p:cNvSpPr>
            <a:spLocks noGrp="1"/>
          </p:cNvSpPr>
          <p:nvPr>
            <p:ph idx="1"/>
          </p:nvPr>
        </p:nvSpPr>
        <p:spPr>
          <a:xfrm>
            <a:off x="323528" y="1452564"/>
            <a:ext cx="8568952" cy="4609678"/>
          </a:xfrm>
        </p:spPr>
        <p:txBody>
          <a:bodyPr/>
          <a:lstStyle/>
          <a:p>
            <a:pPr marL="349250" lvl="1" indent="0">
              <a:spcBef>
                <a:spcPts val="0"/>
              </a:spcBef>
              <a:buNone/>
            </a:pPr>
            <a:endParaRPr lang="en-US" sz="2000" dirty="0">
              <a:solidFill>
                <a:schemeClr val="tx1"/>
              </a:solidFill>
            </a:endParaRPr>
          </a:p>
          <a:p>
            <a:pPr marL="349250" lvl="1" indent="0">
              <a:spcBef>
                <a:spcPts val="0"/>
              </a:spcBef>
              <a:buNone/>
            </a:pPr>
            <a:r>
              <a:rPr lang="en-US" sz="2000" dirty="0">
                <a:solidFill>
                  <a:schemeClr val="tx1"/>
                </a:solidFill>
              </a:rPr>
              <a:t>TLS messages Types</a:t>
            </a:r>
          </a:p>
          <a:p>
            <a:pPr lvl="1">
              <a:spcBef>
                <a:spcPts val="0"/>
              </a:spcBef>
            </a:pPr>
            <a:r>
              <a:rPr lang="en-US" sz="2000" dirty="0">
                <a:solidFill>
                  <a:schemeClr val="tx1"/>
                </a:solidFill>
              </a:rPr>
              <a:t>Handshake</a:t>
            </a:r>
          </a:p>
          <a:p>
            <a:pPr lvl="1">
              <a:spcBef>
                <a:spcPts val="0"/>
              </a:spcBef>
            </a:pPr>
            <a:r>
              <a:rPr lang="en-US" sz="2000" dirty="0" err="1">
                <a:solidFill>
                  <a:schemeClr val="tx1"/>
                </a:solidFill>
              </a:rPr>
              <a:t>Change_cipher_spec</a:t>
            </a:r>
            <a:endParaRPr lang="en-US" sz="2000" dirty="0">
              <a:solidFill>
                <a:schemeClr val="tx1"/>
              </a:solidFill>
            </a:endParaRPr>
          </a:p>
          <a:p>
            <a:pPr lvl="1">
              <a:spcBef>
                <a:spcPts val="0"/>
              </a:spcBef>
            </a:pPr>
            <a:r>
              <a:rPr lang="en-US" sz="2000" dirty="0" err="1"/>
              <a:t>Application_data</a:t>
            </a:r>
            <a:endParaRPr lang="en-US" sz="2000" dirty="0"/>
          </a:p>
          <a:p>
            <a:pPr lvl="1">
              <a:spcBef>
                <a:spcPts val="0"/>
              </a:spcBef>
            </a:pPr>
            <a:r>
              <a:rPr lang="en-US" sz="2000" dirty="0"/>
              <a:t>Alert</a:t>
            </a:r>
          </a:p>
          <a:p>
            <a:pPr marL="0" indent="0">
              <a:buNone/>
            </a:pPr>
            <a:r>
              <a:rPr lang="en-US" sz="2000" b="1" dirty="0"/>
              <a:t>TLS Handshake</a:t>
            </a:r>
          </a:p>
          <a:p>
            <a:r>
              <a:rPr lang="en-US" sz="2000" dirty="0"/>
              <a:t>Allows the server and client to authenticate each other and to </a:t>
            </a:r>
            <a:r>
              <a:rPr lang="en-US" sz="2000" dirty="0">
                <a:solidFill>
                  <a:srgbClr val="FF0000"/>
                </a:solidFill>
              </a:rPr>
              <a:t>negotiate</a:t>
            </a:r>
            <a:r>
              <a:rPr lang="en-US" sz="2000" dirty="0"/>
              <a:t> an </a:t>
            </a:r>
            <a:r>
              <a:rPr lang="en-US" sz="2000" dirty="0">
                <a:solidFill>
                  <a:srgbClr val="FF0000"/>
                </a:solidFill>
              </a:rPr>
              <a:t>encryption</a:t>
            </a:r>
            <a:r>
              <a:rPr lang="en-US" sz="2000" dirty="0"/>
              <a:t> and </a:t>
            </a:r>
            <a:r>
              <a:rPr lang="en-US" sz="2000" dirty="0">
                <a:solidFill>
                  <a:srgbClr val="FF0000"/>
                </a:solidFill>
              </a:rPr>
              <a:t>MAC</a:t>
            </a:r>
            <a:r>
              <a:rPr lang="en-US" sz="2000" dirty="0"/>
              <a:t> </a:t>
            </a:r>
            <a:r>
              <a:rPr lang="en-US" sz="2000" dirty="0">
                <a:solidFill>
                  <a:srgbClr val="FF0000"/>
                </a:solidFill>
              </a:rPr>
              <a:t>algorithm</a:t>
            </a:r>
            <a:r>
              <a:rPr lang="en-US" sz="2000" dirty="0"/>
              <a:t> and </a:t>
            </a:r>
            <a:r>
              <a:rPr lang="en-US" sz="2000" dirty="0">
                <a:solidFill>
                  <a:srgbClr val="FF0000"/>
                </a:solidFill>
              </a:rPr>
              <a:t>cryptographic keys </a:t>
            </a:r>
            <a:r>
              <a:rPr lang="en-US" sz="2000" dirty="0"/>
              <a:t>to be used to protect data sent over TLS.</a:t>
            </a:r>
          </a:p>
          <a:p>
            <a:r>
              <a:rPr lang="en-US" sz="2000" dirty="0"/>
              <a:t>All the messages exchanged in TLS Handshake is of this form.</a:t>
            </a:r>
          </a:p>
        </p:txBody>
      </p:sp>
      <p:pic>
        <p:nvPicPr>
          <p:cNvPr id="7" name="Picture 6" descr="A grey rectangular object with black text&#10;&#10;Description automatically generated">
            <a:extLst>
              <a:ext uri="{FF2B5EF4-FFF2-40B4-BE49-F238E27FC236}">
                <a16:creationId xmlns:a16="http://schemas.microsoft.com/office/drawing/2014/main" id="{599F40DC-A05F-5095-D6B0-D40F5425206D}"/>
              </a:ext>
            </a:extLst>
          </p:cNvPr>
          <p:cNvPicPr>
            <a:picLocks noChangeAspect="1"/>
          </p:cNvPicPr>
          <p:nvPr/>
        </p:nvPicPr>
        <p:blipFill>
          <a:blip r:embed="rId3"/>
          <a:stretch>
            <a:fillRect/>
          </a:stretch>
        </p:blipFill>
        <p:spPr>
          <a:xfrm>
            <a:off x="2699792" y="5798682"/>
            <a:ext cx="4101686" cy="10098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3C9C7-B595-173A-4432-0C70628F3ED3}"/>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1D7E1268-295D-1689-EDA4-79B158EC584E}"/>
              </a:ext>
            </a:extLst>
          </p:cNvPr>
          <p:cNvSpPr>
            <a:spLocks noGrp="1" noChangeArrowheads="1"/>
          </p:cNvSpPr>
          <p:nvPr>
            <p:ph type="title"/>
          </p:nvPr>
        </p:nvSpPr>
        <p:spPr/>
        <p:txBody>
          <a:bodyPr/>
          <a:lstStyle/>
          <a:p>
            <a:r>
              <a:rPr lang="en-US" dirty="0"/>
              <a:t>TLS Record Protocol Operation</a:t>
            </a:r>
            <a:endParaRPr lang="en-AU" dirty="0"/>
          </a:p>
        </p:txBody>
      </p:sp>
      <p:sp>
        <p:nvSpPr>
          <p:cNvPr id="3" name="Content Placeholder 2">
            <a:extLst>
              <a:ext uri="{FF2B5EF4-FFF2-40B4-BE49-F238E27FC236}">
                <a16:creationId xmlns:a16="http://schemas.microsoft.com/office/drawing/2014/main" id="{37A1BC00-A258-77CA-3C12-3CACF6CE0A3F}"/>
              </a:ext>
            </a:extLst>
          </p:cNvPr>
          <p:cNvSpPr>
            <a:spLocks noGrp="1"/>
          </p:cNvSpPr>
          <p:nvPr>
            <p:ph idx="1"/>
          </p:nvPr>
        </p:nvSpPr>
        <p:spPr>
          <a:xfrm>
            <a:off x="323528" y="1452564"/>
            <a:ext cx="8568952" cy="4609678"/>
          </a:xfrm>
        </p:spPr>
        <p:txBody>
          <a:bodyPr/>
          <a:lstStyle/>
          <a:p>
            <a:pPr marL="349250" lvl="1" indent="0">
              <a:spcBef>
                <a:spcPts val="0"/>
              </a:spcBef>
              <a:buNone/>
            </a:pPr>
            <a:r>
              <a:rPr lang="en-US" sz="2000" dirty="0">
                <a:solidFill>
                  <a:srgbClr val="FF0000"/>
                </a:solidFill>
              </a:rPr>
              <a:t>This part of TLS Protocol - TLS Record Protocol provides two services for TLS connection:</a:t>
            </a:r>
          </a:p>
          <a:p>
            <a:pPr lvl="1">
              <a:spcBef>
                <a:spcPts val="0"/>
              </a:spcBef>
            </a:pPr>
            <a:r>
              <a:rPr lang="en-US" sz="2000" b="1" dirty="0"/>
              <a:t>Confidentiality: </a:t>
            </a:r>
            <a:r>
              <a:rPr lang="en-US" sz="2000" dirty="0"/>
              <a:t>the Handshake Protocol defines a shared secret key that is used for conventional encryption of TLS payloads. </a:t>
            </a:r>
          </a:p>
          <a:p>
            <a:pPr lvl="1">
              <a:spcBef>
                <a:spcPts val="0"/>
              </a:spcBef>
            </a:pPr>
            <a:r>
              <a:rPr lang="en-US" sz="2000" b="1" dirty="0"/>
              <a:t>Message Integrity: the Handshake Protocol </a:t>
            </a:r>
            <a:r>
              <a:rPr lang="en-US" sz="2000" dirty="0"/>
              <a:t>also defines a shared secret key that is used to form  message authentication code (MAC). </a:t>
            </a:r>
          </a:p>
          <a:p>
            <a:pPr lvl="1">
              <a:spcBef>
                <a:spcPts val="0"/>
              </a:spcBef>
            </a:pPr>
            <a:endParaRPr lang="en-US" sz="2000" b="1" dirty="0"/>
          </a:p>
          <a:p>
            <a:pPr lvl="1">
              <a:spcBef>
                <a:spcPts val="0"/>
              </a:spcBef>
            </a:pPr>
            <a:endParaRPr lang="en-US" sz="2000" b="1" dirty="0"/>
          </a:p>
          <a:p>
            <a:pPr lvl="1">
              <a:spcBef>
                <a:spcPts val="0"/>
              </a:spcBef>
            </a:pPr>
            <a:endParaRPr lang="en-US" sz="2000" b="1" dirty="0"/>
          </a:p>
          <a:p>
            <a:pPr lvl="1">
              <a:spcBef>
                <a:spcPts val="0"/>
              </a:spcBef>
            </a:pPr>
            <a:endParaRPr lang="en-US" sz="2000" b="1" dirty="0"/>
          </a:p>
          <a:p>
            <a:pPr lvl="1">
              <a:spcBef>
                <a:spcPts val="0"/>
              </a:spcBef>
            </a:pPr>
            <a:endParaRPr lang="en-US" sz="2000" b="1" dirty="0"/>
          </a:p>
          <a:p>
            <a:pPr marL="349250" lvl="1" indent="0">
              <a:spcBef>
                <a:spcPts val="0"/>
              </a:spcBef>
              <a:buNone/>
            </a:pPr>
            <a:endParaRPr lang="en-US" sz="2000" b="1" dirty="0"/>
          </a:p>
        </p:txBody>
      </p:sp>
      <p:pic>
        <p:nvPicPr>
          <p:cNvPr id="2" name="Picture 1">
            <a:extLst>
              <a:ext uri="{FF2B5EF4-FFF2-40B4-BE49-F238E27FC236}">
                <a16:creationId xmlns:a16="http://schemas.microsoft.com/office/drawing/2014/main" id="{301F08DD-3FFC-FF01-A7D3-791661EC9275}"/>
              </a:ext>
            </a:extLst>
          </p:cNvPr>
          <p:cNvPicPr>
            <a:picLocks noChangeAspect="1"/>
          </p:cNvPicPr>
          <p:nvPr/>
        </p:nvPicPr>
        <p:blipFill>
          <a:blip r:embed="rId3"/>
          <a:stretch>
            <a:fillRect/>
          </a:stretch>
        </p:blipFill>
        <p:spPr>
          <a:xfrm>
            <a:off x="4572000" y="3429000"/>
            <a:ext cx="0" cy="0"/>
          </a:xfrm>
          <a:prstGeom prst="rect">
            <a:avLst/>
          </a:prstGeom>
        </p:spPr>
      </p:pic>
      <p:pic>
        <p:nvPicPr>
          <p:cNvPr id="4" name="Picture 3">
            <a:extLst>
              <a:ext uri="{FF2B5EF4-FFF2-40B4-BE49-F238E27FC236}">
                <a16:creationId xmlns:a16="http://schemas.microsoft.com/office/drawing/2014/main" id="{6A68F25F-25A3-8786-9642-4F97EF629089}"/>
              </a:ext>
            </a:extLst>
          </p:cNvPr>
          <p:cNvPicPr>
            <a:picLocks noChangeAspect="1"/>
          </p:cNvPicPr>
          <p:nvPr/>
        </p:nvPicPr>
        <p:blipFill>
          <a:blip r:embed="rId3"/>
          <a:stretch>
            <a:fillRect/>
          </a:stretch>
        </p:blipFill>
        <p:spPr>
          <a:xfrm>
            <a:off x="4724400" y="3581400"/>
            <a:ext cx="0" cy="0"/>
          </a:xfrm>
          <a:prstGeom prst="rect">
            <a:avLst/>
          </a:prstGeom>
        </p:spPr>
      </p:pic>
      <p:pic>
        <p:nvPicPr>
          <p:cNvPr id="5" name="Picture 4">
            <a:extLst>
              <a:ext uri="{FF2B5EF4-FFF2-40B4-BE49-F238E27FC236}">
                <a16:creationId xmlns:a16="http://schemas.microsoft.com/office/drawing/2014/main" id="{447DA84F-177D-D8F3-1D5D-2C36EB5B7E59}"/>
              </a:ext>
            </a:extLst>
          </p:cNvPr>
          <p:cNvPicPr>
            <a:picLocks noChangeAspect="1"/>
          </p:cNvPicPr>
          <p:nvPr/>
        </p:nvPicPr>
        <p:blipFill>
          <a:blip r:embed="rId4"/>
          <a:stretch>
            <a:fillRect/>
          </a:stretch>
        </p:blipFill>
        <p:spPr>
          <a:xfrm>
            <a:off x="2051720" y="3381406"/>
            <a:ext cx="5544616" cy="3436906"/>
          </a:xfrm>
          <a:prstGeom prst="rect">
            <a:avLst/>
          </a:prstGeom>
        </p:spPr>
      </p:pic>
    </p:spTree>
    <p:extLst>
      <p:ext uri="{BB962C8B-B14F-4D97-AF65-F5344CB8AC3E}">
        <p14:creationId xmlns:p14="http://schemas.microsoft.com/office/powerpoint/2010/main" val="227374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8646C-419D-FB1C-E844-D1681F9B832E}"/>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8D4F8353-7111-C990-AA8A-2324DA7CE679}"/>
              </a:ext>
            </a:extLst>
          </p:cNvPr>
          <p:cNvSpPr>
            <a:spLocks noGrp="1" noChangeArrowheads="1"/>
          </p:cNvSpPr>
          <p:nvPr>
            <p:ph type="title"/>
          </p:nvPr>
        </p:nvSpPr>
        <p:spPr/>
        <p:txBody>
          <a:bodyPr/>
          <a:lstStyle/>
          <a:p>
            <a:r>
              <a:rPr lang="en-US" dirty="0"/>
              <a:t>TLS Record Protocol</a:t>
            </a:r>
            <a:endParaRPr lang="en-AU" dirty="0"/>
          </a:p>
        </p:txBody>
      </p:sp>
      <p:sp>
        <p:nvSpPr>
          <p:cNvPr id="7" name="TextBox 6">
            <a:extLst>
              <a:ext uri="{FF2B5EF4-FFF2-40B4-BE49-F238E27FC236}">
                <a16:creationId xmlns:a16="http://schemas.microsoft.com/office/drawing/2014/main" id="{AAD2BF19-C93A-375E-A188-D9143E7D96AE}"/>
              </a:ext>
            </a:extLst>
          </p:cNvPr>
          <p:cNvSpPr txBox="1"/>
          <p:nvPr/>
        </p:nvSpPr>
        <p:spPr>
          <a:xfrm>
            <a:off x="-252536" y="2780928"/>
            <a:ext cx="4521200" cy="646331"/>
          </a:xfrm>
          <a:prstGeom prst="rect">
            <a:avLst/>
          </a:prstGeom>
          <a:noFill/>
        </p:spPr>
        <p:txBody>
          <a:bodyPr wrap="square">
            <a:spAutoFit/>
          </a:bodyPr>
          <a:lstStyle/>
          <a:p>
            <a:pPr marL="809625"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523875"/>
            <a:endParaRPr lang="en-US" dirty="0">
              <a:latin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AD6DFE32-A8E6-38A8-20B6-D09316BF16F2}"/>
              </a:ext>
            </a:extLst>
          </p:cNvPr>
          <p:cNvSpPr txBox="1">
            <a:spLocks/>
          </p:cNvSpPr>
          <p:nvPr/>
        </p:nvSpPr>
        <p:spPr>
          <a:xfrm>
            <a:off x="445500" y="1700808"/>
            <a:ext cx="8705316"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TLS Header</a:t>
            </a:r>
            <a:endParaRPr lang="en-US" sz="1800" dirty="0"/>
          </a:p>
        </p:txBody>
      </p:sp>
      <p:sp>
        <p:nvSpPr>
          <p:cNvPr id="5" name="Content Placeholder 2">
            <a:extLst>
              <a:ext uri="{FF2B5EF4-FFF2-40B4-BE49-F238E27FC236}">
                <a16:creationId xmlns:a16="http://schemas.microsoft.com/office/drawing/2014/main" id="{CB4E25FF-1C17-3E94-1627-8331AD9F27EC}"/>
              </a:ext>
            </a:extLst>
          </p:cNvPr>
          <p:cNvSpPr txBox="1">
            <a:spLocks/>
          </p:cNvSpPr>
          <p:nvPr/>
        </p:nvSpPr>
        <p:spPr>
          <a:xfrm>
            <a:off x="179512" y="2132856"/>
            <a:ext cx="5789488"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1800" b="1" dirty="0"/>
              <a:t>Content Type (8 bits)</a:t>
            </a:r>
          </a:p>
          <a:p>
            <a:pPr lvl="1">
              <a:spcBef>
                <a:spcPts val="0"/>
              </a:spcBef>
            </a:pPr>
            <a:r>
              <a:rPr lang="en-US" sz="1600" dirty="0"/>
              <a:t>Handshake</a:t>
            </a:r>
          </a:p>
          <a:p>
            <a:pPr lvl="1">
              <a:spcBef>
                <a:spcPts val="0"/>
              </a:spcBef>
            </a:pPr>
            <a:r>
              <a:rPr lang="en-US" sz="1600" dirty="0" err="1"/>
              <a:t>Change_cipher_spec</a:t>
            </a:r>
            <a:endParaRPr lang="en-US" sz="1600" dirty="0"/>
          </a:p>
          <a:p>
            <a:pPr lvl="1">
              <a:spcBef>
                <a:spcPts val="0"/>
              </a:spcBef>
            </a:pPr>
            <a:r>
              <a:rPr lang="en-US" sz="1600" dirty="0"/>
              <a:t>Alert</a:t>
            </a:r>
          </a:p>
          <a:p>
            <a:pPr lvl="1">
              <a:spcBef>
                <a:spcPts val="0"/>
              </a:spcBef>
            </a:pPr>
            <a:r>
              <a:rPr lang="en-US" sz="1600" dirty="0" err="1"/>
              <a:t>Application_data</a:t>
            </a:r>
            <a:endParaRPr lang="en-US" sz="1600" dirty="0"/>
          </a:p>
          <a:p>
            <a:pPr marL="0" indent="0">
              <a:spcBef>
                <a:spcPts val="0"/>
              </a:spcBef>
              <a:buNone/>
            </a:pPr>
            <a:endParaRPr lang="en-US" sz="1800" dirty="0"/>
          </a:p>
          <a:p>
            <a:pPr>
              <a:spcBef>
                <a:spcPts val="0"/>
              </a:spcBef>
            </a:pPr>
            <a:r>
              <a:rPr lang="en-US" sz="1800" b="1" dirty="0"/>
              <a:t>Major Version (8 bits):</a:t>
            </a:r>
            <a:r>
              <a:rPr lang="en-US" sz="1800" dirty="0"/>
              <a:t> Indicates major version of TLS in use (TLSv</a:t>
            </a:r>
            <a:r>
              <a:rPr lang="en-US" sz="1800" dirty="0">
                <a:solidFill>
                  <a:srgbClr val="FF0000"/>
                </a:solidFill>
              </a:rPr>
              <a:t>1</a:t>
            </a:r>
            <a:r>
              <a:rPr lang="en-US" sz="1800" dirty="0"/>
              <a:t>.0, TLSv</a:t>
            </a:r>
            <a:r>
              <a:rPr lang="en-US" sz="1800" dirty="0">
                <a:solidFill>
                  <a:srgbClr val="FF0000"/>
                </a:solidFill>
              </a:rPr>
              <a:t>2</a:t>
            </a:r>
            <a:r>
              <a:rPr lang="en-US" sz="1800" dirty="0"/>
              <a:t>.0, </a:t>
            </a:r>
            <a:r>
              <a:rPr lang="en-US" sz="1800" dirty="0" err="1"/>
              <a:t>etc</a:t>
            </a:r>
            <a:r>
              <a:rPr lang="en-US" sz="1800" dirty="0"/>
              <a:t>) </a:t>
            </a:r>
          </a:p>
          <a:p>
            <a:pPr>
              <a:spcBef>
                <a:spcPts val="0"/>
              </a:spcBef>
            </a:pPr>
            <a:endParaRPr lang="en-US" sz="1800" b="1" dirty="0"/>
          </a:p>
          <a:p>
            <a:pPr>
              <a:spcBef>
                <a:spcPts val="0"/>
              </a:spcBef>
            </a:pPr>
            <a:r>
              <a:rPr lang="en-US" sz="1800" b="1" dirty="0"/>
              <a:t>Minor Version (8 bits)</a:t>
            </a:r>
            <a:r>
              <a:rPr lang="en-US" sz="1800" dirty="0"/>
              <a:t>: Indicates minor version in use (TLSv</a:t>
            </a:r>
            <a:r>
              <a:rPr lang="en-US" sz="1800" dirty="0">
                <a:solidFill>
                  <a:schemeClr val="tx1"/>
                </a:solidFill>
              </a:rPr>
              <a:t>1</a:t>
            </a:r>
            <a:r>
              <a:rPr lang="en-US" sz="1800" dirty="0"/>
              <a:t>.</a:t>
            </a:r>
            <a:r>
              <a:rPr lang="en-US" sz="1800" dirty="0">
                <a:solidFill>
                  <a:srgbClr val="FF0000"/>
                </a:solidFill>
              </a:rPr>
              <a:t>1</a:t>
            </a:r>
            <a:r>
              <a:rPr lang="en-US" sz="1800" dirty="0"/>
              <a:t>, TLSv</a:t>
            </a:r>
            <a:r>
              <a:rPr lang="en-US" sz="1800" dirty="0">
                <a:solidFill>
                  <a:schemeClr val="tx1"/>
                </a:solidFill>
              </a:rPr>
              <a:t>1</a:t>
            </a:r>
            <a:r>
              <a:rPr lang="en-US" sz="1800" dirty="0"/>
              <a:t>.</a:t>
            </a:r>
            <a:r>
              <a:rPr lang="en-US" sz="1800" dirty="0">
                <a:solidFill>
                  <a:srgbClr val="FF0000"/>
                </a:solidFill>
              </a:rPr>
              <a:t>2</a:t>
            </a:r>
            <a:r>
              <a:rPr lang="en-US" sz="1800" dirty="0"/>
              <a:t>, </a:t>
            </a:r>
            <a:r>
              <a:rPr lang="en-US" sz="1800" dirty="0" err="1"/>
              <a:t>etc</a:t>
            </a:r>
            <a:r>
              <a:rPr lang="en-US" sz="1800" dirty="0"/>
              <a:t>).</a:t>
            </a:r>
          </a:p>
          <a:p>
            <a:pPr>
              <a:spcBef>
                <a:spcPts val="0"/>
              </a:spcBef>
            </a:pPr>
            <a:endParaRPr lang="en-US" sz="1800" b="1" dirty="0"/>
          </a:p>
          <a:p>
            <a:pPr>
              <a:spcBef>
                <a:spcPts val="0"/>
              </a:spcBef>
            </a:pPr>
            <a:r>
              <a:rPr lang="en-US" sz="1800" b="1" dirty="0"/>
              <a:t>Compressed Length (16 bits):</a:t>
            </a:r>
            <a:r>
              <a:rPr lang="en-US" sz="1800" dirty="0"/>
              <a:t> The length in bytes of the plaintext fragment (or compressed fragment if compression is used). </a:t>
            </a:r>
          </a:p>
        </p:txBody>
      </p:sp>
      <p:pic>
        <p:nvPicPr>
          <p:cNvPr id="6" name="Picture 5" descr="A diagram of a type of type&#10;&#10;Description automatically generated">
            <a:extLst>
              <a:ext uri="{FF2B5EF4-FFF2-40B4-BE49-F238E27FC236}">
                <a16:creationId xmlns:a16="http://schemas.microsoft.com/office/drawing/2014/main" id="{6F0A3B00-F179-CB47-5850-D8B3A9EDF045}"/>
              </a:ext>
            </a:extLst>
          </p:cNvPr>
          <p:cNvPicPr>
            <a:picLocks noChangeAspect="1"/>
          </p:cNvPicPr>
          <p:nvPr/>
        </p:nvPicPr>
        <p:blipFill>
          <a:blip r:embed="rId3"/>
          <a:stretch>
            <a:fillRect/>
          </a:stretch>
        </p:blipFill>
        <p:spPr>
          <a:xfrm>
            <a:off x="5954936" y="3104093"/>
            <a:ext cx="3175000" cy="2679700"/>
          </a:xfrm>
          <a:prstGeom prst="rect">
            <a:avLst/>
          </a:prstGeom>
        </p:spPr>
      </p:pic>
    </p:spTree>
    <p:extLst>
      <p:ext uri="{BB962C8B-B14F-4D97-AF65-F5344CB8AC3E}">
        <p14:creationId xmlns:p14="http://schemas.microsoft.com/office/powerpoint/2010/main" val="2569633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D5D70-95BA-20DD-A132-4E8C7D8AC077}"/>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66856A55-71AA-2BAF-4480-706FD6BE3E53}"/>
              </a:ext>
            </a:extLst>
          </p:cNvPr>
          <p:cNvSpPr>
            <a:spLocks noGrp="1" noChangeArrowheads="1"/>
          </p:cNvSpPr>
          <p:nvPr>
            <p:ph type="title"/>
          </p:nvPr>
        </p:nvSpPr>
        <p:spPr/>
        <p:txBody>
          <a:bodyPr/>
          <a:lstStyle/>
          <a:p>
            <a:r>
              <a:rPr lang="en-US" dirty="0"/>
              <a:t>TLS Record Protocol</a:t>
            </a:r>
            <a:endParaRPr lang="en-AU" dirty="0"/>
          </a:p>
        </p:txBody>
      </p:sp>
      <p:sp>
        <p:nvSpPr>
          <p:cNvPr id="7" name="TextBox 6">
            <a:extLst>
              <a:ext uri="{FF2B5EF4-FFF2-40B4-BE49-F238E27FC236}">
                <a16:creationId xmlns:a16="http://schemas.microsoft.com/office/drawing/2014/main" id="{7445D9FF-B152-F4BF-B057-A4405ECB2942}"/>
              </a:ext>
            </a:extLst>
          </p:cNvPr>
          <p:cNvSpPr txBox="1"/>
          <p:nvPr/>
        </p:nvSpPr>
        <p:spPr>
          <a:xfrm>
            <a:off x="-252536" y="2780928"/>
            <a:ext cx="4521200" cy="646331"/>
          </a:xfrm>
          <a:prstGeom prst="rect">
            <a:avLst/>
          </a:prstGeom>
          <a:noFill/>
        </p:spPr>
        <p:txBody>
          <a:bodyPr wrap="square">
            <a:spAutoFit/>
          </a:bodyPr>
          <a:lstStyle/>
          <a:p>
            <a:pPr marL="809625"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523875"/>
            <a:endParaRPr lang="en-US" dirty="0">
              <a:latin typeface="Calibri" panose="020F0502020204030204" pitchFamily="34" charset="0"/>
              <a:cs typeface="Calibri" panose="020F0502020204030204" pitchFamily="34" charset="0"/>
            </a:endParaRPr>
          </a:p>
        </p:txBody>
      </p:sp>
      <p:pic>
        <p:nvPicPr>
          <p:cNvPr id="3" name="Picture 2" descr="A black and white text with white text&#10;&#10;Description automatically generated">
            <a:extLst>
              <a:ext uri="{FF2B5EF4-FFF2-40B4-BE49-F238E27FC236}">
                <a16:creationId xmlns:a16="http://schemas.microsoft.com/office/drawing/2014/main" id="{071D468F-670C-A9D0-14F0-83F55DF2AB8C}"/>
              </a:ext>
            </a:extLst>
          </p:cNvPr>
          <p:cNvPicPr>
            <a:picLocks noChangeAspect="1"/>
          </p:cNvPicPr>
          <p:nvPr/>
        </p:nvPicPr>
        <p:blipFill>
          <a:blip r:embed="rId3"/>
          <a:stretch>
            <a:fillRect/>
          </a:stretch>
        </p:blipFill>
        <p:spPr>
          <a:xfrm>
            <a:off x="1420905" y="1724352"/>
            <a:ext cx="6147834" cy="3384264"/>
          </a:xfrm>
          <a:prstGeom prst="rect">
            <a:avLst/>
          </a:prstGeom>
        </p:spPr>
      </p:pic>
      <p:sp>
        <p:nvSpPr>
          <p:cNvPr id="4" name="Content Placeholder 2">
            <a:extLst>
              <a:ext uri="{FF2B5EF4-FFF2-40B4-BE49-F238E27FC236}">
                <a16:creationId xmlns:a16="http://schemas.microsoft.com/office/drawing/2014/main" id="{B12682EF-216E-C787-DE28-3D5E3CEE82CB}"/>
              </a:ext>
            </a:extLst>
          </p:cNvPr>
          <p:cNvSpPr txBox="1">
            <a:spLocks/>
          </p:cNvSpPr>
          <p:nvPr/>
        </p:nvSpPr>
        <p:spPr>
          <a:xfrm>
            <a:off x="445500" y="1700808"/>
            <a:ext cx="8705316"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HMAC</a:t>
            </a:r>
            <a:endParaRPr lang="en-US" sz="1800" dirty="0"/>
          </a:p>
        </p:txBody>
      </p:sp>
      <p:sp>
        <p:nvSpPr>
          <p:cNvPr id="5" name="Content Placeholder 2">
            <a:extLst>
              <a:ext uri="{FF2B5EF4-FFF2-40B4-BE49-F238E27FC236}">
                <a16:creationId xmlns:a16="http://schemas.microsoft.com/office/drawing/2014/main" id="{1954ABBC-B1DC-78F6-A05C-2AE123910E6D}"/>
              </a:ext>
            </a:extLst>
          </p:cNvPr>
          <p:cNvSpPr txBox="1">
            <a:spLocks/>
          </p:cNvSpPr>
          <p:nvPr/>
        </p:nvSpPr>
        <p:spPr>
          <a:xfrm>
            <a:off x="219342" y="5661248"/>
            <a:ext cx="8705316"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dirty="0"/>
              <a:t>Next, the </a:t>
            </a:r>
            <a:r>
              <a:rPr lang="en-US" sz="1800" dirty="0">
                <a:solidFill>
                  <a:srgbClr val="FF0000"/>
                </a:solidFill>
              </a:rPr>
              <a:t>compressed message </a:t>
            </a:r>
            <a:r>
              <a:rPr lang="en-US" sz="1800" dirty="0"/>
              <a:t>plus the </a:t>
            </a:r>
            <a:r>
              <a:rPr lang="en-US" sz="1800" dirty="0">
                <a:solidFill>
                  <a:srgbClr val="FF0000"/>
                </a:solidFill>
              </a:rPr>
              <a:t>MAC</a:t>
            </a:r>
            <a:r>
              <a:rPr lang="en-US" sz="1800" dirty="0"/>
              <a:t> are </a:t>
            </a:r>
            <a:r>
              <a:rPr lang="en-US" sz="1800" dirty="0">
                <a:solidFill>
                  <a:srgbClr val="FF0000"/>
                </a:solidFill>
              </a:rPr>
              <a:t>encrypted</a:t>
            </a:r>
            <a:r>
              <a:rPr lang="en-US" sz="1800" dirty="0"/>
              <a:t> using symmetric encryption.</a:t>
            </a:r>
          </a:p>
        </p:txBody>
      </p:sp>
    </p:spTree>
    <p:extLst>
      <p:ext uri="{BB962C8B-B14F-4D97-AF65-F5344CB8AC3E}">
        <p14:creationId xmlns:p14="http://schemas.microsoft.com/office/powerpoint/2010/main" val="821383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dirty="0"/>
              <a:t>TLS Handshake Protocol</a:t>
            </a:r>
            <a:endParaRPr lang="en-AU" dirty="0"/>
          </a:p>
        </p:txBody>
      </p:sp>
      <p:pic>
        <p:nvPicPr>
          <p:cNvPr id="7" name="Picture 6" descr="A grey rectangular object with black text&#10;&#10;Description automatically generated">
            <a:extLst>
              <a:ext uri="{FF2B5EF4-FFF2-40B4-BE49-F238E27FC236}">
                <a16:creationId xmlns:a16="http://schemas.microsoft.com/office/drawing/2014/main" id="{599F40DC-A05F-5095-D6B0-D40F5425206D}"/>
              </a:ext>
            </a:extLst>
          </p:cNvPr>
          <p:cNvPicPr>
            <a:picLocks noChangeAspect="1"/>
          </p:cNvPicPr>
          <p:nvPr/>
        </p:nvPicPr>
        <p:blipFill>
          <a:blip r:embed="rId3"/>
          <a:stretch>
            <a:fillRect/>
          </a:stretch>
        </p:blipFill>
        <p:spPr>
          <a:xfrm>
            <a:off x="2652427" y="1648693"/>
            <a:ext cx="4094486" cy="1008112"/>
          </a:xfrm>
          <a:prstGeom prst="rect">
            <a:avLst/>
          </a:prstGeom>
        </p:spPr>
      </p:pic>
      <p:sp>
        <p:nvSpPr>
          <p:cNvPr id="6" name="Content Placeholder 2">
            <a:extLst>
              <a:ext uri="{FF2B5EF4-FFF2-40B4-BE49-F238E27FC236}">
                <a16:creationId xmlns:a16="http://schemas.microsoft.com/office/drawing/2014/main" id="{F6074DC0-AB85-5505-958D-1F982AC2EAB4}"/>
              </a:ext>
            </a:extLst>
          </p:cNvPr>
          <p:cNvSpPr>
            <a:spLocks noGrp="1"/>
          </p:cNvSpPr>
          <p:nvPr>
            <p:ph idx="1"/>
          </p:nvPr>
        </p:nvSpPr>
        <p:spPr>
          <a:xfrm>
            <a:off x="223548" y="2852936"/>
            <a:ext cx="9100980" cy="4289425"/>
          </a:xfrm>
        </p:spPr>
        <p:txBody>
          <a:bodyPr/>
          <a:lstStyle/>
          <a:p>
            <a:pPr>
              <a:spcBef>
                <a:spcPts val="0"/>
              </a:spcBef>
            </a:pPr>
            <a:r>
              <a:rPr lang="en-US" sz="2000" dirty="0">
                <a:solidFill>
                  <a:srgbClr val="FF0000"/>
                </a:solidFill>
              </a:rPr>
              <a:t>This part of TLS Protocol allows the server and client to authenticate each other and to negotiate an encryption and MAC algorithm and cryptographic keys to be used to protect data sent in TLS  record</a:t>
            </a:r>
          </a:p>
          <a:p>
            <a:pPr>
              <a:spcBef>
                <a:spcPts val="0"/>
              </a:spcBef>
            </a:pPr>
            <a:r>
              <a:rPr lang="en-US" sz="2000" dirty="0">
                <a:solidFill>
                  <a:schemeClr val="tx1"/>
                </a:solidFill>
              </a:rPr>
              <a:t>The handshake protocol is used before any application data is transmitted. </a:t>
            </a:r>
          </a:p>
          <a:p>
            <a:pPr>
              <a:spcBef>
                <a:spcPts val="0"/>
              </a:spcBef>
            </a:pPr>
            <a:r>
              <a:rPr lang="en-US" sz="2000" dirty="0">
                <a:solidFill>
                  <a:schemeClr val="tx1"/>
                </a:solidFill>
              </a:rPr>
              <a:t>It consists of series of messages exchanged by client and server.</a:t>
            </a:r>
          </a:p>
          <a:p>
            <a:pPr marL="0" indent="0">
              <a:spcBef>
                <a:spcPts val="0"/>
              </a:spcBef>
              <a:buNone/>
            </a:pPr>
            <a:endParaRPr lang="en-US" sz="2000" b="1" dirty="0"/>
          </a:p>
          <a:p>
            <a:pPr>
              <a:spcBef>
                <a:spcPts val="0"/>
              </a:spcBef>
            </a:pPr>
            <a:r>
              <a:rPr lang="en-US" sz="2000" b="1" dirty="0"/>
              <a:t>Type</a:t>
            </a:r>
            <a:r>
              <a:rPr lang="en-US" sz="2000" dirty="0"/>
              <a:t> (1 byte): Type of the message (10 message types, listed in table 17.2).</a:t>
            </a:r>
          </a:p>
          <a:p>
            <a:pPr>
              <a:spcBef>
                <a:spcPts val="0"/>
              </a:spcBef>
            </a:pPr>
            <a:r>
              <a:rPr lang="en-US" sz="2000" b="1" dirty="0"/>
              <a:t>Length</a:t>
            </a:r>
            <a:r>
              <a:rPr lang="en-US" sz="2000" dirty="0"/>
              <a:t> (3 bytes): The length of the message in bytes.</a:t>
            </a:r>
            <a:endParaRPr lang="en-US" sz="2000" b="1" dirty="0"/>
          </a:p>
          <a:p>
            <a:pPr>
              <a:spcBef>
                <a:spcPts val="0"/>
              </a:spcBef>
            </a:pPr>
            <a:r>
              <a:rPr lang="en-US" sz="2000" b="1" dirty="0"/>
              <a:t>Content</a:t>
            </a:r>
            <a:r>
              <a:rPr lang="en-US" sz="2000" dirty="0"/>
              <a:t> (&gt;= 0 bytes): The parameters associated with the message (for each message associated parameters are listed in table)</a:t>
            </a:r>
          </a:p>
        </p:txBody>
      </p:sp>
    </p:spTree>
    <p:extLst>
      <p:ext uri="{BB962C8B-B14F-4D97-AF65-F5344CB8AC3E}">
        <p14:creationId xmlns:p14="http://schemas.microsoft.com/office/powerpoint/2010/main" val="4284115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9AFE-2DA1-0411-8F06-7D79E5BF29F5}"/>
              </a:ext>
            </a:extLst>
          </p:cNvPr>
          <p:cNvSpPr>
            <a:spLocks noGrp="1"/>
          </p:cNvSpPr>
          <p:nvPr>
            <p:ph type="title"/>
          </p:nvPr>
        </p:nvSpPr>
        <p:spPr>
          <a:xfrm>
            <a:off x="786606" y="30608"/>
            <a:ext cx="7570787" cy="1412875"/>
          </a:xfrm>
        </p:spPr>
        <p:txBody>
          <a:bodyPr/>
          <a:lstStyle/>
          <a:p>
            <a:r>
              <a:rPr lang="en-US" dirty="0"/>
              <a:t>TLS Handshake Protocol – 10 Messages</a:t>
            </a:r>
          </a:p>
        </p:txBody>
      </p:sp>
      <p:sp>
        <p:nvSpPr>
          <p:cNvPr id="4" name="Footer Placeholder 3">
            <a:extLst>
              <a:ext uri="{FF2B5EF4-FFF2-40B4-BE49-F238E27FC236}">
                <a16:creationId xmlns:a16="http://schemas.microsoft.com/office/drawing/2014/main" id="{15BFE5F6-31B2-7B67-CFD8-46969A5DC542}"/>
              </a:ext>
            </a:extLst>
          </p:cNvPr>
          <p:cNvSpPr>
            <a:spLocks noGrp="1"/>
          </p:cNvSpPr>
          <p:nvPr>
            <p:ph type="ftr" sz="quarter" idx="11"/>
          </p:nvPr>
        </p:nvSpPr>
        <p:spPr/>
        <p:txBody>
          <a:bodyPr/>
          <a:lstStyle/>
          <a:p>
            <a:pPr>
              <a:defRPr/>
            </a:pPr>
            <a:r>
              <a:rPr lang="en-US"/>
              <a:t>© 2020 Pearson Education, Inc., Hoboken, NJ. All rights reserved.        </a:t>
            </a:r>
            <a:endParaRPr lang="en-US" dirty="0"/>
          </a:p>
        </p:txBody>
      </p:sp>
      <p:pic>
        <p:nvPicPr>
          <p:cNvPr id="5" name="Content Placeholder 4" descr="A close-up of a message&#10;&#10;Description automatically generated">
            <a:extLst>
              <a:ext uri="{FF2B5EF4-FFF2-40B4-BE49-F238E27FC236}">
                <a16:creationId xmlns:a16="http://schemas.microsoft.com/office/drawing/2014/main" id="{F64E7E5C-C877-1F76-813E-2AB07C52E753}"/>
              </a:ext>
            </a:extLst>
          </p:cNvPr>
          <p:cNvPicPr>
            <a:picLocks noGrp="1" noChangeAspect="1"/>
          </p:cNvPicPr>
          <p:nvPr>
            <p:ph idx="1"/>
          </p:nvPr>
        </p:nvPicPr>
        <p:blipFill>
          <a:blip r:embed="rId2"/>
          <a:stretch>
            <a:fillRect/>
          </a:stretch>
        </p:blipFill>
        <p:spPr>
          <a:xfrm>
            <a:off x="1115616" y="1700808"/>
            <a:ext cx="7801220" cy="3816424"/>
          </a:xfrm>
          <a:prstGeom prst="rect">
            <a:avLst/>
          </a:prstGeom>
        </p:spPr>
      </p:pic>
    </p:spTree>
    <p:extLst>
      <p:ext uri="{BB962C8B-B14F-4D97-AF65-F5344CB8AC3E}">
        <p14:creationId xmlns:p14="http://schemas.microsoft.com/office/powerpoint/2010/main" val="1708886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program&#10;&#10;Description automatically generated">
            <a:extLst>
              <a:ext uri="{FF2B5EF4-FFF2-40B4-BE49-F238E27FC236}">
                <a16:creationId xmlns:a16="http://schemas.microsoft.com/office/drawing/2014/main" id="{F33E0054-BFBB-477A-4917-26E670813381}"/>
              </a:ext>
            </a:extLst>
          </p:cNvPr>
          <p:cNvPicPr>
            <a:picLocks noChangeAspect="1"/>
          </p:cNvPicPr>
          <p:nvPr/>
        </p:nvPicPr>
        <p:blipFill>
          <a:blip r:embed="rId2"/>
          <a:stretch>
            <a:fillRect/>
          </a:stretch>
        </p:blipFill>
        <p:spPr>
          <a:xfrm>
            <a:off x="4103846" y="620688"/>
            <a:ext cx="5025834" cy="6237312"/>
          </a:xfrm>
          <a:prstGeom prst="rect">
            <a:avLst/>
          </a:prstGeom>
        </p:spPr>
      </p:pic>
      <p:sp>
        <p:nvSpPr>
          <p:cNvPr id="5" name="Content Placeholder 2">
            <a:extLst>
              <a:ext uri="{FF2B5EF4-FFF2-40B4-BE49-F238E27FC236}">
                <a16:creationId xmlns:a16="http://schemas.microsoft.com/office/drawing/2014/main" id="{C7661646-6D45-5BC1-8FC6-D5B7484655AE}"/>
              </a:ext>
            </a:extLst>
          </p:cNvPr>
          <p:cNvSpPr txBox="1">
            <a:spLocks/>
          </p:cNvSpPr>
          <p:nvPr/>
        </p:nvSpPr>
        <p:spPr>
          <a:xfrm>
            <a:off x="107504" y="44624"/>
            <a:ext cx="388843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Phase – 1</a:t>
            </a:r>
          </a:p>
          <a:p>
            <a:pPr marL="0" indent="0">
              <a:spcBef>
                <a:spcPts val="0"/>
              </a:spcBef>
              <a:buNone/>
            </a:pPr>
            <a:r>
              <a:rPr lang="en-US" sz="1800" dirty="0"/>
              <a:t>Initiated by client, which sends </a:t>
            </a:r>
            <a:r>
              <a:rPr lang="en-US" sz="1800" dirty="0" err="1"/>
              <a:t>client_hello</a:t>
            </a:r>
            <a:r>
              <a:rPr lang="en-US" sz="1800" dirty="0"/>
              <a:t> message.</a:t>
            </a:r>
          </a:p>
          <a:p>
            <a:pPr marL="0" indent="0">
              <a:spcBef>
                <a:spcPts val="0"/>
              </a:spcBef>
              <a:buNone/>
            </a:pPr>
            <a:endParaRPr lang="en-US" sz="1800" dirty="0"/>
          </a:p>
          <a:p>
            <a:pPr marL="0" indent="0">
              <a:spcBef>
                <a:spcPts val="0"/>
              </a:spcBef>
              <a:buNone/>
            </a:pPr>
            <a:r>
              <a:rPr lang="en-US" sz="1800" b="1" dirty="0"/>
              <a:t>Inside </a:t>
            </a:r>
            <a:r>
              <a:rPr lang="en-US" sz="1800" b="1" dirty="0" err="1"/>
              <a:t>client_hello</a:t>
            </a:r>
            <a:endParaRPr lang="en-US" sz="1800" b="1" dirty="0"/>
          </a:p>
          <a:p>
            <a:pPr>
              <a:spcBef>
                <a:spcPts val="0"/>
              </a:spcBef>
            </a:pPr>
            <a:r>
              <a:rPr lang="en-US" sz="1800" b="1" dirty="0"/>
              <a:t>Version: </a:t>
            </a:r>
            <a:r>
              <a:rPr lang="en-US" sz="1800" dirty="0"/>
              <a:t>version of TLS (highest that client knows)</a:t>
            </a:r>
          </a:p>
          <a:p>
            <a:pPr>
              <a:spcBef>
                <a:spcPts val="0"/>
              </a:spcBef>
            </a:pPr>
            <a:r>
              <a:rPr lang="en-US" sz="1800" b="1" dirty="0"/>
              <a:t>Random: </a:t>
            </a:r>
            <a:r>
              <a:rPr lang="en-US" sz="1800" dirty="0"/>
              <a:t>28-bit timestamp, and random 28 bytes generated by random number generator. Used as </a:t>
            </a:r>
            <a:r>
              <a:rPr lang="en-US" sz="1800" dirty="0">
                <a:solidFill>
                  <a:srgbClr val="FF0000"/>
                </a:solidFill>
              </a:rPr>
              <a:t>Nonces</a:t>
            </a:r>
            <a:r>
              <a:rPr lang="en-US" sz="1800" dirty="0"/>
              <a:t>. </a:t>
            </a:r>
          </a:p>
          <a:p>
            <a:pPr>
              <a:spcBef>
                <a:spcPts val="0"/>
              </a:spcBef>
            </a:pPr>
            <a:r>
              <a:rPr lang="en-US" sz="1800" b="1" dirty="0"/>
              <a:t>Session ID: </a:t>
            </a:r>
            <a:r>
              <a:rPr lang="en-US" sz="1800" dirty="0"/>
              <a:t>non-zero value indicates client wants to update parameters of existing connection or create new connection on this session. Zero value indicates client wishes to create new connection or new session.</a:t>
            </a:r>
          </a:p>
          <a:p>
            <a:pPr>
              <a:spcBef>
                <a:spcPts val="0"/>
              </a:spcBef>
            </a:pPr>
            <a:r>
              <a:rPr lang="en-US" sz="1800" b="1" dirty="0" err="1"/>
              <a:t>CipherSuite</a:t>
            </a:r>
            <a:r>
              <a:rPr lang="en-US" sz="1800" b="1" dirty="0"/>
              <a:t>: </a:t>
            </a:r>
            <a:r>
              <a:rPr lang="en-US" sz="1800" dirty="0">
                <a:solidFill>
                  <a:srgbClr val="FF0000"/>
                </a:solidFill>
              </a:rPr>
              <a:t>list of cryptographic algorithms</a:t>
            </a:r>
            <a:r>
              <a:rPr lang="en-US" sz="1800" dirty="0"/>
              <a:t> supported by client, in decreasing order of preference.</a:t>
            </a:r>
          </a:p>
          <a:p>
            <a:pPr>
              <a:spcBef>
                <a:spcPts val="0"/>
              </a:spcBef>
            </a:pPr>
            <a:r>
              <a:rPr lang="en-US" sz="1800" b="1" dirty="0"/>
              <a:t>Compression Method: </a:t>
            </a:r>
            <a:r>
              <a:rPr lang="en-US" sz="1800" dirty="0">
                <a:solidFill>
                  <a:srgbClr val="FF0000"/>
                </a:solidFill>
              </a:rPr>
              <a:t>list of compression </a:t>
            </a:r>
            <a:r>
              <a:rPr lang="en-US" sz="1800" dirty="0"/>
              <a:t>methods supported by client.</a:t>
            </a:r>
          </a:p>
        </p:txBody>
      </p:sp>
    </p:spTree>
    <p:extLst>
      <p:ext uri="{BB962C8B-B14F-4D97-AF65-F5344CB8AC3E}">
        <p14:creationId xmlns:p14="http://schemas.microsoft.com/office/powerpoint/2010/main" val="3606569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program&#10;&#10;Description automatically generated">
            <a:extLst>
              <a:ext uri="{FF2B5EF4-FFF2-40B4-BE49-F238E27FC236}">
                <a16:creationId xmlns:a16="http://schemas.microsoft.com/office/drawing/2014/main" id="{F33E0054-BFBB-477A-4917-26E670813381}"/>
              </a:ext>
            </a:extLst>
          </p:cNvPr>
          <p:cNvPicPr>
            <a:picLocks noChangeAspect="1"/>
          </p:cNvPicPr>
          <p:nvPr/>
        </p:nvPicPr>
        <p:blipFill>
          <a:blip r:embed="rId2"/>
          <a:stretch>
            <a:fillRect/>
          </a:stretch>
        </p:blipFill>
        <p:spPr>
          <a:xfrm>
            <a:off x="4103846" y="620688"/>
            <a:ext cx="5025834" cy="6237312"/>
          </a:xfrm>
          <a:prstGeom prst="rect">
            <a:avLst/>
          </a:prstGeom>
        </p:spPr>
      </p:pic>
      <p:sp>
        <p:nvSpPr>
          <p:cNvPr id="5" name="Content Placeholder 2">
            <a:extLst>
              <a:ext uri="{FF2B5EF4-FFF2-40B4-BE49-F238E27FC236}">
                <a16:creationId xmlns:a16="http://schemas.microsoft.com/office/drawing/2014/main" id="{C7661646-6D45-5BC1-8FC6-D5B7484655AE}"/>
              </a:ext>
            </a:extLst>
          </p:cNvPr>
          <p:cNvSpPr txBox="1">
            <a:spLocks/>
          </p:cNvSpPr>
          <p:nvPr/>
        </p:nvSpPr>
        <p:spPr>
          <a:xfrm>
            <a:off x="107504" y="44624"/>
            <a:ext cx="399634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Phase – 1</a:t>
            </a:r>
          </a:p>
          <a:p>
            <a:pPr marL="0" indent="0">
              <a:spcBef>
                <a:spcPts val="0"/>
              </a:spcBef>
              <a:buNone/>
            </a:pPr>
            <a:r>
              <a:rPr lang="en-US" sz="1800" dirty="0"/>
              <a:t>Client waits for </a:t>
            </a:r>
            <a:r>
              <a:rPr lang="en-US" sz="1800" b="1" dirty="0" err="1"/>
              <a:t>server_hello</a:t>
            </a:r>
            <a:r>
              <a:rPr lang="en-US" sz="1800" b="1" dirty="0"/>
              <a:t> </a:t>
            </a:r>
            <a:r>
              <a:rPr lang="en-US" sz="1800" dirty="0"/>
              <a:t>message</a:t>
            </a:r>
          </a:p>
          <a:p>
            <a:pPr marL="0" indent="0">
              <a:spcBef>
                <a:spcPts val="0"/>
              </a:spcBef>
              <a:buNone/>
            </a:pPr>
            <a:endParaRPr lang="en-US" sz="1800" b="1" dirty="0"/>
          </a:p>
          <a:p>
            <a:pPr marL="0" indent="0">
              <a:spcBef>
                <a:spcPts val="0"/>
              </a:spcBef>
              <a:buNone/>
            </a:pPr>
            <a:r>
              <a:rPr lang="en-US" sz="1800" b="1" dirty="0" err="1"/>
              <a:t>server_hello</a:t>
            </a:r>
            <a:r>
              <a:rPr lang="en-US" sz="1800" b="1" dirty="0"/>
              <a:t> </a:t>
            </a:r>
            <a:r>
              <a:rPr lang="en-US" sz="1800" dirty="0"/>
              <a:t>message contains the same parameters as the </a:t>
            </a:r>
            <a:r>
              <a:rPr lang="en-US" sz="1800" dirty="0" err="1"/>
              <a:t>client_hello</a:t>
            </a:r>
            <a:r>
              <a:rPr lang="en-US" sz="1800" dirty="0"/>
              <a:t> message.</a:t>
            </a:r>
          </a:p>
          <a:p>
            <a:pPr marL="0" indent="0">
              <a:spcBef>
                <a:spcPts val="0"/>
              </a:spcBef>
              <a:buNone/>
            </a:pPr>
            <a:endParaRPr lang="en-US" sz="1800" dirty="0"/>
          </a:p>
          <a:p>
            <a:pPr>
              <a:spcBef>
                <a:spcPts val="0"/>
              </a:spcBef>
            </a:pPr>
            <a:r>
              <a:rPr lang="en-US" sz="1800" dirty="0"/>
              <a:t>Version: </a:t>
            </a:r>
            <a:r>
              <a:rPr lang="en-US" sz="1800" dirty="0">
                <a:solidFill>
                  <a:srgbClr val="FF0000"/>
                </a:solidFill>
              </a:rPr>
              <a:t>lowest</a:t>
            </a:r>
            <a:r>
              <a:rPr lang="en-US" sz="1800" dirty="0"/>
              <a:t> (client version, server version).</a:t>
            </a:r>
          </a:p>
          <a:p>
            <a:pPr>
              <a:spcBef>
                <a:spcPts val="0"/>
              </a:spcBef>
            </a:pPr>
            <a:endParaRPr lang="en-US" sz="1800" dirty="0"/>
          </a:p>
          <a:p>
            <a:pPr>
              <a:spcBef>
                <a:spcPts val="0"/>
              </a:spcBef>
            </a:pPr>
            <a:r>
              <a:rPr lang="en-US" sz="1800" dirty="0"/>
              <a:t>Random field: is </a:t>
            </a:r>
            <a:r>
              <a:rPr lang="en-US" sz="1800" dirty="0">
                <a:solidFill>
                  <a:srgbClr val="FF0000"/>
                </a:solidFill>
              </a:rPr>
              <a:t>independent</a:t>
            </a:r>
            <a:r>
              <a:rPr lang="en-US" sz="1800" dirty="0"/>
              <a:t> of the client’s Random field. </a:t>
            </a:r>
          </a:p>
          <a:p>
            <a:pPr>
              <a:spcBef>
                <a:spcPts val="0"/>
              </a:spcBef>
            </a:pPr>
            <a:endParaRPr lang="en-US" sz="1800" dirty="0"/>
          </a:p>
          <a:p>
            <a:pPr>
              <a:spcBef>
                <a:spcPts val="0"/>
              </a:spcBef>
            </a:pPr>
            <a:r>
              <a:rPr lang="en-US" sz="1800" dirty="0"/>
              <a:t>If the </a:t>
            </a:r>
            <a:r>
              <a:rPr lang="en-US" sz="1800" dirty="0" err="1"/>
              <a:t>SessionID</a:t>
            </a:r>
            <a:r>
              <a:rPr lang="en-US" sz="1800" dirty="0"/>
              <a:t> field of the client was nonzero, the same value is used by the server; otherwise the server’s </a:t>
            </a:r>
            <a:r>
              <a:rPr lang="en-US" sz="1800" dirty="0" err="1"/>
              <a:t>SessionID</a:t>
            </a:r>
            <a:r>
              <a:rPr lang="en-US" sz="1800" dirty="0"/>
              <a:t> field contains the value for a new session. </a:t>
            </a:r>
          </a:p>
          <a:p>
            <a:pPr>
              <a:spcBef>
                <a:spcPts val="0"/>
              </a:spcBef>
            </a:pPr>
            <a:endParaRPr lang="en-US" sz="1800" dirty="0"/>
          </a:p>
          <a:p>
            <a:pPr>
              <a:spcBef>
                <a:spcPts val="0"/>
              </a:spcBef>
            </a:pPr>
            <a:r>
              <a:rPr lang="en-US" sz="1800" dirty="0"/>
              <a:t>The </a:t>
            </a:r>
            <a:r>
              <a:rPr lang="en-US" sz="1800" dirty="0" err="1"/>
              <a:t>CipherSuite</a:t>
            </a:r>
            <a:r>
              <a:rPr lang="en-US" sz="1800" dirty="0"/>
              <a:t> and Compression fields contain the </a:t>
            </a:r>
            <a:r>
              <a:rPr lang="en-US" sz="1800" dirty="0">
                <a:solidFill>
                  <a:srgbClr val="FF0000"/>
                </a:solidFill>
              </a:rPr>
              <a:t>single cipher suite and compression </a:t>
            </a:r>
            <a:r>
              <a:rPr lang="en-US" sz="1800" dirty="0"/>
              <a:t>method selected from list provided by client.</a:t>
            </a:r>
          </a:p>
        </p:txBody>
      </p:sp>
    </p:spTree>
    <p:extLst>
      <p:ext uri="{BB962C8B-B14F-4D97-AF65-F5344CB8AC3E}">
        <p14:creationId xmlns:p14="http://schemas.microsoft.com/office/powerpoint/2010/main" val="2399684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348E9-9EA3-DE7E-2BEB-E9893D6E61B1}"/>
              </a:ext>
            </a:extLst>
          </p:cNvPr>
          <p:cNvSpPr txBox="1">
            <a:spLocks/>
          </p:cNvSpPr>
          <p:nvPr/>
        </p:nvSpPr>
        <p:spPr>
          <a:xfrm>
            <a:off x="356778" y="764704"/>
            <a:ext cx="8787221"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2000" b="1" dirty="0"/>
              <a:t>Details on </a:t>
            </a:r>
            <a:r>
              <a:rPr lang="en-US" sz="2000" b="1" dirty="0" err="1"/>
              <a:t>CipherSuite</a:t>
            </a:r>
            <a:endParaRPr lang="en-US" sz="2000" b="1" dirty="0"/>
          </a:p>
          <a:p>
            <a:pPr marL="0" indent="0">
              <a:spcBef>
                <a:spcPts val="0"/>
              </a:spcBef>
              <a:buNone/>
            </a:pPr>
            <a:endParaRPr lang="en-US" sz="1800" b="1" dirty="0"/>
          </a:p>
          <a:p>
            <a:pPr>
              <a:spcBef>
                <a:spcPts val="0"/>
              </a:spcBef>
            </a:pPr>
            <a:r>
              <a:rPr lang="en-US" sz="1800" b="1" dirty="0"/>
              <a:t>Key exchange algorithms</a:t>
            </a:r>
          </a:p>
          <a:p>
            <a:pPr lvl="1">
              <a:spcBef>
                <a:spcPts val="0"/>
              </a:spcBef>
            </a:pPr>
            <a:r>
              <a:rPr lang="en-US" sz="1600" dirty="0"/>
              <a:t>RSA, Fixed Diffie–Hellman, Ephemeral Diffie-Hellman, Anonymous Diffie–Hellman</a:t>
            </a:r>
            <a:endParaRPr lang="en-US" sz="1800" dirty="0"/>
          </a:p>
          <a:p>
            <a:pPr>
              <a:spcBef>
                <a:spcPts val="0"/>
              </a:spcBef>
            </a:pPr>
            <a:endParaRPr lang="en-US" sz="1800" b="1" dirty="0"/>
          </a:p>
          <a:p>
            <a:pPr>
              <a:spcBef>
                <a:spcPts val="0"/>
              </a:spcBef>
            </a:pPr>
            <a:r>
              <a:rPr lang="en-US" sz="1800" b="1" dirty="0"/>
              <a:t>Cipher Algorithms for data encryption</a:t>
            </a:r>
          </a:p>
          <a:p>
            <a:pPr lvl="1">
              <a:spcBef>
                <a:spcPts val="0"/>
              </a:spcBef>
            </a:pPr>
            <a:r>
              <a:rPr lang="en-US" sz="1600" dirty="0"/>
              <a:t>DES, 3DES, DES40, RC4 etc.</a:t>
            </a:r>
          </a:p>
          <a:p>
            <a:pPr>
              <a:spcBef>
                <a:spcPts val="0"/>
              </a:spcBef>
            </a:pPr>
            <a:endParaRPr lang="en-US" sz="1800" b="1" dirty="0"/>
          </a:p>
          <a:p>
            <a:pPr>
              <a:spcBef>
                <a:spcPts val="0"/>
              </a:spcBef>
            </a:pPr>
            <a:r>
              <a:rPr lang="en-US" sz="1800" b="1" dirty="0"/>
              <a:t>MAC Algorithm for data integrity: </a:t>
            </a:r>
            <a:r>
              <a:rPr lang="en-US" sz="1600" dirty="0"/>
              <a:t>MD5, SHA-1</a:t>
            </a:r>
          </a:p>
          <a:p>
            <a:pPr>
              <a:spcBef>
                <a:spcPts val="0"/>
              </a:spcBef>
            </a:pPr>
            <a:endParaRPr lang="en-US" sz="1800" dirty="0"/>
          </a:p>
          <a:p>
            <a:pPr>
              <a:spcBef>
                <a:spcPts val="0"/>
              </a:spcBef>
            </a:pPr>
            <a:r>
              <a:rPr lang="en-US" sz="1800" b="1" dirty="0" err="1"/>
              <a:t>CipherType</a:t>
            </a:r>
            <a:r>
              <a:rPr lang="en-US" sz="1800" dirty="0"/>
              <a:t>: Stream or Block</a:t>
            </a:r>
          </a:p>
          <a:p>
            <a:pPr>
              <a:spcBef>
                <a:spcPts val="0"/>
              </a:spcBef>
            </a:pPr>
            <a:endParaRPr lang="en-US" sz="1800" dirty="0"/>
          </a:p>
          <a:p>
            <a:pPr>
              <a:spcBef>
                <a:spcPts val="0"/>
              </a:spcBef>
            </a:pPr>
            <a:r>
              <a:rPr lang="en-US" sz="1800" b="1" dirty="0" err="1"/>
              <a:t>HashSize</a:t>
            </a:r>
            <a:endParaRPr lang="en-US" sz="1800" b="1" dirty="0"/>
          </a:p>
          <a:p>
            <a:pPr lvl="1">
              <a:spcBef>
                <a:spcPts val="0"/>
              </a:spcBef>
            </a:pPr>
            <a:r>
              <a:rPr lang="en-US" sz="1600" dirty="0"/>
              <a:t>MD5 produces a 128-bit hash (16 bytes)</a:t>
            </a:r>
          </a:p>
          <a:p>
            <a:pPr lvl="1">
              <a:spcBef>
                <a:spcPts val="0"/>
              </a:spcBef>
            </a:pPr>
            <a:r>
              <a:rPr lang="en-US" sz="1600" dirty="0"/>
              <a:t>SHA-1 produces a 160-bit hash (20 bytes)</a:t>
            </a:r>
          </a:p>
          <a:p>
            <a:pPr>
              <a:spcBef>
                <a:spcPts val="0"/>
              </a:spcBef>
            </a:pPr>
            <a:endParaRPr lang="en-US" sz="1800" dirty="0"/>
          </a:p>
          <a:p>
            <a:pPr>
              <a:spcBef>
                <a:spcPts val="0"/>
              </a:spcBef>
            </a:pPr>
            <a:r>
              <a:rPr lang="en-US" sz="1800" b="1" dirty="0"/>
              <a:t>Key Material</a:t>
            </a:r>
          </a:p>
          <a:p>
            <a:pPr lvl="1">
              <a:spcBef>
                <a:spcPts val="0"/>
              </a:spcBef>
            </a:pPr>
            <a:r>
              <a:rPr lang="en-US" sz="1600" dirty="0"/>
              <a:t>Raw bytes used in generating the write keys (both encryption and MAC)</a:t>
            </a:r>
          </a:p>
          <a:p>
            <a:pPr>
              <a:spcBef>
                <a:spcPts val="0"/>
              </a:spcBef>
            </a:pPr>
            <a:endParaRPr lang="en-US" sz="1800" dirty="0"/>
          </a:p>
          <a:p>
            <a:pPr>
              <a:spcBef>
                <a:spcPts val="0"/>
              </a:spcBef>
            </a:pPr>
            <a:r>
              <a:rPr lang="en-US" sz="1800" b="1" dirty="0"/>
              <a:t>Initialization Vector Size</a:t>
            </a:r>
          </a:p>
          <a:p>
            <a:pPr lvl="1">
              <a:spcBef>
                <a:spcPts val="0"/>
              </a:spcBef>
            </a:pPr>
            <a:r>
              <a:rPr lang="en-US" sz="1600" dirty="0"/>
              <a:t>Size of block cipher operators.</a:t>
            </a:r>
          </a:p>
          <a:p>
            <a:pPr marL="0" indent="0">
              <a:spcBef>
                <a:spcPts val="0"/>
              </a:spcBef>
              <a:buNone/>
            </a:pPr>
            <a:endParaRPr lang="en-US" sz="1800" b="1" dirty="0"/>
          </a:p>
          <a:p>
            <a:pPr marL="0" indent="0">
              <a:spcBef>
                <a:spcPts val="0"/>
              </a:spcBef>
              <a:buNone/>
            </a:pPr>
            <a:r>
              <a:rPr lang="en-US" sz="1800" b="1" dirty="0"/>
              <a:t>	</a:t>
            </a:r>
          </a:p>
        </p:txBody>
      </p:sp>
    </p:spTree>
    <p:extLst>
      <p:ext uri="{BB962C8B-B14F-4D97-AF65-F5344CB8AC3E}">
        <p14:creationId xmlns:p14="http://schemas.microsoft.com/office/powerpoint/2010/main" val="2631155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gram&#10;&#10;Description automatically generated">
            <a:extLst>
              <a:ext uri="{FF2B5EF4-FFF2-40B4-BE49-F238E27FC236}">
                <a16:creationId xmlns:a16="http://schemas.microsoft.com/office/drawing/2014/main" id="{17F58F1E-DC42-5021-E8DF-BE390615CC80}"/>
              </a:ext>
            </a:extLst>
          </p:cNvPr>
          <p:cNvPicPr>
            <a:picLocks noChangeAspect="1"/>
          </p:cNvPicPr>
          <p:nvPr/>
        </p:nvPicPr>
        <p:blipFill>
          <a:blip r:embed="rId2"/>
          <a:stretch>
            <a:fillRect/>
          </a:stretch>
        </p:blipFill>
        <p:spPr>
          <a:xfrm>
            <a:off x="4103846" y="620688"/>
            <a:ext cx="5025834" cy="6237312"/>
          </a:xfrm>
          <a:prstGeom prst="rect">
            <a:avLst/>
          </a:prstGeom>
        </p:spPr>
      </p:pic>
      <p:sp>
        <p:nvSpPr>
          <p:cNvPr id="4" name="Content Placeholder 2">
            <a:extLst>
              <a:ext uri="{FF2B5EF4-FFF2-40B4-BE49-F238E27FC236}">
                <a16:creationId xmlns:a16="http://schemas.microsoft.com/office/drawing/2014/main" id="{B2056AB1-4A2B-BE3E-ECA7-4135F6292230}"/>
              </a:ext>
            </a:extLst>
          </p:cNvPr>
          <p:cNvSpPr txBox="1">
            <a:spLocks/>
          </p:cNvSpPr>
          <p:nvPr/>
        </p:nvSpPr>
        <p:spPr>
          <a:xfrm>
            <a:off x="107504" y="44624"/>
            <a:ext cx="399634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Phase – 2</a:t>
            </a:r>
          </a:p>
          <a:p>
            <a:pPr marL="0" indent="0">
              <a:spcBef>
                <a:spcPts val="0"/>
              </a:spcBef>
              <a:buNone/>
            </a:pPr>
            <a:r>
              <a:rPr lang="en-US" sz="1800" dirty="0"/>
              <a:t>Server initiates phase2 and send </a:t>
            </a:r>
            <a:r>
              <a:rPr lang="en-US" sz="1800" b="1" dirty="0"/>
              <a:t>certificate</a:t>
            </a:r>
            <a:r>
              <a:rPr lang="en-US" sz="1800" dirty="0"/>
              <a:t> message</a:t>
            </a:r>
          </a:p>
          <a:p>
            <a:pPr marL="0" indent="0">
              <a:spcBef>
                <a:spcPts val="0"/>
              </a:spcBef>
              <a:buNone/>
            </a:pPr>
            <a:endParaRPr lang="en-US" sz="1800" dirty="0"/>
          </a:p>
          <a:p>
            <a:pPr marL="0" indent="0">
              <a:spcBef>
                <a:spcPts val="0"/>
              </a:spcBef>
              <a:buNone/>
            </a:pPr>
            <a:r>
              <a:rPr lang="en-US" sz="1800" b="1" dirty="0"/>
              <a:t>certificate: </a:t>
            </a:r>
            <a:r>
              <a:rPr lang="en-US" sz="1800" dirty="0"/>
              <a:t>This message is used by the server to </a:t>
            </a:r>
            <a:r>
              <a:rPr lang="en-US" sz="1800" dirty="0">
                <a:solidFill>
                  <a:srgbClr val="FF0000"/>
                </a:solidFill>
              </a:rPr>
              <a:t>authenticate</a:t>
            </a:r>
            <a:r>
              <a:rPr lang="en-US" sz="1800" dirty="0"/>
              <a:t> itself to the client by sending its </a:t>
            </a:r>
            <a:r>
              <a:rPr lang="en-US" sz="1800" dirty="0">
                <a:solidFill>
                  <a:srgbClr val="FF0000"/>
                </a:solidFill>
              </a:rPr>
              <a:t>public key </a:t>
            </a:r>
            <a:r>
              <a:rPr lang="en-US" sz="1800" dirty="0"/>
              <a:t>in the form of an </a:t>
            </a:r>
            <a:r>
              <a:rPr lang="en-US" sz="1800" dirty="0">
                <a:solidFill>
                  <a:srgbClr val="FF0000"/>
                </a:solidFill>
              </a:rPr>
              <a:t>X.509 certificate</a:t>
            </a:r>
            <a:r>
              <a:rPr lang="en-US" sz="1800" dirty="0"/>
              <a:t>.</a:t>
            </a:r>
          </a:p>
          <a:p>
            <a:pPr marL="0" indent="0">
              <a:spcBef>
                <a:spcPts val="0"/>
              </a:spcBef>
              <a:buNone/>
            </a:pPr>
            <a:endParaRPr lang="en-US" sz="1800" dirty="0"/>
          </a:p>
          <a:p>
            <a:pPr marL="0" indent="0">
              <a:spcBef>
                <a:spcPts val="0"/>
              </a:spcBef>
              <a:buNone/>
            </a:pPr>
            <a:r>
              <a:rPr lang="en-US" sz="1800" b="1" dirty="0" err="1"/>
              <a:t>server_key_exchange</a:t>
            </a:r>
            <a:r>
              <a:rPr lang="en-US" sz="1800" b="1" dirty="0"/>
              <a:t>: </a:t>
            </a:r>
            <a:r>
              <a:rPr lang="en-US" sz="1800" dirty="0"/>
              <a:t>sent when required (</a:t>
            </a:r>
            <a:r>
              <a:rPr lang="en-US" sz="1800" dirty="0">
                <a:solidFill>
                  <a:srgbClr val="FF0000"/>
                </a:solidFill>
              </a:rPr>
              <a:t>depending</a:t>
            </a:r>
            <a:r>
              <a:rPr lang="en-US" sz="1800" dirty="0"/>
              <a:t> on the key exchange method). It contains </a:t>
            </a:r>
            <a:r>
              <a:rPr lang="en-US" sz="1800" dirty="0">
                <a:solidFill>
                  <a:srgbClr val="FF0000"/>
                </a:solidFill>
              </a:rPr>
              <a:t>key exchange parameters.</a:t>
            </a:r>
          </a:p>
          <a:p>
            <a:pPr>
              <a:spcBef>
                <a:spcPts val="0"/>
              </a:spcBef>
            </a:pPr>
            <a:r>
              <a:rPr lang="en-US" sz="1800" dirty="0">
                <a:solidFill>
                  <a:schemeClr val="tx1"/>
                </a:solidFill>
              </a:rPr>
              <a:t>Anonymous Diffie-Helman</a:t>
            </a:r>
          </a:p>
          <a:p>
            <a:pPr lvl="1">
              <a:spcBef>
                <a:spcPts val="0"/>
              </a:spcBef>
            </a:pPr>
            <a:r>
              <a:rPr lang="en-US" sz="1600" dirty="0">
                <a:solidFill>
                  <a:schemeClr val="tx1"/>
                </a:solidFill>
              </a:rPr>
              <a:t>Prime number, public key, etc.</a:t>
            </a:r>
          </a:p>
          <a:p>
            <a:pPr marL="0" indent="0">
              <a:spcBef>
                <a:spcPts val="0"/>
              </a:spcBef>
              <a:buNone/>
            </a:pPr>
            <a:endParaRPr lang="en-US" sz="1800" dirty="0"/>
          </a:p>
          <a:p>
            <a:pPr marL="0" indent="0">
              <a:spcBef>
                <a:spcPts val="0"/>
              </a:spcBef>
              <a:buNone/>
            </a:pPr>
            <a:r>
              <a:rPr lang="en-US" sz="1800" b="1" dirty="0" err="1"/>
              <a:t>certificate_request</a:t>
            </a:r>
            <a:r>
              <a:rPr lang="en-US" sz="1800" b="1" dirty="0"/>
              <a:t>:</a:t>
            </a:r>
            <a:r>
              <a:rPr lang="en-US" sz="1800" dirty="0"/>
              <a:t> server can </a:t>
            </a:r>
            <a:r>
              <a:rPr lang="en-US" sz="1800" dirty="0">
                <a:solidFill>
                  <a:srgbClr val="FF0000"/>
                </a:solidFill>
              </a:rPr>
              <a:t>optionally</a:t>
            </a:r>
            <a:r>
              <a:rPr lang="en-US" sz="1800" dirty="0"/>
              <a:t> request a certificate from the client for </a:t>
            </a:r>
            <a:r>
              <a:rPr lang="en-US" sz="1800" dirty="0">
                <a:solidFill>
                  <a:srgbClr val="FF0000"/>
                </a:solidFill>
              </a:rPr>
              <a:t>client authentication</a:t>
            </a:r>
            <a:r>
              <a:rPr lang="en-US" sz="1800" dirty="0"/>
              <a:t>.</a:t>
            </a:r>
          </a:p>
          <a:p>
            <a:pPr marL="0" indent="0">
              <a:spcBef>
                <a:spcPts val="0"/>
              </a:spcBef>
              <a:buNone/>
            </a:pPr>
            <a:endParaRPr lang="en-US" sz="1800" dirty="0"/>
          </a:p>
          <a:p>
            <a:pPr marL="0" indent="0">
              <a:spcBef>
                <a:spcPts val="0"/>
              </a:spcBef>
              <a:buNone/>
            </a:pPr>
            <a:r>
              <a:rPr lang="en-US" sz="1800" b="1" dirty="0" err="1"/>
              <a:t>server_hello</a:t>
            </a:r>
            <a:r>
              <a:rPr lang="en-US" sz="1800" b="1" dirty="0"/>
              <a:t>_ done: </a:t>
            </a:r>
            <a:r>
              <a:rPr lang="en-US" sz="1800" dirty="0"/>
              <a:t>has no parameters, basically indicates the end of server’s hello and associated messages.</a:t>
            </a:r>
          </a:p>
        </p:txBody>
      </p:sp>
    </p:spTree>
    <p:extLst>
      <p:ext uri="{BB962C8B-B14F-4D97-AF65-F5344CB8AC3E}">
        <p14:creationId xmlns:p14="http://schemas.microsoft.com/office/powerpoint/2010/main" val="2926016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gram&#10;&#10;Description automatically generated">
            <a:extLst>
              <a:ext uri="{FF2B5EF4-FFF2-40B4-BE49-F238E27FC236}">
                <a16:creationId xmlns:a16="http://schemas.microsoft.com/office/drawing/2014/main" id="{17F58F1E-DC42-5021-E8DF-BE390615CC80}"/>
              </a:ext>
            </a:extLst>
          </p:cNvPr>
          <p:cNvPicPr>
            <a:picLocks noChangeAspect="1"/>
          </p:cNvPicPr>
          <p:nvPr/>
        </p:nvPicPr>
        <p:blipFill>
          <a:blip r:embed="rId2"/>
          <a:stretch>
            <a:fillRect/>
          </a:stretch>
        </p:blipFill>
        <p:spPr>
          <a:xfrm>
            <a:off x="4103846" y="620688"/>
            <a:ext cx="5025834" cy="6237312"/>
          </a:xfrm>
          <a:prstGeom prst="rect">
            <a:avLst/>
          </a:prstGeom>
        </p:spPr>
      </p:pic>
      <p:sp>
        <p:nvSpPr>
          <p:cNvPr id="4" name="Content Placeholder 2">
            <a:extLst>
              <a:ext uri="{FF2B5EF4-FFF2-40B4-BE49-F238E27FC236}">
                <a16:creationId xmlns:a16="http://schemas.microsoft.com/office/drawing/2014/main" id="{B2056AB1-4A2B-BE3E-ECA7-4135F6292230}"/>
              </a:ext>
            </a:extLst>
          </p:cNvPr>
          <p:cNvSpPr txBox="1">
            <a:spLocks/>
          </p:cNvSpPr>
          <p:nvPr/>
        </p:nvSpPr>
        <p:spPr>
          <a:xfrm>
            <a:off x="107504" y="44624"/>
            <a:ext cx="388843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Phase – 3</a:t>
            </a:r>
          </a:p>
          <a:p>
            <a:pPr marL="0" indent="0">
              <a:spcBef>
                <a:spcPts val="0"/>
              </a:spcBef>
              <a:buNone/>
            </a:pPr>
            <a:endParaRPr lang="en-US" sz="1800" dirty="0"/>
          </a:p>
          <a:p>
            <a:pPr marL="0" indent="0">
              <a:spcBef>
                <a:spcPts val="0"/>
              </a:spcBef>
              <a:buNone/>
            </a:pPr>
            <a:r>
              <a:rPr lang="en-US" sz="1800" dirty="0"/>
              <a:t>Client sends </a:t>
            </a:r>
            <a:r>
              <a:rPr lang="en-US" sz="1800" b="1" dirty="0"/>
              <a:t>certificate</a:t>
            </a:r>
            <a:r>
              <a:rPr lang="en-US" sz="1800" dirty="0"/>
              <a:t> if </a:t>
            </a:r>
            <a:r>
              <a:rPr lang="en-US" sz="1800" dirty="0">
                <a:solidFill>
                  <a:srgbClr val="FF0000"/>
                </a:solidFill>
              </a:rPr>
              <a:t>requested</a:t>
            </a:r>
            <a:r>
              <a:rPr lang="en-US" sz="1800" dirty="0"/>
              <a:t>.</a:t>
            </a:r>
          </a:p>
          <a:p>
            <a:pPr marL="0" indent="0">
              <a:spcBef>
                <a:spcPts val="0"/>
              </a:spcBef>
              <a:buNone/>
            </a:pPr>
            <a:r>
              <a:rPr lang="en-US" sz="1800" dirty="0"/>
              <a:t>Can be used for client authentication.</a:t>
            </a:r>
          </a:p>
          <a:p>
            <a:pPr marL="0" indent="0">
              <a:spcBef>
                <a:spcPts val="0"/>
              </a:spcBef>
              <a:buNone/>
            </a:pPr>
            <a:endParaRPr lang="en-US" sz="1800" dirty="0"/>
          </a:p>
          <a:p>
            <a:pPr marL="0" indent="0">
              <a:spcBef>
                <a:spcPts val="0"/>
              </a:spcBef>
              <a:buNone/>
            </a:pPr>
            <a:r>
              <a:rPr lang="en-US" sz="1800" b="1" dirty="0"/>
              <a:t>Certificate Verify:</a:t>
            </a:r>
            <a:r>
              <a:rPr lang="en-US" sz="1800" dirty="0"/>
              <a:t> contains signature (HMAC) of all handshake messages up to this point, ensuring integrity.</a:t>
            </a:r>
          </a:p>
          <a:p>
            <a:pPr>
              <a:spcBef>
                <a:spcPts val="0"/>
              </a:spcBef>
            </a:pPr>
            <a:r>
              <a:rPr lang="en-US" sz="1800" dirty="0"/>
              <a:t>Prevents Trudy to modifying the message (deleting strong encryption algorithms).</a:t>
            </a:r>
          </a:p>
          <a:p>
            <a:pPr>
              <a:spcBef>
                <a:spcPts val="0"/>
              </a:spcBef>
            </a:pPr>
            <a:r>
              <a:rPr lang="en-US" sz="1800" dirty="0"/>
              <a:t>Proves client possession of its private key.</a:t>
            </a:r>
          </a:p>
          <a:p>
            <a:pPr lvl="1">
              <a:spcBef>
                <a:spcPts val="0"/>
              </a:spcBef>
            </a:pPr>
            <a:r>
              <a:rPr lang="en-US" sz="1400" dirty="0" err="1"/>
              <a:t>ClientPrivateKey</a:t>
            </a:r>
            <a:r>
              <a:rPr lang="en-US" sz="1400" dirty="0"/>
              <a:t>(HMAC(</a:t>
            </a:r>
            <a:r>
              <a:rPr lang="en-US" sz="1400" dirty="0" err="1"/>
              <a:t>all_messages</a:t>
            </a:r>
            <a:r>
              <a:rPr lang="en-US" sz="1400" dirty="0"/>
              <a:t>))=</a:t>
            </a:r>
            <a:r>
              <a:rPr lang="en-US" sz="1400" dirty="0" err="1"/>
              <a:t>ClientPublicKey</a:t>
            </a:r>
            <a:r>
              <a:rPr lang="en-US" sz="1400" dirty="0"/>
              <a:t>(HMAC(</a:t>
            </a:r>
            <a:r>
              <a:rPr lang="en-US" sz="1400" dirty="0" err="1"/>
              <a:t>all_messages</a:t>
            </a:r>
            <a:r>
              <a:rPr lang="en-US" sz="1400" dirty="0"/>
              <a:t>))</a:t>
            </a:r>
          </a:p>
          <a:p>
            <a:pPr lvl="1">
              <a:spcBef>
                <a:spcPts val="0"/>
              </a:spcBef>
            </a:pPr>
            <a:r>
              <a:rPr lang="en-US" sz="1400" dirty="0"/>
              <a:t>HMAC is whatever MAC algorithm client server agreed on cipher suite.</a:t>
            </a:r>
          </a:p>
          <a:p>
            <a:pPr marL="0" indent="0">
              <a:spcBef>
                <a:spcPts val="0"/>
              </a:spcBef>
              <a:buNone/>
            </a:pPr>
            <a:endParaRPr lang="en-US" sz="1600" dirty="0"/>
          </a:p>
          <a:p>
            <a:pPr>
              <a:spcBef>
                <a:spcPts val="0"/>
              </a:spcBef>
            </a:pPr>
            <a:r>
              <a:rPr lang="en-US" sz="1800" b="1" dirty="0" err="1"/>
              <a:t>Client_Key_Exchange</a:t>
            </a:r>
            <a:r>
              <a:rPr lang="en-US" sz="1800" b="1" dirty="0"/>
              <a:t>: </a:t>
            </a:r>
            <a:r>
              <a:rPr lang="en-US" sz="1800" dirty="0"/>
              <a:t>Similar to </a:t>
            </a:r>
            <a:r>
              <a:rPr lang="en-US" sz="1800" dirty="0" err="1"/>
              <a:t>server_key_exchange</a:t>
            </a:r>
            <a:r>
              <a:rPr lang="en-US" sz="1800" dirty="0"/>
              <a:t> sends key exchange parameters if needed.</a:t>
            </a:r>
          </a:p>
          <a:p>
            <a:pPr lvl="1">
              <a:spcBef>
                <a:spcPts val="0"/>
              </a:spcBef>
            </a:pPr>
            <a:r>
              <a:rPr lang="en-US" sz="1600" dirty="0"/>
              <a:t>Parameters are encrypted using servers private key.</a:t>
            </a:r>
          </a:p>
          <a:p>
            <a:pPr marL="0" indent="0">
              <a:spcBef>
                <a:spcPts val="0"/>
              </a:spcBef>
              <a:buNone/>
            </a:pPr>
            <a:endParaRPr lang="en-US" sz="1800" dirty="0"/>
          </a:p>
        </p:txBody>
      </p:sp>
    </p:spTree>
    <p:extLst>
      <p:ext uri="{BB962C8B-B14F-4D97-AF65-F5344CB8AC3E}">
        <p14:creationId xmlns:p14="http://schemas.microsoft.com/office/powerpoint/2010/main" val="1666047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gram&#10;&#10;Description automatically generated">
            <a:extLst>
              <a:ext uri="{FF2B5EF4-FFF2-40B4-BE49-F238E27FC236}">
                <a16:creationId xmlns:a16="http://schemas.microsoft.com/office/drawing/2014/main" id="{17F58F1E-DC42-5021-E8DF-BE390615CC80}"/>
              </a:ext>
            </a:extLst>
          </p:cNvPr>
          <p:cNvPicPr>
            <a:picLocks noChangeAspect="1"/>
          </p:cNvPicPr>
          <p:nvPr/>
        </p:nvPicPr>
        <p:blipFill>
          <a:blip r:embed="rId2"/>
          <a:stretch>
            <a:fillRect/>
          </a:stretch>
        </p:blipFill>
        <p:spPr>
          <a:xfrm>
            <a:off x="4103846" y="620688"/>
            <a:ext cx="5025834" cy="6237312"/>
          </a:xfrm>
          <a:prstGeom prst="rect">
            <a:avLst/>
          </a:prstGeom>
        </p:spPr>
      </p:pic>
      <p:sp>
        <p:nvSpPr>
          <p:cNvPr id="4" name="Content Placeholder 2">
            <a:extLst>
              <a:ext uri="{FF2B5EF4-FFF2-40B4-BE49-F238E27FC236}">
                <a16:creationId xmlns:a16="http://schemas.microsoft.com/office/drawing/2014/main" id="{B2056AB1-4A2B-BE3E-ECA7-4135F6292230}"/>
              </a:ext>
            </a:extLst>
          </p:cNvPr>
          <p:cNvSpPr txBox="1">
            <a:spLocks/>
          </p:cNvSpPr>
          <p:nvPr/>
        </p:nvSpPr>
        <p:spPr>
          <a:xfrm>
            <a:off x="107504" y="44624"/>
            <a:ext cx="4104456"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t>Phase – 4</a:t>
            </a:r>
          </a:p>
          <a:p>
            <a:pPr marL="0" indent="0">
              <a:spcBef>
                <a:spcPts val="0"/>
              </a:spcBef>
              <a:buNone/>
            </a:pPr>
            <a:endParaRPr lang="en-US" sz="1800" dirty="0"/>
          </a:p>
          <a:p>
            <a:pPr marL="0" indent="0">
              <a:spcBef>
                <a:spcPts val="0"/>
              </a:spcBef>
              <a:buNone/>
            </a:pPr>
            <a:r>
              <a:rPr lang="en-US" sz="1800" b="1" dirty="0" err="1"/>
              <a:t>Change_cipher_spec</a:t>
            </a:r>
            <a:r>
              <a:rPr lang="en-US" sz="1800" b="1" dirty="0"/>
              <a:t>:</a:t>
            </a:r>
            <a:r>
              <a:rPr lang="en-US" sz="1800" dirty="0"/>
              <a:t> </a:t>
            </a:r>
            <a:r>
              <a:rPr lang="en-US" sz="1800" dirty="0">
                <a:solidFill>
                  <a:srgbClr val="FF0000"/>
                </a:solidFill>
              </a:rPr>
              <a:t>1 byte message</a:t>
            </a:r>
            <a:r>
              <a:rPr lang="en-US" sz="1800" dirty="0"/>
              <a:t>, if 0x01 indicates that session's negotiated cipher suite and keys are now </a:t>
            </a:r>
            <a:r>
              <a:rPr lang="en-US" sz="1800" dirty="0">
                <a:solidFill>
                  <a:srgbClr val="FF0000"/>
                </a:solidFill>
              </a:rPr>
              <a:t>active</a:t>
            </a:r>
            <a:r>
              <a:rPr lang="en-US" sz="1800" dirty="0"/>
              <a:t>. All subsequent messages will be encrypted and protected using the negotiated cryptographic parameters.</a:t>
            </a:r>
          </a:p>
          <a:p>
            <a:pPr marL="0" indent="0">
              <a:spcBef>
                <a:spcPts val="0"/>
              </a:spcBef>
              <a:buNone/>
            </a:pPr>
            <a:endParaRPr lang="en-US" sz="1800" dirty="0"/>
          </a:p>
          <a:p>
            <a:pPr marL="0" indent="0">
              <a:spcBef>
                <a:spcPts val="0"/>
              </a:spcBef>
              <a:buNone/>
            </a:pPr>
            <a:r>
              <a:rPr lang="en-US" sz="1800" b="1" dirty="0"/>
              <a:t>Finished: </a:t>
            </a:r>
            <a:r>
              <a:rPr lang="en-US" sz="1800" dirty="0"/>
              <a:t>both parties take hash of the all messages exchanged in handshake process. Then use agreed </a:t>
            </a:r>
            <a:r>
              <a:rPr lang="en-US" sz="1800" dirty="0">
                <a:solidFill>
                  <a:srgbClr val="FF0000"/>
                </a:solidFill>
              </a:rPr>
              <a:t>session key (Master Key) </a:t>
            </a:r>
            <a:r>
              <a:rPr lang="en-US" sz="1800" dirty="0"/>
              <a:t>to compute HMAC of the hash.</a:t>
            </a:r>
          </a:p>
          <a:p>
            <a:pPr>
              <a:spcBef>
                <a:spcPts val="0"/>
              </a:spcBef>
            </a:pPr>
            <a:r>
              <a:rPr lang="en-US" sz="1400" dirty="0"/>
              <a:t>HMAC=agreed MAC algorithm (Master Key, all messages)</a:t>
            </a:r>
          </a:p>
          <a:p>
            <a:pPr>
              <a:spcBef>
                <a:spcPts val="0"/>
              </a:spcBef>
            </a:pPr>
            <a:endParaRPr lang="en-US" sz="1800" dirty="0"/>
          </a:p>
          <a:p>
            <a:pPr marL="0" indent="0">
              <a:spcBef>
                <a:spcPts val="0"/>
              </a:spcBef>
              <a:buNone/>
            </a:pPr>
            <a:endParaRPr lang="en-US" sz="1800" dirty="0"/>
          </a:p>
          <a:p>
            <a:pPr marL="0" indent="0">
              <a:spcBef>
                <a:spcPts val="0"/>
              </a:spcBef>
              <a:buNone/>
            </a:pPr>
            <a:endParaRPr lang="en-US" sz="1800" dirty="0"/>
          </a:p>
        </p:txBody>
      </p:sp>
    </p:spTree>
    <p:extLst>
      <p:ext uri="{BB962C8B-B14F-4D97-AF65-F5344CB8AC3E}">
        <p14:creationId xmlns:p14="http://schemas.microsoft.com/office/powerpoint/2010/main" val="2342741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3356D-299D-64DC-D6EE-55F5633CCC54}"/>
            </a:ext>
          </a:extLst>
        </p:cNvPr>
        <p:cNvGrpSpPr/>
        <p:nvPr/>
      </p:nvGrpSpPr>
      <p:grpSpPr>
        <a:xfrm>
          <a:off x="0" y="0"/>
          <a:ext cx="0" cy="0"/>
          <a:chOff x="0" y="0"/>
          <a:chExt cx="0" cy="0"/>
        </a:xfrm>
      </p:grpSpPr>
      <p:pic>
        <p:nvPicPr>
          <p:cNvPr id="4" name="Picture 3" descr="A diagram of a program&#10;&#10;Description automatically generated">
            <a:extLst>
              <a:ext uri="{FF2B5EF4-FFF2-40B4-BE49-F238E27FC236}">
                <a16:creationId xmlns:a16="http://schemas.microsoft.com/office/drawing/2014/main" id="{B853E59F-C958-41F2-0289-C1AA7F430188}"/>
              </a:ext>
            </a:extLst>
          </p:cNvPr>
          <p:cNvPicPr>
            <a:picLocks noChangeAspect="1"/>
          </p:cNvPicPr>
          <p:nvPr/>
        </p:nvPicPr>
        <p:blipFill>
          <a:blip r:embed="rId2"/>
          <a:stretch>
            <a:fillRect/>
          </a:stretch>
        </p:blipFill>
        <p:spPr>
          <a:xfrm>
            <a:off x="4050957" y="120686"/>
            <a:ext cx="5025834" cy="6237312"/>
          </a:xfrm>
          <a:prstGeom prst="rect">
            <a:avLst/>
          </a:prstGeom>
        </p:spPr>
      </p:pic>
      <p:sp>
        <p:nvSpPr>
          <p:cNvPr id="5" name="Oval 4">
            <a:extLst>
              <a:ext uri="{FF2B5EF4-FFF2-40B4-BE49-F238E27FC236}">
                <a16:creationId xmlns:a16="http://schemas.microsoft.com/office/drawing/2014/main" id="{AD43A5F7-26C5-8FBB-0304-CB93064830F8}"/>
              </a:ext>
            </a:extLst>
          </p:cNvPr>
          <p:cNvSpPr/>
          <p:nvPr/>
        </p:nvSpPr>
        <p:spPr>
          <a:xfrm rot="615310">
            <a:off x="5148064" y="4005064"/>
            <a:ext cx="1512168" cy="360040"/>
          </a:xfrm>
          <a:prstGeom prst="ellipse">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23211CC-26A4-98DA-A67B-D12838BF0B1D}"/>
              </a:ext>
            </a:extLst>
          </p:cNvPr>
          <p:cNvSpPr/>
          <p:nvPr/>
        </p:nvSpPr>
        <p:spPr>
          <a:xfrm rot="20935979">
            <a:off x="5240042" y="4730093"/>
            <a:ext cx="1512168" cy="360040"/>
          </a:xfrm>
          <a:prstGeom prst="ellipse">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DDB88103-BC1C-22CB-2A83-F404898DC5A9}"/>
              </a:ext>
            </a:extLst>
          </p:cNvPr>
          <p:cNvSpPr txBox="1">
            <a:spLocks/>
          </p:cNvSpPr>
          <p:nvPr/>
        </p:nvSpPr>
        <p:spPr>
          <a:xfrm>
            <a:off x="107504" y="298880"/>
            <a:ext cx="3593244"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2000" b="1" dirty="0"/>
              <a:t>Content Type (8 bits)</a:t>
            </a:r>
          </a:p>
          <a:p>
            <a:pPr lvl="1">
              <a:spcBef>
                <a:spcPts val="0"/>
              </a:spcBef>
            </a:pPr>
            <a:r>
              <a:rPr lang="en-US" sz="2000" dirty="0">
                <a:solidFill>
                  <a:srgbClr val="FF0000"/>
                </a:solidFill>
              </a:rPr>
              <a:t>Handshake</a:t>
            </a:r>
          </a:p>
          <a:p>
            <a:pPr lvl="1">
              <a:spcBef>
                <a:spcPts val="0"/>
              </a:spcBef>
            </a:pPr>
            <a:r>
              <a:rPr lang="en-US" sz="2000" dirty="0" err="1">
                <a:solidFill>
                  <a:srgbClr val="FF0000"/>
                </a:solidFill>
              </a:rPr>
              <a:t>Change_cipher_spec</a:t>
            </a:r>
            <a:endParaRPr lang="en-US" sz="2000" dirty="0">
              <a:solidFill>
                <a:srgbClr val="FF0000"/>
              </a:solidFill>
            </a:endParaRPr>
          </a:p>
          <a:p>
            <a:pPr lvl="1">
              <a:spcBef>
                <a:spcPts val="0"/>
              </a:spcBef>
            </a:pPr>
            <a:r>
              <a:rPr lang="en-US" sz="2000" dirty="0"/>
              <a:t>Alert</a:t>
            </a:r>
          </a:p>
          <a:p>
            <a:pPr lvl="1">
              <a:spcBef>
                <a:spcPts val="0"/>
              </a:spcBef>
            </a:pPr>
            <a:r>
              <a:rPr lang="en-US" sz="2000" dirty="0" err="1"/>
              <a:t>Application_data</a:t>
            </a:r>
            <a:endParaRPr lang="en-US" sz="2000" dirty="0"/>
          </a:p>
          <a:p>
            <a:pPr marL="349250" lvl="1" indent="0">
              <a:spcBef>
                <a:spcPts val="0"/>
              </a:spcBef>
              <a:buNone/>
            </a:pPr>
            <a:endParaRPr lang="en-US" sz="2000" dirty="0"/>
          </a:p>
          <a:p>
            <a:pPr marL="349250" lvl="1" indent="0">
              <a:spcBef>
                <a:spcPts val="0"/>
              </a:spcBef>
              <a:buNone/>
            </a:pPr>
            <a:endParaRPr lang="en-US" sz="2000" dirty="0"/>
          </a:p>
          <a:p>
            <a:pPr marL="349250" lvl="1" indent="0">
              <a:spcBef>
                <a:spcPts val="0"/>
              </a:spcBef>
              <a:buNone/>
            </a:pPr>
            <a:r>
              <a:rPr lang="en-US" sz="2000" b="1" dirty="0" err="1"/>
              <a:t>Change_cipher_spec</a:t>
            </a:r>
            <a:r>
              <a:rPr lang="en-US" sz="2000" b="1" dirty="0"/>
              <a:t>:</a:t>
            </a:r>
            <a:r>
              <a:rPr lang="en-US" sz="2000" dirty="0"/>
              <a:t> 1 byte message, if 0x01 indicates that session's negotiated cipher suite and keys are now active.</a:t>
            </a:r>
          </a:p>
          <a:p>
            <a:pPr marL="349250" lvl="1" indent="0">
              <a:spcBef>
                <a:spcPts val="0"/>
              </a:spcBef>
              <a:buNone/>
            </a:pPr>
            <a:endParaRPr lang="en-US" sz="2000" dirty="0"/>
          </a:p>
          <a:p>
            <a:pPr marL="349250" lvl="1" indent="0">
              <a:spcBef>
                <a:spcPts val="0"/>
              </a:spcBef>
              <a:buNone/>
            </a:pPr>
            <a:r>
              <a:rPr lang="en-US" sz="2000" b="1" dirty="0" err="1"/>
              <a:t>Application_data</a:t>
            </a:r>
            <a:r>
              <a:rPr lang="en-US" sz="2000" b="1" dirty="0"/>
              <a:t>:</a:t>
            </a:r>
            <a:r>
              <a:rPr lang="en-US" sz="2000" dirty="0"/>
              <a:t> indicates everything is working as expected and we are sending data to upper layer protocol (application layer protocol - HTTP)</a:t>
            </a:r>
          </a:p>
          <a:p>
            <a:pPr marL="349250" lvl="1" indent="0">
              <a:spcBef>
                <a:spcPts val="0"/>
              </a:spcBef>
              <a:buNone/>
            </a:pPr>
            <a:endParaRPr lang="en-US" sz="2000" dirty="0"/>
          </a:p>
          <a:p>
            <a:pPr marL="349250" lvl="1" indent="0">
              <a:spcBef>
                <a:spcPts val="0"/>
              </a:spcBef>
              <a:buNone/>
            </a:pPr>
            <a:endParaRPr lang="en-US" sz="2000" dirty="0"/>
          </a:p>
          <a:p>
            <a:pPr marL="0" indent="0">
              <a:spcBef>
                <a:spcPts val="0"/>
              </a:spcBef>
              <a:buNone/>
            </a:pPr>
            <a:endParaRPr lang="en-US" sz="1800" dirty="0"/>
          </a:p>
        </p:txBody>
      </p:sp>
    </p:spTree>
    <p:extLst>
      <p:ext uri="{BB962C8B-B14F-4D97-AF65-F5344CB8AC3E}">
        <p14:creationId xmlns:p14="http://schemas.microsoft.com/office/powerpoint/2010/main" val="3673857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90F7710-8B02-0518-B344-87FDFF89FEB9}"/>
              </a:ext>
            </a:extLst>
          </p:cNvPr>
          <p:cNvSpPr txBox="1">
            <a:spLocks/>
          </p:cNvSpPr>
          <p:nvPr/>
        </p:nvSpPr>
        <p:spPr>
          <a:xfrm>
            <a:off x="107504" y="332656"/>
            <a:ext cx="892899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2000" b="1" dirty="0"/>
              <a:t>Content Type (8 bits)</a:t>
            </a:r>
          </a:p>
          <a:p>
            <a:pPr lvl="1">
              <a:spcBef>
                <a:spcPts val="0"/>
              </a:spcBef>
            </a:pPr>
            <a:r>
              <a:rPr lang="en-US" sz="2000" dirty="0">
                <a:solidFill>
                  <a:schemeClr val="tx1"/>
                </a:solidFill>
              </a:rPr>
              <a:t>Handshake</a:t>
            </a:r>
          </a:p>
          <a:p>
            <a:pPr lvl="1">
              <a:spcBef>
                <a:spcPts val="0"/>
              </a:spcBef>
            </a:pPr>
            <a:r>
              <a:rPr lang="en-US" sz="2000" dirty="0" err="1">
                <a:solidFill>
                  <a:schemeClr val="tx1"/>
                </a:solidFill>
              </a:rPr>
              <a:t>Change_cipher_spec</a:t>
            </a:r>
            <a:endParaRPr lang="en-US" sz="2000" dirty="0">
              <a:solidFill>
                <a:schemeClr val="tx1"/>
              </a:solidFill>
            </a:endParaRPr>
          </a:p>
          <a:p>
            <a:pPr lvl="1">
              <a:spcBef>
                <a:spcPts val="0"/>
              </a:spcBef>
            </a:pPr>
            <a:r>
              <a:rPr lang="en-US" sz="2000" dirty="0">
                <a:solidFill>
                  <a:srgbClr val="FF0000"/>
                </a:solidFill>
              </a:rPr>
              <a:t>Alert</a:t>
            </a:r>
          </a:p>
          <a:p>
            <a:pPr lvl="1">
              <a:spcBef>
                <a:spcPts val="0"/>
              </a:spcBef>
            </a:pPr>
            <a:r>
              <a:rPr lang="en-US" sz="2000" dirty="0" err="1"/>
              <a:t>Application_data</a:t>
            </a:r>
            <a:endParaRPr lang="en-US" sz="2000" dirty="0"/>
          </a:p>
          <a:p>
            <a:pPr marL="349250" lvl="1" indent="0">
              <a:spcBef>
                <a:spcPts val="0"/>
              </a:spcBef>
              <a:buNone/>
            </a:pPr>
            <a:endParaRPr lang="en-US" sz="2000" dirty="0"/>
          </a:p>
          <a:p>
            <a:pPr marL="349250" lvl="1" indent="0">
              <a:spcBef>
                <a:spcPts val="0"/>
              </a:spcBef>
              <a:buNone/>
            </a:pPr>
            <a:endParaRPr lang="en-US" sz="2000" dirty="0"/>
          </a:p>
          <a:p>
            <a:pPr>
              <a:spcBef>
                <a:spcPts val="0"/>
              </a:spcBef>
            </a:pPr>
            <a:r>
              <a:rPr lang="en-US" sz="2000" dirty="0"/>
              <a:t>The Alert is used to convey TLS-related alerts to the peer entity. </a:t>
            </a:r>
          </a:p>
          <a:p>
            <a:pPr>
              <a:spcBef>
                <a:spcPts val="0"/>
              </a:spcBef>
            </a:pPr>
            <a:r>
              <a:rPr lang="en-US" sz="2000" dirty="0"/>
              <a:t>Each message in this protocol consists of </a:t>
            </a:r>
            <a:r>
              <a:rPr lang="en-US" sz="2000" dirty="0">
                <a:solidFill>
                  <a:srgbClr val="FF0000"/>
                </a:solidFill>
              </a:rPr>
              <a:t>two bytes</a:t>
            </a:r>
            <a:r>
              <a:rPr lang="en-US" sz="2000" dirty="0"/>
              <a:t>. </a:t>
            </a:r>
          </a:p>
          <a:p>
            <a:pPr lvl="1">
              <a:spcBef>
                <a:spcPts val="0"/>
              </a:spcBef>
            </a:pPr>
            <a:r>
              <a:rPr lang="en-US" sz="1800" dirty="0"/>
              <a:t>The </a:t>
            </a:r>
            <a:r>
              <a:rPr lang="en-US" sz="1800" dirty="0">
                <a:solidFill>
                  <a:srgbClr val="FF0000"/>
                </a:solidFill>
              </a:rPr>
              <a:t>first byte </a:t>
            </a:r>
            <a:r>
              <a:rPr lang="en-US" sz="1800" dirty="0"/>
              <a:t>is either </a:t>
            </a:r>
            <a:r>
              <a:rPr lang="en-US" sz="1800" dirty="0">
                <a:solidFill>
                  <a:srgbClr val="FF0000"/>
                </a:solidFill>
              </a:rPr>
              <a:t>warning (1) or fatal (2) </a:t>
            </a:r>
            <a:r>
              <a:rPr lang="en-US" sz="1800" dirty="0"/>
              <a:t>to convey the severity of the message. </a:t>
            </a:r>
          </a:p>
          <a:p>
            <a:pPr lvl="2">
              <a:spcBef>
                <a:spcPts val="0"/>
              </a:spcBef>
            </a:pPr>
            <a:r>
              <a:rPr lang="en-US" sz="1800" dirty="0"/>
              <a:t>If the level is fatal, </a:t>
            </a:r>
            <a:r>
              <a:rPr lang="en-US" sz="1800" dirty="0">
                <a:solidFill>
                  <a:srgbClr val="FF0000"/>
                </a:solidFill>
              </a:rPr>
              <a:t>TLS immediately terminates the connection</a:t>
            </a:r>
            <a:r>
              <a:rPr lang="en-US" sz="1800" dirty="0"/>
              <a:t>. Other connections on the same session </a:t>
            </a:r>
            <a:r>
              <a:rPr lang="en-US" sz="1800" dirty="0">
                <a:solidFill>
                  <a:srgbClr val="FF0000"/>
                </a:solidFill>
              </a:rPr>
              <a:t>may continue</a:t>
            </a:r>
            <a:r>
              <a:rPr lang="en-US" sz="1800" dirty="0"/>
              <a:t>, but </a:t>
            </a:r>
            <a:r>
              <a:rPr lang="en-US" sz="1800" dirty="0">
                <a:solidFill>
                  <a:srgbClr val="FF0000"/>
                </a:solidFill>
              </a:rPr>
              <a:t>no new connections </a:t>
            </a:r>
            <a:r>
              <a:rPr lang="en-US" sz="1800" dirty="0"/>
              <a:t>on this session may be established. </a:t>
            </a:r>
          </a:p>
          <a:p>
            <a:pPr lvl="1">
              <a:spcBef>
                <a:spcPts val="0"/>
              </a:spcBef>
            </a:pPr>
            <a:r>
              <a:rPr lang="en-US" sz="1800" dirty="0"/>
              <a:t>The </a:t>
            </a:r>
            <a:r>
              <a:rPr lang="en-US" sz="1800" dirty="0">
                <a:solidFill>
                  <a:srgbClr val="FF0000"/>
                </a:solidFill>
              </a:rPr>
              <a:t>second byte </a:t>
            </a:r>
            <a:r>
              <a:rPr lang="en-US" sz="1800" dirty="0"/>
              <a:t>contains a code that indicates the specific alert.</a:t>
            </a:r>
          </a:p>
          <a:p>
            <a:pPr lvl="2">
              <a:spcBef>
                <a:spcPts val="0"/>
              </a:spcBef>
            </a:pPr>
            <a:r>
              <a:rPr lang="en-US" sz="1800" dirty="0"/>
              <a:t>Examples:</a:t>
            </a:r>
          </a:p>
          <a:p>
            <a:pPr lvl="3">
              <a:spcBef>
                <a:spcPts val="0"/>
              </a:spcBef>
            </a:pPr>
            <a:r>
              <a:rPr lang="en-US" sz="1800" dirty="0"/>
              <a:t>Fatal - </a:t>
            </a:r>
            <a:r>
              <a:rPr lang="en-US" sz="1800" b="1" dirty="0" err="1"/>
              <a:t>bad_record_mac</a:t>
            </a:r>
            <a:r>
              <a:rPr lang="en-US" sz="1800" b="1" dirty="0"/>
              <a:t> </a:t>
            </a:r>
            <a:r>
              <a:rPr lang="en-US" sz="1800" dirty="0"/>
              <a:t>(an incorrect MAC was received)	</a:t>
            </a:r>
          </a:p>
          <a:p>
            <a:pPr lvl="3">
              <a:spcBef>
                <a:spcPts val="0"/>
              </a:spcBef>
            </a:pPr>
            <a:r>
              <a:rPr lang="en-US" sz="1800" dirty="0"/>
              <a:t>Fatal - </a:t>
            </a:r>
            <a:r>
              <a:rPr lang="en-US" sz="1800" b="1" dirty="0" err="1"/>
              <a:t>handshake_failure</a:t>
            </a:r>
            <a:r>
              <a:rPr lang="en-US" sz="1800" b="1" dirty="0"/>
              <a:t> </a:t>
            </a:r>
            <a:r>
              <a:rPr lang="en-US" sz="1800" dirty="0"/>
              <a:t>(sender was unable to negotiate an acceptable set of security parameters given the options available). </a:t>
            </a:r>
          </a:p>
          <a:p>
            <a:pPr lvl="3">
              <a:spcBef>
                <a:spcPts val="0"/>
              </a:spcBef>
            </a:pPr>
            <a:r>
              <a:rPr lang="en-US" sz="1800" dirty="0"/>
              <a:t>Warning - </a:t>
            </a:r>
            <a:r>
              <a:rPr lang="en-US" sz="1800" b="1" dirty="0" err="1"/>
              <a:t>unsupported_certificate</a:t>
            </a:r>
            <a:r>
              <a:rPr lang="en-US" sz="1800" b="1" dirty="0"/>
              <a:t> </a:t>
            </a:r>
            <a:r>
              <a:rPr lang="en-US" sz="1800" dirty="0"/>
              <a:t>(the type of the received certificate is not supported).</a:t>
            </a:r>
          </a:p>
          <a:p>
            <a:r>
              <a:rPr lang="en-US" sz="2000" dirty="0"/>
              <a:t>TLS:  RFC 5246 </a:t>
            </a:r>
            <a:r>
              <a:rPr lang="en-US" sz="1800" dirty="0">
                <a:hlinkClick r:id="rId2"/>
              </a:rPr>
              <a:t>https://datatracker.ietf.org/doc/html/rfc5246</a:t>
            </a:r>
            <a:endParaRPr lang="en-US" sz="1800" dirty="0"/>
          </a:p>
          <a:p>
            <a:pPr marL="349250" lvl="1" indent="0">
              <a:spcBef>
                <a:spcPts val="0"/>
              </a:spcBef>
              <a:buNone/>
            </a:pPr>
            <a:endParaRPr lang="en-US" sz="2000" dirty="0"/>
          </a:p>
          <a:p>
            <a:pPr marL="0" indent="0">
              <a:spcBef>
                <a:spcPts val="0"/>
              </a:spcBef>
              <a:buNone/>
            </a:pPr>
            <a:endParaRPr lang="en-US" sz="2000" dirty="0"/>
          </a:p>
        </p:txBody>
      </p:sp>
      <p:pic>
        <p:nvPicPr>
          <p:cNvPr id="3" name="Picture 2" descr="A close-up of a brown rectangular object&#10;&#10;Description automatically generated">
            <a:extLst>
              <a:ext uri="{FF2B5EF4-FFF2-40B4-BE49-F238E27FC236}">
                <a16:creationId xmlns:a16="http://schemas.microsoft.com/office/drawing/2014/main" id="{4F9D4706-80DA-40DB-5E7B-25AA5617C175}"/>
              </a:ext>
            </a:extLst>
          </p:cNvPr>
          <p:cNvPicPr>
            <a:picLocks noChangeAspect="1"/>
          </p:cNvPicPr>
          <p:nvPr/>
        </p:nvPicPr>
        <p:blipFill>
          <a:blip r:embed="rId3"/>
          <a:stretch>
            <a:fillRect/>
          </a:stretch>
        </p:blipFill>
        <p:spPr>
          <a:xfrm>
            <a:off x="4467694" y="620688"/>
            <a:ext cx="1314948" cy="870459"/>
          </a:xfrm>
          <a:prstGeom prst="rect">
            <a:avLst/>
          </a:prstGeom>
        </p:spPr>
      </p:pic>
    </p:spTree>
    <p:extLst>
      <p:ext uri="{BB962C8B-B14F-4D97-AF65-F5344CB8AC3E}">
        <p14:creationId xmlns:p14="http://schemas.microsoft.com/office/powerpoint/2010/main" val="550485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2056AB1-4A2B-BE3E-ECA7-4135F6292230}"/>
              </a:ext>
            </a:extLst>
          </p:cNvPr>
          <p:cNvSpPr txBox="1">
            <a:spLocks/>
          </p:cNvSpPr>
          <p:nvPr/>
        </p:nvSpPr>
        <p:spPr>
          <a:xfrm>
            <a:off x="251520" y="836712"/>
            <a:ext cx="8640960"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endParaRPr lang="en-US" sz="1800" dirty="0"/>
          </a:p>
          <a:p>
            <a:pPr marL="0" indent="0">
              <a:spcBef>
                <a:spcPts val="0"/>
              </a:spcBef>
              <a:buNone/>
            </a:pPr>
            <a:r>
              <a:rPr lang="en-US" sz="1800" dirty="0"/>
              <a:t>In </a:t>
            </a:r>
            <a:r>
              <a:rPr lang="en-US" sz="1800" dirty="0" err="1">
                <a:solidFill>
                  <a:srgbClr val="FF0000"/>
                </a:solidFill>
              </a:rPr>
              <a:t>client_key_exchange</a:t>
            </a:r>
            <a:r>
              <a:rPr lang="en-US" sz="1800" dirty="0">
                <a:solidFill>
                  <a:srgbClr val="FF0000"/>
                </a:solidFill>
              </a:rPr>
              <a:t> </a:t>
            </a:r>
            <a:r>
              <a:rPr lang="en-US" sz="1800" dirty="0"/>
              <a:t>and </a:t>
            </a:r>
            <a:r>
              <a:rPr lang="en-US" sz="1800" dirty="0" err="1">
                <a:solidFill>
                  <a:srgbClr val="FF0000"/>
                </a:solidFill>
              </a:rPr>
              <a:t>server_key_exchange</a:t>
            </a:r>
            <a:r>
              <a:rPr lang="en-US" sz="1800" dirty="0">
                <a:solidFill>
                  <a:srgbClr val="FF0000"/>
                </a:solidFill>
              </a:rPr>
              <a:t> </a:t>
            </a:r>
            <a:r>
              <a:rPr lang="en-US" sz="1800" dirty="0"/>
              <a:t>messages parties </a:t>
            </a:r>
            <a:r>
              <a:rPr lang="en-US" sz="1800" dirty="0">
                <a:solidFill>
                  <a:srgbClr val="FF0000"/>
                </a:solidFill>
              </a:rPr>
              <a:t>agree</a:t>
            </a:r>
            <a:r>
              <a:rPr lang="en-US" sz="1800" dirty="0"/>
              <a:t> on </a:t>
            </a:r>
            <a:r>
              <a:rPr lang="en-US" sz="1800" dirty="0">
                <a:solidFill>
                  <a:srgbClr val="FF0000"/>
                </a:solidFill>
              </a:rPr>
              <a:t>parameters</a:t>
            </a:r>
            <a:r>
              <a:rPr lang="en-US" sz="1800" dirty="0"/>
              <a:t> of the </a:t>
            </a:r>
            <a:r>
              <a:rPr lang="en-US" sz="1800" dirty="0">
                <a:solidFill>
                  <a:srgbClr val="FF0000"/>
                </a:solidFill>
              </a:rPr>
              <a:t>key exchange algorithm</a:t>
            </a:r>
            <a:r>
              <a:rPr lang="en-US" sz="1800" dirty="0"/>
              <a:t>. Using those parameters both client and server independently generate </a:t>
            </a:r>
            <a:r>
              <a:rPr lang="en-US" sz="1800" dirty="0">
                <a:solidFill>
                  <a:srgbClr val="FF0000"/>
                </a:solidFill>
              </a:rPr>
              <a:t>Master Key, </a:t>
            </a:r>
            <a:r>
              <a:rPr lang="en-US" sz="1800" b="1" dirty="0">
                <a:solidFill>
                  <a:schemeClr val="tx1"/>
                </a:solidFill>
              </a:rPr>
              <a:t>using Pseudo Random Function</a:t>
            </a:r>
            <a:r>
              <a:rPr lang="en-US" sz="1800" dirty="0">
                <a:solidFill>
                  <a:schemeClr val="tx1"/>
                </a:solidFill>
              </a:rPr>
              <a:t>.</a:t>
            </a:r>
          </a:p>
          <a:p>
            <a:pPr marL="0" indent="0">
              <a:spcBef>
                <a:spcPts val="0"/>
              </a:spcBef>
              <a:buNone/>
            </a:pPr>
            <a:endParaRPr lang="en-US" sz="1800" dirty="0"/>
          </a:p>
          <a:p>
            <a:pPr marL="0" indent="0">
              <a:spcBef>
                <a:spcPts val="0"/>
              </a:spcBef>
              <a:buNone/>
            </a:pPr>
            <a:r>
              <a:rPr lang="en-US" sz="1800" dirty="0"/>
              <a:t>Then using the Master Key both client and server generate following keys, again using the </a:t>
            </a:r>
            <a:r>
              <a:rPr lang="en-US" sz="1800" b="1" dirty="0">
                <a:solidFill>
                  <a:schemeClr val="tx1"/>
                </a:solidFill>
              </a:rPr>
              <a:t>Pseudo Random Function</a:t>
            </a:r>
            <a:r>
              <a:rPr lang="en-US" sz="1800" dirty="0">
                <a:solidFill>
                  <a:schemeClr val="tx1"/>
                </a:solidFill>
              </a:rPr>
              <a:t>.</a:t>
            </a:r>
          </a:p>
          <a:p>
            <a:pPr marL="0" indent="0">
              <a:spcBef>
                <a:spcPts val="0"/>
              </a:spcBef>
              <a:buNone/>
            </a:pPr>
            <a:endParaRPr lang="en-US" sz="1800" dirty="0"/>
          </a:p>
          <a:p>
            <a:pPr marL="981075" lvl="1" indent="0">
              <a:buNone/>
            </a:pPr>
            <a:r>
              <a:rPr lang="en-US" sz="1800" dirty="0"/>
              <a:t>K</a:t>
            </a:r>
            <a:r>
              <a:rPr lang="en-US" sz="1800" baseline="-25000" dirty="0"/>
              <a:t>c</a:t>
            </a:r>
            <a:r>
              <a:rPr lang="en-US" sz="1800" dirty="0"/>
              <a:t> : encryption key for data sent from client to server</a:t>
            </a:r>
          </a:p>
          <a:p>
            <a:pPr marL="981075" lvl="1" indent="0">
              <a:buNone/>
            </a:pPr>
            <a:r>
              <a:rPr lang="en-US" sz="1800" dirty="0"/>
              <a:t>M</a:t>
            </a:r>
            <a:r>
              <a:rPr lang="en-US" sz="1800" baseline="-25000" dirty="0"/>
              <a:t>c</a:t>
            </a:r>
            <a:r>
              <a:rPr lang="en-US" sz="1800" dirty="0"/>
              <a:t> : MAC key for data sent from client to server</a:t>
            </a:r>
          </a:p>
          <a:p>
            <a:pPr marL="981075" lvl="1" indent="0">
              <a:buNone/>
            </a:pPr>
            <a:r>
              <a:rPr lang="en-US" sz="1800" dirty="0"/>
              <a:t>K</a:t>
            </a:r>
            <a:r>
              <a:rPr lang="en-US" sz="1800" baseline="-25000" dirty="0"/>
              <a:t>s</a:t>
            </a:r>
            <a:r>
              <a:rPr lang="en-US" sz="1800" dirty="0"/>
              <a:t> : encryption key for data sent from server to client</a:t>
            </a:r>
          </a:p>
          <a:p>
            <a:pPr marL="981075" lvl="1" indent="0">
              <a:buNone/>
            </a:pPr>
            <a:r>
              <a:rPr lang="en-US" sz="1800" dirty="0" err="1"/>
              <a:t>M</a:t>
            </a:r>
            <a:r>
              <a:rPr lang="en-US" sz="1800" baseline="-25000" dirty="0" err="1"/>
              <a:t>s</a:t>
            </a:r>
            <a:r>
              <a:rPr lang="en-US" sz="1800" dirty="0"/>
              <a:t> : MAC key for data sent from server to client</a:t>
            </a:r>
          </a:p>
          <a:p>
            <a:pPr marL="0" indent="0">
              <a:spcBef>
                <a:spcPts val="0"/>
              </a:spcBef>
              <a:buNone/>
            </a:pPr>
            <a:endParaRPr lang="en-US" sz="1800" dirty="0"/>
          </a:p>
          <a:p>
            <a:pPr marL="0" indent="0">
              <a:spcBef>
                <a:spcPts val="0"/>
              </a:spcBef>
              <a:buNone/>
            </a:pPr>
            <a:endParaRPr lang="en-US" sz="1800" dirty="0"/>
          </a:p>
          <a:p>
            <a:pPr marL="0" indent="0">
              <a:spcBef>
                <a:spcPts val="0"/>
              </a:spcBef>
              <a:buNone/>
            </a:pPr>
            <a:r>
              <a:rPr lang="en-US" sz="1800" dirty="0"/>
              <a:t>The </a:t>
            </a:r>
            <a:r>
              <a:rPr lang="en-US" sz="1800" dirty="0">
                <a:solidFill>
                  <a:srgbClr val="FF0000"/>
                </a:solidFill>
              </a:rPr>
              <a:t>two encryption keys </a:t>
            </a:r>
            <a:r>
              <a:rPr lang="en-US" sz="1800" dirty="0"/>
              <a:t>will be used to </a:t>
            </a:r>
            <a:r>
              <a:rPr lang="en-US" sz="1800" dirty="0">
                <a:solidFill>
                  <a:srgbClr val="FF0000"/>
                </a:solidFill>
              </a:rPr>
              <a:t>encrypt data</a:t>
            </a:r>
            <a:r>
              <a:rPr lang="en-US" sz="1800" dirty="0"/>
              <a:t>; the </a:t>
            </a:r>
            <a:r>
              <a:rPr lang="en-US" sz="1800" dirty="0">
                <a:solidFill>
                  <a:srgbClr val="FF0000"/>
                </a:solidFill>
              </a:rPr>
              <a:t>two MAC keys </a:t>
            </a:r>
            <a:r>
              <a:rPr lang="en-US" sz="1800" dirty="0"/>
              <a:t>will be used to </a:t>
            </a:r>
            <a:r>
              <a:rPr lang="en-US" sz="1800" dirty="0">
                <a:solidFill>
                  <a:srgbClr val="FF0000"/>
                </a:solidFill>
              </a:rPr>
              <a:t>verify the integrity</a:t>
            </a:r>
            <a:r>
              <a:rPr lang="en-US" sz="1800" dirty="0"/>
              <a:t> of the data.</a:t>
            </a:r>
          </a:p>
          <a:p>
            <a:pPr marL="0" indent="0">
              <a:spcBef>
                <a:spcPts val="0"/>
              </a:spcBef>
              <a:buNone/>
            </a:pPr>
            <a:endParaRPr lang="en-US" sz="1800" dirty="0"/>
          </a:p>
        </p:txBody>
      </p:sp>
    </p:spTree>
    <p:extLst>
      <p:ext uri="{BB962C8B-B14F-4D97-AF65-F5344CB8AC3E}">
        <p14:creationId xmlns:p14="http://schemas.microsoft.com/office/powerpoint/2010/main" val="2578635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8672E-E2FE-C071-D1C7-E95771396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25092-22FE-7CAE-7A6B-5C0DF8C6F331}"/>
              </a:ext>
            </a:extLst>
          </p:cNvPr>
          <p:cNvSpPr>
            <a:spLocks noGrp="1"/>
          </p:cNvSpPr>
          <p:nvPr>
            <p:ph type="title"/>
          </p:nvPr>
        </p:nvSpPr>
        <p:spPr>
          <a:xfrm>
            <a:off x="786606" y="30608"/>
            <a:ext cx="7570787" cy="1412875"/>
          </a:xfrm>
        </p:spPr>
        <p:txBody>
          <a:bodyPr/>
          <a:lstStyle/>
          <a:p>
            <a:r>
              <a:rPr lang="en-US" dirty="0"/>
              <a:t>TLS Handshake Protocol - Recap</a:t>
            </a:r>
          </a:p>
        </p:txBody>
      </p:sp>
      <p:sp>
        <p:nvSpPr>
          <p:cNvPr id="4" name="Footer Placeholder 3">
            <a:extLst>
              <a:ext uri="{FF2B5EF4-FFF2-40B4-BE49-F238E27FC236}">
                <a16:creationId xmlns:a16="http://schemas.microsoft.com/office/drawing/2014/main" id="{9412B825-0122-5065-0EBF-888F9272E140}"/>
              </a:ext>
            </a:extLst>
          </p:cNvPr>
          <p:cNvSpPr>
            <a:spLocks noGrp="1"/>
          </p:cNvSpPr>
          <p:nvPr>
            <p:ph type="ftr" sz="quarter" idx="11"/>
          </p:nvPr>
        </p:nvSpPr>
        <p:spPr/>
        <p:txBody>
          <a:bodyPr/>
          <a:lstStyle/>
          <a:p>
            <a:pPr>
              <a:defRPr/>
            </a:pPr>
            <a:r>
              <a:rPr lang="en-US" dirty="0"/>
              <a:t>https://</a:t>
            </a:r>
            <a:r>
              <a:rPr lang="en-US" dirty="0" err="1"/>
              <a:t>www.youtube.com</a:t>
            </a:r>
            <a:r>
              <a:rPr lang="en-US" dirty="0"/>
              <a:t>/</a:t>
            </a:r>
            <a:r>
              <a:rPr lang="en-US" dirty="0" err="1"/>
              <a:t>watch?v</a:t>
            </a:r>
            <a:r>
              <a:rPr lang="en-US" dirty="0"/>
              <a:t>=j9QmMEWmcfo&amp;t=230s</a:t>
            </a:r>
          </a:p>
        </p:txBody>
      </p:sp>
      <p:pic>
        <p:nvPicPr>
          <p:cNvPr id="7" name="Content Placeholder 6">
            <a:extLst>
              <a:ext uri="{FF2B5EF4-FFF2-40B4-BE49-F238E27FC236}">
                <a16:creationId xmlns:a16="http://schemas.microsoft.com/office/drawing/2014/main" id="{BBA8ADE6-F257-766B-A230-F41734883D91}"/>
              </a:ext>
            </a:extLst>
          </p:cNvPr>
          <p:cNvPicPr>
            <a:picLocks noGrp="1" noChangeAspect="1"/>
          </p:cNvPicPr>
          <p:nvPr>
            <p:ph idx="1"/>
          </p:nvPr>
        </p:nvPicPr>
        <p:blipFill>
          <a:blip r:embed="rId2"/>
          <a:stretch>
            <a:fillRect/>
          </a:stretch>
        </p:blipFill>
        <p:spPr>
          <a:xfrm>
            <a:off x="1074213" y="1762125"/>
            <a:ext cx="7006686" cy="4289425"/>
          </a:xfrm>
          <a:prstGeom prst="rect">
            <a:avLst/>
          </a:prstGeom>
        </p:spPr>
      </p:pic>
    </p:spTree>
    <p:extLst>
      <p:ext uri="{BB962C8B-B14F-4D97-AF65-F5344CB8AC3E}">
        <p14:creationId xmlns:p14="http://schemas.microsoft.com/office/powerpoint/2010/main" val="921250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74BF26-6517-9B86-379B-F134AC707DDF}"/>
              </a:ext>
            </a:extLst>
          </p:cNvPr>
          <p:cNvSpPr txBox="1">
            <a:spLocks/>
          </p:cNvSpPr>
          <p:nvPr/>
        </p:nvSpPr>
        <p:spPr>
          <a:xfrm>
            <a:off x="5428" y="116632"/>
            <a:ext cx="8640960"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solidFill>
                  <a:schemeClr val="tx1"/>
                </a:solidFill>
              </a:rPr>
              <a:t>Pseudo Random Function</a:t>
            </a:r>
            <a:r>
              <a:rPr lang="en-US" sz="1800" dirty="0">
                <a:solidFill>
                  <a:schemeClr val="tx1"/>
                </a:solidFill>
              </a:rPr>
              <a:t>.</a:t>
            </a:r>
          </a:p>
          <a:p>
            <a:pPr marL="0" indent="0">
              <a:spcBef>
                <a:spcPts val="0"/>
              </a:spcBef>
              <a:buNone/>
            </a:pPr>
            <a:endParaRPr lang="en-US" sz="1800" dirty="0"/>
          </a:p>
          <a:p>
            <a:pPr marL="0" indent="0">
              <a:spcBef>
                <a:spcPts val="0"/>
              </a:spcBef>
              <a:buNone/>
            </a:pPr>
            <a:endParaRPr lang="en-US" sz="1800" dirty="0"/>
          </a:p>
          <a:p>
            <a:pPr marL="0" indent="0">
              <a:spcBef>
                <a:spcPts val="0"/>
              </a:spcBef>
              <a:buNone/>
            </a:pPr>
            <a:endParaRPr lang="en-US" sz="1800" dirty="0"/>
          </a:p>
        </p:txBody>
      </p:sp>
      <p:pic>
        <p:nvPicPr>
          <p:cNvPr id="5" name="Picture 4" descr="A diagram of a secret code&#10;&#10;Description automatically generated">
            <a:extLst>
              <a:ext uri="{FF2B5EF4-FFF2-40B4-BE49-F238E27FC236}">
                <a16:creationId xmlns:a16="http://schemas.microsoft.com/office/drawing/2014/main" id="{0D5AC2DC-5816-C671-2D0E-22FAC0FCD3C4}"/>
              </a:ext>
            </a:extLst>
          </p:cNvPr>
          <p:cNvPicPr>
            <a:picLocks noChangeAspect="1"/>
          </p:cNvPicPr>
          <p:nvPr/>
        </p:nvPicPr>
        <p:blipFill>
          <a:blip r:embed="rId2"/>
          <a:stretch>
            <a:fillRect/>
          </a:stretch>
        </p:blipFill>
        <p:spPr>
          <a:xfrm>
            <a:off x="4173773" y="1196752"/>
            <a:ext cx="4942847" cy="4896544"/>
          </a:xfrm>
          <a:prstGeom prst="rect">
            <a:avLst/>
          </a:prstGeom>
        </p:spPr>
      </p:pic>
      <p:sp>
        <p:nvSpPr>
          <p:cNvPr id="6" name="TextBox 5">
            <a:extLst>
              <a:ext uri="{FF2B5EF4-FFF2-40B4-BE49-F238E27FC236}">
                <a16:creationId xmlns:a16="http://schemas.microsoft.com/office/drawing/2014/main" id="{3981ED5B-29B4-C85A-60D8-5E33AA838015}"/>
              </a:ext>
            </a:extLst>
          </p:cNvPr>
          <p:cNvSpPr txBox="1"/>
          <p:nvPr/>
        </p:nvSpPr>
        <p:spPr>
          <a:xfrm>
            <a:off x="0" y="620688"/>
            <a:ext cx="9270936" cy="630942"/>
          </a:xfrm>
          <a:prstGeom prst="rect">
            <a:avLst/>
          </a:prstGeom>
          <a:noFill/>
        </p:spPr>
        <p:txBody>
          <a:bodyPr wrap="none" rtlCol="0">
            <a:spAutoFit/>
          </a:bodyPr>
          <a:lstStyle/>
          <a:p>
            <a:r>
              <a:rPr lang="en-US" sz="1700" dirty="0" err="1">
                <a:effectLst/>
                <a:latin typeface="Calibri" panose="020F0502020204030204" pitchFamily="34" charset="0"/>
                <a:cs typeface="Calibri" panose="020F0502020204030204" pitchFamily="34" charset="0"/>
              </a:rPr>
              <a:t>master_secret</a:t>
            </a:r>
            <a:r>
              <a:rPr lang="en-US" sz="1700" dirty="0">
                <a:effectLst/>
                <a:latin typeface="Calibri" panose="020F0502020204030204" pitchFamily="34" charset="0"/>
                <a:cs typeface="Calibri" panose="020F0502020204030204" pitchFamily="34" charset="0"/>
              </a:rPr>
              <a:t> = PRF(</a:t>
            </a:r>
            <a:r>
              <a:rPr lang="en-US" sz="1700" dirty="0" err="1">
                <a:effectLst/>
                <a:latin typeface="Calibri" panose="020F0502020204030204" pitchFamily="34" charset="0"/>
                <a:cs typeface="Calibri" panose="020F0502020204030204" pitchFamily="34" charset="0"/>
              </a:rPr>
              <a:t>pre_master_secret</a:t>
            </a:r>
            <a:r>
              <a:rPr lang="en-US" sz="1700" dirty="0">
                <a:effectLst/>
                <a:latin typeface="Calibri" panose="020F0502020204030204" pitchFamily="34" charset="0"/>
                <a:cs typeface="Calibri" panose="020F0502020204030204" pitchFamily="34" charset="0"/>
              </a:rPr>
              <a:t>, “master secret”, </a:t>
            </a:r>
            <a:r>
              <a:rPr lang="en-US" sz="1700" dirty="0" err="1">
                <a:effectLst/>
                <a:latin typeface="Calibri" panose="020F0502020204030204" pitchFamily="34" charset="0"/>
                <a:cs typeface="Calibri" panose="020F0502020204030204" pitchFamily="34" charset="0"/>
              </a:rPr>
              <a:t>ClientHello.random</a:t>
            </a:r>
            <a:r>
              <a:rPr lang="en-US" sz="1700" dirty="0">
                <a:effectLst/>
                <a:latin typeface="Calibri" panose="020F0502020204030204" pitchFamily="34" charset="0"/>
                <a:cs typeface="Calibri" panose="020F0502020204030204" pitchFamily="34" charset="0"/>
              </a:rPr>
              <a:t> || </a:t>
            </a:r>
            <a:r>
              <a:rPr lang="en-US" sz="1700" dirty="0" err="1">
                <a:effectLst/>
                <a:latin typeface="Calibri" panose="020F0502020204030204" pitchFamily="34" charset="0"/>
                <a:cs typeface="Calibri" panose="020F0502020204030204" pitchFamily="34" charset="0"/>
              </a:rPr>
              <a:t>ServerHello</a:t>
            </a:r>
            <a:r>
              <a:rPr lang="en-US" sz="1700" dirty="0">
                <a:effectLst/>
                <a:latin typeface="Calibri" panose="020F0502020204030204" pitchFamily="34" charset="0"/>
                <a:cs typeface="Calibri" panose="020F0502020204030204" pitchFamily="34" charset="0"/>
              </a:rPr>
              <a:t> .random) </a:t>
            </a:r>
          </a:p>
          <a:p>
            <a:endParaRPr lang="en-US" dirty="0"/>
          </a:p>
        </p:txBody>
      </p:sp>
      <p:sp>
        <p:nvSpPr>
          <p:cNvPr id="7" name="TextBox 6">
            <a:extLst>
              <a:ext uri="{FF2B5EF4-FFF2-40B4-BE49-F238E27FC236}">
                <a16:creationId xmlns:a16="http://schemas.microsoft.com/office/drawing/2014/main" id="{0B7C7796-F1EA-8283-AD76-58C53548EF50}"/>
              </a:ext>
            </a:extLst>
          </p:cNvPr>
          <p:cNvSpPr txBox="1"/>
          <p:nvPr/>
        </p:nvSpPr>
        <p:spPr>
          <a:xfrm>
            <a:off x="27380" y="1124744"/>
            <a:ext cx="4256588" cy="6909584"/>
          </a:xfrm>
          <a:prstGeom prst="rect">
            <a:avLst/>
          </a:prstGeom>
          <a:noFill/>
        </p:spPr>
        <p:txBody>
          <a:bodyPr wrap="square" rtlCol="0">
            <a:spAutoFit/>
          </a:bodyPr>
          <a:lstStyle/>
          <a:p>
            <a:r>
              <a:rPr lang="en-US" sz="1700" b="1" dirty="0" err="1">
                <a:latin typeface="Calibri" panose="020F0502020204030204" pitchFamily="34" charset="0"/>
                <a:cs typeface="Calibri" panose="020F0502020204030204" pitchFamily="34" charset="0"/>
              </a:rPr>
              <a:t>p</a:t>
            </a:r>
            <a:r>
              <a:rPr lang="en-US" sz="1700" b="1" dirty="0" err="1">
                <a:effectLst/>
                <a:latin typeface="Calibri" panose="020F0502020204030204" pitchFamily="34" charset="0"/>
                <a:cs typeface="Calibri" panose="020F0502020204030204" pitchFamily="34" charset="0"/>
              </a:rPr>
              <a:t>re_master_secret</a:t>
            </a:r>
            <a:r>
              <a:rPr lang="en-US" sz="1700" b="1" dirty="0">
                <a:effectLst/>
                <a:latin typeface="Calibri" panose="020F0502020204030204" pitchFamily="34" charset="0"/>
                <a:cs typeface="Calibri" panose="020F0502020204030204" pitchFamily="34" charset="0"/>
              </a:rPr>
              <a:t>:</a:t>
            </a:r>
            <a:r>
              <a:rPr lang="en-US" sz="1700" dirty="0">
                <a:effectLst/>
                <a:latin typeface="Calibri" panose="020F0502020204030204" pitchFamily="34" charset="0"/>
                <a:cs typeface="Calibri" panose="020F0502020204030204" pitchFamily="34" charset="0"/>
              </a:rPr>
              <a:t> exchanged as part of </a:t>
            </a:r>
            <a:r>
              <a:rPr lang="en-US" sz="1700" dirty="0" err="1">
                <a:effectLst/>
                <a:latin typeface="Calibri" panose="020F0502020204030204" pitchFamily="34" charset="0"/>
                <a:cs typeface="Calibri" panose="020F0502020204030204" pitchFamily="34" charset="0"/>
              </a:rPr>
              <a:t>client_key_exchange</a:t>
            </a:r>
            <a:r>
              <a:rPr lang="en-US" sz="1700" dirty="0">
                <a:effectLst/>
                <a:latin typeface="Calibri" panose="020F0502020204030204" pitchFamily="34" charset="0"/>
                <a:cs typeface="Calibri" panose="020F0502020204030204" pitchFamily="34" charset="0"/>
              </a:rPr>
              <a:t> and </a:t>
            </a:r>
            <a:r>
              <a:rPr lang="en-US" sz="1700" dirty="0" err="1">
                <a:effectLst/>
                <a:latin typeface="Calibri" panose="020F0502020204030204" pitchFamily="34" charset="0"/>
                <a:cs typeface="Calibri" panose="020F0502020204030204" pitchFamily="34" charset="0"/>
              </a:rPr>
              <a:t>server_key_exchande</a:t>
            </a:r>
            <a:r>
              <a:rPr lang="en-US" sz="1700" dirty="0">
                <a:effectLst/>
                <a:latin typeface="Calibri" panose="020F0502020204030204" pitchFamily="34" charset="0"/>
                <a:cs typeface="Calibri" panose="020F0502020204030204" pitchFamily="34" charset="0"/>
              </a:rPr>
              <a:t>. </a:t>
            </a:r>
            <a:r>
              <a:rPr lang="en-US" sz="1700" dirty="0">
                <a:latin typeface="Calibri" panose="020F0502020204030204" pitchFamily="34" charset="0"/>
                <a:cs typeface="Calibri" panose="020F0502020204030204" pitchFamily="34" charset="0"/>
              </a:rPr>
              <a:t>If key exchange algorithm is RSA it is value of 48 byte.</a:t>
            </a:r>
          </a:p>
          <a:p>
            <a:endParaRPr lang="en-US" sz="1700" dirty="0">
              <a:effectLst/>
              <a:latin typeface="Calibri" panose="020F0502020204030204" pitchFamily="34" charset="0"/>
              <a:cs typeface="Calibri" panose="020F0502020204030204" pitchFamily="34" charset="0"/>
            </a:endParaRPr>
          </a:p>
          <a:p>
            <a:r>
              <a:rPr lang="en-US" sz="1700" b="1" dirty="0" err="1">
                <a:effectLst/>
                <a:latin typeface="Calibri" panose="020F0502020204030204" pitchFamily="34" charset="0"/>
                <a:cs typeface="Calibri" panose="020F0502020204030204" pitchFamily="34" charset="0"/>
              </a:rPr>
              <a:t>ClientHello.random</a:t>
            </a:r>
            <a:r>
              <a:rPr lang="en-US" sz="1700" b="1" dirty="0">
                <a:latin typeface="Calibri" panose="020F0502020204030204" pitchFamily="34" charset="0"/>
                <a:cs typeface="Calibri" panose="020F0502020204030204" pitchFamily="34" charset="0"/>
              </a:rPr>
              <a:t> and </a:t>
            </a:r>
            <a:r>
              <a:rPr lang="en-US" sz="1700" b="1" dirty="0" err="1">
                <a:effectLst/>
                <a:latin typeface="Calibri" panose="020F0502020204030204" pitchFamily="34" charset="0"/>
                <a:cs typeface="Calibri" panose="020F0502020204030204" pitchFamily="34" charset="0"/>
              </a:rPr>
              <a:t>ServerHello</a:t>
            </a:r>
            <a:r>
              <a:rPr lang="en-US" sz="1700" b="1" dirty="0">
                <a:effectLst/>
                <a:latin typeface="Calibri" panose="020F0502020204030204" pitchFamily="34" charset="0"/>
                <a:cs typeface="Calibri" panose="020F0502020204030204" pitchFamily="34" charset="0"/>
              </a:rPr>
              <a:t> .random: </a:t>
            </a:r>
            <a:r>
              <a:rPr lang="en-US" sz="1700" dirty="0">
                <a:effectLst/>
                <a:latin typeface="Calibri" panose="020F0502020204030204" pitchFamily="34" charset="0"/>
                <a:cs typeface="Calibri" panose="020F0502020204030204" pitchFamily="34" charset="0"/>
              </a:rPr>
              <a:t>are random values exchanged in </a:t>
            </a:r>
            <a:r>
              <a:rPr lang="en-US" sz="1700" dirty="0" err="1">
                <a:effectLst/>
                <a:latin typeface="Calibri" panose="020F0502020204030204" pitchFamily="34" charset="0"/>
                <a:cs typeface="Calibri" panose="020F0502020204030204" pitchFamily="34" charset="0"/>
              </a:rPr>
              <a:t>client_hello</a:t>
            </a:r>
            <a:r>
              <a:rPr lang="en-US" sz="1700" dirty="0">
                <a:effectLst/>
                <a:latin typeface="Calibri" panose="020F0502020204030204" pitchFamily="34" charset="0"/>
                <a:cs typeface="Calibri" panose="020F0502020204030204" pitchFamily="34" charset="0"/>
              </a:rPr>
              <a:t> and </a:t>
            </a:r>
            <a:r>
              <a:rPr lang="en-US" sz="1700" dirty="0" err="1">
                <a:effectLst/>
                <a:latin typeface="Calibri" panose="020F0502020204030204" pitchFamily="34" charset="0"/>
                <a:cs typeface="Calibri" panose="020F0502020204030204" pitchFamily="34" charset="0"/>
              </a:rPr>
              <a:t>server_hello</a:t>
            </a:r>
            <a:r>
              <a:rPr lang="en-US" sz="1700" dirty="0">
                <a:effectLst/>
                <a:latin typeface="Calibri" panose="020F0502020204030204" pitchFamily="34" charset="0"/>
                <a:cs typeface="Calibri" panose="020F0502020204030204" pitchFamily="34" charset="0"/>
              </a:rPr>
              <a:t>.</a:t>
            </a:r>
          </a:p>
          <a:p>
            <a:r>
              <a:rPr lang="en-US" sz="1700" dirty="0">
                <a:latin typeface="Calibri" panose="020F0502020204030204" pitchFamily="34" charset="0"/>
                <a:cs typeface="Calibri" panose="020F0502020204030204" pitchFamily="34" charset="0"/>
              </a:rPr>
              <a:t>|| means we combine them.</a:t>
            </a:r>
          </a:p>
          <a:p>
            <a:endParaRPr lang="en-US" sz="1700" dirty="0">
              <a:effectLst/>
              <a:latin typeface="Calibri" panose="020F0502020204030204" pitchFamily="34" charset="0"/>
              <a:cs typeface="Calibri" panose="020F0502020204030204" pitchFamily="34" charset="0"/>
            </a:endParaRPr>
          </a:p>
          <a:p>
            <a:r>
              <a:rPr lang="en-US" sz="1700" dirty="0">
                <a:effectLst/>
                <a:latin typeface="Calibri" panose="020F0502020204030204" pitchFamily="34" charset="0"/>
                <a:cs typeface="Calibri" panose="020F0502020204030204" pitchFamily="34" charset="0"/>
              </a:rPr>
              <a:t>”master secret” is a just a label. </a:t>
            </a:r>
          </a:p>
          <a:p>
            <a:endParaRPr lang="en-US" sz="1700" dirty="0">
              <a:latin typeface="Calibri" panose="020F0502020204030204" pitchFamily="34" charset="0"/>
              <a:cs typeface="Calibri" panose="020F0502020204030204" pitchFamily="34" charset="0"/>
            </a:endParaRPr>
          </a:p>
          <a:p>
            <a:r>
              <a:rPr lang="en-US" sz="1700" b="1" dirty="0">
                <a:effectLst/>
                <a:latin typeface="Calibri" panose="020F0502020204030204" pitchFamily="34" charset="0"/>
                <a:cs typeface="Calibri" panose="020F0502020204030204" pitchFamily="34" charset="0"/>
              </a:rPr>
              <a:t>Seed</a:t>
            </a:r>
            <a:r>
              <a:rPr lang="en-US" sz="1700" dirty="0">
                <a:effectLst/>
                <a:latin typeface="Calibri" panose="020F0502020204030204" pitchFamily="34" charset="0"/>
                <a:cs typeface="Calibri" panose="020F0502020204030204" pitchFamily="34" charset="0"/>
              </a:rPr>
              <a:t> is </a:t>
            </a:r>
            <a:r>
              <a:rPr lang="en-US" sz="1700" dirty="0">
                <a:latin typeface="Calibri" panose="020F0502020204030204" pitchFamily="34" charset="0"/>
                <a:cs typeface="Calibri" panose="020F0502020204030204" pitchFamily="34" charset="0"/>
              </a:rPr>
              <a:t>combination of </a:t>
            </a:r>
            <a:r>
              <a:rPr lang="en-US" sz="1700" dirty="0">
                <a:effectLst/>
                <a:latin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US" sz="1700" dirty="0" err="1">
                <a:effectLst/>
                <a:latin typeface="Calibri" panose="020F0502020204030204" pitchFamily="34" charset="0"/>
                <a:cs typeface="Calibri" panose="020F0502020204030204" pitchFamily="34" charset="0"/>
              </a:rPr>
              <a:t>ClientHello.random</a:t>
            </a:r>
            <a:endParaRPr lang="en-US" sz="1700" dirty="0">
              <a:effectLst/>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700" dirty="0" err="1">
                <a:effectLst/>
                <a:latin typeface="Calibri" panose="020F0502020204030204" pitchFamily="34" charset="0"/>
                <a:cs typeface="Calibri" panose="020F0502020204030204" pitchFamily="34" charset="0"/>
              </a:rPr>
              <a:t>ServerHello</a:t>
            </a:r>
            <a:r>
              <a:rPr lang="en-US" sz="1700" dirty="0">
                <a:effectLst/>
                <a:latin typeface="Calibri" panose="020F0502020204030204" pitchFamily="34" charset="0"/>
                <a:cs typeface="Calibri" panose="020F0502020204030204" pitchFamily="34" charset="0"/>
              </a:rPr>
              <a:t> .random</a:t>
            </a:r>
            <a:endParaRPr lang="en-US" sz="17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700" dirty="0">
                <a:latin typeface="Calibri" panose="020F0502020204030204" pitchFamily="34" charset="0"/>
                <a:cs typeface="Calibri" panose="020F0502020204030204" pitchFamily="34" charset="0"/>
              </a:rPr>
              <a:t>Label</a:t>
            </a:r>
          </a:p>
          <a:p>
            <a:pPr marL="285750" indent="-285750">
              <a:buFont typeface="Arial" panose="020B0604020202020204" pitchFamily="34" charset="0"/>
              <a:buChar char="•"/>
            </a:pPr>
            <a:endParaRPr lang="en-US" sz="1700" dirty="0">
              <a:latin typeface="Calibri" panose="020F0502020204030204" pitchFamily="34" charset="0"/>
              <a:cs typeface="Calibri" panose="020F0502020204030204" pitchFamily="34" charset="0"/>
            </a:endParaRPr>
          </a:p>
          <a:p>
            <a:pPr>
              <a:spcBef>
                <a:spcPts val="0"/>
              </a:spcBef>
            </a:pPr>
            <a:r>
              <a:rPr lang="en-US" sz="1700" dirty="0">
                <a:latin typeface="Calibri" panose="020F0502020204030204" pitchFamily="34" charset="0"/>
                <a:cs typeface="Calibri" panose="020F0502020204030204" pitchFamily="34" charset="0"/>
              </a:rPr>
              <a:t>HMAC=agreed MAC algorithm (</a:t>
            </a:r>
            <a:r>
              <a:rPr lang="en-US" sz="1700" dirty="0" err="1">
                <a:latin typeface="Calibri" panose="020F0502020204030204" pitchFamily="34" charset="0"/>
                <a:cs typeface="Calibri" panose="020F0502020204030204" pitchFamily="34" charset="0"/>
              </a:rPr>
              <a:t>pre_master_secret</a:t>
            </a:r>
            <a:r>
              <a:rPr lang="en-US" sz="1700" dirty="0">
                <a:latin typeface="Calibri" panose="020F0502020204030204" pitchFamily="34" charset="0"/>
                <a:cs typeface="Calibri" panose="020F0502020204030204" pitchFamily="34" charset="0"/>
              </a:rPr>
              <a:t>, Seed)</a:t>
            </a:r>
          </a:p>
          <a:p>
            <a:pPr>
              <a:spcBef>
                <a:spcPts val="0"/>
              </a:spcBef>
            </a:pPr>
            <a:endParaRPr lang="en-US" sz="1700" dirty="0">
              <a:latin typeface="Calibri" panose="020F0502020204030204" pitchFamily="34" charset="0"/>
              <a:cs typeface="Calibri" panose="020F0502020204030204" pitchFamily="34" charset="0"/>
            </a:endParaRPr>
          </a:p>
          <a:p>
            <a:endParaRPr lang="en-US" sz="1700" dirty="0">
              <a:latin typeface="Calibri" panose="020F0502020204030204" pitchFamily="34" charset="0"/>
              <a:cs typeface="Calibri" panose="020F0502020204030204" pitchFamily="34" charset="0"/>
            </a:endParaRPr>
          </a:p>
          <a:p>
            <a:endParaRPr lang="en-US" sz="1700" dirty="0">
              <a:latin typeface="Calibri" panose="020F0502020204030204" pitchFamily="34" charset="0"/>
              <a:cs typeface="Calibri" panose="020F0502020204030204" pitchFamily="34" charset="0"/>
            </a:endParaRPr>
          </a:p>
          <a:p>
            <a:endParaRPr lang="en-US" sz="1700" dirty="0">
              <a:effectLst/>
              <a:latin typeface="Calibri" panose="020F0502020204030204" pitchFamily="34" charset="0"/>
              <a:cs typeface="Calibri" panose="020F0502020204030204" pitchFamily="34" charset="0"/>
            </a:endParaRPr>
          </a:p>
          <a:p>
            <a:endParaRPr lang="en-US" sz="1700" dirty="0">
              <a:effectLst/>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992035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74BF26-6517-9B86-379B-F134AC707DDF}"/>
              </a:ext>
            </a:extLst>
          </p:cNvPr>
          <p:cNvSpPr txBox="1">
            <a:spLocks/>
          </p:cNvSpPr>
          <p:nvPr/>
        </p:nvSpPr>
        <p:spPr>
          <a:xfrm>
            <a:off x="5428" y="116632"/>
            <a:ext cx="8640960"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800" b="1" dirty="0">
                <a:solidFill>
                  <a:schemeClr val="tx1"/>
                </a:solidFill>
              </a:rPr>
              <a:t>Pseudo Random Function</a:t>
            </a:r>
            <a:r>
              <a:rPr lang="en-US" sz="1800" dirty="0">
                <a:solidFill>
                  <a:schemeClr val="tx1"/>
                </a:solidFill>
              </a:rPr>
              <a:t>.</a:t>
            </a:r>
          </a:p>
          <a:p>
            <a:pPr marL="0" indent="0">
              <a:spcBef>
                <a:spcPts val="0"/>
              </a:spcBef>
              <a:buNone/>
            </a:pPr>
            <a:endParaRPr lang="en-US" sz="1800" dirty="0"/>
          </a:p>
          <a:p>
            <a:pPr marL="0" indent="0">
              <a:spcBef>
                <a:spcPts val="0"/>
              </a:spcBef>
              <a:buNone/>
            </a:pPr>
            <a:endParaRPr lang="en-US" sz="1800" dirty="0"/>
          </a:p>
          <a:p>
            <a:pPr marL="0" indent="0">
              <a:spcBef>
                <a:spcPts val="0"/>
              </a:spcBef>
              <a:buNone/>
            </a:pPr>
            <a:endParaRPr lang="en-US" sz="1800" dirty="0"/>
          </a:p>
        </p:txBody>
      </p:sp>
      <p:pic>
        <p:nvPicPr>
          <p:cNvPr id="5" name="Picture 4" descr="A diagram of a secret code&#10;&#10;Description automatically generated">
            <a:extLst>
              <a:ext uri="{FF2B5EF4-FFF2-40B4-BE49-F238E27FC236}">
                <a16:creationId xmlns:a16="http://schemas.microsoft.com/office/drawing/2014/main" id="{0D5AC2DC-5816-C671-2D0E-22FAC0FCD3C4}"/>
              </a:ext>
            </a:extLst>
          </p:cNvPr>
          <p:cNvPicPr>
            <a:picLocks noChangeAspect="1"/>
          </p:cNvPicPr>
          <p:nvPr/>
        </p:nvPicPr>
        <p:blipFill>
          <a:blip r:embed="rId2"/>
          <a:stretch>
            <a:fillRect/>
          </a:stretch>
        </p:blipFill>
        <p:spPr>
          <a:xfrm>
            <a:off x="4173773" y="1196752"/>
            <a:ext cx="4942847" cy="4896544"/>
          </a:xfrm>
          <a:prstGeom prst="rect">
            <a:avLst/>
          </a:prstGeom>
        </p:spPr>
      </p:pic>
      <p:sp>
        <p:nvSpPr>
          <p:cNvPr id="6" name="TextBox 5">
            <a:extLst>
              <a:ext uri="{FF2B5EF4-FFF2-40B4-BE49-F238E27FC236}">
                <a16:creationId xmlns:a16="http://schemas.microsoft.com/office/drawing/2014/main" id="{3981ED5B-29B4-C85A-60D8-5E33AA838015}"/>
              </a:ext>
            </a:extLst>
          </p:cNvPr>
          <p:cNvSpPr txBox="1"/>
          <p:nvPr/>
        </p:nvSpPr>
        <p:spPr>
          <a:xfrm>
            <a:off x="-36512" y="593249"/>
            <a:ext cx="9382312" cy="630942"/>
          </a:xfrm>
          <a:prstGeom prst="rect">
            <a:avLst/>
          </a:prstGeom>
          <a:noFill/>
        </p:spPr>
        <p:txBody>
          <a:bodyPr wrap="none" rtlCol="0">
            <a:spAutoFit/>
          </a:bodyPr>
          <a:lstStyle/>
          <a:p>
            <a:r>
              <a:rPr lang="en-US" sz="1700" dirty="0" err="1">
                <a:latin typeface="Calibri" panose="020F0502020204030204" pitchFamily="34" charset="0"/>
                <a:cs typeface="Calibri" panose="020F0502020204030204" pitchFamily="34" charset="0"/>
              </a:rPr>
              <a:t>s</a:t>
            </a:r>
            <a:r>
              <a:rPr lang="en-US" sz="1700" dirty="0" err="1">
                <a:effectLst/>
                <a:latin typeface="Calibri" panose="020F0502020204030204" pitchFamily="34" charset="0"/>
                <a:cs typeface="Calibri" panose="020F0502020204030204" pitchFamily="34" charset="0"/>
              </a:rPr>
              <a:t>ecret_of_size_Total</a:t>
            </a:r>
            <a:r>
              <a:rPr lang="en-US" sz="1700" dirty="0">
                <a:effectLst/>
                <a:latin typeface="Calibri" panose="020F0502020204030204" pitchFamily="34" charset="0"/>
                <a:cs typeface="Calibri" panose="020F0502020204030204" pitchFamily="34" charset="0"/>
              </a:rPr>
              <a:t>= PRF(</a:t>
            </a:r>
            <a:r>
              <a:rPr lang="en-US" sz="1700" dirty="0" err="1">
                <a:solidFill>
                  <a:srgbClr val="FF0000"/>
                </a:solidFill>
                <a:effectLst/>
                <a:latin typeface="Calibri" panose="020F0502020204030204" pitchFamily="34" charset="0"/>
                <a:cs typeface="Calibri" panose="020F0502020204030204" pitchFamily="34" charset="0"/>
              </a:rPr>
              <a:t>master_secret</a:t>
            </a:r>
            <a:r>
              <a:rPr lang="en-US" sz="1700" dirty="0">
                <a:effectLst/>
                <a:latin typeface="Calibri" panose="020F0502020204030204" pitchFamily="34" charset="0"/>
                <a:cs typeface="Calibri" panose="020F0502020204030204" pitchFamily="34" charset="0"/>
              </a:rPr>
              <a:t>, “key expansion”, </a:t>
            </a:r>
            <a:r>
              <a:rPr lang="en-US" sz="1700" dirty="0" err="1">
                <a:effectLst/>
                <a:latin typeface="Calibri" panose="020F0502020204030204" pitchFamily="34" charset="0"/>
                <a:cs typeface="Calibri" panose="020F0502020204030204" pitchFamily="34" charset="0"/>
              </a:rPr>
              <a:t>ClientHello.random</a:t>
            </a:r>
            <a:r>
              <a:rPr lang="en-US" sz="1700" dirty="0">
                <a:effectLst/>
                <a:latin typeface="Calibri" panose="020F0502020204030204" pitchFamily="34" charset="0"/>
                <a:cs typeface="Calibri" panose="020F0502020204030204" pitchFamily="34" charset="0"/>
              </a:rPr>
              <a:t> || </a:t>
            </a:r>
            <a:r>
              <a:rPr lang="en-US" sz="1700" dirty="0" err="1">
                <a:effectLst/>
                <a:latin typeface="Calibri" panose="020F0502020204030204" pitchFamily="34" charset="0"/>
                <a:cs typeface="Calibri" panose="020F0502020204030204" pitchFamily="34" charset="0"/>
              </a:rPr>
              <a:t>ServerHello</a:t>
            </a:r>
            <a:r>
              <a:rPr lang="en-US" sz="1700" dirty="0">
                <a:effectLst/>
                <a:latin typeface="Calibri" panose="020F0502020204030204" pitchFamily="34" charset="0"/>
                <a:cs typeface="Calibri" panose="020F0502020204030204" pitchFamily="34" charset="0"/>
              </a:rPr>
              <a:t> .random) </a:t>
            </a:r>
          </a:p>
          <a:p>
            <a:endParaRPr lang="en-US" dirty="0"/>
          </a:p>
        </p:txBody>
      </p:sp>
      <p:sp>
        <p:nvSpPr>
          <p:cNvPr id="8" name="TextBox 7">
            <a:extLst>
              <a:ext uri="{FF2B5EF4-FFF2-40B4-BE49-F238E27FC236}">
                <a16:creationId xmlns:a16="http://schemas.microsoft.com/office/drawing/2014/main" id="{87D7403F-4334-E3E3-D248-1F09C9655C73}"/>
              </a:ext>
            </a:extLst>
          </p:cNvPr>
          <p:cNvSpPr txBox="1"/>
          <p:nvPr/>
        </p:nvSpPr>
        <p:spPr>
          <a:xfrm>
            <a:off x="-864845" y="1371692"/>
            <a:ext cx="4942848" cy="3693319"/>
          </a:xfrm>
          <a:prstGeom prst="rect">
            <a:avLst/>
          </a:prstGeom>
          <a:noFill/>
        </p:spPr>
        <p:txBody>
          <a:bodyPr wrap="square">
            <a:spAutoFit/>
          </a:bodyPr>
          <a:lstStyle/>
          <a:p>
            <a:pPr marL="981075" lvl="1"/>
            <a:r>
              <a:rPr lang="en-US" dirty="0">
                <a:latin typeface="Calibri" panose="020F0502020204030204" pitchFamily="34" charset="0"/>
                <a:cs typeface="Calibri" panose="020F0502020204030204" pitchFamily="34" charset="0"/>
              </a:rPr>
              <a:t>K</a:t>
            </a:r>
            <a:r>
              <a:rPr lang="en-US" baseline="-25000" dirty="0">
                <a:latin typeface="Calibri" panose="020F0502020204030204" pitchFamily="34" charset="0"/>
                <a:cs typeface="Calibri" panose="020F0502020204030204" pitchFamily="34" charset="0"/>
              </a:rPr>
              <a:t>c</a:t>
            </a:r>
            <a:r>
              <a:rPr lang="en-US" dirty="0">
                <a:latin typeface="Calibri" panose="020F0502020204030204" pitchFamily="34" charset="0"/>
                <a:cs typeface="Calibri" panose="020F0502020204030204" pitchFamily="34" charset="0"/>
              </a:rPr>
              <a:t> and K</a:t>
            </a:r>
            <a:r>
              <a:rPr lang="en-US" baseline="-25000" dirty="0">
                <a:latin typeface="Calibri" panose="020F0502020204030204" pitchFamily="34" charset="0"/>
                <a:cs typeface="Calibri" panose="020F0502020204030204" pitchFamily="34" charset="0"/>
              </a:rPr>
              <a:t>s </a:t>
            </a:r>
            <a:r>
              <a:rPr lang="en-US" dirty="0">
                <a:latin typeface="Calibri" panose="020F0502020204030204" pitchFamily="34" charset="0"/>
                <a:cs typeface="Calibri" panose="020F0502020204030204" pitchFamily="34" charset="0"/>
              </a:rPr>
              <a:t>both have size of X bytes</a:t>
            </a:r>
          </a:p>
          <a:p>
            <a:pPr marL="981075" lvl="1"/>
            <a:r>
              <a:rPr lang="en-US" dirty="0">
                <a:latin typeface="Calibri" panose="020F0502020204030204" pitchFamily="34" charset="0"/>
                <a:cs typeface="Calibri" panose="020F0502020204030204" pitchFamily="34" charset="0"/>
              </a:rPr>
              <a:t>M</a:t>
            </a:r>
            <a:r>
              <a:rPr lang="en-US" baseline="-25000" dirty="0">
                <a:latin typeface="Calibri" panose="020F0502020204030204" pitchFamily="34" charset="0"/>
                <a:cs typeface="Calibri" panose="020F0502020204030204" pitchFamily="34" charset="0"/>
              </a:rPr>
              <a:t>c</a:t>
            </a:r>
            <a:r>
              <a:rPr lang="en-US" dirty="0">
                <a:latin typeface="Calibri" panose="020F0502020204030204" pitchFamily="34" charset="0"/>
                <a:cs typeface="Calibri" panose="020F0502020204030204" pitchFamily="34" charset="0"/>
              </a:rPr>
              <a:t> and </a:t>
            </a:r>
            <a:r>
              <a:rPr lang="en-US" dirty="0" err="1">
                <a:latin typeface="Calibri" panose="020F0502020204030204" pitchFamily="34" charset="0"/>
                <a:cs typeface="Calibri" panose="020F0502020204030204" pitchFamily="34" charset="0"/>
              </a:rPr>
              <a:t>M</a:t>
            </a:r>
            <a:r>
              <a:rPr lang="en-US" baseline="-25000" dirty="0" err="1">
                <a:latin typeface="Calibri" panose="020F0502020204030204" pitchFamily="34" charset="0"/>
                <a:cs typeface="Calibri" panose="020F0502020204030204" pitchFamily="34" charset="0"/>
              </a:rPr>
              <a:t>s</a:t>
            </a:r>
            <a:r>
              <a:rPr lang="en-US" dirty="0">
                <a:latin typeface="Calibri" panose="020F0502020204030204" pitchFamily="34" charset="0"/>
                <a:cs typeface="Calibri" panose="020F0502020204030204" pitchFamily="34" charset="0"/>
              </a:rPr>
              <a:t> both have size of Y bytes</a:t>
            </a:r>
          </a:p>
          <a:p>
            <a:pPr marL="981075" lvl="1"/>
            <a:endParaRPr lang="en-US" dirty="0">
              <a:latin typeface="Calibri" panose="020F0502020204030204" pitchFamily="34" charset="0"/>
              <a:cs typeface="Calibri" panose="020F0502020204030204" pitchFamily="34" charset="0"/>
            </a:endParaRPr>
          </a:p>
          <a:p>
            <a:pPr marL="981075" lvl="1"/>
            <a:r>
              <a:rPr lang="en-US" dirty="0">
                <a:latin typeface="Calibri" panose="020F0502020204030204" pitchFamily="34" charset="0"/>
                <a:cs typeface="Calibri" panose="020F0502020204030204" pitchFamily="34" charset="0"/>
              </a:rPr>
              <a:t>Then we generate </a:t>
            </a:r>
            <a:r>
              <a:rPr lang="en-US" dirty="0" err="1">
                <a:latin typeface="Calibri" panose="020F0502020204030204" pitchFamily="34" charset="0"/>
                <a:cs typeface="Calibri" panose="020F0502020204030204" pitchFamily="34" charset="0"/>
              </a:rPr>
              <a:t>s</a:t>
            </a:r>
            <a:r>
              <a:rPr lang="en-US" dirty="0" err="1">
                <a:effectLst/>
                <a:latin typeface="Calibri" panose="020F0502020204030204" pitchFamily="34" charset="0"/>
                <a:cs typeface="Calibri" panose="020F0502020204030204" pitchFamily="34" charset="0"/>
              </a:rPr>
              <a:t>ecret_of_size_Total</a:t>
            </a:r>
            <a:r>
              <a:rPr lang="en-US" dirty="0">
                <a:effectLst/>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2*X+2*Y </a:t>
            </a:r>
          </a:p>
          <a:p>
            <a:pPr marL="981075" lvl="1"/>
            <a:endParaRPr lang="en-US" dirty="0">
              <a:latin typeface="Calibri" panose="020F0502020204030204" pitchFamily="34" charset="0"/>
              <a:cs typeface="Calibri" panose="020F0502020204030204" pitchFamily="34" charset="0"/>
            </a:endParaRPr>
          </a:p>
          <a:p>
            <a:pPr marL="981075" lvl="1"/>
            <a:r>
              <a:rPr lang="en-US" dirty="0">
                <a:latin typeface="Calibri" panose="020F0502020204030204" pitchFamily="34" charset="0"/>
                <a:cs typeface="Calibri" panose="020F0502020204030204" pitchFamily="34" charset="0"/>
              </a:rPr>
              <a:t>And split it into X X Y Y which will correspond to Kc, Ks, Mc, Ms.</a:t>
            </a:r>
          </a:p>
          <a:p>
            <a:pPr marL="981075" lvl="1"/>
            <a:endParaRPr lang="en-US" dirty="0">
              <a:latin typeface="Calibri" panose="020F0502020204030204" pitchFamily="34" charset="0"/>
              <a:cs typeface="Calibri" panose="020F0502020204030204" pitchFamily="34" charset="0"/>
            </a:endParaRPr>
          </a:p>
          <a:p>
            <a:pPr marL="981075" lvl="1"/>
            <a:r>
              <a:rPr lang="en-US" dirty="0">
                <a:latin typeface="Calibri" panose="020F0502020204030204" pitchFamily="34" charset="0"/>
                <a:cs typeface="Calibri" panose="020F0502020204030204" pitchFamily="34" charset="0"/>
              </a:rPr>
              <a:t>If as a result of last iteration in PRF we have let’s say 2*X+2*Y + Z bytes, the Z bytes are ignored. </a:t>
            </a:r>
          </a:p>
          <a:p>
            <a:pPr marL="981075" lvl="1"/>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2490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2C370-5A1D-A5CA-1576-6950FA25B636}"/>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6B663959-0441-3933-73BC-F6924C6521E6}"/>
              </a:ext>
            </a:extLst>
          </p:cNvPr>
          <p:cNvSpPr>
            <a:spLocks noGrp="1" noChangeArrowheads="1"/>
          </p:cNvSpPr>
          <p:nvPr>
            <p:ph type="title"/>
          </p:nvPr>
        </p:nvSpPr>
        <p:spPr/>
        <p:txBody>
          <a:bodyPr/>
          <a:lstStyle/>
          <a:p>
            <a:r>
              <a:rPr lang="en-US" dirty="0"/>
              <a:t>SSL/TLS Attacks</a:t>
            </a:r>
            <a:endParaRPr lang="en-AU" dirty="0"/>
          </a:p>
        </p:txBody>
      </p:sp>
      <p:sp>
        <p:nvSpPr>
          <p:cNvPr id="3" name="Content Placeholder 2">
            <a:extLst>
              <a:ext uri="{FF2B5EF4-FFF2-40B4-BE49-F238E27FC236}">
                <a16:creationId xmlns:a16="http://schemas.microsoft.com/office/drawing/2014/main" id="{1A918540-E312-0F4D-8B43-F944FF4E9B9A}"/>
              </a:ext>
            </a:extLst>
          </p:cNvPr>
          <p:cNvSpPr>
            <a:spLocks noGrp="1"/>
          </p:cNvSpPr>
          <p:nvPr>
            <p:ph idx="1"/>
          </p:nvPr>
        </p:nvSpPr>
        <p:spPr>
          <a:xfrm>
            <a:off x="323528" y="1452564"/>
            <a:ext cx="8568952" cy="4609678"/>
          </a:xfrm>
        </p:spPr>
        <p:txBody>
          <a:bodyPr/>
          <a:lstStyle/>
          <a:p>
            <a:pPr lvl="1">
              <a:lnSpc>
                <a:spcPct val="150000"/>
              </a:lnSpc>
              <a:spcBef>
                <a:spcPts val="0"/>
              </a:spcBef>
            </a:pPr>
            <a:r>
              <a:rPr lang="en-US" sz="2000" dirty="0"/>
              <a:t>Attacks on handshake protocol – exploiting the formatting and implementation of RSA encryption scheme. </a:t>
            </a:r>
          </a:p>
          <a:p>
            <a:pPr lvl="1">
              <a:lnSpc>
                <a:spcPct val="150000"/>
              </a:lnSpc>
              <a:spcBef>
                <a:spcPts val="0"/>
              </a:spcBef>
            </a:pPr>
            <a:r>
              <a:rPr lang="en-US" sz="2000" dirty="0"/>
              <a:t>Attacks on the record and application data protocols – browser vulnerabilities, other application related vulnerabilities.</a:t>
            </a:r>
          </a:p>
          <a:p>
            <a:pPr lvl="1">
              <a:lnSpc>
                <a:spcPct val="150000"/>
              </a:lnSpc>
              <a:spcBef>
                <a:spcPts val="0"/>
              </a:spcBef>
            </a:pPr>
            <a:r>
              <a:rPr lang="en-US" sz="2000" dirty="0"/>
              <a:t>Attacks on PKI – checking the validity of X.509 certificate, weaknesses is the source code.</a:t>
            </a:r>
          </a:p>
        </p:txBody>
      </p:sp>
    </p:spTree>
    <p:extLst>
      <p:ext uri="{BB962C8B-B14F-4D97-AF65-F5344CB8AC3E}">
        <p14:creationId xmlns:p14="http://schemas.microsoft.com/office/powerpoint/2010/main" val="2009808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2B960-6333-67B6-E61D-32B4D74C2E68}"/>
            </a:ext>
          </a:extLst>
        </p:cNvPr>
        <p:cNvGrpSpPr/>
        <p:nvPr/>
      </p:nvGrpSpPr>
      <p:grpSpPr>
        <a:xfrm>
          <a:off x="0" y="0"/>
          <a:ext cx="0" cy="0"/>
          <a:chOff x="0" y="0"/>
          <a:chExt cx="0" cy="0"/>
        </a:xfrm>
      </p:grpSpPr>
      <p:sp>
        <p:nvSpPr>
          <p:cNvPr id="52226" name="Rectangle 2">
            <a:extLst>
              <a:ext uri="{FF2B5EF4-FFF2-40B4-BE49-F238E27FC236}">
                <a16:creationId xmlns:a16="http://schemas.microsoft.com/office/drawing/2014/main" id="{90D4340A-A790-62AB-A833-CE6CA570728A}"/>
              </a:ext>
            </a:extLst>
          </p:cNvPr>
          <p:cNvSpPr>
            <a:spLocks noGrp="1" noChangeArrowheads="1"/>
          </p:cNvSpPr>
          <p:nvPr>
            <p:ph type="title"/>
          </p:nvPr>
        </p:nvSpPr>
        <p:spPr/>
        <p:txBody>
          <a:bodyPr/>
          <a:lstStyle/>
          <a:p>
            <a:r>
              <a:rPr lang="en-US" dirty="0"/>
              <a:t>HTTPS</a:t>
            </a:r>
            <a:endParaRPr lang="en-AU" dirty="0"/>
          </a:p>
        </p:txBody>
      </p:sp>
      <p:sp>
        <p:nvSpPr>
          <p:cNvPr id="3" name="Content Placeholder 2">
            <a:extLst>
              <a:ext uri="{FF2B5EF4-FFF2-40B4-BE49-F238E27FC236}">
                <a16:creationId xmlns:a16="http://schemas.microsoft.com/office/drawing/2014/main" id="{6686D6EE-2E39-7E71-7DCB-19B1877718F6}"/>
              </a:ext>
            </a:extLst>
          </p:cNvPr>
          <p:cNvSpPr>
            <a:spLocks noGrp="1"/>
          </p:cNvSpPr>
          <p:nvPr>
            <p:ph idx="1"/>
          </p:nvPr>
        </p:nvSpPr>
        <p:spPr>
          <a:xfrm>
            <a:off x="323528" y="1452564"/>
            <a:ext cx="8568952" cy="4609678"/>
          </a:xfrm>
        </p:spPr>
        <p:txBody>
          <a:bodyPr/>
          <a:lstStyle/>
          <a:p>
            <a:pPr lvl="1">
              <a:lnSpc>
                <a:spcPct val="150000"/>
              </a:lnSpc>
              <a:spcBef>
                <a:spcPts val="0"/>
              </a:spcBef>
            </a:pPr>
            <a:r>
              <a:rPr lang="en-US" sz="2000" dirty="0"/>
              <a:t>Secure version of HTTP (Hyper Text Transfer Protocol)</a:t>
            </a:r>
          </a:p>
          <a:p>
            <a:pPr lvl="1">
              <a:lnSpc>
                <a:spcPct val="150000"/>
              </a:lnSpc>
              <a:spcBef>
                <a:spcPts val="0"/>
              </a:spcBef>
            </a:pPr>
            <a:r>
              <a:rPr lang="en-US" sz="2000" dirty="0">
                <a:solidFill>
                  <a:srgbClr val="FF0000"/>
                </a:solidFill>
              </a:rPr>
              <a:t>Impossible with out TLS</a:t>
            </a:r>
          </a:p>
          <a:p>
            <a:pPr lvl="1">
              <a:lnSpc>
                <a:spcPct val="150000"/>
              </a:lnSpc>
              <a:spcBef>
                <a:spcPts val="0"/>
              </a:spcBef>
            </a:pPr>
            <a:r>
              <a:rPr lang="en-US" sz="2000" dirty="0"/>
              <a:t>Encrypts all the communication between the browser and the website (padlock icon is displayed)</a:t>
            </a:r>
          </a:p>
          <a:p>
            <a:pPr lvl="1">
              <a:lnSpc>
                <a:spcPct val="150000"/>
              </a:lnSpc>
              <a:spcBef>
                <a:spcPts val="0"/>
              </a:spcBef>
            </a:pPr>
            <a:r>
              <a:rPr lang="en-US" sz="2000" dirty="0"/>
              <a:t>Data Sent via HTTPS provides 3 important  areas of protection:</a:t>
            </a:r>
          </a:p>
          <a:p>
            <a:pPr lvl="2">
              <a:lnSpc>
                <a:spcPct val="150000"/>
              </a:lnSpc>
              <a:spcBef>
                <a:spcPts val="0"/>
              </a:spcBef>
            </a:pPr>
            <a:r>
              <a:rPr lang="en-US" sz="1800" dirty="0"/>
              <a:t>Encryption: securing the data sent from eavesdropping. </a:t>
            </a:r>
          </a:p>
          <a:p>
            <a:pPr lvl="2">
              <a:lnSpc>
                <a:spcPct val="150000"/>
              </a:lnSpc>
              <a:spcBef>
                <a:spcPts val="0"/>
              </a:spcBef>
            </a:pPr>
            <a:r>
              <a:rPr lang="en-US" sz="1800" dirty="0"/>
              <a:t>Data Integrity: Data cannot be modified or corrupted during the transfer without detection.</a:t>
            </a:r>
          </a:p>
          <a:p>
            <a:pPr lvl="2">
              <a:lnSpc>
                <a:spcPct val="150000"/>
              </a:lnSpc>
              <a:spcBef>
                <a:spcPts val="0"/>
              </a:spcBef>
            </a:pPr>
            <a:r>
              <a:rPr lang="en-US" sz="1800" dirty="0"/>
              <a:t>Authentication: Proves that your users communicate with the intended website. It protects against main-in-the-middle attacks and builds user trust.</a:t>
            </a:r>
          </a:p>
        </p:txBody>
      </p:sp>
    </p:spTree>
    <p:extLst>
      <p:ext uri="{BB962C8B-B14F-4D97-AF65-F5344CB8AC3E}">
        <p14:creationId xmlns:p14="http://schemas.microsoft.com/office/powerpoint/2010/main" val="795022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75F552A-EDFA-E02B-6CD2-184FCB00C219}"/>
              </a:ext>
            </a:extLst>
          </p:cNvPr>
          <p:cNvSpPr txBox="1">
            <a:spLocks/>
          </p:cNvSpPr>
          <p:nvPr/>
        </p:nvSpPr>
        <p:spPr>
          <a:xfrm>
            <a:off x="-324544" y="2852936"/>
            <a:ext cx="7570787" cy="1412875"/>
          </a:xfrm>
          <a:prstGeom prst="rect">
            <a:avLst/>
          </a:prstGeom>
        </p:spPr>
        <p:txBody>
          <a:bodyPr/>
          <a:lstStyle>
            <a:lvl1pPr algn="ctr" rtl="0" eaLnBrk="0" fontAlgn="base" hangingPunct="0">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eaLnBrk="0" fontAlgn="base" hangingPunct="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a:lstStyle>
          <a:p>
            <a:r>
              <a:rPr lang="en-US"/>
              <a:t>SECURE SHELL (SSH)</a:t>
            </a:r>
            <a:endParaRPr lang="en-US" dirty="0"/>
          </a:p>
        </p:txBody>
      </p:sp>
    </p:spTree>
    <p:extLst>
      <p:ext uri="{BB962C8B-B14F-4D97-AF65-F5344CB8AC3E}">
        <p14:creationId xmlns:p14="http://schemas.microsoft.com/office/powerpoint/2010/main" val="3683005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SECURE SHELL (SSH)</a:t>
            </a:r>
          </a:p>
        </p:txBody>
      </p:sp>
      <p:pic>
        <p:nvPicPr>
          <p:cNvPr id="8" name="Picture 7" descr="A diagram of a server&#10;&#10;Description automatically generated with medium confidence">
            <a:extLst>
              <a:ext uri="{FF2B5EF4-FFF2-40B4-BE49-F238E27FC236}">
                <a16:creationId xmlns:a16="http://schemas.microsoft.com/office/drawing/2014/main" id="{5C758BA3-CFCF-E7E1-B5F0-6E91DC033418}"/>
              </a:ext>
            </a:extLst>
          </p:cNvPr>
          <p:cNvPicPr>
            <a:picLocks noChangeAspect="1"/>
          </p:cNvPicPr>
          <p:nvPr/>
        </p:nvPicPr>
        <p:blipFill>
          <a:blip r:embed="rId3"/>
          <a:stretch>
            <a:fillRect/>
          </a:stretch>
        </p:blipFill>
        <p:spPr>
          <a:xfrm>
            <a:off x="4932040" y="2780928"/>
            <a:ext cx="3657600" cy="3683000"/>
          </a:xfrm>
          <a:prstGeom prst="rect">
            <a:avLst/>
          </a:prstGeom>
        </p:spPr>
      </p:pic>
      <p:sp>
        <p:nvSpPr>
          <p:cNvPr id="9" name="Content Placeholder 2">
            <a:extLst>
              <a:ext uri="{FF2B5EF4-FFF2-40B4-BE49-F238E27FC236}">
                <a16:creationId xmlns:a16="http://schemas.microsoft.com/office/drawing/2014/main" id="{0829478A-9852-E96E-0F56-9BB321939904}"/>
              </a:ext>
            </a:extLst>
          </p:cNvPr>
          <p:cNvSpPr txBox="1">
            <a:spLocks/>
          </p:cNvSpPr>
          <p:nvPr/>
        </p:nvSpPr>
        <p:spPr>
          <a:xfrm>
            <a:off x="107504" y="1916832"/>
            <a:ext cx="892899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2000" dirty="0"/>
              <a:t>Secure Shell (SSH) is a protocol for secure network communications.</a:t>
            </a:r>
          </a:p>
          <a:p>
            <a:pPr>
              <a:spcBef>
                <a:spcPts val="0"/>
              </a:spcBef>
            </a:pPr>
            <a:r>
              <a:rPr lang="en-US" sz="2000" dirty="0"/>
              <a:t>SSH is organized as </a:t>
            </a:r>
            <a:r>
              <a:rPr lang="en-US" sz="2000" b="1" dirty="0"/>
              <a:t>three protocols </a:t>
            </a:r>
            <a:r>
              <a:rPr lang="en-US" sz="2000" dirty="0"/>
              <a:t>that typically run on top of TCP</a:t>
            </a:r>
          </a:p>
          <a:p>
            <a:pPr marL="349250" lvl="1" indent="0">
              <a:spcBef>
                <a:spcPts val="0"/>
              </a:spcBef>
              <a:buNone/>
            </a:pPr>
            <a:endParaRPr lang="en-US" sz="1800" dirty="0"/>
          </a:p>
          <a:p>
            <a:pPr marL="349250" lvl="1" indent="0">
              <a:spcBef>
                <a:spcPts val="0"/>
              </a:spcBef>
              <a:buNone/>
            </a:pPr>
            <a:r>
              <a:rPr lang="en-US" sz="1800" dirty="0"/>
              <a:t>Transport Layer Protocol:</a:t>
            </a:r>
          </a:p>
          <a:p>
            <a:pPr marL="349250" lvl="1" indent="0">
              <a:spcBef>
                <a:spcPts val="0"/>
              </a:spcBef>
              <a:buNone/>
            </a:pPr>
            <a:endParaRPr lang="en-US" sz="1800" dirty="0"/>
          </a:p>
          <a:p>
            <a:pPr lvl="1">
              <a:spcBef>
                <a:spcPts val="0"/>
              </a:spcBef>
            </a:pPr>
            <a:r>
              <a:rPr lang="en-US" sz="1800" dirty="0"/>
              <a:t>User Authentication Protocol: </a:t>
            </a:r>
          </a:p>
          <a:p>
            <a:pPr marL="349250" lvl="1" indent="0">
              <a:spcBef>
                <a:spcPts val="0"/>
              </a:spcBef>
              <a:buNone/>
            </a:pPr>
            <a:r>
              <a:rPr lang="en-US" sz="1800" dirty="0"/>
              <a:t>Authenticates user to the server</a:t>
            </a:r>
          </a:p>
          <a:p>
            <a:pPr marL="685800" lvl="2" indent="0">
              <a:spcBef>
                <a:spcPts val="0"/>
              </a:spcBef>
              <a:buNone/>
            </a:pPr>
            <a:endParaRPr lang="en-US" sz="1600" dirty="0"/>
          </a:p>
          <a:p>
            <a:pPr lvl="1">
              <a:spcBef>
                <a:spcPts val="0"/>
              </a:spcBef>
            </a:pPr>
            <a:r>
              <a:rPr lang="en-US" sz="1800" dirty="0"/>
              <a:t>Connection Protocol:</a:t>
            </a:r>
          </a:p>
          <a:p>
            <a:pPr marL="349250" lvl="1" indent="0">
              <a:spcBef>
                <a:spcPts val="0"/>
              </a:spcBef>
              <a:buNone/>
            </a:pPr>
            <a:r>
              <a:rPr lang="en-US" sz="1800" dirty="0"/>
              <a:t>Multiplexes multiple logical communications</a:t>
            </a:r>
          </a:p>
          <a:p>
            <a:pPr marL="349250" lvl="1" indent="0">
              <a:spcBef>
                <a:spcPts val="0"/>
              </a:spcBef>
              <a:buNone/>
            </a:pPr>
            <a:r>
              <a:rPr lang="en-US" sz="1800" dirty="0"/>
              <a:t>channels over a single, underlying </a:t>
            </a:r>
          </a:p>
          <a:p>
            <a:pPr marL="349250" lvl="1" indent="0">
              <a:spcBef>
                <a:spcPts val="0"/>
              </a:spcBef>
              <a:buNone/>
            </a:pPr>
            <a:r>
              <a:rPr lang="en-US" sz="1800" dirty="0"/>
              <a:t>SSH connection.</a:t>
            </a:r>
          </a:p>
        </p:txBody>
      </p:sp>
    </p:spTree>
    <p:extLst>
      <p:ext uri="{BB962C8B-B14F-4D97-AF65-F5344CB8AC3E}">
        <p14:creationId xmlns:p14="http://schemas.microsoft.com/office/powerpoint/2010/main" val="12084846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2B756-F7B1-238D-08A3-B847EB79F85A}"/>
            </a:ext>
          </a:extLst>
        </p:cNvPr>
        <p:cNvGrpSpPr/>
        <p:nvPr/>
      </p:nvGrpSpPr>
      <p:grpSpPr>
        <a:xfrm>
          <a:off x="0" y="0"/>
          <a:ext cx="0" cy="0"/>
          <a:chOff x="0" y="0"/>
          <a:chExt cx="0" cy="0"/>
        </a:xfrm>
      </p:grpSpPr>
      <p:pic>
        <p:nvPicPr>
          <p:cNvPr id="4" name="Picture 3" descr="A diagram of a computer&#10;&#10;Description automatically generated">
            <a:extLst>
              <a:ext uri="{FF2B5EF4-FFF2-40B4-BE49-F238E27FC236}">
                <a16:creationId xmlns:a16="http://schemas.microsoft.com/office/drawing/2014/main" id="{17587FF7-8BBD-826F-46BE-4C963AE51E47}"/>
              </a:ext>
            </a:extLst>
          </p:cNvPr>
          <p:cNvPicPr>
            <a:picLocks noChangeAspect="1"/>
          </p:cNvPicPr>
          <p:nvPr/>
        </p:nvPicPr>
        <p:blipFill>
          <a:blip r:embed="rId2"/>
          <a:stretch>
            <a:fillRect/>
          </a:stretch>
        </p:blipFill>
        <p:spPr>
          <a:xfrm>
            <a:off x="4878905" y="2420887"/>
            <a:ext cx="3509511" cy="4255281"/>
          </a:xfrm>
          <a:prstGeom prst="rect">
            <a:avLst/>
          </a:prstGeom>
        </p:spPr>
      </p:pic>
      <p:sp>
        <p:nvSpPr>
          <p:cNvPr id="5" name="Content Placeholder 2">
            <a:extLst>
              <a:ext uri="{FF2B5EF4-FFF2-40B4-BE49-F238E27FC236}">
                <a16:creationId xmlns:a16="http://schemas.microsoft.com/office/drawing/2014/main" id="{1EB4EFBF-5643-F0A9-F8FF-DBCD7E14C560}"/>
              </a:ext>
            </a:extLst>
          </p:cNvPr>
          <p:cNvSpPr txBox="1">
            <a:spLocks/>
          </p:cNvSpPr>
          <p:nvPr/>
        </p:nvSpPr>
        <p:spPr>
          <a:xfrm>
            <a:off x="86143" y="0"/>
            <a:ext cx="8446285" cy="5949280"/>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SSH - Transport Layer Protocol</a:t>
            </a:r>
          </a:p>
          <a:p>
            <a:pPr marL="0" indent="0">
              <a:spcBef>
                <a:spcPts val="0"/>
              </a:spcBef>
              <a:buNone/>
            </a:pPr>
            <a:endParaRPr lang="en-US" sz="1800" b="1" dirty="0"/>
          </a:p>
          <a:p>
            <a:pPr>
              <a:spcBef>
                <a:spcPts val="0"/>
              </a:spcBef>
            </a:pPr>
            <a:r>
              <a:rPr lang="en-US" sz="1400" dirty="0"/>
              <a:t>Initially TCP connection is established which is separate from SSH Transport Layer Protocol.</a:t>
            </a:r>
          </a:p>
          <a:p>
            <a:pPr>
              <a:spcBef>
                <a:spcPts val="0"/>
              </a:spcBef>
            </a:pPr>
            <a:r>
              <a:rPr lang="en-US" sz="1400" dirty="0"/>
              <a:t>Then set of packets are exchanged (next slide)</a:t>
            </a:r>
          </a:p>
          <a:p>
            <a:pPr>
              <a:spcBef>
                <a:spcPts val="0"/>
              </a:spcBef>
            </a:pPr>
            <a:endParaRPr lang="en-US" sz="1400" dirty="0"/>
          </a:p>
          <a:p>
            <a:pPr marL="0" indent="0">
              <a:spcBef>
                <a:spcPts val="0"/>
              </a:spcBef>
              <a:buNone/>
            </a:pPr>
            <a:r>
              <a:rPr lang="en-US" sz="1400" dirty="0"/>
              <a:t>	The first step, the </a:t>
            </a:r>
            <a:r>
              <a:rPr lang="en-US" sz="1400" b="1" dirty="0"/>
              <a:t>identification string exchange</a:t>
            </a:r>
            <a:r>
              <a:rPr lang="en-US" sz="1400" dirty="0"/>
              <a:t>, begins with the client sending a packet with an 	identification string </a:t>
            </a:r>
          </a:p>
          <a:p>
            <a:pPr lvl="1">
              <a:spcBef>
                <a:spcPts val="0"/>
              </a:spcBef>
            </a:pPr>
            <a:r>
              <a:rPr lang="en-US" sz="1400" dirty="0"/>
              <a:t>SSH-</a:t>
            </a:r>
            <a:r>
              <a:rPr lang="en-US" sz="1400" dirty="0" err="1"/>
              <a:t>protoversion</a:t>
            </a:r>
            <a:r>
              <a:rPr lang="en-US" sz="1400" dirty="0"/>
              <a:t>-</a:t>
            </a:r>
            <a:r>
              <a:rPr lang="en-US" sz="1400" dirty="0" err="1"/>
              <a:t>softwareversion</a:t>
            </a:r>
            <a:endParaRPr lang="en-US" sz="1400" dirty="0"/>
          </a:p>
          <a:p>
            <a:pPr marL="349250" lvl="1" indent="0">
              <a:spcBef>
                <a:spcPts val="0"/>
              </a:spcBef>
              <a:buNone/>
            </a:pPr>
            <a:endParaRPr lang="en-US" sz="1400" dirty="0"/>
          </a:p>
          <a:p>
            <a:pPr marL="349250" lvl="1" indent="0">
              <a:spcBef>
                <a:spcPts val="0"/>
              </a:spcBef>
              <a:buNone/>
            </a:pPr>
            <a:r>
              <a:rPr lang="en-US" sz="1400" dirty="0"/>
              <a:t>Second step: algorithm negotiation. List of supported algorithms is sent. </a:t>
            </a:r>
          </a:p>
          <a:p>
            <a:pPr marL="349250" lvl="1" indent="0">
              <a:spcBef>
                <a:spcPts val="0"/>
              </a:spcBef>
              <a:buNone/>
            </a:pPr>
            <a:endParaRPr lang="en-US" sz="1400" dirty="0"/>
          </a:p>
          <a:p>
            <a:pPr lvl="1">
              <a:spcBef>
                <a:spcPts val="0"/>
              </a:spcBef>
            </a:pPr>
            <a:r>
              <a:rPr lang="en-US" sz="1400" dirty="0"/>
              <a:t>SSH_MSG_KEXINIT</a:t>
            </a:r>
          </a:p>
          <a:p>
            <a:pPr marL="349250" lvl="1" indent="0">
              <a:spcBef>
                <a:spcPts val="0"/>
              </a:spcBef>
              <a:buNone/>
            </a:pPr>
            <a:endParaRPr lang="en-US" sz="1400" dirty="0"/>
          </a:p>
          <a:p>
            <a:pPr marL="349250" lvl="1" indent="0">
              <a:spcBef>
                <a:spcPts val="0"/>
              </a:spcBef>
              <a:buNone/>
            </a:pPr>
            <a:r>
              <a:rPr lang="en-US" sz="1400" dirty="0"/>
              <a:t>Third Step: </a:t>
            </a:r>
            <a:r>
              <a:rPr lang="en-US" sz="1400" b="1" dirty="0"/>
              <a:t>Key Exchange</a:t>
            </a:r>
          </a:p>
          <a:p>
            <a:pPr marL="349250" lvl="1" indent="0">
              <a:spcBef>
                <a:spcPts val="0"/>
              </a:spcBef>
              <a:buNone/>
            </a:pPr>
            <a:endParaRPr lang="en-US" sz="1400" b="1" dirty="0"/>
          </a:p>
          <a:p>
            <a:pPr>
              <a:spcBef>
                <a:spcPts val="0"/>
              </a:spcBef>
            </a:pPr>
            <a:r>
              <a:rPr lang="en-US" sz="1400" dirty="0"/>
              <a:t>Once the connection is established, </a:t>
            </a:r>
          </a:p>
          <a:p>
            <a:pPr>
              <a:spcBef>
                <a:spcPts val="0"/>
              </a:spcBef>
            </a:pPr>
            <a:r>
              <a:rPr lang="en-US" sz="1400" dirty="0"/>
              <a:t>the client and server exchange data, </a:t>
            </a:r>
          </a:p>
          <a:p>
            <a:pPr>
              <a:spcBef>
                <a:spcPts val="0"/>
              </a:spcBef>
            </a:pPr>
            <a:r>
              <a:rPr lang="en-US" sz="1400" dirty="0"/>
              <a:t>referred to as packets, in the </a:t>
            </a:r>
            <a:r>
              <a:rPr lang="en-US" sz="1400" dirty="0">
                <a:solidFill>
                  <a:srgbClr val="FF0000"/>
                </a:solidFill>
              </a:rPr>
              <a:t>data field of a TCP segment</a:t>
            </a:r>
            <a:r>
              <a:rPr lang="en-US" sz="1400" dirty="0"/>
              <a:t>.</a:t>
            </a:r>
          </a:p>
          <a:p>
            <a:pPr>
              <a:spcBef>
                <a:spcPts val="0"/>
              </a:spcBef>
            </a:pPr>
            <a:endParaRPr lang="en-US" sz="1600" dirty="0"/>
          </a:p>
          <a:p>
            <a:pPr>
              <a:spcBef>
                <a:spcPts val="0"/>
              </a:spcBef>
            </a:pPr>
            <a:endParaRPr lang="en-US" sz="1600" dirty="0"/>
          </a:p>
          <a:p>
            <a:pPr lvl="1">
              <a:spcBef>
                <a:spcPts val="0"/>
              </a:spcBef>
            </a:pPr>
            <a:endParaRPr lang="en-US" sz="1600" dirty="0"/>
          </a:p>
          <a:p>
            <a:pPr lvl="1">
              <a:spcBef>
                <a:spcPts val="0"/>
              </a:spcBef>
            </a:pPr>
            <a:endParaRPr lang="en-US" sz="1600" dirty="0"/>
          </a:p>
          <a:p>
            <a:pPr>
              <a:spcBef>
                <a:spcPts val="0"/>
              </a:spcBef>
            </a:pPr>
            <a:endParaRPr lang="en-US" sz="1800" dirty="0"/>
          </a:p>
          <a:p>
            <a:pPr>
              <a:spcBef>
                <a:spcPts val="0"/>
              </a:spcBef>
            </a:pPr>
            <a:endParaRPr lang="en-US" sz="1800" dirty="0"/>
          </a:p>
        </p:txBody>
      </p:sp>
      <p:cxnSp>
        <p:nvCxnSpPr>
          <p:cNvPr id="9" name="Straight Connector 8">
            <a:extLst>
              <a:ext uri="{FF2B5EF4-FFF2-40B4-BE49-F238E27FC236}">
                <a16:creationId xmlns:a16="http://schemas.microsoft.com/office/drawing/2014/main" id="{ED7FED76-F18F-017C-53AB-F3F74C04838A}"/>
              </a:ext>
            </a:extLst>
          </p:cNvPr>
          <p:cNvCxnSpPr/>
          <p:nvPr/>
        </p:nvCxnSpPr>
        <p:spPr>
          <a:xfrm>
            <a:off x="8964488" y="260648"/>
            <a:ext cx="0" cy="685800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00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omputer process&#10;&#10;Description automatically generated">
            <a:extLst>
              <a:ext uri="{FF2B5EF4-FFF2-40B4-BE49-F238E27FC236}">
                <a16:creationId xmlns:a16="http://schemas.microsoft.com/office/drawing/2014/main" id="{73A6407F-8292-90FE-829F-7D556DE920D4}"/>
              </a:ext>
            </a:extLst>
          </p:cNvPr>
          <p:cNvPicPr>
            <a:picLocks noChangeAspect="1"/>
          </p:cNvPicPr>
          <p:nvPr/>
        </p:nvPicPr>
        <p:blipFill>
          <a:blip r:embed="rId2"/>
          <a:stretch>
            <a:fillRect/>
          </a:stretch>
        </p:blipFill>
        <p:spPr>
          <a:xfrm>
            <a:off x="2339752" y="2636912"/>
            <a:ext cx="3672407" cy="3887798"/>
          </a:xfrm>
          <a:prstGeom prst="rect">
            <a:avLst/>
          </a:prstGeom>
        </p:spPr>
      </p:pic>
      <p:cxnSp>
        <p:nvCxnSpPr>
          <p:cNvPr id="9" name="Straight Connector 8">
            <a:extLst>
              <a:ext uri="{FF2B5EF4-FFF2-40B4-BE49-F238E27FC236}">
                <a16:creationId xmlns:a16="http://schemas.microsoft.com/office/drawing/2014/main" id="{C26A04B2-B600-5842-18BD-7133904CE039}"/>
              </a:ext>
            </a:extLst>
          </p:cNvPr>
          <p:cNvCxnSpPr/>
          <p:nvPr/>
        </p:nvCxnSpPr>
        <p:spPr>
          <a:xfrm>
            <a:off x="12414" y="19154"/>
            <a:ext cx="0" cy="6858000"/>
          </a:xfrm>
          <a:prstGeom prst="line">
            <a:avLst/>
          </a:prstGeom>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EDB9FD9C-560E-D2D5-63B9-157529CBA056}"/>
              </a:ext>
            </a:extLst>
          </p:cNvPr>
          <p:cNvSpPr txBox="1">
            <a:spLocks/>
          </p:cNvSpPr>
          <p:nvPr/>
        </p:nvSpPr>
        <p:spPr>
          <a:xfrm>
            <a:off x="251522" y="0"/>
            <a:ext cx="8496942"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SSH - Packet Structure</a:t>
            </a:r>
          </a:p>
          <a:p>
            <a:pPr marL="0" indent="0">
              <a:spcBef>
                <a:spcPts val="0"/>
              </a:spcBef>
              <a:buNone/>
            </a:pPr>
            <a:endParaRPr lang="en-US" sz="1400" b="1" dirty="0"/>
          </a:p>
          <a:p>
            <a:pPr>
              <a:spcBef>
                <a:spcPts val="0"/>
              </a:spcBef>
            </a:pPr>
            <a:r>
              <a:rPr lang="en-US" sz="1400" b="1" dirty="0"/>
              <a:t>Packet length:</a:t>
            </a:r>
            <a:r>
              <a:rPr lang="en-US" sz="1400" dirty="0"/>
              <a:t> Length of the packet in bytes, </a:t>
            </a:r>
            <a:r>
              <a:rPr lang="en-US" sz="1400" dirty="0">
                <a:solidFill>
                  <a:srgbClr val="FF0000"/>
                </a:solidFill>
              </a:rPr>
              <a:t>not including the packet length and MAC fields.</a:t>
            </a:r>
          </a:p>
          <a:p>
            <a:pPr>
              <a:spcBef>
                <a:spcPts val="0"/>
              </a:spcBef>
            </a:pPr>
            <a:r>
              <a:rPr lang="en-US" sz="1400" b="1" dirty="0"/>
              <a:t>Padding length:</a:t>
            </a:r>
            <a:r>
              <a:rPr lang="en-US" sz="1400" dirty="0"/>
              <a:t> Length of the random padding field.</a:t>
            </a:r>
          </a:p>
          <a:p>
            <a:pPr>
              <a:spcBef>
                <a:spcPts val="0"/>
              </a:spcBef>
            </a:pPr>
            <a:r>
              <a:rPr lang="en-US" sz="1400" b="1" dirty="0"/>
              <a:t>Payload: </a:t>
            </a:r>
            <a:r>
              <a:rPr lang="en-US" sz="1400" dirty="0"/>
              <a:t>Useful contents of the packet. </a:t>
            </a:r>
          </a:p>
          <a:p>
            <a:pPr>
              <a:spcBef>
                <a:spcPts val="0"/>
              </a:spcBef>
            </a:pPr>
            <a:r>
              <a:rPr lang="en-US" sz="1400" b="1" dirty="0"/>
              <a:t>Random padding:</a:t>
            </a:r>
            <a:r>
              <a:rPr lang="en-US" sz="1400" dirty="0"/>
              <a:t> random bytes to make total length (excluding MAC) of the packet a </a:t>
            </a:r>
            <a:r>
              <a:rPr lang="en-US" sz="1400" dirty="0">
                <a:solidFill>
                  <a:srgbClr val="FF0000"/>
                </a:solidFill>
              </a:rPr>
              <a:t>multiply of cipher block size or 8 bytes for a stream cipher.</a:t>
            </a:r>
          </a:p>
          <a:p>
            <a:pPr>
              <a:spcBef>
                <a:spcPts val="0"/>
              </a:spcBef>
            </a:pPr>
            <a:r>
              <a:rPr lang="en-US" sz="1400" b="1" dirty="0"/>
              <a:t>Message authentication code (MAC): </a:t>
            </a:r>
            <a:r>
              <a:rPr lang="en-US" sz="1400" dirty="0"/>
              <a:t>If message authentication has been negotiated, this field contains the MAC value. It is computed over the entire packet plus a sequence number, excluding the MAC field.</a:t>
            </a:r>
          </a:p>
          <a:p>
            <a:pPr>
              <a:spcBef>
                <a:spcPts val="0"/>
              </a:spcBef>
            </a:pPr>
            <a:r>
              <a:rPr lang="en-US" sz="1400" b="1" dirty="0"/>
              <a:t>Sequence number: </a:t>
            </a:r>
            <a:r>
              <a:rPr lang="en-US" sz="1400" dirty="0">
                <a:solidFill>
                  <a:srgbClr val="FF0000"/>
                </a:solidFill>
              </a:rPr>
              <a:t>32-bit packet </a:t>
            </a:r>
            <a:r>
              <a:rPr lang="en-US" sz="1400" dirty="0"/>
              <a:t>sequence that is initialized to 0 for the 1st packet and incremented for every packet.</a:t>
            </a:r>
          </a:p>
          <a:p>
            <a:pPr>
              <a:spcBef>
                <a:spcPts val="0"/>
              </a:spcBef>
            </a:pPr>
            <a:endParaRPr lang="en-US" sz="1800" dirty="0"/>
          </a:p>
        </p:txBody>
      </p:sp>
    </p:spTree>
    <p:extLst>
      <p:ext uri="{BB962C8B-B14F-4D97-AF65-F5344CB8AC3E}">
        <p14:creationId xmlns:p14="http://schemas.microsoft.com/office/powerpoint/2010/main" val="2068817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uter&#10;&#10;Description automatically generated">
            <a:extLst>
              <a:ext uri="{FF2B5EF4-FFF2-40B4-BE49-F238E27FC236}">
                <a16:creationId xmlns:a16="http://schemas.microsoft.com/office/drawing/2014/main" id="{9846A519-A1EC-3FF1-6E70-B317F588FB79}"/>
              </a:ext>
            </a:extLst>
          </p:cNvPr>
          <p:cNvPicPr>
            <a:picLocks noChangeAspect="1"/>
          </p:cNvPicPr>
          <p:nvPr/>
        </p:nvPicPr>
        <p:blipFill>
          <a:blip r:embed="rId2"/>
          <a:stretch>
            <a:fillRect/>
          </a:stretch>
        </p:blipFill>
        <p:spPr>
          <a:xfrm>
            <a:off x="5940152" y="-30651"/>
            <a:ext cx="3203848" cy="3884665"/>
          </a:xfrm>
          <a:prstGeom prst="rect">
            <a:avLst/>
          </a:prstGeom>
        </p:spPr>
      </p:pic>
      <p:sp>
        <p:nvSpPr>
          <p:cNvPr id="5" name="Content Placeholder 2">
            <a:extLst>
              <a:ext uri="{FF2B5EF4-FFF2-40B4-BE49-F238E27FC236}">
                <a16:creationId xmlns:a16="http://schemas.microsoft.com/office/drawing/2014/main" id="{7815F923-8BA7-B536-11C8-E6D6F1320D4E}"/>
              </a:ext>
            </a:extLst>
          </p:cNvPr>
          <p:cNvSpPr txBox="1">
            <a:spLocks/>
          </p:cNvSpPr>
          <p:nvPr/>
        </p:nvSpPr>
        <p:spPr>
          <a:xfrm>
            <a:off x="86143" y="0"/>
            <a:ext cx="5779447"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SSH - Transport Layer Protocol</a:t>
            </a:r>
          </a:p>
          <a:p>
            <a:pPr marL="0" indent="0">
              <a:spcBef>
                <a:spcPts val="0"/>
              </a:spcBef>
              <a:buNone/>
            </a:pPr>
            <a:endParaRPr lang="en-US" sz="1800" b="1" dirty="0"/>
          </a:p>
          <a:p>
            <a:pPr>
              <a:spcBef>
                <a:spcPts val="0"/>
              </a:spcBef>
            </a:pPr>
            <a:r>
              <a:rPr lang="en-US" sz="1400" b="1" dirty="0"/>
              <a:t>Identification string exchange: </a:t>
            </a:r>
            <a:r>
              <a:rPr lang="en-US" sz="1400" dirty="0"/>
              <a:t>it is a string value of the form </a:t>
            </a:r>
          </a:p>
          <a:p>
            <a:pPr lvl="1">
              <a:spcBef>
                <a:spcPts val="0"/>
              </a:spcBef>
            </a:pPr>
            <a:r>
              <a:rPr lang="en-US" sz="1200" dirty="0"/>
              <a:t>SSH-</a:t>
            </a:r>
            <a:r>
              <a:rPr lang="en-US" sz="1200" dirty="0" err="1"/>
              <a:t>protoversion</a:t>
            </a:r>
            <a:r>
              <a:rPr lang="en-US" sz="1200" dirty="0"/>
              <a:t>-</a:t>
            </a:r>
            <a:r>
              <a:rPr lang="en-US" sz="1200" dirty="0" err="1"/>
              <a:t>softwareversion</a:t>
            </a:r>
            <a:r>
              <a:rPr lang="en-US" sz="1200" dirty="0"/>
              <a:t> SP comments CR LF</a:t>
            </a:r>
          </a:p>
          <a:p>
            <a:pPr lvl="1">
              <a:spcBef>
                <a:spcPts val="0"/>
              </a:spcBef>
            </a:pPr>
            <a:r>
              <a:rPr lang="en-US" sz="1200" dirty="0" err="1">
                <a:solidFill>
                  <a:srgbClr val="FF0000"/>
                </a:solidFill>
              </a:rPr>
              <a:t>protoversion</a:t>
            </a:r>
            <a:r>
              <a:rPr lang="en-US" sz="1200" dirty="0"/>
              <a:t>: is a SSH protocol version -&gt; 1.5, 2.0, etc.</a:t>
            </a:r>
          </a:p>
          <a:p>
            <a:pPr lvl="1">
              <a:spcBef>
                <a:spcPts val="0"/>
              </a:spcBef>
            </a:pPr>
            <a:r>
              <a:rPr lang="en-US" sz="1200" dirty="0" err="1">
                <a:solidFill>
                  <a:srgbClr val="FF0000"/>
                </a:solidFill>
              </a:rPr>
              <a:t>softwareversion</a:t>
            </a:r>
            <a:r>
              <a:rPr lang="en-US" sz="1200" dirty="0"/>
              <a:t>: implementation of SSH -&gt; OpenSSH, </a:t>
            </a:r>
            <a:r>
              <a:rPr lang="en-US" sz="1200" dirty="0" err="1"/>
              <a:t>Sun_SSH</a:t>
            </a:r>
            <a:r>
              <a:rPr lang="en-US" sz="1200" dirty="0"/>
              <a:t>, </a:t>
            </a:r>
            <a:r>
              <a:rPr lang="en-US" sz="1200" dirty="0" err="1"/>
              <a:t>etc</a:t>
            </a:r>
            <a:endParaRPr lang="en-US" sz="1200" dirty="0"/>
          </a:p>
          <a:p>
            <a:pPr lvl="1">
              <a:spcBef>
                <a:spcPts val="0"/>
              </a:spcBef>
            </a:pPr>
            <a:r>
              <a:rPr lang="en-US" sz="1200" dirty="0">
                <a:solidFill>
                  <a:srgbClr val="FF0000"/>
                </a:solidFill>
              </a:rPr>
              <a:t>SP</a:t>
            </a:r>
            <a:r>
              <a:rPr lang="en-US" sz="1200" dirty="0"/>
              <a:t>: is a space character -&gt; “ ”, 0x20</a:t>
            </a:r>
          </a:p>
          <a:p>
            <a:pPr lvl="1">
              <a:spcBef>
                <a:spcPts val="0"/>
              </a:spcBef>
            </a:pPr>
            <a:r>
              <a:rPr lang="en-US" sz="1200" dirty="0">
                <a:solidFill>
                  <a:srgbClr val="FF0000"/>
                </a:solidFill>
              </a:rPr>
              <a:t>Comment</a:t>
            </a:r>
            <a:r>
              <a:rPr lang="en-US" sz="1200" dirty="0"/>
              <a:t>: an optional information about platform -&gt; Ubuntu_20.04, Debian </a:t>
            </a:r>
          </a:p>
          <a:p>
            <a:pPr lvl="1">
              <a:spcBef>
                <a:spcPts val="0"/>
              </a:spcBef>
            </a:pPr>
            <a:r>
              <a:rPr lang="en-US" sz="1200" dirty="0">
                <a:solidFill>
                  <a:srgbClr val="FF0000"/>
                </a:solidFill>
              </a:rPr>
              <a:t>CR</a:t>
            </a:r>
            <a:r>
              <a:rPr lang="en-US" sz="1200" dirty="0"/>
              <a:t> (Carriage Return) -&gt; 0x0D, used to terminate line along with LF</a:t>
            </a:r>
          </a:p>
          <a:p>
            <a:pPr lvl="1">
              <a:spcBef>
                <a:spcPts val="0"/>
              </a:spcBef>
            </a:pPr>
            <a:r>
              <a:rPr lang="en-US" sz="1200" dirty="0">
                <a:solidFill>
                  <a:srgbClr val="FF0000"/>
                </a:solidFill>
              </a:rPr>
              <a:t>LF</a:t>
            </a:r>
            <a:r>
              <a:rPr lang="en-US" sz="1200" dirty="0"/>
              <a:t> (Line Feed) -&gt; 0x0A, which signals end of the identification string.</a:t>
            </a:r>
          </a:p>
          <a:p>
            <a:pPr lvl="1">
              <a:spcBef>
                <a:spcPts val="0"/>
              </a:spcBef>
            </a:pPr>
            <a:r>
              <a:rPr lang="en-US" sz="1200" b="1" dirty="0"/>
              <a:t>Example:</a:t>
            </a:r>
            <a:r>
              <a:rPr lang="en-US" sz="1200" dirty="0"/>
              <a:t> SSH-2.0-OpenSSH_8.6 Ubuntu-20.04&lt;CR&gt;&lt;LF&gt;</a:t>
            </a:r>
          </a:p>
          <a:p>
            <a:pPr>
              <a:spcBef>
                <a:spcPts val="0"/>
              </a:spcBef>
            </a:pPr>
            <a:r>
              <a:rPr lang="en-US" sz="1400" dirty="0"/>
              <a:t>The </a:t>
            </a:r>
            <a:r>
              <a:rPr lang="en-US" sz="1400" b="1" dirty="0"/>
              <a:t>Identification string </a:t>
            </a:r>
            <a:r>
              <a:rPr lang="en-US" sz="1400" dirty="0"/>
              <a:t>might be different for client and server however overall, they should be compatible if they are not compatible then connection will fail. (update needed).</a:t>
            </a:r>
          </a:p>
          <a:p>
            <a:pPr lvl="1">
              <a:spcBef>
                <a:spcPts val="0"/>
              </a:spcBef>
            </a:pPr>
            <a:endParaRPr lang="en-US" sz="1200" dirty="0"/>
          </a:p>
          <a:p>
            <a:pPr lvl="1">
              <a:spcBef>
                <a:spcPts val="0"/>
              </a:spcBef>
            </a:pPr>
            <a:endParaRPr lang="en-US" sz="1200" dirty="0"/>
          </a:p>
          <a:p>
            <a:pPr marL="349250" lvl="1" indent="0">
              <a:spcBef>
                <a:spcPts val="0"/>
              </a:spcBef>
              <a:buNone/>
            </a:pPr>
            <a:endParaRPr lang="en-US" sz="1400" dirty="0"/>
          </a:p>
          <a:p>
            <a:pPr>
              <a:spcBef>
                <a:spcPts val="0"/>
              </a:spcBef>
            </a:pPr>
            <a:endParaRPr lang="en-US" sz="1600" dirty="0"/>
          </a:p>
          <a:p>
            <a:pPr>
              <a:spcBef>
                <a:spcPts val="0"/>
              </a:spcBef>
            </a:pPr>
            <a:endParaRPr lang="en-US" sz="1600" dirty="0"/>
          </a:p>
          <a:p>
            <a:pPr lvl="1">
              <a:spcBef>
                <a:spcPts val="0"/>
              </a:spcBef>
            </a:pPr>
            <a:endParaRPr lang="en-US" sz="1600" dirty="0"/>
          </a:p>
          <a:p>
            <a:pPr lvl="1">
              <a:spcBef>
                <a:spcPts val="0"/>
              </a:spcBef>
            </a:pPr>
            <a:endParaRPr lang="en-US" sz="1600" dirty="0"/>
          </a:p>
          <a:p>
            <a:pPr>
              <a:spcBef>
                <a:spcPts val="0"/>
              </a:spcBef>
            </a:pPr>
            <a:endParaRPr lang="en-US" sz="1800" dirty="0"/>
          </a:p>
          <a:p>
            <a:pPr>
              <a:spcBef>
                <a:spcPts val="0"/>
              </a:spcBef>
            </a:pPr>
            <a:endParaRPr lang="en-US" sz="1800" dirty="0"/>
          </a:p>
        </p:txBody>
      </p:sp>
      <p:sp>
        <p:nvSpPr>
          <p:cNvPr id="2" name="Content Placeholder 2">
            <a:extLst>
              <a:ext uri="{FF2B5EF4-FFF2-40B4-BE49-F238E27FC236}">
                <a16:creationId xmlns:a16="http://schemas.microsoft.com/office/drawing/2014/main" id="{BC066355-FBB0-6B9F-1D92-C669C3DEC429}"/>
              </a:ext>
            </a:extLst>
          </p:cNvPr>
          <p:cNvSpPr txBox="1">
            <a:spLocks/>
          </p:cNvSpPr>
          <p:nvPr/>
        </p:nvSpPr>
        <p:spPr>
          <a:xfrm>
            <a:off x="194156" y="3284984"/>
            <a:ext cx="4770827" cy="3088277"/>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b="1" dirty="0"/>
              <a:t>Algorithm negotiation: </a:t>
            </a:r>
            <a:r>
              <a:rPr lang="en-US" sz="1400" dirty="0"/>
              <a:t>Each side sends an </a:t>
            </a:r>
            <a:r>
              <a:rPr lang="en-US" sz="1400" dirty="0">
                <a:solidFill>
                  <a:srgbClr val="FF0000"/>
                </a:solidFill>
              </a:rPr>
              <a:t>SSH_MSG_KEXINIT </a:t>
            </a:r>
            <a:r>
              <a:rPr lang="en-US" sz="1400" dirty="0"/>
              <a:t>containing </a:t>
            </a:r>
            <a:r>
              <a:rPr lang="en-US" sz="1400" dirty="0">
                <a:solidFill>
                  <a:srgbClr val="FF0000"/>
                </a:solidFill>
              </a:rPr>
              <a:t>lists of supported algorithms </a:t>
            </a:r>
            <a:r>
              <a:rPr lang="en-US" sz="1400" dirty="0"/>
              <a:t>in the </a:t>
            </a:r>
            <a:r>
              <a:rPr lang="en-US" sz="1400" dirty="0">
                <a:solidFill>
                  <a:srgbClr val="FF0000"/>
                </a:solidFill>
              </a:rPr>
              <a:t>order of preference </a:t>
            </a:r>
            <a:r>
              <a:rPr lang="en-US" sz="1400" dirty="0"/>
              <a:t>to the sender. </a:t>
            </a:r>
          </a:p>
          <a:p>
            <a:pPr>
              <a:spcBef>
                <a:spcPts val="0"/>
              </a:spcBef>
            </a:pPr>
            <a:r>
              <a:rPr lang="en-US" sz="1400" dirty="0"/>
              <a:t>There is one list for each type of cryptographic algorithm. </a:t>
            </a:r>
          </a:p>
          <a:p>
            <a:pPr>
              <a:spcBef>
                <a:spcPts val="0"/>
              </a:spcBef>
            </a:pPr>
            <a:r>
              <a:rPr lang="en-US" sz="1400" dirty="0"/>
              <a:t>The algorithms include </a:t>
            </a:r>
          </a:p>
          <a:p>
            <a:pPr lvl="1">
              <a:spcBef>
                <a:spcPts val="0"/>
              </a:spcBef>
            </a:pPr>
            <a:r>
              <a:rPr lang="en-US" sz="1200" dirty="0"/>
              <a:t>Key exchange</a:t>
            </a:r>
          </a:p>
          <a:p>
            <a:pPr lvl="1">
              <a:spcBef>
                <a:spcPts val="0"/>
              </a:spcBef>
            </a:pPr>
            <a:r>
              <a:rPr lang="en-US" sz="1200" dirty="0"/>
              <a:t>Encryption</a:t>
            </a:r>
          </a:p>
          <a:p>
            <a:pPr lvl="1">
              <a:spcBef>
                <a:spcPts val="0"/>
              </a:spcBef>
            </a:pPr>
            <a:r>
              <a:rPr lang="en-US" sz="1200" dirty="0"/>
              <a:t>MAC algorithm </a:t>
            </a:r>
          </a:p>
          <a:p>
            <a:pPr lvl="1">
              <a:spcBef>
                <a:spcPts val="0"/>
              </a:spcBef>
            </a:pPr>
            <a:r>
              <a:rPr lang="en-US" sz="1200" dirty="0"/>
              <a:t>Compression algorithm</a:t>
            </a:r>
          </a:p>
        </p:txBody>
      </p:sp>
      <p:pic>
        <p:nvPicPr>
          <p:cNvPr id="6" name="Picture 5" descr="A table with text and numbers&#10;&#10;Description automatically generated">
            <a:extLst>
              <a:ext uri="{FF2B5EF4-FFF2-40B4-BE49-F238E27FC236}">
                <a16:creationId xmlns:a16="http://schemas.microsoft.com/office/drawing/2014/main" id="{2F114D23-C7E8-712E-DEC1-9F87978C3ACD}"/>
              </a:ext>
            </a:extLst>
          </p:cNvPr>
          <p:cNvPicPr>
            <a:picLocks noChangeAspect="1"/>
          </p:cNvPicPr>
          <p:nvPr/>
        </p:nvPicPr>
        <p:blipFill>
          <a:blip r:embed="rId3"/>
          <a:stretch>
            <a:fillRect/>
          </a:stretch>
        </p:blipFill>
        <p:spPr>
          <a:xfrm>
            <a:off x="4964983" y="3702612"/>
            <a:ext cx="4104456" cy="3134475"/>
          </a:xfrm>
          <a:prstGeom prst="rect">
            <a:avLst/>
          </a:prstGeom>
        </p:spPr>
      </p:pic>
    </p:spTree>
    <p:extLst>
      <p:ext uri="{BB962C8B-B14F-4D97-AF65-F5344CB8AC3E}">
        <p14:creationId xmlns:p14="http://schemas.microsoft.com/office/powerpoint/2010/main" val="136492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uter&#10;&#10;Description automatically generated">
            <a:extLst>
              <a:ext uri="{FF2B5EF4-FFF2-40B4-BE49-F238E27FC236}">
                <a16:creationId xmlns:a16="http://schemas.microsoft.com/office/drawing/2014/main" id="{9846A519-A1EC-3FF1-6E70-B317F588FB79}"/>
              </a:ext>
            </a:extLst>
          </p:cNvPr>
          <p:cNvPicPr>
            <a:picLocks noChangeAspect="1"/>
          </p:cNvPicPr>
          <p:nvPr/>
        </p:nvPicPr>
        <p:blipFill>
          <a:blip r:embed="rId2"/>
          <a:stretch>
            <a:fillRect/>
          </a:stretch>
        </p:blipFill>
        <p:spPr>
          <a:xfrm>
            <a:off x="5940152" y="-30651"/>
            <a:ext cx="3203848" cy="3884665"/>
          </a:xfrm>
          <a:prstGeom prst="rect">
            <a:avLst/>
          </a:prstGeom>
        </p:spPr>
      </p:pic>
      <p:sp>
        <p:nvSpPr>
          <p:cNvPr id="5" name="Content Placeholder 2">
            <a:extLst>
              <a:ext uri="{FF2B5EF4-FFF2-40B4-BE49-F238E27FC236}">
                <a16:creationId xmlns:a16="http://schemas.microsoft.com/office/drawing/2014/main" id="{7815F923-8BA7-B536-11C8-E6D6F1320D4E}"/>
              </a:ext>
            </a:extLst>
          </p:cNvPr>
          <p:cNvSpPr txBox="1">
            <a:spLocks/>
          </p:cNvSpPr>
          <p:nvPr/>
        </p:nvSpPr>
        <p:spPr>
          <a:xfrm>
            <a:off x="86144" y="0"/>
            <a:ext cx="5926016"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SSH - Transport Layer Protocol</a:t>
            </a:r>
          </a:p>
          <a:p>
            <a:pPr marL="0" indent="0">
              <a:spcBef>
                <a:spcPts val="0"/>
              </a:spcBef>
              <a:buNone/>
            </a:pPr>
            <a:endParaRPr lang="en-US" sz="1800" b="1" dirty="0"/>
          </a:p>
          <a:p>
            <a:pPr>
              <a:spcBef>
                <a:spcPts val="0"/>
              </a:spcBef>
            </a:pPr>
            <a:r>
              <a:rPr lang="en-US" sz="1400" b="1" dirty="0"/>
              <a:t>Key exchange: </a:t>
            </a:r>
            <a:r>
              <a:rPr lang="en-US" sz="1400" dirty="0"/>
              <a:t>This step is different for each type of the key. </a:t>
            </a:r>
          </a:p>
          <a:p>
            <a:pPr>
              <a:spcBef>
                <a:spcPts val="0"/>
              </a:spcBef>
            </a:pPr>
            <a:r>
              <a:rPr lang="en-US" sz="1400" dirty="0"/>
              <a:t>It is used to establish shared secret key: </a:t>
            </a:r>
            <a:r>
              <a:rPr lang="en-US" sz="1400" b="1" dirty="0"/>
              <a:t>Master Key </a:t>
            </a:r>
            <a:r>
              <a:rPr lang="en-US" sz="1400" dirty="0"/>
              <a:t>between client and server. Book shows example with Diffie–Hellman.</a:t>
            </a:r>
          </a:p>
          <a:p>
            <a:pPr lvl="1">
              <a:spcBef>
                <a:spcPts val="0"/>
              </a:spcBef>
            </a:pPr>
            <a:r>
              <a:rPr lang="en-US" sz="1000" dirty="0"/>
              <a:t>p: large prime number - publicly known</a:t>
            </a:r>
          </a:p>
          <a:p>
            <a:pPr lvl="1">
              <a:spcBef>
                <a:spcPts val="0"/>
              </a:spcBef>
            </a:pPr>
            <a:r>
              <a:rPr lang="en-US" sz="1000" dirty="0"/>
              <a:t>g: a generator  - publicly known</a:t>
            </a:r>
          </a:p>
          <a:p>
            <a:pPr lvl="1">
              <a:spcBef>
                <a:spcPts val="0"/>
              </a:spcBef>
            </a:pPr>
            <a:r>
              <a:rPr lang="en-US" sz="1000" dirty="0"/>
              <a:t>A- Alice’s private key - private</a:t>
            </a:r>
          </a:p>
          <a:p>
            <a:pPr lvl="1">
              <a:spcBef>
                <a:spcPts val="0"/>
              </a:spcBef>
            </a:pPr>
            <a:r>
              <a:rPr lang="en-US" sz="1000" dirty="0"/>
              <a:t>B-Bob’s private key - private</a:t>
            </a:r>
          </a:p>
          <a:p>
            <a:pPr lvl="1">
              <a:spcBef>
                <a:spcPts val="0"/>
              </a:spcBef>
            </a:pPr>
            <a:r>
              <a:rPr lang="en-US" sz="1200" dirty="0"/>
              <a:t>Alice computes her public key = </a:t>
            </a:r>
            <a:r>
              <a:rPr lang="en-US" sz="1200" dirty="0" err="1"/>
              <a:t>A_public</a:t>
            </a:r>
            <a:r>
              <a:rPr lang="en-US" sz="1200" dirty="0"/>
              <a:t> = </a:t>
            </a:r>
            <a:r>
              <a:rPr lang="en-US" sz="1200" dirty="0" err="1"/>
              <a:t>g^A</a:t>
            </a:r>
            <a:r>
              <a:rPr lang="en-US" sz="1200" dirty="0"/>
              <a:t> mod p</a:t>
            </a:r>
          </a:p>
          <a:p>
            <a:pPr lvl="2">
              <a:spcBef>
                <a:spcPts val="0"/>
              </a:spcBef>
            </a:pPr>
            <a:r>
              <a:rPr lang="en-US" sz="1000" dirty="0"/>
              <a:t>Sends it to Bob</a:t>
            </a:r>
          </a:p>
          <a:p>
            <a:pPr lvl="2">
              <a:spcBef>
                <a:spcPts val="0"/>
              </a:spcBef>
            </a:pPr>
            <a:r>
              <a:rPr lang="en-US" sz="1000" dirty="0"/>
              <a:t>Same is done by Bob</a:t>
            </a:r>
          </a:p>
          <a:p>
            <a:pPr lvl="1">
              <a:spcBef>
                <a:spcPts val="0"/>
              </a:spcBef>
            </a:pPr>
            <a:r>
              <a:rPr lang="en-US" sz="1200" dirty="0"/>
              <a:t>Alice and Bob calculate shared key =&gt; (</a:t>
            </a:r>
            <a:r>
              <a:rPr lang="en-US" sz="1200" dirty="0" err="1"/>
              <a:t>A_public</a:t>
            </a:r>
            <a:r>
              <a:rPr lang="en-US" sz="1200" dirty="0"/>
              <a:t>)^B mod p=(</a:t>
            </a:r>
            <a:r>
              <a:rPr lang="en-US" sz="1200" dirty="0" err="1"/>
              <a:t>B_public</a:t>
            </a:r>
            <a:r>
              <a:rPr lang="en-US" sz="1200" dirty="0"/>
              <a:t>)^A mod p</a:t>
            </a:r>
          </a:p>
          <a:p>
            <a:pPr marL="349250" lvl="1" indent="0">
              <a:spcBef>
                <a:spcPts val="0"/>
              </a:spcBef>
              <a:buNone/>
            </a:pPr>
            <a:endParaRPr lang="en-US" sz="1400" dirty="0"/>
          </a:p>
          <a:p>
            <a:pPr>
              <a:spcBef>
                <a:spcPts val="0"/>
              </a:spcBef>
            </a:pPr>
            <a:endParaRPr lang="en-US" sz="1600" dirty="0"/>
          </a:p>
          <a:p>
            <a:pPr>
              <a:spcBef>
                <a:spcPts val="0"/>
              </a:spcBef>
            </a:pPr>
            <a:endParaRPr lang="en-US" sz="1600" dirty="0"/>
          </a:p>
          <a:p>
            <a:pPr lvl="1">
              <a:spcBef>
                <a:spcPts val="0"/>
              </a:spcBef>
            </a:pPr>
            <a:endParaRPr lang="en-US" sz="1600" dirty="0"/>
          </a:p>
          <a:p>
            <a:pPr lvl="1">
              <a:spcBef>
                <a:spcPts val="0"/>
              </a:spcBef>
            </a:pPr>
            <a:endParaRPr lang="en-US" sz="1600" dirty="0"/>
          </a:p>
          <a:p>
            <a:pPr>
              <a:spcBef>
                <a:spcPts val="0"/>
              </a:spcBef>
            </a:pPr>
            <a:endParaRPr lang="en-US" sz="1800" dirty="0"/>
          </a:p>
          <a:p>
            <a:pPr>
              <a:spcBef>
                <a:spcPts val="0"/>
              </a:spcBef>
            </a:pPr>
            <a:endParaRPr lang="en-US" sz="1800" dirty="0"/>
          </a:p>
        </p:txBody>
      </p:sp>
      <p:sp>
        <p:nvSpPr>
          <p:cNvPr id="2" name="Content Placeholder 2">
            <a:extLst>
              <a:ext uri="{FF2B5EF4-FFF2-40B4-BE49-F238E27FC236}">
                <a16:creationId xmlns:a16="http://schemas.microsoft.com/office/drawing/2014/main" id="{BC066355-FBB0-6B9F-1D92-C669C3DEC429}"/>
              </a:ext>
            </a:extLst>
          </p:cNvPr>
          <p:cNvSpPr txBox="1">
            <a:spLocks/>
          </p:cNvSpPr>
          <p:nvPr/>
        </p:nvSpPr>
        <p:spPr>
          <a:xfrm>
            <a:off x="179512" y="3068960"/>
            <a:ext cx="4770827" cy="3088277"/>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b="1" dirty="0"/>
              <a:t>End of key exchange: </a:t>
            </a:r>
            <a:r>
              <a:rPr lang="en-US" sz="1400" dirty="0"/>
              <a:t>Signaled with SSH_MSG_NEWKEYS</a:t>
            </a:r>
          </a:p>
          <a:p>
            <a:pPr>
              <a:spcBef>
                <a:spcPts val="0"/>
              </a:spcBef>
            </a:pPr>
            <a:r>
              <a:rPr lang="en-US" sz="1400" dirty="0"/>
              <a:t>At this point both parties can start using the shared key.</a:t>
            </a:r>
          </a:p>
          <a:p>
            <a:pPr marL="0" indent="0">
              <a:spcBef>
                <a:spcPts val="0"/>
              </a:spcBef>
              <a:buNone/>
            </a:pPr>
            <a:endParaRPr lang="en-US" sz="1400" dirty="0"/>
          </a:p>
          <a:p>
            <a:pPr marL="0" indent="0">
              <a:spcBef>
                <a:spcPts val="0"/>
              </a:spcBef>
              <a:buNone/>
            </a:pPr>
            <a:endParaRPr lang="en-US" sz="1400" dirty="0"/>
          </a:p>
          <a:p>
            <a:pPr marL="0" indent="0">
              <a:spcBef>
                <a:spcPts val="0"/>
              </a:spcBef>
              <a:buNone/>
            </a:pPr>
            <a:r>
              <a:rPr lang="en-US" sz="1400" dirty="0"/>
              <a:t> </a:t>
            </a:r>
            <a:endParaRPr lang="en-US" sz="1200" dirty="0"/>
          </a:p>
        </p:txBody>
      </p:sp>
      <p:pic>
        <p:nvPicPr>
          <p:cNvPr id="3" name="Picture 2" descr="A diagram of a server&#10;&#10;Description automatically generated with medium confidence">
            <a:extLst>
              <a:ext uri="{FF2B5EF4-FFF2-40B4-BE49-F238E27FC236}">
                <a16:creationId xmlns:a16="http://schemas.microsoft.com/office/drawing/2014/main" id="{96A0BD4C-51BC-6FB6-2801-B94110FE45E1}"/>
              </a:ext>
            </a:extLst>
          </p:cNvPr>
          <p:cNvPicPr>
            <a:picLocks noChangeAspect="1"/>
          </p:cNvPicPr>
          <p:nvPr/>
        </p:nvPicPr>
        <p:blipFill>
          <a:blip r:embed="rId3"/>
          <a:stretch>
            <a:fillRect/>
          </a:stretch>
        </p:blipFill>
        <p:spPr>
          <a:xfrm>
            <a:off x="6012160" y="4149080"/>
            <a:ext cx="2618727" cy="2636912"/>
          </a:xfrm>
          <a:prstGeom prst="rect">
            <a:avLst/>
          </a:prstGeom>
        </p:spPr>
      </p:pic>
      <p:sp>
        <p:nvSpPr>
          <p:cNvPr id="7" name="Content Placeholder 2">
            <a:extLst>
              <a:ext uri="{FF2B5EF4-FFF2-40B4-BE49-F238E27FC236}">
                <a16:creationId xmlns:a16="http://schemas.microsoft.com/office/drawing/2014/main" id="{5DED3CCD-3E2F-4EFD-C3F6-911F3EAB6D19}"/>
              </a:ext>
            </a:extLst>
          </p:cNvPr>
          <p:cNvSpPr txBox="1">
            <a:spLocks/>
          </p:cNvSpPr>
          <p:nvPr/>
        </p:nvSpPr>
        <p:spPr>
          <a:xfrm>
            <a:off x="82525" y="3993570"/>
            <a:ext cx="6001643" cy="3088277"/>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b="1" dirty="0"/>
              <a:t>Service request: </a:t>
            </a:r>
            <a:r>
              <a:rPr lang="en-US" sz="1400" dirty="0"/>
              <a:t>The client sends an </a:t>
            </a:r>
            <a:r>
              <a:rPr lang="en-US" sz="1400" b="1" dirty="0"/>
              <a:t>SSH_MSG_SERVICE_ REQUEST </a:t>
            </a:r>
            <a:r>
              <a:rPr lang="en-US" sz="1400" dirty="0"/>
              <a:t>packet to request either the </a:t>
            </a:r>
            <a:r>
              <a:rPr lang="en-US" sz="1400" b="1" dirty="0"/>
              <a:t>User Authentication </a:t>
            </a:r>
            <a:r>
              <a:rPr lang="en-US" sz="1400" dirty="0"/>
              <a:t>or the </a:t>
            </a:r>
            <a:r>
              <a:rPr lang="en-US" sz="1400" b="1" dirty="0"/>
              <a:t>Connection Protocol. </a:t>
            </a:r>
          </a:p>
          <a:p>
            <a:pPr>
              <a:spcBef>
                <a:spcPts val="0"/>
              </a:spcBef>
            </a:pPr>
            <a:r>
              <a:rPr lang="en-US" sz="1400" dirty="0">
                <a:solidFill>
                  <a:srgbClr val="FF0000"/>
                </a:solidFill>
              </a:rPr>
              <a:t>Subsequent</a:t>
            </a:r>
            <a:r>
              <a:rPr lang="en-US" sz="1400" dirty="0"/>
              <a:t> to this, all data is exchanged as the payload of an SSH Transport Layer packet, </a:t>
            </a:r>
            <a:r>
              <a:rPr lang="en-US" sz="1400" dirty="0">
                <a:solidFill>
                  <a:srgbClr val="FF0000"/>
                </a:solidFill>
              </a:rPr>
              <a:t>protected by encryption and MAC</a:t>
            </a:r>
            <a:r>
              <a:rPr lang="en-US" sz="1400" dirty="0"/>
              <a:t>.</a:t>
            </a:r>
          </a:p>
        </p:txBody>
      </p:sp>
    </p:spTree>
    <p:extLst>
      <p:ext uri="{BB962C8B-B14F-4D97-AF65-F5344CB8AC3E}">
        <p14:creationId xmlns:p14="http://schemas.microsoft.com/office/powerpoint/2010/main" val="2995954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par>
                                <p:cTn id="13" presetID="5"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heckerboard(across)">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815F923-8BA7-B536-11C8-E6D6F1320D4E}"/>
              </a:ext>
            </a:extLst>
          </p:cNvPr>
          <p:cNvSpPr txBox="1">
            <a:spLocks/>
          </p:cNvSpPr>
          <p:nvPr/>
        </p:nvSpPr>
        <p:spPr>
          <a:xfrm>
            <a:off x="86144" y="1"/>
            <a:ext cx="5926016" cy="1556792"/>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SSH – User Authentication</a:t>
            </a:r>
            <a:endParaRPr lang="en-US" sz="1800" b="1" dirty="0"/>
          </a:p>
          <a:p>
            <a:pPr>
              <a:spcBef>
                <a:spcPts val="0"/>
              </a:spcBef>
            </a:pPr>
            <a:r>
              <a:rPr lang="en-US" sz="1800" dirty="0"/>
              <a:t>Three types of messages </a:t>
            </a:r>
          </a:p>
          <a:p>
            <a:pPr lvl="1">
              <a:spcBef>
                <a:spcPts val="0"/>
              </a:spcBef>
            </a:pPr>
            <a:r>
              <a:rPr lang="en-US" sz="1400" dirty="0"/>
              <a:t>Authentication request</a:t>
            </a:r>
          </a:p>
          <a:p>
            <a:pPr lvl="1">
              <a:spcBef>
                <a:spcPts val="0"/>
              </a:spcBef>
            </a:pPr>
            <a:r>
              <a:rPr lang="en-US" sz="1400" dirty="0"/>
              <a:t>Authentication failure</a:t>
            </a:r>
          </a:p>
          <a:p>
            <a:pPr lvl="1">
              <a:spcBef>
                <a:spcPts val="0"/>
              </a:spcBef>
            </a:pPr>
            <a:r>
              <a:rPr lang="en-US" sz="1400" dirty="0"/>
              <a:t>Authentication success </a:t>
            </a:r>
          </a:p>
          <a:p>
            <a:pPr lvl="1">
              <a:spcBef>
                <a:spcPts val="0"/>
              </a:spcBef>
            </a:pPr>
            <a:endParaRPr lang="en-US" sz="1400" dirty="0"/>
          </a:p>
          <a:p>
            <a:pPr marL="349250" lvl="1" indent="0">
              <a:spcBef>
                <a:spcPts val="0"/>
              </a:spcBef>
              <a:buNone/>
            </a:pPr>
            <a:endParaRPr lang="en-US" sz="1600" dirty="0"/>
          </a:p>
          <a:p>
            <a:pPr>
              <a:spcBef>
                <a:spcPts val="0"/>
              </a:spcBef>
            </a:pPr>
            <a:endParaRPr lang="en-US" sz="1800" dirty="0"/>
          </a:p>
        </p:txBody>
      </p:sp>
      <p:sp>
        <p:nvSpPr>
          <p:cNvPr id="2" name="Content Placeholder 2">
            <a:extLst>
              <a:ext uri="{FF2B5EF4-FFF2-40B4-BE49-F238E27FC236}">
                <a16:creationId xmlns:a16="http://schemas.microsoft.com/office/drawing/2014/main" id="{BC066355-FBB0-6B9F-1D92-C669C3DEC429}"/>
              </a:ext>
            </a:extLst>
          </p:cNvPr>
          <p:cNvSpPr txBox="1">
            <a:spLocks/>
          </p:cNvSpPr>
          <p:nvPr/>
        </p:nvSpPr>
        <p:spPr>
          <a:xfrm>
            <a:off x="5575721" y="96167"/>
            <a:ext cx="3459649" cy="2900786"/>
          </a:xfrm>
          <a:prstGeom prst="rect">
            <a:avLst/>
          </a:prstGeom>
          <a:ln w="25400">
            <a:solidFill>
              <a:schemeClr val="accent1"/>
            </a:solidFill>
          </a:ln>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b="1" dirty="0"/>
              <a:t>Authentication request</a:t>
            </a:r>
            <a:endParaRPr lang="en-US" sz="1400" dirty="0"/>
          </a:p>
          <a:p>
            <a:pPr>
              <a:spcBef>
                <a:spcPts val="0"/>
              </a:spcBef>
            </a:pPr>
            <a:endParaRPr lang="en-US" sz="1400" dirty="0"/>
          </a:p>
          <a:p>
            <a:pPr marL="0" indent="0">
              <a:spcBef>
                <a:spcPts val="0"/>
              </a:spcBef>
              <a:buNone/>
            </a:pPr>
            <a:r>
              <a:rPr lang="en-US" sz="1400" b="1" dirty="0"/>
              <a:t>Byte </a:t>
            </a:r>
            <a:r>
              <a:rPr lang="en-US" sz="1400" dirty="0"/>
              <a:t>      SSH_MSG_USERAUTH_REQUEST </a:t>
            </a:r>
          </a:p>
          <a:p>
            <a:pPr marL="0" indent="0">
              <a:spcBef>
                <a:spcPts val="0"/>
              </a:spcBef>
              <a:buNone/>
            </a:pPr>
            <a:r>
              <a:rPr lang="en-US" sz="1400" dirty="0"/>
              <a:t>	(code 50 and value 0x32)</a:t>
            </a:r>
          </a:p>
          <a:p>
            <a:pPr marL="0" indent="0">
              <a:spcBef>
                <a:spcPts val="0"/>
              </a:spcBef>
              <a:buNone/>
            </a:pPr>
            <a:r>
              <a:rPr lang="en-US" sz="1400" b="1" dirty="0"/>
              <a:t>string</a:t>
            </a:r>
            <a:r>
              <a:rPr lang="en-US" sz="1400" dirty="0"/>
              <a:t>     user name</a:t>
            </a:r>
          </a:p>
          <a:p>
            <a:pPr marL="0" indent="0">
              <a:spcBef>
                <a:spcPts val="0"/>
              </a:spcBef>
              <a:buNone/>
            </a:pPr>
            <a:r>
              <a:rPr lang="en-US" sz="1400" b="1" dirty="0"/>
              <a:t>string</a:t>
            </a:r>
            <a:r>
              <a:rPr lang="en-US" sz="1400" dirty="0"/>
              <a:t>     service name</a:t>
            </a:r>
          </a:p>
          <a:p>
            <a:pPr marL="0" indent="0">
              <a:spcBef>
                <a:spcPts val="0"/>
              </a:spcBef>
              <a:buNone/>
            </a:pPr>
            <a:r>
              <a:rPr lang="en-US" sz="1400" b="1" dirty="0"/>
              <a:t>string</a:t>
            </a:r>
            <a:r>
              <a:rPr lang="en-US" sz="1400" dirty="0"/>
              <a:t>     method name</a:t>
            </a:r>
          </a:p>
          <a:p>
            <a:pPr marL="0" indent="0">
              <a:spcBef>
                <a:spcPts val="0"/>
              </a:spcBef>
              <a:buNone/>
            </a:pPr>
            <a:r>
              <a:rPr lang="en-US" sz="1400" dirty="0"/>
              <a:t>[method-specific fields]</a:t>
            </a:r>
          </a:p>
          <a:p>
            <a:pPr marL="0" indent="0">
              <a:spcBef>
                <a:spcPts val="0"/>
              </a:spcBef>
              <a:buNone/>
            </a:pPr>
            <a:endParaRPr lang="en-US" sz="1400" dirty="0"/>
          </a:p>
          <a:p>
            <a:pPr marL="0" indent="0">
              <a:spcBef>
                <a:spcPts val="0"/>
              </a:spcBef>
              <a:buNone/>
            </a:pPr>
            <a:r>
              <a:rPr lang="en-US" sz="1400" b="1" dirty="0"/>
              <a:t>Examples</a:t>
            </a:r>
          </a:p>
          <a:p>
            <a:pPr marL="0" indent="0">
              <a:spcBef>
                <a:spcPts val="0"/>
              </a:spcBef>
              <a:buNone/>
            </a:pPr>
            <a:r>
              <a:rPr lang="en-US" sz="1400" b="1" dirty="0"/>
              <a:t>user name:</a:t>
            </a:r>
            <a:r>
              <a:rPr lang="en-US" sz="1400" dirty="0"/>
              <a:t> root, admin, </a:t>
            </a:r>
            <a:r>
              <a:rPr lang="en-US" sz="1400" dirty="0" err="1"/>
              <a:t>bcharyyev</a:t>
            </a:r>
            <a:endParaRPr lang="en-US" sz="1400" dirty="0"/>
          </a:p>
          <a:p>
            <a:pPr marL="0" indent="0">
              <a:spcBef>
                <a:spcPts val="0"/>
              </a:spcBef>
              <a:buNone/>
            </a:pPr>
            <a:r>
              <a:rPr lang="en-US" sz="1400" b="1" dirty="0"/>
              <a:t>service name:</a:t>
            </a:r>
            <a:r>
              <a:rPr lang="en-US" sz="1400" dirty="0"/>
              <a:t> </a:t>
            </a:r>
            <a:r>
              <a:rPr lang="en-US" sz="1400" dirty="0" err="1"/>
              <a:t>ssh</a:t>
            </a:r>
            <a:r>
              <a:rPr lang="en-US" sz="1400" dirty="0"/>
              <a:t>-connection, sftp</a:t>
            </a:r>
          </a:p>
          <a:p>
            <a:pPr marL="0" indent="0">
              <a:spcBef>
                <a:spcPts val="0"/>
              </a:spcBef>
              <a:buNone/>
            </a:pPr>
            <a:r>
              <a:rPr lang="en-US" sz="1400" b="1" dirty="0"/>
              <a:t>method name: </a:t>
            </a:r>
            <a:r>
              <a:rPr lang="en-US" sz="1400" dirty="0"/>
              <a:t>password, public key</a:t>
            </a:r>
            <a:endParaRPr lang="en-US" sz="1400" b="1" dirty="0"/>
          </a:p>
          <a:p>
            <a:pPr marL="0" indent="0">
              <a:spcBef>
                <a:spcPts val="0"/>
              </a:spcBef>
              <a:buNone/>
            </a:pPr>
            <a:endParaRPr lang="en-US" sz="1400" dirty="0"/>
          </a:p>
          <a:p>
            <a:pPr marL="0" indent="0">
              <a:spcBef>
                <a:spcPts val="0"/>
              </a:spcBef>
              <a:buNone/>
            </a:pPr>
            <a:endParaRPr lang="en-US" sz="1400" dirty="0"/>
          </a:p>
          <a:p>
            <a:pPr marL="0" indent="0">
              <a:spcBef>
                <a:spcPts val="0"/>
              </a:spcBef>
              <a:buNone/>
            </a:pPr>
            <a:endParaRPr lang="en-US" sz="1400" dirty="0"/>
          </a:p>
          <a:p>
            <a:pPr marL="0" indent="0">
              <a:spcBef>
                <a:spcPts val="0"/>
              </a:spcBef>
              <a:buNone/>
            </a:pPr>
            <a:r>
              <a:rPr lang="en-US" sz="1400" dirty="0"/>
              <a:t> </a:t>
            </a:r>
            <a:endParaRPr lang="en-US" sz="1200" dirty="0"/>
          </a:p>
        </p:txBody>
      </p:sp>
      <p:sp>
        <p:nvSpPr>
          <p:cNvPr id="8" name="Content Placeholder 2">
            <a:extLst>
              <a:ext uri="{FF2B5EF4-FFF2-40B4-BE49-F238E27FC236}">
                <a16:creationId xmlns:a16="http://schemas.microsoft.com/office/drawing/2014/main" id="{2DDCF37A-1311-88E4-9E7C-1755CCAB9DFA}"/>
              </a:ext>
            </a:extLst>
          </p:cNvPr>
          <p:cNvSpPr txBox="1">
            <a:spLocks/>
          </p:cNvSpPr>
          <p:nvPr/>
        </p:nvSpPr>
        <p:spPr>
          <a:xfrm>
            <a:off x="5575720" y="3091272"/>
            <a:ext cx="3459649" cy="2497968"/>
          </a:xfrm>
          <a:prstGeom prst="rect">
            <a:avLst/>
          </a:prstGeom>
          <a:ln w="25400">
            <a:solidFill>
              <a:schemeClr val="accent1"/>
            </a:solidFill>
          </a:ln>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b="1" dirty="0"/>
              <a:t>Authentication failure</a:t>
            </a:r>
            <a:endParaRPr lang="en-US" sz="1400" dirty="0"/>
          </a:p>
          <a:p>
            <a:pPr>
              <a:spcBef>
                <a:spcPts val="0"/>
              </a:spcBef>
            </a:pPr>
            <a:endParaRPr lang="en-US" sz="1400" dirty="0"/>
          </a:p>
          <a:p>
            <a:pPr marL="0" indent="0">
              <a:spcBef>
                <a:spcPts val="0"/>
              </a:spcBef>
              <a:buNone/>
            </a:pPr>
            <a:r>
              <a:rPr lang="en-US" sz="1400" b="1" dirty="0"/>
              <a:t>Byte </a:t>
            </a:r>
            <a:r>
              <a:rPr lang="en-US" sz="1400" dirty="0"/>
              <a:t>           SSH_MSG_USERAUTH_FAILURE</a:t>
            </a:r>
          </a:p>
          <a:p>
            <a:pPr marL="0" indent="0">
              <a:spcBef>
                <a:spcPts val="0"/>
              </a:spcBef>
              <a:buNone/>
            </a:pPr>
            <a:r>
              <a:rPr lang="en-US" sz="1400" dirty="0"/>
              <a:t>	(code 51 and value 0x33)</a:t>
            </a:r>
          </a:p>
          <a:p>
            <a:pPr marL="0" indent="0">
              <a:spcBef>
                <a:spcPts val="0"/>
              </a:spcBef>
              <a:buNone/>
            </a:pPr>
            <a:r>
              <a:rPr lang="en-US" sz="1400" b="1" dirty="0"/>
              <a:t>string</a:t>
            </a:r>
            <a:r>
              <a:rPr lang="en-US" sz="1400" dirty="0"/>
              <a:t>         name-list</a:t>
            </a:r>
          </a:p>
          <a:p>
            <a:pPr marL="0" indent="0">
              <a:spcBef>
                <a:spcPts val="0"/>
              </a:spcBef>
              <a:buNone/>
            </a:pPr>
            <a:r>
              <a:rPr lang="en-US" sz="1400" b="1" dirty="0" err="1"/>
              <a:t>boolean</a:t>
            </a:r>
            <a:r>
              <a:rPr lang="en-US" sz="1400" dirty="0"/>
              <a:t>    partial success</a:t>
            </a:r>
          </a:p>
          <a:p>
            <a:pPr marL="0" indent="0">
              <a:spcBef>
                <a:spcPts val="0"/>
              </a:spcBef>
              <a:buNone/>
            </a:pPr>
            <a:endParaRPr lang="en-US" sz="1400" dirty="0"/>
          </a:p>
          <a:p>
            <a:pPr marL="0" indent="0">
              <a:spcBef>
                <a:spcPts val="0"/>
              </a:spcBef>
              <a:buNone/>
            </a:pPr>
            <a:r>
              <a:rPr lang="en-US" sz="1400" b="1" dirty="0"/>
              <a:t>Examples</a:t>
            </a:r>
          </a:p>
          <a:p>
            <a:pPr marL="0" indent="0">
              <a:spcBef>
                <a:spcPts val="0"/>
              </a:spcBef>
              <a:buNone/>
            </a:pPr>
            <a:r>
              <a:rPr lang="en-US" sz="1400" b="1" dirty="0"/>
              <a:t>name-list:</a:t>
            </a:r>
            <a:r>
              <a:rPr lang="en-US" sz="1400" dirty="0"/>
              <a:t> password, public key</a:t>
            </a:r>
            <a:endParaRPr lang="en-US" sz="1400" b="1" dirty="0"/>
          </a:p>
          <a:p>
            <a:pPr marL="0" indent="0">
              <a:spcBef>
                <a:spcPts val="0"/>
              </a:spcBef>
              <a:buNone/>
            </a:pPr>
            <a:r>
              <a:rPr lang="en-US" sz="1400" b="1" dirty="0"/>
              <a:t>partial success:</a:t>
            </a:r>
            <a:r>
              <a:rPr lang="en-US" sz="1400" dirty="0"/>
              <a:t> Indicates if any previous authentication attempt succeeded.</a:t>
            </a:r>
          </a:p>
          <a:p>
            <a:pPr marL="0" indent="0">
              <a:spcBef>
                <a:spcPts val="0"/>
              </a:spcBef>
              <a:buNone/>
            </a:pPr>
            <a:endParaRPr lang="en-US" sz="1400" dirty="0"/>
          </a:p>
          <a:p>
            <a:pPr marL="0" indent="0">
              <a:spcBef>
                <a:spcPts val="0"/>
              </a:spcBef>
              <a:buNone/>
            </a:pPr>
            <a:r>
              <a:rPr lang="en-US" sz="1400" dirty="0"/>
              <a:t> </a:t>
            </a:r>
            <a:endParaRPr lang="en-US" sz="1200" dirty="0"/>
          </a:p>
        </p:txBody>
      </p:sp>
      <p:sp>
        <p:nvSpPr>
          <p:cNvPr id="9" name="Content Placeholder 2">
            <a:extLst>
              <a:ext uri="{FF2B5EF4-FFF2-40B4-BE49-F238E27FC236}">
                <a16:creationId xmlns:a16="http://schemas.microsoft.com/office/drawing/2014/main" id="{BB7E3C39-78C5-8CD5-0C95-744C5B326D23}"/>
              </a:ext>
            </a:extLst>
          </p:cNvPr>
          <p:cNvSpPr txBox="1">
            <a:spLocks/>
          </p:cNvSpPr>
          <p:nvPr/>
        </p:nvSpPr>
        <p:spPr>
          <a:xfrm>
            <a:off x="5575720" y="5706960"/>
            <a:ext cx="3459649" cy="1008112"/>
          </a:xfrm>
          <a:prstGeom prst="rect">
            <a:avLst/>
          </a:prstGeom>
          <a:ln w="25400">
            <a:solidFill>
              <a:schemeClr val="accent1"/>
            </a:solidFill>
          </a:ln>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400" b="1" dirty="0"/>
              <a:t>Authentication success</a:t>
            </a:r>
            <a:endParaRPr lang="en-US" sz="1400" dirty="0"/>
          </a:p>
          <a:p>
            <a:pPr>
              <a:spcBef>
                <a:spcPts val="0"/>
              </a:spcBef>
            </a:pPr>
            <a:endParaRPr lang="en-US" sz="1400" dirty="0"/>
          </a:p>
          <a:p>
            <a:pPr marL="0" indent="0">
              <a:spcBef>
                <a:spcPts val="0"/>
              </a:spcBef>
              <a:buNone/>
            </a:pPr>
            <a:r>
              <a:rPr lang="en-US" sz="1400" b="1" dirty="0"/>
              <a:t>Byte </a:t>
            </a:r>
            <a:r>
              <a:rPr lang="en-US" sz="1400" dirty="0"/>
              <a:t>           SSH_MSG_USERAUTH_SUCCESS</a:t>
            </a:r>
          </a:p>
          <a:p>
            <a:pPr marL="0" indent="0">
              <a:spcBef>
                <a:spcPts val="0"/>
              </a:spcBef>
              <a:buNone/>
            </a:pPr>
            <a:r>
              <a:rPr lang="en-US" sz="1400" dirty="0"/>
              <a:t>	(code 52 and value 0x34)</a:t>
            </a:r>
          </a:p>
          <a:p>
            <a:pPr marL="0" indent="0">
              <a:spcBef>
                <a:spcPts val="0"/>
              </a:spcBef>
              <a:buNone/>
            </a:pPr>
            <a:endParaRPr lang="en-US" sz="1400" dirty="0"/>
          </a:p>
          <a:p>
            <a:pPr marL="0" indent="0">
              <a:spcBef>
                <a:spcPts val="0"/>
              </a:spcBef>
              <a:buNone/>
            </a:pPr>
            <a:r>
              <a:rPr lang="en-US" sz="1400" dirty="0"/>
              <a:t> </a:t>
            </a:r>
            <a:endParaRPr lang="en-US" sz="1200" dirty="0"/>
          </a:p>
        </p:txBody>
      </p:sp>
      <p:sp>
        <p:nvSpPr>
          <p:cNvPr id="10" name="Content Placeholder 2">
            <a:extLst>
              <a:ext uri="{FF2B5EF4-FFF2-40B4-BE49-F238E27FC236}">
                <a16:creationId xmlns:a16="http://schemas.microsoft.com/office/drawing/2014/main" id="{8D3EB1D2-55C6-3C05-8D68-F49646FDF117}"/>
              </a:ext>
            </a:extLst>
          </p:cNvPr>
          <p:cNvSpPr txBox="1">
            <a:spLocks/>
          </p:cNvSpPr>
          <p:nvPr/>
        </p:nvSpPr>
        <p:spPr>
          <a:xfrm>
            <a:off x="0" y="1196752"/>
            <a:ext cx="5364088" cy="5855942"/>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Message Exchange Steps</a:t>
            </a:r>
            <a:endParaRPr lang="en-US" sz="1800" b="1" dirty="0"/>
          </a:p>
          <a:p>
            <a:pPr marL="0" indent="0">
              <a:spcBef>
                <a:spcPts val="0"/>
              </a:spcBef>
              <a:buNone/>
            </a:pPr>
            <a:r>
              <a:rPr lang="en-US" sz="1400" b="1" dirty="0"/>
              <a:t>1. Initial Request: </a:t>
            </a:r>
            <a:r>
              <a:rPr lang="en-US" sz="1400" dirty="0"/>
              <a:t>The client sends a SSH_MSG_USERAUTH_REQUEST with the </a:t>
            </a:r>
            <a:r>
              <a:rPr lang="en-US" sz="1400" dirty="0">
                <a:solidFill>
                  <a:srgbClr val="FF0000"/>
                </a:solidFill>
              </a:rPr>
              <a:t>method set to none</a:t>
            </a:r>
            <a:r>
              <a:rPr lang="en-US" sz="1400" dirty="0"/>
              <a:t>.</a:t>
            </a:r>
          </a:p>
          <a:p>
            <a:pPr>
              <a:spcBef>
                <a:spcPts val="0"/>
              </a:spcBef>
            </a:pPr>
            <a:r>
              <a:rPr lang="en-US" sz="1400" dirty="0"/>
              <a:t>This is essentially a probe to check the validity of the user name.</a:t>
            </a:r>
          </a:p>
          <a:p>
            <a:pPr marL="0" indent="0">
              <a:spcBef>
                <a:spcPts val="0"/>
              </a:spcBef>
              <a:buNone/>
            </a:pPr>
            <a:endParaRPr lang="en-US" sz="1400" dirty="0"/>
          </a:p>
          <a:p>
            <a:pPr marL="0" indent="0">
              <a:spcBef>
                <a:spcPts val="0"/>
              </a:spcBef>
              <a:buNone/>
            </a:pPr>
            <a:r>
              <a:rPr lang="en-US" sz="1400" b="1" dirty="0"/>
              <a:t>2. Username Validation:</a:t>
            </a:r>
            <a:r>
              <a:rPr lang="en-US" sz="1400" dirty="0"/>
              <a:t> If the </a:t>
            </a:r>
            <a:r>
              <a:rPr lang="en-US" sz="1400" dirty="0">
                <a:solidFill>
                  <a:srgbClr val="FF0000"/>
                </a:solidFill>
              </a:rPr>
              <a:t>user name is invalid</a:t>
            </a:r>
            <a:r>
              <a:rPr lang="en-US" sz="1400" dirty="0"/>
              <a:t>, the server sends SSH_MSG_USERAUTH_</a:t>
            </a:r>
            <a:r>
              <a:rPr lang="en-US" sz="1400" dirty="0">
                <a:solidFill>
                  <a:srgbClr val="FF0000"/>
                </a:solidFill>
              </a:rPr>
              <a:t>FAILURE</a:t>
            </a:r>
            <a:r>
              <a:rPr lang="en-US" sz="1400" dirty="0"/>
              <a:t> with </a:t>
            </a:r>
            <a:r>
              <a:rPr lang="en-US" sz="1400" dirty="0">
                <a:solidFill>
                  <a:srgbClr val="FF0000"/>
                </a:solidFill>
              </a:rPr>
              <a:t>no methods listed </a:t>
            </a:r>
            <a:r>
              <a:rPr lang="en-US" sz="1400" dirty="0"/>
              <a:t>and </a:t>
            </a:r>
            <a:r>
              <a:rPr lang="en-US" sz="1400" dirty="0">
                <a:solidFill>
                  <a:srgbClr val="FF0000"/>
                </a:solidFill>
              </a:rPr>
              <a:t>partial success = false.</a:t>
            </a:r>
          </a:p>
          <a:p>
            <a:pPr>
              <a:spcBef>
                <a:spcPts val="0"/>
              </a:spcBef>
            </a:pPr>
            <a:r>
              <a:rPr lang="en-US" sz="1400" dirty="0"/>
              <a:t>If the user name is </a:t>
            </a:r>
            <a:r>
              <a:rPr lang="en-US" sz="1400" dirty="0">
                <a:solidFill>
                  <a:srgbClr val="FF0000"/>
                </a:solidFill>
              </a:rPr>
              <a:t>valid</a:t>
            </a:r>
            <a:r>
              <a:rPr lang="en-US" sz="1400" dirty="0"/>
              <a:t>, the server responds with a SSH_MSG_USERAUTH_</a:t>
            </a:r>
            <a:r>
              <a:rPr lang="en-US" sz="1400" dirty="0">
                <a:solidFill>
                  <a:srgbClr val="FF0000"/>
                </a:solidFill>
              </a:rPr>
              <a:t>FAILURE</a:t>
            </a:r>
            <a:r>
              <a:rPr lang="en-US" sz="1400" dirty="0"/>
              <a:t> listing </a:t>
            </a:r>
            <a:r>
              <a:rPr lang="en-US" sz="1400" dirty="0">
                <a:solidFill>
                  <a:srgbClr val="FF0000"/>
                </a:solidFill>
              </a:rPr>
              <a:t>acceptable authentication methods</a:t>
            </a:r>
            <a:r>
              <a:rPr lang="en-US" sz="1400" dirty="0"/>
              <a:t>.</a:t>
            </a:r>
          </a:p>
          <a:p>
            <a:pPr marL="0" indent="0">
              <a:spcBef>
                <a:spcPts val="0"/>
              </a:spcBef>
              <a:buNone/>
            </a:pPr>
            <a:endParaRPr lang="en-US" sz="1400" b="1" dirty="0"/>
          </a:p>
          <a:p>
            <a:pPr marL="0" indent="0">
              <a:spcBef>
                <a:spcPts val="0"/>
              </a:spcBef>
              <a:buNone/>
            </a:pPr>
            <a:r>
              <a:rPr lang="en-US" sz="1400" b="1" dirty="0"/>
              <a:t>3. Authentication Method Selection: </a:t>
            </a:r>
            <a:r>
              <a:rPr lang="en-US" sz="1400" dirty="0"/>
              <a:t>The client </a:t>
            </a:r>
            <a:r>
              <a:rPr lang="en-US" sz="1400" dirty="0">
                <a:solidFill>
                  <a:srgbClr val="FF0000"/>
                </a:solidFill>
              </a:rPr>
              <a:t>selects</a:t>
            </a:r>
            <a:r>
              <a:rPr lang="en-US" sz="1400" dirty="0"/>
              <a:t> one of the listed </a:t>
            </a:r>
            <a:r>
              <a:rPr lang="en-US" sz="1400" dirty="0">
                <a:solidFill>
                  <a:srgbClr val="FF0000"/>
                </a:solidFill>
              </a:rPr>
              <a:t>methods</a:t>
            </a:r>
            <a:r>
              <a:rPr lang="en-US" sz="1400" dirty="0"/>
              <a:t> and sends another SSH_MSG_USERAUTH_</a:t>
            </a:r>
            <a:r>
              <a:rPr lang="en-US" sz="1400" dirty="0">
                <a:solidFill>
                  <a:srgbClr val="FF0000"/>
                </a:solidFill>
              </a:rPr>
              <a:t>REQUEST</a:t>
            </a:r>
            <a:r>
              <a:rPr lang="en-US" sz="1400" dirty="0"/>
              <a:t> with the chosen method and its required fields.</a:t>
            </a:r>
          </a:p>
          <a:p>
            <a:pPr marL="0" indent="0">
              <a:spcBef>
                <a:spcPts val="0"/>
              </a:spcBef>
              <a:buNone/>
            </a:pPr>
            <a:endParaRPr lang="en-US" sz="1400" b="1" dirty="0"/>
          </a:p>
          <a:p>
            <a:pPr marL="0" indent="0">
              <a:spcBef>
                <a:spcPts val="0"/>
              </a:spcBef>
              <a:buNone/>
            </a:pPr>
            <a:r>
              <a:rPr lang="en-US" sz="1400" b="1" dirty="0"/>
              <a:t>4. Method Execution:</a:t>
            </a:r>
            <a:r>
              <a:rPr lang="en-US" sz="1400" dirty="0"/>
              <a:t> The server and client </a:t>
            </a:r>
            <a:r>
              <a:rPr lang="en-US" sz="1400" dirty="0">
                <a:solidFill>
                  <a:srgbClr val="FF0000"/>
                </a:solidFill>
              </a:rPr>
              <a:t>may exchange additional messages</a:t>
            </a:r>
            <a:r>
              <a:rPr lang="en-US" sz="1400" dirty="0"/>
              <a:t> depending on the method (e.g., public key or password verification).</a:t>
            </a:r>
          </a:p>
          <a:p>
            <a:pPr marL="0" indent="0">
              <a:spcBef>
                <a:spcPts val="0"/>
              </a:spcBef>
              <a:buNone/>
            </a:pPr>
            <a:endParaRPr lang="en-US" sz="1400" b="1" dirty="0"/>
          </a:p>
          <a:p>
            <a:pPr marL="0" indent="0">
              <a:spcBef>
                <a:spcPts val="0"/>
              </a:spcBef>
              <a:buNone/>
            </a:pPr>
            <a:r>
              <a:rPr lang="en-US" sz="1400" b="1" dirty="0"/>
              <a:t>5. Partial Success or Final Success:</a:t>
            </a:r>
          </a:p>
          <a:p>
            <a:pPr>
              <a:spcBef>
                <a:spcPts val="0"/>
              </a:spcBef>
            </a:pPr>
            <a:r>
              <a:rPr lang="en-US" sz="1400" dirty="0"/>
              <a:t>If </a:t>
            </a:r>
            <a:r>
              <a:rPr lang="en-US" sz="1400" dirty="0">
                <a:solidFill>
                  <a:srgbClr val="FF0000"/>
                </a:solidFill>
              </a:rPr>
              <a:t>multiple</a:t>
            </a:r>
            <a:r>
              <a:rPr lang="en-US" sz="1400" dirty="0"/>
              <a:t> </a:t>
            </a:r>
            <a:r>
              <a:rPr lang="en-US" sz="1400" dirty="0">
                <a:solidFill>
                  <a:srgbClr val="FF0000"/>
                </a:solidFill>
              </a:rPr>
              <a:t>methods</a:t>
            </a:r>
            <a:r>
              <a:rPr lang="en-US" sz="1400" dirty="0"/>
              <a:t> are </a:t>
            </a:r>
            <a:r>
              <a:rPr lang="en-US" sz="1400" dirty="0">
                <a:solidFill>
                  <a:srgbClr val="FF0000"/>
                </a:solidFill>
              </a:rPr>
              <a:t>required</a:t>
            </a:r>
            <a:r>
              <a:rPr lang="en-US" sz="1400" dirty="0"/>
              <a:t>: On success of one method, the server sends SSH_MSG_USERAUTH_FAILURE </a:t>
            </a:r>
            <a:r>
              <a:rPr lang="en-US" sz="1400" dirty="0">
                <a:solidFill>
                  <a:srgbClr val="FF0000"/>
                </a:solidFill>
              </a:rPr>
              <a:t>with partial success = true.</a:t>
            </a:r>
          </a:p>
          <a:p>
            <a:pPr>
              <a:spcBef>
                <a:spcPts val="0"/>
              </a:spcBef>
            </a:pPr>
            <a:r>
              <a:rPr lang="en-US" sz="1400" dirty="0"/>
              <a:t>When all required methods succeed, the server sends SSH_MSG_USERAUTH_</a:t>
            </a:r>
            <a:r>
              <a:rPr lang="en-US" sz="1400" dirty="0">
                <a:solidFill>
                  <a:srgbClr val="FF0000"/>
                </a:solidFill>
              </a:rPr>
              <a:t>SUCCESS</a:t>
            </a:r>
            <a:r>
              <a:rPr lang="en-US" sz="1400" dirty="0"/>
              <a:t>.</a:t>
            </a:r>
          </a:p>
          <a:p>
            <a:pPr marL="349250" lvl="1" indent="0">
              <a:spcBef>
                <a:spcPts val="0"/>
              </a:spcBef>
              <a:buNone/>
            </a:pPr>
            <a:endParaRPr lang="en-US" sz="1400" dirty="0"/>
          </a:p>
          <a:p>
            <a:pPr>
              <a:spcBef>
                <a:spcPts val="0"/>
              </a:spcBef>
            </a:pPr>
            <a:endParaRPr lang="en-US" sz="1400" dirty="0"/>
          </a:p>
        </p:txBody>
      </p:sp>
    </p:spTree>
    <p:extLst>
      <p:ext uri="{BB962C8B-B14F-4D97-AF65-F5344CB8AC3E}">
        <p14:creationId xmlns:p14="http://schemas.microsoft.com/office/powerpoint/2010/main" val="154228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checkerboard(across)">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815F923-8BA7-B536-11C8-E6D6F1320D4E}"/>
              </a:ext>
            </a:extLst>
          </p:cNvPr>
          <p:cNvSpPr txBox="1">
            <a:spLocks/>
          </p:cNvSpPr>
          <p:nvPr/>
        </p:nvSpPr>
        <p:spPr>
          <a:xfrm>
            <a:off x="86144" y="1"/>
            <a:ext cx="5926016" cy="1556792"/>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1600" b="1" dirty="0"/>
              <a:t>SSH – Connection Protocol</a:t>
            </a:r>
            <a:endParaRPr lang="en-US" sz="1800" b="1" dirty="0"/>
          </a:p>
          <a:p>
            <a:pPr lvl="1">
              <a:spcBef>
                <a:spcPts val="0"/>
              </a:spcBef>
            </a:pPr>
            <a:endParaRPr lang="en-US" sz="1400" dirty="0"/>
          </a:p>
          <a:p>
            <a:pPr marL="349250" lvl="1" indent="0">
              <a:spcBef>
                <a:spcPts val="0"/>
              </a:spcBef>
              <a:buNone/>
            </a:pPr>
            <a:endParaRPr lang="en-US" sz="1600" dirty="0"/>
          </a:p>
          <a:p>
            <a:pPr>
              <a:spcBef>
                <a:spcPts val="0"/>
              </a:spcBef>
            </a:pPr>
            <a:endParaRPr lang="en-US" sz="1800" dirty="0"/>
          </a:p>
        </p:txBody>
      </p:sp>
      <p:sp>
        <p:nvSpPr>
          <p:cNvPr id="10" name="Content Placeholder 2">
            <a:extLst>
              <a:ext uri="{FF2B5EF4-FFF2-40B4-BE49-F238E27FC236}">
                <a16:creationId xmlns:a16="http://schemas.microsoft.com/office/drawing/2014/main" id="{8D3EB1D2-55C6-3C05-8D68-F49646FDF117}"/>
              </a:ext>
            </a:extLst>
          </p:cNvPr>
          <p:cNvSpPr txBox="1">
            <a:spLocks/>
          </p:cNvSpPr>
          <p:nvPr/>
        </p:nvSpPr>
        <p:spPr>
          <a:xfrm>
            <a:off x="179512" y="748861"/>
            <a:ext cx="8604448" cy="5855942"/>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eaLnBrk="0" fontAlgn="base" hangingPunct="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eaLnBrk="0" fontAlgn="base" hangingPunct="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eaLnBrk="0" fontAlgn="base" hangingPunct="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eaLnBrk="0" fontAlgn="base" hangingPunct="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pPr>
            <a:r>
              <a:rPr lang="en-US" sz="1600" dirty="0"/>
              <a:t>In </a:t>
            </a:r>
            <a:r>
              <a:rPr lang="en-US" sz="1600" b="1" dirty="0"/>
              <a:t>SSH Transport Layer Protocol </a:t>
            </a:r>
            <a:r>
              <a:rPr lang="en-US" sz="1600" dirty="0"/>
              <a:t>we established encryption, server authentication, and data integrity, in </a:t>
            </a:r>
            <a:r>
              <a:rPr lang="en-US" sz="1600" b="1" dirty="0"/>
              <a:t>SSH User Authentication Protocol </a:t>
            </a:r>
            <a:r>
              <a:rPr lang="en-US" sz="1600" dirty="0"/>
              <a:t>we authenticated client.</a:t>
            </a:r>
          </a:p>
          <a:p>
            <a:pPr>
              <a:spcBef>
                <a:spcPts val="0"/>
              </a:spcBef>
            </a:pPr>
            <a:endParaRPr lang="en-US" sz="1600" dirty="0"/>
          </a:p>
          <a:p>
            <a:pPr>
              <a:spcBef>
                <a:spcPts val="0"/>
              </a:spcBef>
            </a:pPr>
            <a:r>
              <a:rPr lang="en-US" sz="1600" dirty="0">
                <a:solidFill>
                  <a:srgbClr val="FF0000"/>
                </a:solidFill>
              </a:rPr>
              <a:t>Three packet types </a:t>
            </a:r>
            <a:r>
              <a:rPr lang="en-US" sz="1600" dirty="0"/>
              <a:t>are used. </a:t>
            </a:r>
          </a:p>
          <a:p>
            <a:pPr>
              <a:spcBef>
                <a:spcPts val="0"/>
              </a:spcBef>
            </a:pPr>
            <a:r>
              <a:rPr lang="en-US" sz="1600" dirty="0"/>
              <a:t>Note that for given SSH session we can have multiple channels.</a:t>
            </a:r>
          </a:p>
          <a:p>
            <a:pPr lvl="1">
              <a:spcBef>
                <a:spcPts val="0"/>
              </a:spcBef>
            </a:pPr>
            <a:r>
              <a:rPr lang="en-US" sz="1400" b="1" dirty="0"/>
              <a:t>Open Channel:</a:t>
            </a:r>
            <a:r>
              <a:rPr lang="en-US" sz="1400" dirty="0"/>
              <a:t> to open the channel between client and server</a:t>
            </a:r>
          </a:p>
          <a:p>
            <a:pPr lvl="1">
              <a:spcBef>
                <a:spcPts val="0"/>
              </a:spcBef>
            </a:pPr>
            <a:r>
              <a:rPr lang="en-US" sz="1400" b="1" dirty="0"/>
              <a:t>Data Transfer:</a:t>
            </a:r>
            <a:r>
              <a:rPr lang="en-US" sz="1400" dirty="0"/>
              <a:t> to transfer the data</a:t>
            </a:r>
          </a:p>
          <a:p>
            <a:pPr lvl="1">
              <a:spcBef>
                <a:spcPts val="0"/>
              </a:spcBef>
            </a:pPr>
            <a:r>
              <a:rPr lang="en-US" sz="1400" b="1" dirty="0"/>
              <a:t>Close Channel:</a:t>
            </a:r>
            <a:r>
              <a:rPr lang="en-US" sz="1400" dirty="0"/>
              <a:t> to close the channel</a:t>
            </a:r>
          </a:p>
          <a:p>
            <a:pPr marL="349250" lvl="1" indent="0">
              <a:spcBef>
                <a:spcPts val="0"/>
              </a:spcBef>
              <a:buNone/>
            </a:pPr>
            <a:endParaRPr lang="en-US" sz="1400" dirty="0"/>
          </a:p>
          <a:p>
            <a:pPr marL="6350" indent="0">
              <a:spcBef>
                <a:spcPts val="0"/>
              </a:spcBef>
              <a:buNone/>
            </a:pPr>
            <a:r>
              <a:rPr lang="en-US" sz="1600" dirty="0"/>
              <a:t>Message header format looks as follows</a:t>
            </a:r>
          </a:p>
          <a:p>
            <a:pPr marL="349250" lvl="1" indent="0">
              <a:spcBef>
                <a:spcPts val="0"/>
              </a:spcBef>
              <a:buNone/>
            </a:pPr>
            <a:r>
              <a:rPr lang="en-US" sz="1400" b="1" dirty="0"/>
              <a:t>Byte</a:t>
            </a:r>
            <a:r>
              <a:rPr lang="en-US" sz="1400" dirty="0"/>
              <a:t>	SSH_MSG_CHANNEL_OPEN		</a:t>
            </a:r>
          </a:p>
          <a:p>
            <a:pPr marL="349250" lvl="1" indent="0">
              <a:spcBef>
                <a:spcPts val="0"/>
              </a:spcBef>
              <a:buNone/>
            </a:pPr>
            <a:r>
              <a:rPr lang="en-US" sz="1400" b="1" dirty="0"/>
              <a:t>String</a:t>
            </a:r>
            <a:r>
              <a:rPr lang="en-US" sz="1400" dirty="0"/>
              <a:t> 	Channel type</a:t>
            </a:r>
          </a:p>
          <a:p>
            <a:pPr marL="349250" lvl="1" indent="0">
              <a:spcBef>
                <a:spcPts val="0"/>
              </a:spcBef>
              <a:buNone/>
            </a:pPr>
            <a:r>
              <a:rPr lang="en-US" sz="1400" b="1" dirty="0"/>
              <a:t>Uint32</a:t>
            </a:r>
            <a:r>
              <a:rPr lang="en-US" sz="1400" dirty="0"/>
              <a:t>	sender channel</a:t>
            </a:r>
          </a:p>
          <a:p>
            <a:pPr marL="349250" lvl="1" indent="0">
              <a:spcBef>
                <a:spcPts val="0"/>
              </a:spcBef>
              <a:buNone/>
            </a:pPr>
            <a:r>
              <a:rPr lang="en-US" sz="1400" b="1" dirty="0"/>
              <a:t>Uint32</a:t>
            </a:r>
            <a:r>
              <a:rPr lang="en-US" sz="1400" dirty="0"/>
              <a:t>	initial window size</a:t>
            </a:r>
          </a:p>
          <a:p>
            <a:pPr marL="349250" lvl="1" indent="0">
              <a:spcBef>
                <a:spcPts val="0"/>
              </a:spcBef>
              <a:buNone/>
            </a:pPr>
            <a:r>
              <a:rPr lang="en-US" sz="1400" b="1" dirty="0"/>
              <a:t>Uint32</a:t>
            </a:r>
            <a:r>
              <a:rPr lang="en-US" sz="1400" dirty="0"/>
              <a:t> 	maximum packet size</a:t>
            </a:r>
          </a:p>
          <a:p>
            <a:pPr marL="349250" lvl="1" indent="0">
              <a:spcBef>
                <a:spcPts val="0"/>
              </a:spcBef>
              <a:buNone/>
            </a:pPr>
            <a:endParaRPr lang="en-US" sz="1400" dirty="0"/>
          </a:p>
          <a:p>
            <a:pPr marL="6350" indent="0">
              <a:spcBef>
                <a:spcPts val="0"/>
              </a:spcBef>
              <a:buNone/>
            </a:pPr>
            <a:r>
              <a:rPr lang="en-US" sz="1600" b="1" dirty="0"/>
              <a:t>Channel type:</a:t>
            </a:r>
            <a:r>
              <a:rPr lang="en-US" sz="1600" dirty="0"/>
              <a:t> Can be </a:t>
            </a:r>
            <a:r>
              <a:rPr lang="en-US" sz="1600" dirty="0">
                <a:solidFill>
                  <a:srgbClr val="FF0000"/>
                </a:solidFill>
              </a:rPr>
              <a:t>session</a:t>
            </a:r>
            <a:r>
              <a:rPr lang="en-US" sz="1600" dirty="0"/>
              <a:t>, x11, Forwarded-TCP/IP Channel, Direct-TCP/IP Channel.</a:t>
            </a:r>
          </a:p>
          <a:p>
            <a:pPr marL="292100" indent="-285750">
              <a:spcBef>
                <a:spcPts val="0"/>
              </a:spcBef>
            </a:pPr>
            <a:r>
              <a:rPr lang="en-US" sz="1600" dirty="0"/>
              <a:t>Session: remote shell, sftp</a:t>
            </a:r>
          </a:p>
          <a:p>
            <a:pPr marL="6350" indent="0">
              <a:spcBef>
                <a:spcPts val="0"/>
              </a:spcBef>
              <a:buNone/>
            </a:pPr>
            <a:endParaRPr lang="en-US" sz="1600" b="1" dirty="0"/>
          </a:p>
          <a:p>
            <a:pPr marL="6350" indent="0">
              <a:spcBef>
                <a:spcPts val="0"/>
              </a:spcBef>
              <a:buNone/>
            </a:pPr>
            <a:r>
              <a:rPr lang="en-US" sz="1600" b="1" dirty="0"/>
              <a:t>Sender Channel:</a:t>
            </a:r>
            <a:r>
              <a:rPr lang="en-US" sz="1600" dirty="0"/>
              <a:t> Locally assigned channel number.</a:t>
            </a:r>
          </a:p>
          <a:p>
            <a:pPr marL="6350" indent="0">
              <a:spcBef>
                <a:spcPts val="0"/>
              </a:spcBef>
              <a:buNone/>
            </a:pPr>
            <a:endParaRPr lang="en-US" sz="1600" b="1" dirty="0"/>
          </a:p>
          <a:p>
            <a:pPr marL="6350" indent="0">
              <a:spcBef>
                <a:spcPts val="0"/>
              </a:spcBef>
              <a:buNone/>
            </a:pPr>
            <a:r>
              <a:rPr lang="en-US" sz="1600" b="1" dirty="0"/>
              <a:t>Initial Window Size</a:t>
            </a:r>
            <a:r>
              <a:rPr lang="en-US" sz="1600" dirty="0"/>
              <a:t>: Used for flow control.</a:t>
            </a:r>
          </a:p>
          <a:p>
            <a:pPr marL="6350" indent="0">
              <a:spcBef>
                <a:spcPts val="0"/>
              </a:spcBef>
              <a:buNone/>
            </a:pPr>
            <a:endParaRPr lang="en-US" sz="1600" b="1" dirty="0"/>
          </a:p>
          <a:p>
            <a:pPr marL="6350" indent="0">
              <a:spcBef>
                <a:spcPts val="0"/>
              </a:spcBef>
              <a:buNone/>
            </a:pPr>
            <a:r>
              <a:rPr lang="en-US" sz="1600" b="1" dirty="0"/>
              <a:t>Max Packet Size:</a:t>
            </a:r>
            <a:r>
              <a:rPr lang="en-US" sz="1600" dirty="0"/>
              <a:t> Maximum size of a single data packet.</a:t>
            </a:r>
          </a:p>
          <a:p>
            <a:pPr marL="349250" lvl="1" indent="0">
              <a:spcBef>
                <a:spcPts val="0"/>
              </a:spcBef>
              <a:buNone/>
            </a:pPr>
            <a:endParaRPr lang="en-US" sz="1400" dirty="0"/>
          </a:p>
        </p:txBody>
      </p:sp>
    </p:spTree>
    <p:extLst>
      <p:ext uri="{BB962C8B-B14F-4D97-AF65-F5344CB8AC3E}">
        <p14:creationId xmlns:p14="http://schemas.microsoft.com/office/powerpoint/2010/main" val="238055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18103</TotalTime>
  <Words>3598</Words>
  <Application>Microsoft Macintosh PowerPoint</Application>
  <PresentationFormat>On-screen Show (4:3)</PresentationFormat>
  <Paragraphs>476</Paragraphs>
  <Slides>37</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37</vt:i4>
      </vt:variant>
    </vt:vector>
  </HeadingPairs>
  <TitlesOfParts>
    <vt:vector size="43" baseType="lpstr">
      <vt:lpstr>Arial</vt:lpstr>
      <vt:lpstr>Calibri</vt:lpstr>
      <vt:lpstr>Candara</vt:lpstr>
      <vt:lpstr>Wingdings</vt:lpstr>
      <vt:lpstr>ch01</vt:lpstr>
      <vt:lpstr>Infusion</vt:lpstr>
      <vt:lpstr>PowerPoint Presentation</vt:lpstr>
      <vt:lpstr>PowerPoint Presentation</vt:lpstr>
      <vt:lpstr>Web Security Considerations</vt:lpstr>
      <vt:lpstr>PowerPoint Presentation</vt:lpstr>
      <vt:lpstr>PowerPoint Presentation</vt:lpstr>
      <vt:lpstr>Transport Layer Security (TLS)</vt:lpstr>
      <vt:lpstr>Transport Layer Security (TLS)</vt:lpstr>
      <vt:lpstr>A session state is defined by the following parameters:</vt:lpstr>
      <vt:lpstr>A connection state is defined by the following parameters:</vt:lpstr>
      <vt:lpstr>TLS Handshake</vt:lpstr>
      <vt:lpstr>TLS Record Protocol Operation</vt:lpstr>
      <vt:lpstr>TLS Record Protocol</vt:lpstr>
      <vt:lpstr>TLS Record Protocol</vt:lpstr>
      <vt:lpstr>TLS Handshake Protocol</vt:lpstr>
      <vt:lpstr>TLS Handshake Protocol – 10 Messages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TLS Handshake Protocol - Recap</vt:lpstr>
      <vt:lpstr>PowerPoint Presentation</vt:lpstr>
      <vt:lpstr>PowerPoint Presentation</vt:lpstr>
      <vt:lpstr>SSL/TLS Attacks</vt:lpstr>
      <vt:lpstr>HTTPS</vt:lpstr>
      <vt:lpstr>PowerPoint Presentation</vt:lpstr>
      <vt:lpstr>SECURE SHELL (SSH)</vt:lpstr>
      <vt:lpstr>PowerPoint Presentation</vt:lpstr>
      <vt:lpstr>PowerPoint Presentation</vt:lpstr>
      <vt:lpstr>PowerPoint Presentation</vt:lpstr>
      <vt:lpstr>PowerPoint Presentation</vt:lpstr>
      <vt:lpstr>PowerPoint Presentation</vt:lpstr>
      <vt:lpstr>PowerPoint Presentation</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16</dc:subject>
  <dc:creator>Dr Lawrie Brown</dc:creator>
  <cp:keywords/>
  <dc:description/>
  <cp:lastModifiedBy>Igor Remizov</cp:lastModifiedBy>
  <cp:revision>329</cp:revision>
  <cp:lastPrinted>2009-09-23T05:30:08Z</cp:lastPrinted>
  <dcterms:created xsi:type="dcterms:W3CDTF">2016-05-12T01:35:23Z</dcterms:created>
  <dcterms:modified xsi:type="dcterms:W3CDTF">2025-10-27T22:42:30Z</dcterms:modified>
  <cp:category/>
</cp:coreProperties>
</file>