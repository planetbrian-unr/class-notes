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97" r:id="rId2"/>
  </p:sldMasterIdLst>
  <p:notesMasterIdLst>
    <p:notesMasterId r:id="rId34"/>
  </p:notesMasterIdLst>
  <p:handoutMasterIdLst>
    <p:handoutMasterId r:id="rId35"/>
  </p:handoutMasterIdLst>
  <p:sldIdLst>
    <p:sldId id="375" r:id="rId3"/>
    <p:sldId id="376" r:id="rId4"/>
    <p:sldId id="399" r:id="rId5"/>
    <p:sldId id="400" r:id="rId6"/>
    <p:sldId id="401" r:id="rId7"/>
    <p:sldId id="402" r:id="rId8"/>
    <p:sldId id="403" r:id="rId9"/>
    <p:sldId id="404" r:id="rId10"/>
    <p:sldId id="405" r:id="rId11"/>
    <p:sldId id="406" r:id="rId12"/>
    <p:sldId id="407" r:id="rId13"/>
    <p:sldId id="377" r:id="rId14"/>
    <p:sldId id="333" r:id="rId15"/>
    <p:sldId id="334" r:id="rId16"/>
    <p:sldId id="335" r:id="rId17"/>
    <p:sldId id="336" r:id="rId18"/>
    <p:sldId id="379" r:id="rId19"/>
    <p:sldId id="380" r:id="rId20"/>
    <p:sldId id="381" r:id="rId21"/>
    <p:sldId id="365" r:id="rId22"/>
    <p:sldId id="382" r:id="rId23"/>
    <p:sldId id="383" r:id="rId24"/>
    <p:sldId id="396" r:id="rId25"/>
    <p:sldId id="367" r:id="rId26"/>
    <p:sldId id="384" r:id="rId27"/>
    <p:sldId id="368" r:id="rId28"/>
    <p:sldId id="369" r:id="rId29"/>
    <p:sldId id="388" r:id="rId30"/>
    <p:sldId id="389" r:id="rId31"/>
    <p:sldId id="390" r:id="rId32"/>
    <p:sldId id="391" r:id="rId33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08"/>
    <p:restoredTop sz="94356" autoAdjust="0"/>
  </p:normalViewPr>
  <p:slideViewPr>
    <p:cSldViewPr>
      <p:cViewPr varScale="1">
        <p:scale>
          <a:sx n="102" d="100"/>
          <a:sy n="102" d="100"/>
        </p:scale>
        <p:origin x="208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7" d="100"/>
          <a:sy n="127" d="100"/>
        </p:scale>
        <p:origin x="-1496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4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4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F217DA43-F7AE-7641-96F9-03D7730E69DC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B1B765E1-EB55-3F42-96E6-9BC39CDD5E7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07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B765E1-EB55-3F42-96E6-9BC39CDD5E78}" type="slidenum">
              <a:rPr lang="en-AU" smtClean="0"/>
              <a:pPr>
                <a:defRPr/>
              </a:pPr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0132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39A61-048F-3560-0D1B-DE8857E1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F84E8E86-6B75-BDC9-8FDB-D4CAEF608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7A3F6C63-5352-F4BF-84BF-F6A699647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9917C61A-ECAD-7899-74B0-34E15EC52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0118FC-DFA6-EC48-AF68-EC43E4DB831B}" type="slidenum">
              <a:rPr lang="en-AU" smtClean="0">
                <a:latin typeface="Arial" pitchFamily="-84" charset="0"/>
              </a:rPr>
              <a:pPr/>
              <a:t>3</a:t>
            </a:fld>
            <a:endParaRPr lang="en-AU">
              <a:latin typeface="Arial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018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20503-2F64-E8FB-6149-D1A422E12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DEA0EDAF-DE86-22DE-77A0-8BB196C10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AE84FD77-255E-8C36-8EE9-85D4AE7F7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584FA2A3-3E24-CBB2-0BE6-1E575F68C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0118FC-DFA6-EC48-AF68-EC43E4DB831B}" type="slidenum">
              <a:rPr lang="en-AU" smtClean="0">
                <a:latin typeface="Arial" pitchFamily="-84" charset="0"/>
              </a:rPr>
              <a:pPr/>
              <a:t>4</a:t>
            </a:fld>
            <a:endParaRPr lang="en-AU">
              <a:latin typeface="Arial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180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19693-A961-6A02-0564-995358C5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7ED439E6-6F21-4159-D6FD-7DE906CF1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670D3EC3-CDAA-A77B-3B03-FA84101B7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B99600FB-2AF6-0D46-361E-8F5EF87446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0118FC-DFA6-EC48-AF68-EC43E4DB831B}" type="slidenum">
              <a:rPr lang="en-AU" smtClean="0">
                <a:latin typeface="Arial" pitchFamily="-84" charset="0"/>
              </a:rPr>
              <a:pPr/>
              <a:t>5</a:t>
            </a:fld>
            <a:endParaRPr lang="en-AU">
              <a:latin typeface="Arial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630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B765E1-EB55-3F42-96E6-9BC39CDD5E78}" type="slidenum">
              <a:rPr lang="en-AU" smtClean="0"/>
              <a:pPr>
                <a:defRPr/>
              </a:pPr>
              <a:t>10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40989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d | r</a:t>
            </a:r>
            <a:r>
              <a:rPr lang="en-US" baseline="-25000" dirty="0">
                <a:latin typeface="+mn-lt"/>
              </a:rPr>
              <a:t>1  </a:t>
            </a:r>
            <a:r>
              <a:rPr lang="en-US" dirty="0">
                <a:latin typeface="+mn-lt"/>
              </a:rPr>
              <a:t>(d divides r</a:t>
            </a:r>
            <a:r>
              <a:rPr lang="en-US" baseline="-25000" dirty="0">
                <a:latin typeface="+mn-lt"/>
              </a:rPr>
              <a:t>1 </a:t>
            </a:r>
            <a:r>
              <a:rPr lang="en-US" dirty="0">
                <a:latin typeface="+mn-lt"/>
              </a:rPr>
              <a:t>)	 	</a:t>
            </a:r>
          </a:p>
          <a:p>
            <a:r>
              <a:rPr lang="en-US" dirty="0">
                <a:latin typeface="+mn-lt"/>
              </a:rPr>
              <a:t>	because: if </a:t>
            </a:r>
            <a:r>
              <a:rPr lang="en-US" dirty="0" err="1">
                <a:latin typeface="+mn-lt"/>
              </a:rPr>
              <a:t>d|a</a:t>
            </a:r>
            <a:r>
              <a:rPr lang="en-US" dirty="0">
                <a:latin typeface="+mn-lt"/>
              </a:rPr>
              <a:t> and </a:t>
            </a:r>
            <a:r>
              <a:rPr lang="en-US" dirty="0" err="1">
                <a:latin typeface="+mn-lt"/>
              </a:rPr>
              <a:t>d|b</a:t>
            </a:r>
            <a:r>
              <a:rPr lang="en-US" dirty="0">
                <a:latin typeface="+mn-lt"/>
              </a:rPr>
              <a:t> 	then	d| (a -  q</a:t>
            </a:r>
            <a:r>
              <a:rPr lang="en-US" baseline="-25000" dirty="0">
                <a:latin typeface="+mn-lt"/>
              </a:rPr>
              <a:t>1  </a:t>
            </a:r>
            <a:r>
              <a:rPr lang="en-US" dirty="0">
                <a:latin typeface="+mn-lt"/>
              </a:rPr>
              <a:t>* b ) = </a:t>
            </a:r>
            <a:r>
              <a:rPr lang="en-US" dirty="0" err="1">
                <a:latin typeface="+mn-lt"/>
              </a:rPr>
              <a:t>d|a</a:t>
            </a:r>
            <a:r>
              <a:rPr lang="en-US" dirty="0">
                <a:latin typeface="+mn-lt"/>
              </a:rPr>
              <a:t> – d|(q</a:t>
            </a:r>
            <a:r>
              <a:rPr lang="en-US" baseline="-25000" dirty="0">
                <a:latin typeface="+mn-lt"/>
              </a:rPr>
              <a:t>1  </a:t>
            </a:r>
            <a:r>
              <a:rPr lang="en-US" dirty="0">
                <a:latin typeface="+mn-lt"/>
              </a:rPr>
              <a:t>* b)</a:t>
            </a:r>
          </a:p>
          <a:p>
            <a:r>
              <a:rPr lang="en-US" dirty="0">
                <a:latin typeface="+mn-lt"/>
              </a:rPr>
              <a:t>r</a:t>
            </a:r>
            <a:r>
              <a:rPr lang="en-US" baseline="-25000" dirty="0">
                <a:latin typeface="+mn-lt"/>
              </a:rPr>
              <a:t>1 </a:t>
            </a:r>
            <a:r>
              <a:rPr lang="en-US" dirty="0">
                <a:latin typeface="+mn-lt"/>
              </a:rPr>
              <a:t>= a -  q</a:t>
            </a:r>
            <a:r>
              <a:rPr lang="en-US" baseline="-25000" dirty="0">
                <a:latin typeface="+mn-lt"/>
              </a:rPr>
              <a:t>1  </a:t>
            </a:r>
            <a:r>
              <a:rPr lang="en-US" dirty="0">
                <a:latin typeface="+mn-lt"/>
              </a:rPr>
              <a:t>* b 	 </a:t>
            </a:r>
          </a:p>
          <a:p>
            <a:endParaRPr lang="en-US" dirty="0">
              <a:latin typeface="+mn-lt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B765E1-EB55-3F42-96E6-9BC39CDD5E78}" type="slidenum">
              <a:rPr lang="en-AU" smtClean="0"/>
              <a:pPr>
                <a:defRPr/>
              </a:pPr>
              <a:t>12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8808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0118FC-DFA6-EC48-AF68-EC43E4DB831B}" type="slidenum">
              <a:rPr lang="en-AU" smtClean="0">
                <a:latin typeface="Arial" pitchFamily="-84" charset="0"/>
              </a:rPr>
              <a:pPr/>
              <a:t>13</a:t>
            </a:fld>
            <a:endParaRPr lang="en-AU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baseline="30000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0F70A2-E83B-B941-A8BF-73D587A67417}" type="slidenum">
              <a:rPr lang="en-AU" smtClean="0">
                <a:latin typeface="Arial" pitchFamily="-84" charset="0"/>
              </a:rPr>
              <a:pPr/>
              <a:t>14</a:t>
            </a:fld>
            <a:endParaRPr lang="en-AU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F94C3A-2C59-124A-9480-A1DD054BCF2A}" type="slidenum">
              <a:rPr lang="en-AU" smtClean="0">
                <a:latin typeface="Arial" pitchFamily="-84" charset="0"/>
              </a:rPr>
              <a:pPr/>
              <a:t>15</a:t>
            </a:fld>
            <a:endParaRPr lang="en-AU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5B2419-3275-C04F-8FDC-CEB8F0A9BFC5}" type="slidenum">
              <a:rPr lang="en-AU" smtClean="0">
                <a:latin typeface="Arial" pitchFamily="-84" charset="0"/>
              </a:rPr>
              <a:pPr/>
              <a:t>16</a:t>
            </a:fld>
            <a:endParaRPr lang="en-AU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\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B765E1-EB55-3F42-96E6-9BC39CDD5E78}" type="slidenum">
              <a:rPr lang="en-AU" smtClean="0"/>
              <a:pPr>
                <a:defRPr/>
              </a:pPr>
              <a:t>17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71048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\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B765E1-EB55-3F42-96E6-9BC39CDD5E78}" type="slidenum">
              <a:rPr lang="en-AU" smtClean="0"/>
              <a:pPr>
                <a:defRPr/>
              </a:pPr>
              <a:t>18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127210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\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B765E1-EB55-3F42-96E6-9BC39CDD5E78}" type="slidenum">
              <a:rPr lang="en-AU" smtClean="0"/>
              <a:pPr>
                <a:defRPr/>
              </a:pPr>
              <a:t>19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2606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20D566-8A83-4341-A217-7A6B709D4AE3}" type="slidenum">
              <a:rPr lang="en-AU">
                <a:latin typeface="Arial" pitchFamily="-84" charset="0"/>
              </a:rPr>
              <a:pPr/>
              <a:t>20</a:t>
            </a:fld>
            <a:endParaRPr lang="en-AU">
              <a:latin typeface="Arial" pitchFamily="-8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20D566-8A83-4341-A217-7A6B709D4AE3}" type="slidenum">
              <a:rPr lang="en-AU">
                <a:latin typeface="Arial" pitchFamily="-84" charset="0"/>
              </a:rPr>
              <a:pPr/>
              <a:t>21</a:t>
            </a:fld>
            <a:endParaRPr lang="en-AU">
              <a:latin typeface="Arial" pitchFamily="-8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0750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20D566-8A83-4341-A217-7A6B709D4AE3}" type="slidenum">
              <a:rPr lang="en-AU">
                <a:latin typeface="Arial" pitchFamily="-84" charset="0"/>
              </a:rPr>
              <a:pPr/>
              <a:t>22</a:t>
            </a:fld>
            <a:endParaRPr lang="en-AU">
              <a:latin typeface="Arial" pitchFamily="-8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5001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21AA34-FB19-C14C-BCB4-272FDD16AD93}" type="slidenum">
              <a:rPr lang="en-AU">
                <a:latin typeface="Arial" pitchFamily="-84" charset="0"/>
              </a:rPr>
              <a:pPr/>
              <a:t>23</a:t>
            </a:fld>
            <a:endParaRPr lang="en-AU">
              <a:latin typeface="Arial" pitchFamily="-8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solidFill>
                <a:srgbClr val="000000"/>
              </a:solidFill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1237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21AA34-FB19-C14C-BCB4-272FDD16AD93}" type="slidenum">
              <a:rPr lang="en-AU">
                <a:latin typeface="Arial" pitchFamily="-84" charset="0"/>
              </a:rPr>
              <a:pPr/>
              <a:t>24</a:t>
            </a:fld>
            <a:endParaRPr lang="en-AU">
              <a:latin typeface="Arial" pitchFamily="-8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solidFill>
                <a:srgbClr val="000000"/>
              </a:solidFill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21AA34-FB19-C14C-BCB4-272FDD16AD93}" type="slidenum">
              <a:rPr lang="en-AU">
                <a:latin typeface="Arial" pitchFamily="-84" charset="0"/>
              </a:rPr>
              <a:pPr/>
              <a:t>25</a:t>
            </a:fld>
            <a:endParaRPr lang="en-AU">
              <a:latin typeface="Arial" pitchFamily="-8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solidFill>
                <a:srgbClr val="000000"/>
              </a:solidFill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6902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3BE424-E5B0-6142-BFBD-BBEB599409A8}" type="slidenum">
              <a:rPr lang="en-AU">
                <a:latin typeface="Arial" pitchFamily="-84" charset="0"/>
              </a:rPr>
              <a:pPr/>
              <a:t>26</a:t>
            </a:fld>
            <a:endParaRPr lang="en-AU">
              <a:latin typeface="Arial" pitchFamily="-8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C152BB-3289-B54C-B77C-5536B430B290}" type="slidenum">
              <a:rPr lang="en-AU">
                <a:latin typeface="Arial" pitchFamily="-84" charset="0"/>
              </a:rPr>
              <a:pPr/>
              <a:t>27</a:t>
            </a:fld>
            <a:endParaRPr lang="en-AU">
              <a:latin typeface="Arial" pitchFamily="-84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027762-5641-D348-AF5A-03C56F213ADC}" type="slidenum">
              <a:rPr lang="en-AU">
                <a:latin typeface="Arial" pitchFamily="-84" charset="0"/>
              </a:rPr>
              <a:pPr/>
              <a:t>28</a:t>
            </a:fld>
            <a:endParaRPr lang="en-AU">
              <a:latin typeface="Arial" pitchFamily="-8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3746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\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B765E1-EB55-3F42-96E6-9BC39CDD5E78}" type="slidenum">
              <a:rPr lang="en-AU" smtClean="0"/>
              <a:pPr>
                <a:defRPr/>
              </a:pPr>
              <a:t>29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587836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\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B765E1-EB55-3F42-96E6-9BC39CDD5E78}" type="slidenum">
              <a:rPr lang="en-AU" smtClean="0"/>
              <a:pPr>
                <a:defRPr/>
              </a:pPr>
              <a:t>30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89393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\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B765E1-EB55-3F42-96E6-9BC39CDD5E78}" type="slidenum">
              <a:rPr lang="en-AU" smtClean="0"/>
              <a:pPr>
                <a:defRPr/>
              </a:pPr>
              <a:t>31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66175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7" name="Group 5"/>
              <p:cNvGrpSpPr>
                <a:grpSpLocks/>
              </p:cNvGrpSpPr>
              <p:nvPr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60" name="Oval 6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1" name="Oval 7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2" name="Oval 8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3" name="Oval 9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4" name="Oval 10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5" name="Oval 11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6" name="Oval 12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7" name="Oval 13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8" name="Oval 14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9" name="Oval 15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0" name="Oval 16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1" name="Oval 17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2" name="Oval 18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3" name="Freeform 19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4" name="Freeform 20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5" name="Freeform 21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6" name="Freeform 22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7" name="Freeform 23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8" name="Freeform 24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9" name="Freeform 25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0" name="Freeform 26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1" name="Freeform 27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2" name="Freeform 28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3" name="Freeform 29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4" name="Freeform 30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5" name="Freeform 31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6" name="Freeform 32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7" name="Freeform 33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8" name="Freeform 34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9" name="Freeform 35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0" name="Freeform 36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1" name="Freeform 37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2" name="Freeform 38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3" name="Freeform 39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4" name="Freeform 40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5" name="Freeform 41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6" name="Freeform 42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7" name="Freeform 43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8" name="Freeform 44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9" name="Freeform 45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0" name="Freeform 46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1" name="Freeform 47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2" name="Freeform 48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3" name="Freeform 49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4" name="Freeform 50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5" name="Freeform 51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6" name="Freeform 52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7" name="Oval 53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48" name="Group 54"/>
              <p:cNvGrpSpPr>
                <a:grpSpLocks/>
              </p:cNvGrpSpPr>
              <p:nvPr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54" name="Oval 55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5" name="Oval 56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6" name="Oval 57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7" name="Oval 58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8" name="Oval 59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9" name="Oval 60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49" name="Group 61"/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50" name="Oval 62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1" name="Oval 63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2" name="Oval 64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3" name="Oval 65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90178" name="Rectangle 66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0179" name="Rectangle 6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8" name="Rectangle 68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5EF581-0E8B-1644-973A-58ABAC7E08A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B294C-D295-9A41-A644-AA4385FA01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0B9FC7-6686-5347-9CB0-1546F2BC5E3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B5C8B5-2ACE-8D46-AC11-C6D02B882DB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9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9E763C-3782-2941-8360-E3F03AEA7D0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5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40AA3-233B-FB4A-9F8F-C96C5A6CF6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4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D372B-D420-C54D-8767-D73AC5A101C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9642DF-26EE-714A-A24A-028B6D1762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7D039-DE9B-EB48-B3A9-EAE8E52898D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E571F1-141D-9947-B89B-C71570E7C7A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9F3187-063D-B44F-AB3F-7977ABF9E0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E293-5757-B443-AD77-BD23F0D77B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9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1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307977" y="950260"/>
            <a:ext cx="2528046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3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0" y="0"/>
            <a:ext cx="9144000" cy="1190625"/>
            <a:chOff x="0" y="0"/>
            <a:chExt cx="9144000" cy="1191256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0"/>
          <p:cNvGrpSpPr>
            <a:grpSpLocks/>
          </p:cNvGrpSpPr>
          <p:nvPr/>
        </p:nvGrpSpPr>
        <p:grpSpPr bwMode="auto">
          <a:xfrm flipV="1">
            <a:off x="0" y="5667375"/>
            <a:ext cx="9144000" cy="1190625"/>
            <a:chOff x="0" y="0"/>
            <a:chExt cx="9144000" cy="1191256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3259138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4200" y="1851212"/>
            <a:ext cx="5446714" cy="1730375"/>
          </a:xfrm>
        </p:spPr>
        <p:txBody>
          <a:bodyPr anchor="b"/>
          <a:lstStyle>
            <a:lvl1pPr algn="ctr">
              <a:lnSpc>
                <a:spcPts val="6800"/>
              </a:lnSpc>
              <a:defRPr sz="6500" b="0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4200" y="3576918"/>
            <a:ext cx="5446714" cy="829982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38D00E-85F4-444E-87C2-78E53B8874D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162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6534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C1D24-2EC1-FF44-89DA-12B55CC0C8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9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4765675" y="2460625"/>
            <a:ext cx="3563938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pic>
        <p:nvPicPr>
          <p:cNvPr id="11" name="Picture 10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779463" y="2460625"/>
            <a:ext cx="3563937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048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048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1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751168-E824-D04D-83FF-C98F1CA6593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4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30744C-4E5E-B44F-858E-4DFAADC169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0C4C7-E6BB-984E-935A-7BAFFF217E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776" cy="1537447"/>
          </a:xfrm>
        </p:spPr>
        <p:txBody>
          <a:bodyPr anchor="b"/>
          <a:lstStyle>
            <a:lvl1pPr algn="ctr">
              <a:lnSpc>
                <a:spcPct val="100000"/>
              </a:lnSpc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859" y="381001"/>
            <a:ext cx="3813174" cy="5697537"/>
          </a:xfrm>
        </p:spPr>
        <p:txBody>
          <a:bodyPr>
            <a:normAutofit/>
          </a:bodyPr>
          <a:lstStyle>
            <a:lvl1pPr>
              <a:defRPr sz="2400" b="0"/>
            </a:lvl1pPr>
            <a:lvl2pPr>
              <a:defRPr sz="22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2209801"/>
            <a:ext cx="3612776" cy="3200400"/>
          </a:xfrm>
        </p:spPr>
        <p:txBody>
          <a:bodyPr>
            <a:norm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mtClean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fld id="{F471B74E-94C9-3A46-BDDD-4A5C29C0C5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solidFill>
              <a:schemeClr val="accent1">
                <a:lumMod val="40000"/>
                <a:lumOff val="60000"/>
                <a:alpha val="40000"/>
              </a:schemeClr>
            </a:solidFill>
            <a:miter lim="800000"/>
          </a:ln>
          <a:effectLst>
            <a:innerShdw blurRad="457200">
              <a:schemeClr val="accent1">
                <a:alpha val="80000"/>
              </a:schemeClr>
            </a:innerShdw>
            <a:softEdge rad="3175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EC72D9-0234-0849-A78E-7C9F74E65B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457200">
              <a:schemeClr val="tx1">
                <a:lumMod val="50000"/>
                <a:lumOff val="50000"/>
                <a:alpha val="80000"/>
              </a:schemeClr>
            </a:innerShdw>
            <a:softEdge rad="12700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B14F31-650F-F846-B7A6-35BA09D1AF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86FEB9-CF7A-B848-AF2F-BE9E1FDF15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0" y="0"/>
            <a:ext cx="7696200" cy="6858000"/>
            <a:chOff x="0" y="0"/>
            <a:chExt cx="769620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16862"/>
            <a:stretch>
              <a:fillRect/>
            </a:stretch>
          </p:blipFill>
          <p:spPr bwMode="auto">
            <a:xfrm>
              <a:off x="0" y="0"/>
              <a:ext cx="74676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428309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0" y="381001"/>
            <a:ext cx="1447800" cy="56975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1"/>
            <a:ext cx="6705600" cy="56975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130B2-53C1-C742-BB72-C65A7D6485D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89091" name="Freeform 3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1033" name="Group 4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1034" name="Group 5"/>
              <p:cNvGrpSpPr>
                <a:grpSpLocks/>
              </p:cNvGrpSpPr>
              <p:nvPr userDrawn="1"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89094" name="Oval 6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095" name="Oval 7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096" name="Oval 8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097" name="Oval 9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098" name="Oval 10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099" name="Oval 11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00" name="Oval 12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01" name="Oval 13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89102" name="Oval 14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3" name="Oval 15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4" name="Oval 16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5" name="Oval 17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6" name="Oval 18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7" name="Freeform 19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8" name="Freeform 20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09" name="Freeform 21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0" name="Freeform 22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1" name="Freeform 23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2" name="Freeform 24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3" name="Freeform 25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4" name="Freeform 26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5" name="Freeform 27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6" name="Freeform 28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7" name="Freeform 29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8" name="Freeform 30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19" name="Freeform 31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0" name="Freeform 32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1" name="Freeform 33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2" name="Freeform 34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3" name="Freeform 35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4" name="Freeform 36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5" name="Freeform 37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6" name="Freeform 38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7" name="Freeform 39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8" name="Freeform 40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29" name="Freeform 41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0" name="Freeform 42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1" name="Freeform 43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2" name="Freeform 44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3" name="Freeform 45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4" name="Freeform 46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5" name="Freeform 47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6" name="Freeform 48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7" name="Freeform 49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8" name="Freeform 50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39" name="Freeform 51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40" name="Freeform 52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89141" name="Oval 53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1075" name="Group 54"/>
              <p:cNvGrpSpPr>
                <a:grpSpLocks/>
              </p:cNvGrpSpPr>
              <p:nvPr userDrawn="1"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89143" name="Oval 55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44" name="Oval 56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45" name="Oval 57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46" name="Oval 58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47" name="Oval 59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48" name="Oval 60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1076" name="Group 61"/>
              <p:cNvGrpSpPr>
                <a:grpSpLocks/>
              </p:cNvGrpSpPr>
              <p:nvPr userDrawn="1"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89150" name="Oval 62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51" name="Oval 63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52" name="Oval 64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89153" name="Oval 65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89154" name="Rectangle 66"/>
          <p:cNvSpPr>
            <a:spLocks noGrp="1" noChangeArrowheads="1"/>
          </p:cNvSpPr>
          <p:nvPr>
            <p:ph type="title"/>
          </p:nvPr>
        </p:nvSpPr>
        <p:spPr bwMode="black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9155" name="Rectangle 67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156" name="Rectangle 68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  <p:sp>
        <p:nvSpPr>
          <p:cNvPr id="89157" name="Rectangle 69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fld id="{6D4DF42E-3762-4049-AE2C-F3CF68EA27A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9158" name="Rectangle 70"/>
          <p:cNvSpPr>
            <a:spLocks noGrp="1" noChangeArrowheads="1"/>
          </p:cNvSpPr>
          <p:nvPr>
            <p:ph type="body" idx="1"/>
          </p:nvPr>
        </p:nvSpPr>
        <p:spPr bwMode="black">
          <a:xfrm>
            <a:off x="457200" y="1676400"/>
            <a:ext cx="82296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35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-84" charset="2"/>
        <a:buChar char="Ø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itchFamily="-84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-84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Placeholder 1"/>
          <p:cNvSpPr>
            <a:spLocks noGrp="1"/>
          </p:cNvSpPr>
          <p:nvPr>
            <p:ph type="title"/>
          </p:nvPr>
        </p:nvSpPr>
        <p:spPr bwMode="auto">
          <a:xfrm>
            <a:off x="792163" y="39688"/>
            <a:ext cx="7570787" cy="141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3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92163" y="1762125"/>
            <a:ext cx="7570787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51625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200" y="6356350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mtClean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fld id="{03C9D31D-5C05-E248-A7ED-46FCD7F50A9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147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</p:sldLayoutIdLst>
  <p:hf sldNum="0" hdr="0" dt="0"/>
  <p:txStyles>
    <p:titleStyle>
      <a:lvl1pPr algn="ctr" rtl="0" fontAlgn="base">
        <a:lnSpc>
          <a:spcPts val="60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2pPr>
      <a:lvl3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3pPr>
      <a:lvl4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4pPr>
      <a:lvl5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5pPr>
      <a:lvl6pPr marL="4572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6pPr>
      <a:lvl7pPr marL="9144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7pPr>
      <a:lvl8pPr marL="13716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8pPr>
      <a:lvl9pPr marL="18288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9pPr>
    </p:titleStyle>
    <p:bodyStyle>
      <a:lvl1pPr marL="342900" indent="-342900" algn="l" rtl="0" fontAlgn="base">
        <a:spcBef>
          <a:spcPts val="24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8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marL="685800" indent="-336550" algn="l" rtl="0" fontAlgn="base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6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2pPr>
      <a:lvl3pPr marL="1035050" indent="-349250" algn="l" rtl="0" fontAlgn="base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4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3pPr>
      <a:lvl4pPr marL="1371600" indent="-336550" algn="l" rtl="0" fontAlgn="base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2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4pPr>
      <a:lvl5pPr marL="1720850" indent="-349250" algn="l" rtl="0" fontAlgn="base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0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58702A-BFEA-B9F0-1D2E-F3FB2681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2020 Pearson Education, Inc., Hoboken, NJ. All rights reserved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B1861A-763D-5551-355E-BAAB9116F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447" y="523745"/>
            <a:ext cx="4521986" cy="5810509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C53D45E4-C156-D7BC-BF9F-A07BC3F8B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321" y="1490951"/>
            <a:ext cx="3854932" cy="101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77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University of Nevada – Reno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Computer Science &amp; Engineering Department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CS454/654 Reliability and Security of Computing Systems  - Fall 2024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2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aper with text on it&#10;&#10;Description automatically generated">
            <a:extLst>
              <a:ext uri="{FF2B5EF4-FFF2-40B4-BE49-F238E27FC236}">
                <a16:creationId xmlns:a16="http://schemas.microsoft.com/office/drawing/2014/main" id="{95D8F651-4033-2BA3-9ECD-C7D32A7CA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529" y="0"/>
            <a:ext cx="54049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368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F2553-24C1-85D4-4E3A-B59A1E9D3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4A0DA944-2C09-0863-B029-F74EFF741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Divisibility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2108D6FE-7481-8FE3-BAD0-3D4870782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772816"/>
            <a:ext cx="8784976" cy="4289425"/>
          </a:xfrm>
        </p:spPr>
        <p:txBody>
          <a:bodyPr/>
          <a:lstStyle/>
          <a:p>
            <a:pPr lvl="1">
              <a:buFont typeface="Candara" pitchFamily="-84" charset="0"/>
              <a:buNone/>
            </a:pPr>
            <a:r>
              <a:rPr lang="en-US" sz="2200" dirty="0"/>
              <a:t>Nonzero </a:t>
            </a:r>
            <a:r>
              <a:rPr lang="en-US" sz="2200" i="1" dirty="0"/>
              <a:t>b </a:t>
            </a:r>
            <a:r>
              <a:rPr lang="en-US" sz="2200" dirty="0"/>
              <a:t> </a:t>
            </a:r>
            <a:r>
              <a:rPr lang="en-US" sz="2200" b="1" dirty="0"/>
              <a:t>divides  </a:t>
            </a:r>
            <a:r>
              <a:rPr lang="en-US" sz="2200" i="1" dirty="0"/>
              <a:t>a </a:t>
            </a:r>
            <a:r>
              <a:rPr lang="en-US" sz="2200" dirty="0"/>
              <a:t> if </a:t>
            </a:r>
            <a:r>
              <a:rPr lang="en-US" sz="2200" i="1" dirty="0"/>
              <a:t>a= </a:t>
            </a:r>
            <a:r>
              <a:rPr lang="en-US" sz="2200" dirty="0"/>
              <a:t>mb </a:t>
            </a:r>
            <a:r>
              <a:rPr lang="en-US" sz="2200" i="1" dirty="0"/>
              <a:t> </a:t>
            </a:r>
            <a:r>
              <a:rPr lang="en-US" sz="2200" dirty="0"/>
              <a:t>for some </a:t>
            </a:r>
            <a:r>
              <a:rPr lang="en-US" sz="2200" i="1" dirty="0"/>
              <a:t>m, </a:t>
            </a:r>
            <a:r>
              <a:rPr lang="en-US" sz="2200" dirty="0"/>
              <a:t>where</a:t>
            </a:r>
            <a:r>
              <a:rPr lang="en-US" sz="2200" i="1" dirty="0"/>
              <a:t> a, b </a:t>
            </a:r>
            <a:r>
              <a:rPr lang="en-US" sz="2200" dirty="0"/>
              <a:t>and </a:t>
            </a:r>
            <a:r>
              <a:rPr lang="en-US" sz="2200" i="1" dirty="0"/>
              <a:t>m </a:t>
            </a:r>
            <a:r>
              <a:rPr lang="en-US" sz="2200" dirty="0"/>
              <a:t>are </a:t>
            </a:r>
          </a:p>
          <a:p>
            <a:pPr lvl="1">
              <a:buFont typeface="Candara" pitchFamily="-84" charset="0"/>
              <a:buNone/>
            </a:pPr>
            <a:r>
              <a:rPr lang="en-US" sz="2200" dirty="0"/>
              <a:t>integers. </a:t>
            </a:r>
            <a:r>
              <a:rPr lang="en-US" sz="2200" i="1" dirty="0"/>
              <a:t> b </a:t>
            </a:r>
            <a:r>
              <a:rPr lang="en-US" sz="2200" dirty="0"/>
              <a:t> divides </a:t>
            </a:r>
            <a:r>
              <a:rPr lang="en-US" sz="2200" i="1" dirty="0"/>
              <a:t>a </a:t>
            </a:r>
            <a:r>
              <a:rPr lang="en-US" sz="2200" dirty="0"/>
              <a:t> if there is no remainder on division. </a:t>
            </a:r>
          </a:p>
          <a:p>
            <a:pPr lvl="1">
              <a:buFont typeface="Candara" pitchFamily="-84" charset="0"/>
              <a:buNone/>
            </a:pPr>
            <a:r>
              <a:rPr lang="en-US" sz="2200" i="1" dirty="0"/>
              <a:t>	</a:t>
            </a:r>
          </a:p>
          <a:p>
            <a:pPr lvl="1">
              <a:buFont typeface="Candara" pitchFamily="-84" charset="0"/>
              <a:buNone/>
            </a:pPr>
            <a:r>
              <a:rPr lang="en-US" sz="2200" i="1" dirty="0"/>
              <a:t>Notation: b | a </a:t>
            </a:r>
            <a:r>
              <a:rPr lang="en-US" sz="2200" b="1" i="1" dirty="0"/>
              <a:t> or </a:t>
            </a:r>
            <a:r>
              <a:rPr lang="en-US" sz="2200" i="1" dirty="0"/>
              <a:t>b </a:t>
            </a:r>
            <a:r>
              <a:rPr lang="en-US" sz="2200" dirty="0"/>
              <a:t>is a </a:t>
            </a:r>
            <a:r>
              <a:rPr lang="en-US" sz="2200" b="1" dirty="0"/>
              <a:t>divisor</a:t>
            </a:r>
            <a:r>
              <a:rPr lang="en-US" sz="2200" dirty="0"/>
              <a:t> of </a:t>
            </a:r>
            <a:r>
              <a:rPr lang="en-US" sz="2200" i="1" dirty="0"/>
              <a:t>a.</a:t>
            </a:r>
          </a:p>
          <a:p>
            <a:pPr lvl="1"/>
            <a:r>
              <a:rPr lang="en-US" sz="2200" dirty="0"/>
              <a:t>Positive divisors of 24 are 1, 2, 3, 4, 6, 8, 12, 24</a:t>
            </a:r>
          </a:p>
          <a:p>
            <a:pPr lvl="1"/>
            <a:r>
              <a:rPr lang="en-US" sz="2200" b="1" dirty="0"/>
              <a:t>Properties:</a:t>
            </a:r>
          </a:p>
          <a:p>
            <a:pPr marL="685800" lvl="2" indent="0">
              <a:buNone/>
            </a:pPr>
            <a:endParaRPr lang="en-US" sz="2200" dirty="0"/>
          </a:p>
        </p:txBody>
      </p:sp>
      <p:pic>
        <p:nvPicPr>
          <p:cNvPr id="5" name="Picture 4" descr="A close up of a math book&#10;&#10;AI-generated content may be incorrect.">
            <a:extLst>
              <a:ext uri="{FF2B5EF4-FFF2-40B4-BE49-F238E27FC236}">
                <a16:creationId xmlns:a16="http://schemas.microsoft.com/office/drawing/2014/main" id="{8FE68CED-7F69-DC41-D46F-854E8C9D9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3861048"/>
            <a:ext cx="4104456" cy="12679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97837B-AF8B-5B3C-2E9A-83F0DD4D4873}"/>
              </a:ext>
            </a:extLst>
          </p:cNvPr>
          <p:cNvSpPr txBox="1"/>
          <p:nvPr/>
        </p:nvSpPr>
        <p:spPr>
          <a:xfrm>
            <a:off x="2555776" y="5301208"/>
            <a:ext cx="2448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11 | 66 and 66 | 198 </a:t>
            </a:r>
            <a:r>
              <a:rPr lang="en-US" sz="1200" dirty="0">
                <a:sym typeface="Wingdings" pitchFamily="2" charset="2"/>
              </a:rPr>
              <a:t> 11 | 198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97950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355C4-76BE-B284-5FD6-DF3487548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15678874-DB4D-7C98-BB00-42ABF2798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Divisibility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2359806A-8ABC-0B78-9BF0-B6954CE61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772816"/>
            <a:ext cx="8784976" cy="4289425"/>
          </a:xfrm>
        </p:spPr>
        <p:txBody>
          <a:bodyPr/>
          <a:lstStyle/>
          <a:p>
            <a:pPr marL="685800" lvl="2" indent="0">
              <a:buNone/>
            </a:pPr>
            <a:r>
              <a:rPr lang="en-US" sz="2200" b="1" dirty="0"/>
              <a:t>Properties Continued :</a:t>
            </a:r>
          </a:p>
          <a:p>
            <a:pPr marL="685800" lvl="2" indent="0">
              <a:buNone/>
            </a:pPr>
            <a:endParaRPr lang="en-US" sz="2200" dirty="0"/>
          </a:p>
        </p:txBody>
      </p:sp>
      <p:pic>
        <p:nvPicPr>
          <p:cNvPr id="3" name="Picture 2" descr="A page of a book with math equations&#10;&#10;AI-generated content may be incorrect.">
            <a:extLst>
              <a:ext uri="{FF2B5EF4-FFF2-40B4-BE49-F238E27FC236}">
                <a16:creationId xmlns:a16="http://schemas.microsoft.com/office/drawing/2014/main" id="{6BE524E4-7D21-F2C2-DC5B-2C35318B1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247105"/>
            <a:ext cx="5220072" cy="334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178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329C7-7676-300F-496B-E4D1A5B33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759B78C0-5891-968B-33A2-5E4C4A282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Division Algorithm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920BE499-F099-B6D9-8204-55F909C6F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772816"/>
            <a:ext cx="8784976" cy="4289425"/>
          </a:xfrm>
        </p:spPr>
        <p:txBody>
          <a:bodyPr/>
          <a:lstStyle/>
          <a:p>
            <a:pPr marL="685800" lvl="2" indent="0">
              <a:buNone/>
            </a:pPr>
            <a:r>
              <a:rPr lang="en-US" sz="2200" dirty="0"/>
              <a:t>Given  any positive integer </a:t>
            </a:r>
            <a:r>
              <a:rPr lang="en-US" sz="2200" i="1" dirty="0"/>
              <a:t> n</a:t>
            </a:r>
            <a:r>
              <a:rPr lang="en-US" sz="2200" dirty="0"/>
              <a:t> and any nonnegative integer </a:t>
            </a:r>
            <a:r>
              <a:rPr lang="en-US" sz="2200" i="1" dirty="0"/>
              <a:t>a, if we divide a</a:t>
            </a:r>
            <a:r>
              <a:rPr lang="en-US" sz="2200" dirty="0"/>
              <a:t> by</a:t>
            </a:r>
            <a:r>
              <a:rPr lang="en-US" sz="2200" i="1" dirty="0"/>
              <a:t> n, </a:t>
            </a:r>
            <a:r>
              <a:rPr lang="en-US" sz="2200" dirty="0"/>
              <a:t> we get any integer quotient </a:t>
            </a:r>
            <a:r>
              <a:rPr lang="en-US" sz="2200" i="1" dirty="0"/>
              <a:t>q</a:t>
            </a:r>
            <a:r>
              <a:rPr lang="en-US" sz="2200" dirty="0"/>
              <a:t> and an integer remainder </a:t>
            </a:r>
            <a:r>
              <a:rPr lang="en-US" sz="2200" i="1" dirty="0"/>
              <a:t>r </a:t>
            </a:r>
            <a:r>
              <a:rPr lang="en-US" sz="2200" dirty="0"/>
              <a:t>that follow the following relationship:</a:t>
            </a:r>
          </a:p>
        </p:txBody>
      </p:sp>
      <p:pic>
        <p:nvPicPr>
          <p:cNvPr id="4" name="Picture 3" descr="A close up of a paper&#10;&#10;AI-generated content may be incorrect.">
            <a:extLst>
              <a:ext uri="{FF2B5EF4-FFF2-40B4-BE49-F238E27FC236}">
                <a16:creationId xmlns:a16="http://schemas.microsoft.com/office/drawing/2014/main" id="{52B1B07C-963C-8463-E245-60913ABF3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163" y="2996952"/>
            <a:ext cx="7772400" cy="136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768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14CCB-22F8-D39C-9E6E-7EB0C3D13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Division Algorithm</a:t>
            </a:r>
          </a:p>
        </p:txBody>
      </p:sp>
      <p:pic>
        <p:nvPicPr>
          <p:cNvPr id="6" name="Content Placeholder 5" descr="A paper with math equations and numbers&#10;&#10;AI-generated content may be incorrect.">
            <a:extLst>
              <a:ext uri="{FF2B5EF4-FFF2-40B4-BE49-F238E27FC236}">
                <a16:creationId xmlns:a16="http://schemas.microsoft.com/office/drawing/2014/main" id="{ACB1738A-32FC-5DF2-AC99-5110EB0929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9371" y="1762125"/>
            <a:ext cx="6056371" cy="4289425"/>
          </a:xfrm>
        </p:spPr>
      </p:pic>
    </p:spTree>
    <p:extLst>
      <p:ext uri="{BB962C8B-B14F-4D97-AF65-F5344CB8AC3E}">
        <p14:creationId xmlns:p14="http://schemas.microsoft.com/office/powerpoint/2010/main" val="4157431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FAD63-985D-8989-C48A-34B85E2D1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EF653-BE8F-18AA-F600-B822108E0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Euclidean 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08034-2F70-C0F2-2FA3-C18116359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Procedure to determine the greatest common divisor of two positive integers. </a:t>
            </a:r>
          </a:p>
          <a:p>
            <a:r>
              <a:rPr lang="en-US" dirty="0"/>
              <a:t>Two integers are </a:t>
            </a:r>
            <a:r>
              <a:rPr lang="en-US" b="1" dirty="0"/>
              <a:t>relatively prime </a:t>
            </a:r>
            <a:r>
              <a:rPr lang="en-US" dirty="0"/>
              <a:t> if and only if their only common positive integer factor is 1.</a:t>
            </a:r>
          </a:p>
          <a:p>
            <a:r>
              <a:rPr lang="en-US" b="1" dirty="0"/>
              <a:t>Greatest Common Divisor (GCD):</a:t>
            </a:r>
          </a:p>
          <a:p>
            <a:pPr lvl="1"/>
            <a:r>
              <a:rPr lang="en-US" dirty="0"/>
              <a:t>Largest integer that divides both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b; gcd (0, 0) = 0.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155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10C8F-FC99-5E85-1D9D-87EF8681C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67E9A-DEFA-09BC-2512-C62F6C063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Euclidean 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AB420-1175-D605-F3E9-418B8A268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Positive integer </a:t>
            </a:r>
            <a:r>
              <a:rPr lang="en-US" sz="1800" i="1" dirty="0"/>
              <a:t> c </a:t>
            </a:r>
            <a:r>
              <a:rPr lang="en-US" sz="1800" dirty="0"/>
              <a:t> is said to be the greatest common divisor of </a:t>
            </a:r>
            <a:r>
              <a:rPr lang="en-US" sz="1800" i="1" dirty="0"/>
              <a:t>a </a:t>
            </a:r>
            <a:r>
              <a:rPr lang="en-US" sz="1800" dirty="0"/>
              <a:t>and </a:t>
            </a:r>
            <a:r>
              <a:rPr lang="en-US" sz="1800" i="1" dirty="0"/>
              <a:t>b </a:t>
            </a:r>
            <a:r>
              <a:rPr lang="en-US" sz="1800" dirty="0"/>
              <a:t>if</a:t>
            </a:r>
          </a:p>
          <a:p>
            <a:pPr marL="0" indent="0">
              <a:buNone/>
            </a:pPr>
            <a:r>
              <a:rPr lang="en-US" sz="1800" dirty="0"/>
              <a:t>1. </a:t>
            </a:r>
            <a:r>
              <a:rPr lang="en-US" sz="1800" i="1" dirty="0"/>
              <a:t>c </a:t>
            </a:r>
            <a:r>
              <a:rPr lang="en-US" sz="1800" dirty="0"/>
              <a:t>is a divisor of </a:t>
            </a:r>
            <a:r>
              <a:rPr lang="en-US" sz="1800" i="1" dirty="0"/>
              <a:t>a </a:t>
            </a:r>
            <a:r>
              <a:rPr lang="en-US" sz="1800" dirty="0"/>
              <a:t>and of </a:t>
            </a:r>
            <a:r>
              <a:rPr lang="en-US" sz="1800" i="1" dirty="0"/>
              <a:t>b.</a:t>
            </a:r>
          </a:p>
          <a:p>
            <a:pPr marL="0" indent="0">
              <a:buNone/>
            </a:pPr>
            <a:r>
              <a:rPr lang="en-US" sz="1800" i="1" dirty="0"/>
              <a:t>2. A</a:t>
            </a:r>
            <a:r>
              <a:rPr lang="en-US" sz="1800" dirty="0"/>
              <a:t>ny divisor of </a:t>
            </a:r>
            <a:r>
              <a:rPr lang="en-US" sz="1800" i="1" dirty="0"/>
              <a:t>a</a:t>
            </a:r>
            <a:r>
              <a:rPr lang="en-US" sz="1800" dirty="0"/>
              <a:t> and </a:t>
            </a:r>
            <a:r>
              <a:rPr lang="en-US" sz="1800" i="1" dirty="0"/>
              <a:t>b </a:t>
            </a:r>
            <a:r>
              <a:rPr lang="en-US" sz="1800" dirty="0"/>
              <a:t>is a divisor of </a:t>
            </a:r>
            <a:r>
              <a:rPr lang="en-US" sz="1800" i="1" dirty="0"/>
              <a:t>c. </a:t>
            </a:r>
          </a:p>
          <a:p>
            <a:pPr marL="0" indent="0">
              <a:buNone/>
            </a:pPr>
            <a:r>
              <a:rPr lang="en-US" sz="1800" dirty="0"/>
              <a:t>Equivalent</a:t>
            </a:r>
            <a:r>
              <a:rPr lang="en-US" sz="1800" i="1" dirty="0"/>
              <a:t>: gcd (a, b) = max [k, </a:t>
            </a:r>
            <a:r>
              <a:rPr lang="en-US" sz="1800" dirty="0"/>
              <a:t>such that </a:t>
            </a:r>
            <a:r>
              <a:rPr lang="en-US" sz="1800" i="1" dirty="0"/>
              <a:t>k | a </a:t>
            </a:r>
            <a:r>
              <a:rPr lang="en-US" sz="1800" dirty="0"/>
              <a:t>and </a:t>
            </a:r>
            <a:r>
              <a:rPr lang="en-US" sz="1800" i="1" dirty="0"/>
              <a:t> k | b]</a:t>
            </a:r>
          </a:p>
          <a:p>
            <a:pPr marL="0" indent="0">
              <a:buNone/>
            </a:pPr>
            <a:r>
              <a:rPr lang="en-US" sz="1800" i="1" dirty="0"/>
              <a:t>We gcd to be positive, hence:</a:t>
            </a:r>
          </a:p>
          <a:p>
            <a:pPr marL="0" indent="0">
              <a:buNone/>
            </a:pPr>
            <a:r>
              <a:rPr lang="en-US" sz="1800" i="1" dirty="0"/>
              <a:t>gcd (a, b) = gcd (a, -b) = gcd(-a, b) = gcd (-a, -b) </a:t>
            </a:r>
            <a:r>
              <a:rPr lang="en-US" sz="1800" i="1" dirty="0">
                <a:sym typeface="Wingdings" pitchFamily="2" charset="2"/>
              </a:rPr>
              <a:t> gcd (| a |, | b |).</a:t>
            </a:r>
            <a:endParaRPr lang="en-US" sz="1800" i="1" dirty="0"/>
          </a:p>
          <a:p>
            <a:pPr marL="0" indent="0">
              <a:buNone/>
            </a:pPr>
            <a:endParaRPr 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2799874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E73E2-2D3C-48D3-3DEA-C39D95E0B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423D-BDA6-D9FD-03F7-09A73FD73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GCD</a:t>
            </a:r>
          </a:p>
        </p:txBody>
      </p:sp>
      <p:pic>
        <p:nvPicPr>
          <p:cNvPr id="5" name="Content Placeholder 4" descr="A diagram of a algorithm&#10;&#10;AI-generated content may be incorrect.">
            <a:extLst>
              <a:ext uri="{FF2B5EF4-FFF2-40B4-BE49-F238E27FC236}">
                <a16:creationId xmlns:a16="http://schemas.microsoft.com/office/drawing/2014/main" id="{78BB41CE-97E7-20D8-308D-A549A76172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7622" y="1762125"/>
            <a:ext cx="7459869" cy="4289425"/>
          </a:xfrm>
        </p:spPr>
      </p:pic>
    </p:spTree>
    <p:extLst>
      <p:ext uri="{BB962C8B-B14F-4D97-AF65-F5344CB8AC3E}">
        <p14:creationId xmlns:p14="http://schemas.microsoft.com/office/powerpoint/2010/main" val="3250181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7EFA-E184-FF55-99F0-B88BBAC2C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E3CE-8191-0F13-5141-24B8AD5DD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GCD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0F78E62-2DF7-E8C8-0483-62146E888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17940" y="1762125"/>
            <a:ext cx="5719233" cy="4289425"/>
          </a:xfrm>
        </p:spPr>
      </p:pic>
    </p:spTree>
    <p:extLst>
      <p:ext uri="{BB962C8B-B14F-4D97-AF65-F5344CB8AC3E}">
        <p14:creationId xmlns:p14="http://schemas.microsoft.com/office/powerpoint/2010/main" val="319164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6178E-FB05-B614-68C1-1F01AD5F1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92B9E-58C9-9BC3-95AA-818593287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GCD</a:t>
            </a:r>
          </a:p>
        </p:txBody>
      </p:sp>
      <p:pic>
        <p:nvPicPr>
          <p:cNvPr id="11" name="Content Placeholder 10" descr="A page of a math problem&#10;&#10;AI-generated content may be incorrect.">
            <a:extLst>
              <a:ext uri="{FF2B5EF4-FFF2-40B4-BE49-F238E27FC236}">
                <a16:creationId xmlns:a16="http://schemas.microsoft.com/office/drawing/2014/main" id="{A9765DEF-06C8-6AB7-A4E0-6553C9B22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6729" y="1762125"/>
            <a:ext cx="6021654" cy="4289425"/>
          </a:xfrm>
        </p:spPr>
      </p:pic>
    </p:spTree>
    <p:extLst>
      <p:ext uri="{BB962C8B-B14F-4D97-AF65-F5344CB8AC3E}">
        <p14:creationId xmlns:p14="http://schemas.microsoft.com/office/powerpoint/2010/main" val="3051616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2014CAF8-2CF9-8DCA-B48A-ED96AAB07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708" y="523842"/>
            <a:ext cx="7342584" cy="3435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B8FB3A-709F-1D06-BE38-4AFF81AF5041}"/>
              </a:ext>
            </a:extLst>
          </p:cNvPr>
          <p:cNvSpPr txBox="1"/>
          <p:nvPr/>
        </p:nvSpPr>
        <p:spPr>
          <a:xfrm>
            <a:off x="251520" y="3959794"/>
            <a:ext cx="9001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d=gcd(a, b)  	where  a &gt;= b &gt;0		a=q</a:t>
            </a:r>
            <a:r>
              <a:rPr lang="en-US" baseline="-25000" dirty="0">
                <a:latin typeface="+mn-lt"/>
              </a:rPr>
              <a:t>1  </a:t>
            </a:r>
            <a:r>
              <a:rPr lang="en-US" dirty="0">
                <a:latin typeface="+mn-lt"/>
              </a:rPr>
              <a:t>* b + r</a:t>
            </a:r>
            <a:r>
              <a:rPr lang="en-US" baseline="-25000" dirty="0">
                <a:latin typeface="+mn-lt"/>
              </a:rPr>
              <a:t>1 </a:t>
            </a:r>
            <a:r>
              <a:rPr lang="en-US" dirty="0">
                <a:latin typeface="+mn-lt"/>
              </a:rPr>
              <a:t> 	0 &lt;= r</a:t>
            </a:r>
            <a:r>
              <a:rPr lang="en-US" baseline="-25000" dirty="0">
                <a:latin typeface="+mn-lt"/>
              </a:rPr>
              <a:t>1  </a:t>
            </a:r>
            <a:r>
              <a:rPr lang="en-US" dirty="0">
                <a:latin typeface="+mn-lt"/>
              </a:rPr>
              <a:t>&lt; b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If 	r</a:t>
            </a:r>
            <a:r>
              <a:rPr lang="en-US" baseline="-25000" dirty="0">
                <a:latin typeface="+mn-lt"/>
              </a:rPr>
              <a:t>1</a:t>
            </a:r>
            <a:r>
              <a:rPr lang="en-US" dirty="0">
                <a:latin typeface="+mn-lt"/>
              </a:rPr>
              <a:t>==0	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 b </a:t>
            </a:r>
            <a:r>
              <a:rPr lang="en-US" dirty="0">
                <a:latin typeface="+mn-lt"/>
              </a:rPr>
              <a:t>divides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a</a:t>
            </a:r>
            <a:r>
              <a:rPr lang="en-US" dirty="0">
                <a:latin typeface="+mn-lt"/>
              </a:rPr>
              <a:t>  and d=gcd(a, b) =b</a:t>
            </a:r>
          </a:p>
          <a:p>
            <a:r>
              <a:rPr lang="en-US" dirty="0">
                <a:latin typeface="+mn-lt"/>
              </a:rPr>
              <a:t>Else	gcd(a, b)== gcd(b, r</a:t>
            </a:r>
            <a:r>
              <a:rPr lang="en-US" baseline="-25000" dirty="0">
                <a:latin typeface="+mn-lt"/>
              </a:rPr>
              <a:t>1 </a:t>
            </a:r>
            <a:r>
              <a:rPr lang="en-US" dirty="0">
                <a:latin typeface="+mn-lt"/>
              </a:rPr>
              <a:t>) ==d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If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d</a:t>
            </a:r>
            <a:r>
              <a:rPr lang="en-US" dirty="0">
                <a:latin typeface="+mn-lt"/>
              </a:rPr>
              <a:t> divides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a</a:t>
            </a:r>
            <a:r>
              <a:rPr lang="en-US" dirty="0">
                <a:latin typeface="+mn-lt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b</a:t>
            </a:r>
            <a:r>
              <a:rPr lang="en-US" dirty="0">
                <a:latin typeface="+mn-lt"/>
              </a:rPr>
              <a:t>, it must also divide any linear combination of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a</a:t>
            </a:r>
            <a:r>
              <a:rPr lang="en-US" dirty="0">
                <a:latin typeface="+mn-lt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b </a:t>
            </a:r>
            <a:r>
              <a:rPr lang="en-US" dirty="0">
                <a:latin typeface="+mn-lt"/>
              </a:rPr>
              <a:t>(r=a-</a:t>
            </a:r>
            <a:r>
              <a:rPr lang="en-US" dirty="0" err="1">
                <a:latin typeface="+mn-lt"/>
              </a:rPr>
              <a:t>bq</a:t>
            </a:r>
            <a:r>
              <a:rPr lang="en-US" dirty="0">
                <a:latin typeface="+mn-lt"/>
              </a:rPr>
              <a:t>)</a:t>
            </a:r>
          </a:p>
          <a:p>
            <a:r>
              <a:rPr lang="en-US" dirty="0">
                <a:latin typeface="+mn-lt"/>
              </a:rPr>
              <a:t>Similarly,  if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d </a:t>
            </a:r>
            <a:r>
              <a:rPr lang="en-US" dirty="0">
                <a:latin typeface="+mn-lt"/>
              </a:rPr>
              <a:t>divides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b</a:t>
            </a:r>
            <a:r>
              <a:rPr lang="en-US" dirty="0">
                <a:latin typeface="+mn-lt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r</a:t>
            </a:r>
            <a:r>
              <a:rPr lang="en-US" dirty="0">
                <a:latin typeface="+mn-lt"/>
              </a:rPr>
              <a:t>, it must also divide any linear combination of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b</a:t>
            </a:r>
            <a:r>
              <a:rPr lang="en-US" dirty="0">
                <a:latin typeface="+mn-lt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r</a:t>
            </a:r>
            <a:r>
              <a:rPr lang="en-US" dirty="0">
                <a:latin typeface="+mn-lt"/>
              </a:rPr>
              <a:t>, particularly a=</a:t>
            </a:r>
            <a:r>
              <a:rPr lang="en-US" dirty="0" err="1">
                <a:latin typeface="+mn-lt"/>
              </a:rPr>
              <a:t>bq+r</a:t>
            </a:r>
            <a:r>
              <a:rPr lang="en-US" dirty="0">
                <a:latin typeface="+mn-lt"/>
              </a:rPr>
              <a:t>		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if gcd(A, B) = 1  	then A and B are relatively prime	A=15 and B=8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B3315B-E0CC-A8E5-BF25-7F46420FFB30}"/>
              </a:ext>
            </a:extLst>
          </p:cNvPr>
          <p:cNvSpPr txBox="1"/>
          <p:nvPr/>
        </p:nvSpPr>
        <p:spPr>
          <a:xfrm>
            <a:off x="395536" y="35884"/>
            <a:ext cx="900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Euclidian algorithm</a:t>
            </a:r>
            <a:r>
              <a:rPr lang="en-US" dirty="0">
                <a:latin typeface="+mn-lt"/>
              </a:rPr>
              <a:t> for GCD		</a:t>
            </a:r>
          </a:p>
        </p:txBody>
      </p:sp>
    </p:spTree>
    <p:extLst>
      <p:ext uri="{BB962C8B-B14F-4D97-AF65-F5344CB8AC3E}">
        <p14:creationId xmlns:p14="http://schemas.microsoft.com/office/powerpoint/2010/main" val="603901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Modular Arithmetic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179512" y="1772816"/>
            <a:ext cx="8784976" cy="4289425"/>
          </a:xfrm>
        </p:spPr>
        <p:txBody>
          <a:bodyPr/>
          <a:lstStyle/>
          <a:p>
            <a:r>
              <a:rPr lang="en-US" sz="2200" dirty="0"/>
              <a:t>The modulus</a:t>
            </a:r>
          </a:p>
          <a:p>
            <a:pPr lvl="1"/>
            <a:r>
              <a:rPr lang="en-US" sz="2200" dirty="0"/>
              <a:t>If </a:t>
            </a:r>
            <a:r>
              <a:rPr lang="en-US" sz="2200" i="1" dirty="0">
                <a:solidFill>
                  <a:srgbClr val="FF0000"/>
                </a:solidFill>
              </a:rPr>
              <a:t>a</a:t>
            </a:r>
            <a:r>
              <a:rPr lang="en-US" sz="2200" i="1" dirty="0"/>
              <a:t> </a:t>
            </a:r>
            <a:r>
              <a:rPr lang="en-US" sz="2200" dirty="0"/>
              <a:t>is an integer and </a:t>
            </a:r>
            <a:r>
              <a:rPr lang="en-US" sz="2200" i="1" dirty="0" err="1">
                <a:solidFill>
                  <a:srgbClr val="FF0000"/>
                </a:solidFill>
              </a:rPr>
              <a:t>n</a:t>
            </a:r>
            <a:r>
              <a:rPr lang="en-US" sz="2200" i="1" dirty="0"/>
              <a:t> </a:t>
            </a:r>
            <a:r>
              <a:rPr lang="en-US" sz="2200" dirty="0"/>
              <a:t>is a </a:t>
            </a:r>
            <a:r>
              <a:rPr lang="en-US" sz="2200" dirty="0">
                <a:solidFill>
                  <a:srgbClr val="FF0000"/>
                </a:solidFill>
              </a:rPr>
              <a:t>positive</a:t>
            </a:r>
            <a:r>
              <a:rPr lang="en-US" sz="2200" dirty="0"/>
              <a:t> integer, we define </a:t>
            </a:r>
            <a:r>
              <a:rPr lang="en-US" sz="2200" i="1" dirty="0">
                <a:solidFill>
                  <a:srgbClr val="FF0000"/>
                </a:solidFill>
              </a:rPr>
              <a:t>a </a:t>
            </a:r>
            <a:r>
              <a:rPr lang="en-US" sz="2200" dirty="0">
                <a:solidFill>
                  <a:srgbClr val="FF0000"/>
                </a:solidFill>
              </a:rPr>
              <a:t>mod </a:t>
            </a:r>
            <a:r>
              <a:rPr lang="en-US" sz="2200" i="1" dirty="0" err="1">
                <a:solidFill>
                  <a:srgbClr val="FF0000"/>
                </a:solidFill>
              </a:rPr>
              <a:t>n</a:t>
            </a:r>
            <a:r>
              <a:rPr lang="en-US" sz="2200" i="1" dirty="0">
                <a:solidFill>
                  <a:srgbClr val="FF0000"/>
                </a:solidFill>
              </a:rPr>
              <a:t> </a:t>
            </a:r>
            <a:r>
              <a:rPr lang="en-US" sz="2200" dirty="0"/>
              <a:t>to be the remainder when </a:t>
            </a:r>
            <a:r>
              <a:rPr lang="en-US" sz="2200" i="1" dirty="0">
                <a:solidFill>
                  <a:srgbClr val="FF0000"/>
                </a:solidFill>
              </a:rPr>
              <a:t>a</a:t>
            </a:r>
            <a:r>
              <a:rPr lang="en-US" sz="2200" i="1" dirty="0"/>
              <a:t> </a:t>
            </a:r>
            <a:r>
              <a:rPr lang="en-US" sz="2200" dirty="0"/>
              <a:t>is divided by </a:t>
            </a:r>
            <a:r>
              <a:rPr lang="en-US" sz="2200" i="1" dirty="0" err="1">
                <a:solidFill>
                  <a:srgbClr val="FF0000"/>
                </a:solidFill>
              </a:rPr>
              <a:t>n</a:t>
            </a:r>
            <a:r>
              <a:rPr lang="en-US" sz="2200" i="1" dirty="0"/>
              <a:t>; </a:t>
            </a:r>
            <a:r>
              <a:rPr lang="en-US" sz="2200" dirty="0"/>
              <a:t>the integer </a:t>
            </a:r>
            <a:r>
              <a:rPr lang="en-US" sz="2200" i="1" dirty="0" err="1">
                <a:solidFill>
                  <a:srgbClr val="FF0000"/>
                </a:solidFill>
              </a:rPr>
              <a:t>n</a:t>
            </a:r>
            <a:r>
              <a:rPr lang="en-US" sz="2200" i="1" dirty="0"/>
              <a:t> </a:t>
            </a:r>
            <a:r>
              <a:rPr lang="en-US" sz="2200" dirty="0"/>
              <a:t>is called the </a:t>
            </a:r>
            <a:r>
              <a:rPr lang="en-US" sz="2200" b="1" dirty="0"/>
              <a:t>modulus</a:t>
            </a:r>
          </a:p>
          <a:p>
            <a:pPr lvl="1"/>
            <a:r>
              <a:rPr lang="en-US" sz="2200" dirty="0"/>
              <a:t>Thus, for any integer </a:t>
            </a:r>
            <a:r>
              <a:rPr lang="en-US" sz="2200" i="1" dirty="0"/>
              <a:t>a:</a:t>
            </a:r>
          </a:p>
          <a:p>
            <a:pPr lvl="1">
              <a:buFont typeface="Candara" pitchFamily="-84" charset="0"/>
              <a:buNone/>
            </a:pPr>
            <a:r>
              <a:rPr lang="en-US" sz="2200" i="1" dirty="0"/>
              <a:t>		</a:t>
            </a:r>
            <a:r>
              <a:rPr lang="en-US" sz="2200" dirty="0"/>
              <a:t> </a:t>
            </a:r>
            <a:r>
              <a:rPr lang="en-US" sz="2200" i="1" dirty="0"/>
              <a:t>a =  </a:t>
            </a:r>
            <a:r>
              <a:rPr lang="en-US" sz="2200" i="1" dirty="0" err="1"/>
              <a:t>qn</a:t>
            </a:r>
            <a:r>
              <a:rPr lang="en-US" sz="2200" i="1" dirty="0"/>
              <a:t> +  </a:t>
            </a:r>
            <a:r>
              <a:rPr lang="en-US" sz="2200" i="1" dirty="0" err="1"/>
              <a:t>r</a:t>
            </a:r>
            <a:r>
              <a:rPr lang="en-US" sz="2200" i="1" dirty="0"/>
              <a:t> </a:t>
            </a:r>
            <a:r>
              <a:rPr lang="en-US" sz="2200" dirty="0"/>
              <a:t>	0 </a:t>
            </a:r>
            <a:r>
              <a:rPr lang="en-US" sz="2200" i="1" dirty="0"/>
              <a:t>≤ </a:t>
            </a:r>
            <a:r>
              <a:rPr lang="en-US" sz="2200" i="1" dirty="0" err="1"/>
              <a:t>r</a:t>
            </a:r>
            <a:r>
              <a:rPr lang="en-US" sz="2200" i="1" dirty="0"/>
              <a:t> &lt; </a:t>
            </a:r>
            <a:r>
              <a:rPr lang="en-US" sz="2200" i="1" dirty="0" err="1"/>
              <a:t>n</a:t>
            </a:r>
            <a:r>
              <a:rPr lang="en-US" sz="2200" i="1" dirty="0"/>
              <a:t>;  </a:t>
            </a:r>
            <a:r>
              <a:rPr lang="en-US" sz="2200" i="1" dirty="0" err="1"/>
              <a:t>q</a:t>
            </a:r>
            <a:r>
              <a:rPr lang="en-US" sz="2200" i="1" dirty="0"/>
              <a:t> = [a/ </a:t>
            </a:r>
            <a:r>
              <a:rPr lang="en-US" sz="2200" i="1" dirty="0" err="1"/>
              <a:t>n</a:t>
            </a:r>
            <a:r>
              <a:rPr lang="en-US" sz="2200" i="1" dirty="0"/>
              <a:t>]</a:t>
            </a:r>
          </a:p>
          <a:p>
            <a:pPr lvl="1">
              <a:buFont typeface="Candara" pitchFamily="-84" charset="0"/>
              <a:buNone/>
            </a:pPr>
            <a:endParaRPr lang="en-US" sz="2200" dirty="0"/>
          </a:p>
          <a:p>
            <a:pPr lvl="1">
              <a:buFont typeface="Candara" pitchFamily="-84" charset="0"/>
              <a:buNone/>
            </a:pPr>
            <a:r>
              <a:rPr lang="en-US" sz="2200" dirty="0"/>
              <a:t>11 mod 7 = 4</a:t>
            </a:r>
          </a:p>
          <a:p>
            <a:pPr lvl="1">
              <a:buNone/>
            </a:pPr>
            <a:r>
              <a:rPr lang="en-US" sz="2200" dirty="0"/>
              <a:t>-11 mod 7 = 3</a:t>
            </a:r>
          </a:p>
          <a:p>
            <a:pPr lvl="1">
              <a:buFont typeface="Candara" pitchFamily="-84" charset="0"/>
              <a:buNone/>
            </a:pPr>
            <a:endParaRPr lang="en-US" sz="2200" dirty="0"/>
          </a:p>
          <a:p>
            <a:pPr lvl="1">
              <a:buFont typeface="Candara" pitchFamily="-84" charset="0"/>
              <a:buNone/>
            </a:pPr>
            <a:endParaRPr lang="en-US" sz="22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CB22B06-669F-A817-A34F-D15CC01B7DC0}"/>
              </a:ext>
            </a:extLst>
          </p:cNvPr>
          <p:cNvGrpSpPr/>
          <p:nvPr/>
        </p:nvGrpSpPr>
        <p:grpSpPr>
          <a:xfrm>
            <a:off x="2699792" y="4402733"/>
            <a:ext cx="3312368" cy="1659508"/>
            <a:chOff x="3635896" y="4558277"/>
            <a:chExt cx="4064000" cy="2114407"/>
          </a:xfrm>
        </p:grpSpPr>
        <p:pic>
          <p:nvPicPr>
            <p:cNvPr id="3" name="Picture 2" descr="A math equations on a white background&#10;&#10;Description automatically generated">
              <a:extLst>
                <a:ext uri="{FF2B5EF4-FFF2-40B4-BE49-F238E27FC236}">
                  <a16:creationId xmlns:a16="http://schemas.microsoft.com/office/drawing/2014/main" id="{A68CE46C-192E-D045-9971-851C99AD5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35896" y="5085184"/>
              <a:ext cx="4064000" cy="15875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82E04CA-3803-E128-1F7D-3C1BFE393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35896" y="4558277"/>
              <a:ext cx="4038600" cy="5207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Modular Arithmetic</a:t>
            </a:r>
          </a:p>
        </p:txBody>
      </p:sp>
      <p:sp>
        <p:nvSpPr>
          <p:cNvPr id="56323" name="Content Placeholder 4"/>
          <p:cNvSpPr>
            <a:spLocks noGrp="1"/>
          </p:cNvSpPr>
          <p:nvPr>
            <p:ph idx="1"/>
          </p:nvPr>
        </p:nvSpPr>
        <p:spPr>
          <a:xfrm>
            <a:off x="323528" y="2057400"/>
            <a:ext cx="7848872" cy="2962275"/>
          </a:xfrm>
        </p:spPr>
        <p:txBody>
          <a:bodyPr/>
          <a:lstStyle/>
          <a:p>
            <a:r>
              <a:rPr lang="en-US" sz="2200" dirty="0"/>
              <a:t>Congruent modulo </a:t>
            </a:r>
            <a:r>
              <a:rPr lang="en-US" sz="2200" i="1" dirty="0"/>
              <a:t>n</a:t>
            </a:r>
            <a:endParaRPr lang="en-US" sz="2200" dirty="0"/>
          </a:p>
          <a:p>
            <a:pPr lvl="1"/>
            <a:r>
              <a:rPr lang="en-US" sz="2200" dirty="0"/>
              <a:t>Two integers </a:t>
            </a:r>
            <a:r>
              <a:rPr lang="en-US" sz="2200" i="1" dirty="0"/>
              <a:t>a </a:t>
            </a:r>
            <a:r>
              <a:rPr lang="en-US" sz="2200" dirty="0"/>
              <a:t>and </a:t>
            </a:r>
            <a:r>
              <a:rPr lang="en-US" sz="2200" i="1" dirty="0"/>
              <a:t>b </a:t>
            </a:r>
            <a:r>
              <a:rPr lang="en-US" sz="2200" dirty="0"/>
              <a:t>are said to be </a:t>
            </a:r>
            <a:r>
              <a:rPr lang="en-US" sz="2200" b="1" dirty="0"/>
              <a:t>congruent modulo </a:t>
            </a:r>
            <a:r>
              <a:rPr lang="en-US" sz="2200" b="1" i="1" dirty="0"/>
              <a:t>n </a:t>
            </a:r>
            <a:r>
              <a:rPr lang="en-US" sz="2200" dirty="0"/>
              <a:t>if (</a:t>
            </a:r>
            <a:r>
              <a:rPr lang="en-US" sz="2200" i="1" dirty="0"/>
              <a:t>a </a:t>
            </a:r>
            <a:r>
              <a:rPr lang="en-US" sz="2200" dirty="0"/>
              <a:t>mod </a:t>
            </a:r>
            <a:r>
              <a:rPr lang="en-US" sz="2200" i="1" dirty="0"/>
              <a:t>n</a:t>
            </a:r>
            <a:r>
              <a:rPr lang="en-US" sz="2200" dirty="0"/>
              <a:t>) = (</a:t>
            </a:r>
            <a:r>
              <a:rPr lang="en-US" sz="2200" i="1" dirty="0"/>
              <a:t>b </a:t>
            </a:r>
            <a:r>
              <a:rPr lang="en-US" sz="2200" dirty="0"/>
              <a:t>mod </a:t>
            </a:r>
            <a:r>
              <a:rPr lang="en-US" sz="2200" i="1" dirty="0"/>
              <a:t>n</a:t>
            </a:r>
            <a:r>
              <a:rPr lang="en-US" sz="2200" dirty="0"/>
              <a:t>)</a:t>
            </a:r>
          </a:p>
          <a:p>
            <a:pPr lvl="1"/>
            <a:r>
              <a:rPr lang="en-US" sz="2200" dirty="0"/>
              <a:t>This is written as </a:t>
            </a:r>
            <a:r>
              <a:rPr lang="en-US" sz="2200" i="1" dirty="0"/>
              <a:t>a = b(</a:t>
            </a:r>
            <a:r>
              <a:rPr lang="en-US" sz="2200" dirty="0"/>
              <a:t>mod </a:t>
            </a:r>
            <a:r>
              <a:rPr lang="en-US" sz="2200" i="1" dirty="0"/>
              <a:t>n)</a:t>
            </a:r>
            <a:endParaRPr lang="en-US" sz="2200" i="1" baseline="30000" dirty="0"/>
          </a:p>
          <a:p>
            <a:pPr lvl="1"/>
            <a:r>
              <a:rPr lang="en-US" sz="2200" dirty="0"/>
              <a:t>Note that if </a:t>
            </a:r>
            <a:r>
              <a:rPr lang="en-US" sz="2200" i="1" dirty="0"/>
              <a:t>a = 0</a:t>
            </a:r>
            <a:r>
              <a:rPr lang="en-US" sz="2200" dirty="0"/>
              <a:t>(mod </a:t>
            </a:r>
            <a:r>
              <a:rPr lang="en-US" sz="2200" i="1" dirty="0"/>
              <a:t>n</a:t>
            </a:r>
            <a:r>
              <a:rPr lang="en-US" sz="2200" dirty="0"/>
              <a:t>), then </a:t>
            </a:r>
            <a:r>
              <a:rPr lang="en-US" sz="2200" i="1" dirty="0"/>
              <a:t>n | a</a:t>
            </a:r>
            <a:endParaRPr lang="en-US" sz="2200" dirty="0"/>
          </a:p>
        </p:txBody>
      </p:sp>
      <p:pic>
        <p:nvPicPr>
          <p:cNvPr id="3" name="Picture 2" descr="A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04D3701-C1E2-9342-DD89-AF0FDCFA5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4581128"/>
            <a:ext cx="6106838" cy="7733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4"/>
          <p:cNvSpPr>
            <a:spLocks noGrp="1"/>
          </p:cNvSpPr>
          <p:nvPr>
            <p:ph type="title"/>
          </p:nvPr>
        </p:nvSpPr>
        <p:spPr>
          <a:xfrm>
            <a:off x="0" y="39688"/>
            <a:ext cx="9144000" cy="1412875"/>
          </a:xfrm>
        </p:spPr>
        <p:txBody>
          <a:bodyPr/>
          <a:lstStyle/>
          <a:p>
            <a:r>
              <a:rPr lang="en-US"/>
              <a:t>Properties of Congruences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79512" y="1524000"/>
            <a:ext cx="8354888" cy="4289425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200" dirty="0">
                <a:ea typeface="+mn-ea"/>
                <a:cs typeface="+mn-cs"/>
              </a:rPr>
              <a:t>Congruences have the following properties: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sz="2200" dirty="0">
                <a:ea typeface="+mn-ea"/>
                <a:cs typeface="+mn-cs"/>
              </a:rPr>
              <a:t>	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endParaRPr lang="en-US" sz="2200" dirty="0">
              <a:ea typeface="+mn-ea"/>
              <a:cs typeface="+mn-cs"/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endParaRPr lang="en-US" sz="2200" dirty="0">
              <a:ea typeface="+mn-ea"/>
              <a:cs typeface="+mn-cs"/>
            </a:endParaRP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sz="2200" dirty="0">
                <a:ea typeface="+mn-ea"/>
                <a:cs typeface="+mn-cs"/>
              </a:rPr>
              <a:t>To demonstrate the first point, if </a:t>
            </a:r>
            <a:r>
              <a:rPr lang="en-US" sz="2200" i="1" dirty="0">
                <a:ea typeface="+mn-ea"/>
                <a:cs typeface="+mn-cs"/>
              </a:rPr>
              <a:t>n | (a - b)</a:t>
            </a:r>
            <a:r>
              <a:rPr lang="en-US" sz="2200" dirty="0">
                <a:ea typeface="+mn-ea"/>
                <a:cs typeface="+mn-cs"/>
              </a:rPr>
              <a:t>, then </a:t>
            </a:r>
            <a:r>
              <a:rPr lang="en-US" sz="2200" i="1" dirty="0">
                <a:ea typeface="+mn-ea"/>
                <a:cs typeface="+mn-cs"/>
              </a:rPr>
              <a:t>(a - b) = kn </a:t>
            </a:r>
            <a:r>
              <a:rPr lang="en-US" sz="2200" dirty="0">
                <a:ea typeface="+mn-ea"/>
                <a:cs typeface="+mn-cs"/>
              </a:rPr>
              <a:t>for some </a:t>
            </a:r>
            <a:r>
              <a:rPr lang="en-US" sz="2200" i="1" dirty="0">
                <a:ea typeface="+mn-ea"/>
                <a:cs typeface="+mn-cs"/>
              </a:rPr>
              <a:t>k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200" dirty="0">
                <a:ea typeface="+mn-ea"/>
              </a:rPr>
              <a:t>So we can write </a:t>
            </a:r>
            <a:r>
              <a:rPr lang="en-US" sz="2200" i="1" dirty="0">
                <a:ea typeface="+mn-ea"/>
              </a:rPr>
              <a:t>a = b + kn</a:t>
            </a:r>
            <a:r>
              <a:rPr lang="en-US" sz="2200" dirty="0">
                <a:ea typeface="+mn-ea"/>
              </a:rPr>
              <a:t> </a:t>
            </a:r>
          </a:p>
          <a:p>
            <a:pPr lvl="1" fontAlgn="auto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sz="2200" dirty="0">
                <a:ea typeface="+mn-ea"/>
              </a:rPr>
              <a:t>Therefore, (</a:t>
            </a:r>
            <a:r>
              <a:rPr lang="en-US" sz="2200" i="1" dirty="0">
                <a:ea typeface="+mn-ea"/>
              </a:rPr>
              <a:t>a </a:t>
            </a:r>
            <a:r>
              <a:rPr lang="en-US" sz="2200" dirty="0">
                <a:ea typeface="+mn-ea"/>
              </a:rPr>
              <a:t>mod </a:t>
            </a:r>
            <a:r>
              <a:rPr lang="en-US" sz="2200" i="1" dirty="0">
                <a:ea typeface="+mn-ea"/>
              </a:rPr>
              <a:t>n</a:t>
            </a:r>
            <a:r>
              <a:rPr lang="en-US" sz="2200" dirty="0">
                <a:ea typeface="+mn-ea"/>
              </a:rPr>
              <a:t>) = (remainder when </a:t>
            </a:r>
            <a:r>
              <a:rPr lang="en-US" sz="2200" i="1" dirty="0">
                <a:ea typeface="+mn-ea"/>
              </a:rPr>
              <a:t>b + kn </a:t>
            </a:r>
            <a:r>
              <a:rPr lang="en-US" sz="2200" dirty="0">
                <a:ea typeface="+mn-ea"/>
              </a:rPr>
              <a:t>is divided by </a:t>
            </a:r>
            <a:r>
              <a:rPr lang="en-US" sz="2200" i="1" dirty="0">
                <a:ea typeface="+mn-ea"/>
              </a:rPr>
              <a:t>n</a:t>
            </a:r>
            <a:r>
              <a:rPr lang="en-US" sz="2200" dirty="0">
                <a:ea typeface="+mn-ea"/>
              </a:rPr>
              <a:t>) = (remainder when </a:t>
            </a:r>
            <a:r>
              <a:rPr lang="en-US" sz="2200" i="1" dirty="0">
                <a:ea typeface="+mn-ea"/>
              </a:rPr>
              <a:t>b</a:t>
            </a:r>
            <a:r>
              <a:rPr lang="en-US" sz="2200" dirty="0">
                <a:ea typeface="+mn-ea"/>
              </a:rPr>
              <a:t> is divided by </a:t>
            </a:r>
            <a:r>
              <a:rPr lang="en-US" sz="2200" i="1" dirty="0">
                <a:ea typeface="+mn-ea"/>
              </a:rPr>
              <a:t>n</a:t>
            </a:r>
            <a:r>
              <a:rPr lang="en-US" sz="2200" dirty="0">
                <a:ea typeface="+mn-ea"/>
              </a:rPr>
              <a:t>) = (</a:t>
            </a:r>
            <a:r>
              <a:rPr lang="en-US" sz="2200" i="1" dirty="0">
                <a:ea typeface="+mn-ea"/>
              </a:rPr>
              <a:t>b</a:t>
            </a:r>
            <a:r>
              <a:rPr lang="en-US" sz="2200" dirty="0">
                <a:ea typeface="+mn-ea"/>
              </a:rPr>
              <a:t> mod </a:t>
            </a:r>
            <a:r>
              <a:rPr lang="en-US" sz="2200" i="1" dirty="0">
                <a:ea typeface="+mn-ea"/>
              </a:rPr>
              <a:t>n</a:t>
            </a:r>
            <a:r>
              <a:rPr lang="en-US" sz="2200" dirty="0">
                <a:ea typeface="+mn-ea"/>
              </a:rPr>
              <a:t>)</a:t>
            </a:r>
          </a:p>
        </p:txBody>
      </p:sp>
      <p:pic>
        <p:nvPicPr>
          <p:cNvPr id="3" name="Picture 2" descr="A math equation with black text&#10;&#10;Description automatically generated">
            <a:extLst>
              <a:ext uri="{FF2B5EF4-FFF2-40B4-BE49-F238E27FC236}">
                <a16:creationId xmlns:a16="http://schemas.microsoft.com/office/drawing/2014/main" id="{C8466406-3703-EF15-B7D5-72C527048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492896"/>
            <a:ext cx="7772400" cy="131882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Modular Arithmetic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66800" y="1524000"/>
            <a:ext cx="7570788" cy="51816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200" dirty="0">
                <a:ea typeface="+mn-ea"/>
                <a:cs typeface="+mn-cs"/>
              </a:rPr>
              <a:t>Modular arithmetic exhibits the following properties:</a:t>
            </a:r>
          </a:p>
          <a:p>
            <a:pPr fontAlgn="auto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sz="2200" dirty="0">
                <a:ea typeface="+mn-ea"/>
                <a:cs typeface="+mn-cs"/>
              </a:rPr>
              <a:t>		1.  [(</a:t>
            </a:r>
            <a:r>
              <a:rPr lang="en-US" sz="2200" i="1" dirty="0">
                <a:ea typeface="+mn-ea"/>
                <a:cs typeface="+mn-cs"/>
              </a:rPr>
              <a:t>a</a:t>
            </a:r>
            <a:r>
              <a:rPr lang="en-US" sz="2200" dirty="0">
                <a:ea typeface="+mn-ea"/>
                <a:cs typeface="+mn-cs"/>
              </a:rPr>
              <a:t> mod </a:t>
            </a:r>
            <a:r>
              <a:rPr lang="en-US" sz="2200" i="1" dirty="0">
                <a:ea typeface="+mn-ea"/>
                <a:cs typeface="+mn-cs"/>
              </a:rPr>
              <a:t>n</a:t>
            </a:r>
            <a:r>
              <a:rPr lang="en-US" sz="2200" dirty="0">
                <a:ea typeface="+mn-ea"/>
                <a:cs typeface="+mn-cs"/>
              </a:rPr>
              <a:t>) + (</a:t>
            </a:r>
            <a:r>
              <a:rPr lang="en-US" sz="2200" i="1" dirty="0">
                <a:ea typeface="+mn-ea"/>
                <a:cs typeface="+mn-cs"/>
              </a:rPr>
              <a:t>b</a:t>
            </a:r>
            <a:r>
              <a:rPr lang="en-US" sz="2200" dirty="0">
                <a:ea typeface="+mn-ea"/>
                <a:cs typeface="+mn-cs"/>
              </a:rPr>
              <a:t> mod </a:t>
            </a:r>
            <a:r>
              <a:rPr lang="en-US" sz="2200" i="1" dirty="0">
                <a:ea typeface="+mn-ea"/>
                <a:cs typeface="+mn-cs"/>
              </a:rPr>
              <a:t>n</a:t>
            </a:r>
            <a:r>
              <a:rPr lang="en-US" sz="2200" dirty="0">
                <a:ea typeface="+mn-ea"/>
                <a:cs typeface="+mn-cs"/>
              </a:rPr>
              <a:t>)] mod </a:t>
            </a:r>
            <a:r>
              <a:rPr lang="en-US" sz="2200" i="1" dirty="0">
                <a:ea typeface="+mn-ea"/>
                <a:cs typeface="+mn-cs"/>
              </a:rPr>
              <a:t>n</a:t>
            </a:r>
            <a:r>
              <a:rPr lang="en-US" sz="2200" dirty="0">
                <a:ea typeface="+mn-ea"/>
                <a:cs typeface="+mn-cs"/>
              </a:rPr>
              <a:t> </a:t>
            </a:r>
            <a:r>
              <a:rPr lang="en-US" sz="2200" i="1" dirty="0">
                <a:ea typeface="+mn-ea"/>
                <a:cs typeface="+mn-cs"/>
              </a:rPr>
              <a:t>= (a + b) </a:t>
            </a:r>
            <a:r>
              <a:rPr lang="en-US" sz="2200" dirty="0">
                <a:ea typeface="+mn-ea"/>
                <a:cs typeface="+mn-cs"/>
              </a:rPr>
              <a:t>mod </a:t>
            </a:r>
            <a:r>
              <a:rPr lang="en-US" sz="2200" i="1" dirty="0">
                <a:ea typeface="+mn-ea"/>
                <a:cs typeface="+mn-cs"/>
              </a:rPr>
              <a:t>n</a:t>
            </a:r>
          </a:p>
          <a:p>
            <a:pPr fontAlgn="auto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sz="2200" dirty="0">
                <a:ea typeface="+mn-ea"/>
                <a:cs typeface="+mn-cs"/>
              </a:rPr>
              <a:t>		2.  [(</a:t>
            </a:r>
            <a:r>
              <a:rPr lang="en-US" sz="2200" i="1" dirty="0">
                <a:ea typeface="+mn-ea"/>
                <a:cs typeface="+mn-cs"/>
              </a:rPr>
              <a:t>a</a:t>
            </a:r>
            <a:r>
              <a:rPr lang="en-US" sz="2200" dirty="0">
                <a:ea typeface="+mn-ea"/>
                <a:cs typeface="+mn-cs"/>
              </a:rPr>
              <a:t> mod </a:t>
            </a:r>
            <a:r>
              <a:rPr lang="en-US" sz="2200" i="1" dirty="0">
                <a:ea typeface="+mn-ea"/>
                <a:cs typeface="+mn-cs"/>
              </a:rPr>
              <a:t>n</a:t>
            </a:r>
            <a:r>
              <a:rPr lang="en-US" sz="2200" dirty="0">
                <a:ea typeface="+mn-ea"/>
                <a:cs typeface="+mn-cs"/>
              </a:rPr>
              <a:t>) - (</a:t>
            </a:r>
            <a:r>
              <a:rPr lang="en-US" sz="2200" i="1" dirty="0">
                <a:ea typeface="+mn-ea"/>
                <a:cs typeface="+mn-cs"/>
              </a:rPr>
              <a:t>b</a:t>
            </a:r>
            <a:r>
              <a:rPr lang="en-US" sz="2200" dirty="0">
                <a:ea typeface="+mn-ea"/>
                <a:cs typeface="+mn-cs"/>
              </a:rPr>
              <a:t> mod </a:t>
            </a:r>
            <a:r>
              <a:rPr lang="en-US" sz="2200" i="1" dirty="0">
                <a:ea typeface="+mn-ea"/>
                <a:cs typeface="+mn-cs"/>
              </a:rPr>
              <a:t>n</a:t>
            </a:r>
            <a:r>
              <a:rPr lang="en-US" sz="2200" dirty="0">
                <a:ea typeface="+mn-ea"/>
                <a:cs typeface="+mn-cs"/>
              </a:rPr>
              <a:t>)] mod </a:t>
            </a:r>
            <a:r>
              <a:rPr lang="en-US" sz="2200" i="1" dirty="0">
                <a:ea typeface="+mn-ea"/>
                <a:cs typeface="+mn-cs"/>
              </a:rPr>
              <a:t>n = (a - b) </a:t>
            </a:r>
            <a:r>
              <a:rPr lang="en-US" sz="2200" dirty="0">
                <a:ea typeface="+mn-ea"/>
                <a:cs typeface="+mn-cs"/>
              </a:rPr>
              <a:t>mod </a:t>
            </a:r>
            <a:r>
              <a:rPr lang="en-US" sz="2200" i="1" dirty="0">
                <a:ea typeface="+mn-ea"/>
                <a:cs typeface="+mn-cs"/>
              </a:rPr>
              <a:t>n</a:t>
            </a:r>
          </a:p>
          <a:p>
            <a:pPr fontAlgn="auto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/>
            </a:pPr>
            <a:r>
              <a:rPr lang="en-US" sz="2200" dirty="0">
                <a:ea typeface="+mn-ea"/>
                <a:cs typeface="+mn-cs"/>
              </a:rPr>
              <a:t>		3.  [(</a:t>
            </a:r>
            <a:r>
              <a:rPr lang="en-US" sz="2200" i="1" dirty="0">
                <a:ea typeface="+mn-ea"/>
                <a:cs typeface="+mn-cs"/>
              </a:rPr>
              <a:t>a</a:t>
            </a:r>
            <a:r>
              <a:rPr lang="en-US" sz="2200" dirty="0">
                <a:ea typeface="+mn-ea"/>
                <a:cs typeface="+mn-cs"/>
              </a:rPr>
              <a:t> mod </a:t>
            </a:r>
            <a:r>
              <a:rPr lang="en-US" sz="2200" i="1" dirty="0">
                <a:ea typeface="+mn-ea"/>
                <a:cs typeface="+mn-cs"/>
              </a:rPr>
              <a:t>n</a:t>
            </a:r>
            <a:r>
              <a:rPr lang="en-US" sz="2200" dirty="0">
                <a:ea typeface="+mn-ea"/>
                <a:cs typeface="+mn-cs"/>
              </a:rPr>
              <a:t>) * (</a:t>
            </a:r>
            <a:r>
              <a:rPr lang="en-US" sz="2200" i="1" dirty="0">
                <a:ea typeface="+mn-ea"/>
                <a:cs typeface="+mn-cs"/>
              </a:rPr>
              <a:t>b</a:t>
            </a:r>
            <a:r>
              <a:rPr lang="en-US" sz="2200" dirty="0">
                <a:ea typeface="+mn-ea"/>
                <a:cs typeface="+mn-cs"/>
              </a:rPr>
              <a:t> mod </a:t>
            </a:r>
            <a:r>
              <a:rPr lang="en-US" sz="2200" i="1" dirty="0">
                <a:ea typeface="+mn-ea"/>
                <a:cs typeface="+mn-cs"/>
              </a:rPr>
              <a:t>n</a:t>
            </a:r>
            <a:r>
              <a:rPr lang="en-US" sz="2200" dirty="0">
                <a:ea typeface="+mn-ea"/>
                <a:cs typeface="+mn-cs"/>
              </a:rPr>
              <a:t>)] mod </a:t>
            </a:r>
            <a:r>
              <a:rPr lang="en-US" sz="2200" i="1" dirty="0">
                <a:ea typeface="+mn-ea"/>
                <a:cs typeface="+mn-cs"/>
              </a:rPr>
              <a:t>n = (a * b) </a:t>
            </a:r>
            <a:r>
              <a:rPr lang="en-US" sz="2200" dirty="0">
                <a:ea typeface="+mn-ea"/>
                <a:cs typeface="+mn-cs"/>
              </a:rPr>
              <a:t>mod </a:t>
            </a:r>
            <a:r>
              <a:rPr lang="en-US" sz="2200" i="1" dirty="0">
                <a:ea typeface="+mn-ea"/>
                <a:cs typeface="+mn-cs"/>
              </a:rPr>
              <a:t>n</a:t>
            </a:r>
          </a:p>
        </p:txBody>
      </p:sp>
      <p:pic>
        <p:nvPicPr>
          <p:cNvPr id="3" name="Picture 2" descr="A math problem with numbers&#10;&#10;Description automatically generated">
            <a:extLst>
              <a:ext uri="{FF2B5EF4-FFF2-40B4-BE49-F238E27FC236}">
                <a16:creationId xmlns:a16="http://schemas.microsoft.com/office/drawing/2014/main" id="{F1A52203-137C-695D-B528-881D97662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3977915"/>
            <a:ext cx="5972200" cy="291429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 with a number of equations&#10;&#10;Description automatically generated with medium confidence">
            <a:extLst>
              <a:ext uri="{FF2B5EF4-FFF2-40B4-BE49-F238E27FC236}">
                <a16:creationId xmlns:a16="http://schemas.microsoft.com/office/drawing/2014/main" id="{7DFEC961-CCDC-DFAD-5876-19D6556D0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6632"/>
            <a:ext cx="7772400" cy="3041698"/>
          </a:xfrm>
          <a:prstGeom prst="rect">
            <a:avLst/>
          </a:prstGeom>
        </p:spPr>
      </p:pic>
      <p:pic>
        <p:nvPicPr>
          <p:cNvPr id="7" name="Picture 6" descr="A close-up of a math problem&#10;&#10;Description automatically generated">
            <a:extLst>
              <a:ext uri="{FF2B5EF4-FFF2-40B4-BE49-F238E27FC236}">
                <a16:creationId xmlns:a16="http://schemas.microsoft.com/office/drawing/2014/main" id="{231EA1FD-C25E-2774-1338-1C7F4D18B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3329659"/>
            <a:ext cx="4748064" cy="1260150"/>
          </a:xfrm>
          <a:prstGeom prst="rect">
            <a:avLst/>
          </a:prstGeom>
        </p:spPr>
      </p:pic>
      <p:pic>
        <p:nvPicPr>
          <p:cNvPr id="9" name="Picture 8" descr="A mathematical equation with a few symbols&#10;&#10;Description automatically generated with medium confidence">
            <a:extLst>
              <a:ext uri="{FF2B5EF4-FFF2-40B4-BE49-F238E27FC236}">
                <a16:creationId xmlns:a16="http://schemas.microsoft.com/office/drawing/2014/main" id="{D3CE99D3-8E6D-7C01-3101-64C41C55A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9904" y="4761138"/>
            <a:ext cx="5284192" cy="8398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CC2565-E48F-56A9-50C2-BC45797430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600" y="5930258"/>
            <a:ext cx="7772400" cy="52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98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8CC2565-E48F-56A9-50C2-BC4579743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548680"/>
            <a:ext cx="7772400" cy="524718"/>
          </a:xfrm>
          <a:prstGeom prst="rect">
            <a:avLst/>
          </a:prstGeom>
        </p:spPr>
      </p:pic>
      <p:pic>
        <p:nvPicPr>
          <p:cNvPr id="4" name="Picture 3" descr="A math problem with black text&#10;&#10;Description automatically generated">
            <a:extLst>
              <a:ext uri="{FF2B5EF4-FFF2-40B4-BE49-F238E27FC236}">
                <a16:creationId xmlns:a16="http://schemas.microsoft.com/office/drawing/2014/main" id="{9F4A7477-B246-754F-0D03-9AC84D0B1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1556792"/>
            <a:ext cx="7772400" cy="237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216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8CC2565-E48F-56A9-50C2-BC4579743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15" y="1052736"/>
            <a:ext cx="7772400" cy="524718"/>
          </a:xfrm>
          <a:prstGeom prst="rect">
            <a:avLst/>
          </a:prstGeom>
        </p:spPr>
      </p:pic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B79D4E82-5EA2-2C6E-F432-7DA20D705B82}"/>
              </a:ext>
            </a:extLst>
          </p:cNvPr>
          <p:cNvSpPr txBox="1">
            <a:spLocks/>
          </p:cNvSpPr>
          <p:nvPr/>
        </p:nvSpPr>
        <p:spPr>
          <a:xfrm>
            <a:off x="683568" y="190128"/>
            <a:ext cx="7570788" cy="51816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342900" indent="-342900" algn="l" rtl="0" fontAlgn="base">
              <a:spcBef>
                <a:spcPts val="24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ＭＳ Ｐゴシック" pitchFamily="-84" charset="-128"/>
              </a:defRPr>
            </a:lvl1pPr>
            <a:lvl2pPr marL="685800" indent="-336550" algn="l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2pPr>
            <a:lvl3pPr marL="1035050" indent="-349250" algn="l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3pPr>
            <a:lvl4pPr marL="1371600" indent="-336550" algn="l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4pPr>
            <a:lvl5pPr marL="1720850" indent="-349250" algn="l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r>
              <a:rPr lang="en-US" sz="2200" dirty="0">
                <a:ea typeface="+mn-ea"/>
                <a:cs typeface="+mn-cs"/>
              </a:rPr>
              <a:t>Residue classes of (mod n) is [0], [1], [2], … , [n - 1]</a:t>
            </a:r>
            <a:endParaRPr lang="en-US" sz="2200" i="1" dirty="0">
              <a:ea typeface="+mn-ea"/>
              <a:cs typeface="+mn-cs"/>
            </a:endParaRPr>
          </a:p>
        </p:txBody>
      </p:sp>
      <p:pic>
        <p:nvPicPr>
          <p:cNvPr id="5" name="Picture 4" descr="A math problem with numbers and equations&#10;&#10;Description automatically generated with medium confidence">
            <a:extLst>
              <a:ext uri="{FF2B5EF4-FFF2-40B4-BE49-F238E27FC236}">
                <a16:creationId xmlns:a16="http://schemas.microsoft.com/office/drawing/2014/main" id="{C2F45B7B-8AFF-AF91-484A-7DAA150AC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72" y="1858504"/>
            <a:ext cx="6251582" cy="480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66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Prime Numbers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251521" y="1762125"/>
            <a:ext cx="8712968" cy="463867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200" dirty="0">
                <a:ea typeface="+mn-ea"/>
                <a:cs typeface="+mn-cs"/>
              </a:rPr>
              <a:t>Prime number: any integer p&gt;1 for which only divisors are +1, -1, +p, -p. </a:t>
            </a:r>
          </a:p>
          <a:p>
            <a:pPr lvl="1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200" dirty="0">
                <a:ea typeface="+mn-ea"/>
              </a:rPr>
              <a:t>All the numbers other than +1, -1, and the prime numbers are </a:t>
            </a:r>
            <a:r>
              <a:rPr lang="en-US" sz="2200" dirty="0">
                <a:solidFill>
                  <a:srgbClr val="FF0000"/>
                </a:solidFill>
                <a:ea typeface="+mn-ea"/>
              </a:rPr>
              <a:t>composite numbers</a:t>
            </a:r>
            <a:r>
              <a:rPr lang="en-US" sz="2200" dirty="0">
                <a:ea typeface="+mn-ea"/>
              </a:rPr>
              <a:t>.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200" dirty="0">
                <a:ea typeface="+mn-ea"/>
                <a:cs typeface="+mn-cs"/>
              </a:rPr>
              <a:t>Composite numbers are product of at least two prime numbers.</a:t>
            </a:r>
          </a:p>
        </p:txBody>
      </p:sp>
      <p:pic>
        <p:nvPicPr>
          <p:cNvPr id="3" name="Picture 2" descr="A white text with black text&#10;&#10;Description automatically generated">
            <a:extLst>
              <a:ext uri="{FF2B5EF4-FFF2-40B4-BE49-F238E27FC236}">
                <a16:creationId xmlns:a16="http://schemas.microsoft.com/office/drawing/2014/main" id="{4717AF4C-1177-AE26-8F6B-6E53447E2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861048"/>
            <a:ext cx="7772400" cy="1626781"/>
          </a:xfrm>
          <a:prstGeom prst="rect">
            <a:avLst/>
          </a:prstGeom>
        </p:spPr>
      </p:pic>
      <p:pic>
        <p:nvPicPr>
          <p:cNvPr id="6" name="Picture 5" descr="A close up of a word&#10;&#10;Description automatically generated">
            <a:extLst>
              <a:ext uri="{FF2B5EF4-FFF2-40B4-BE49-F238E27FC236}">
                <a16:creationId xmlns:a16="http://schemas.microsoft.com/office/drawing/2014/main" id="{0BA907F6-CE24-EDC9-9607-21706214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5639549"/>
            <a:ext cx="3672408" cy="7612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1BDD5F-7738-9DCA-BCF6-99AB8C3E14DA}"/>
              </a:ext>
            </a:extLst>
          </p:cNvPr>
          <p:cNvSpPr txBox="1"/>
          <p:nvPr/>
        </p:nvSpPr>
        <p:spPr>
          <a:xfrm>
            <a:off x="6804248" y="5650842"/>
            <a:ext cx="2088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91 = 7 x 13</a:t>
            </a:r>
          </a:p>
          <a:p>
            <a:r>
              <a:rPr lang="en-US" sz="1400" dirty="0"/>
              <a:t>3600 = 2^4 x 3^2 x 5^2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Prime Numbers</a:t>
            </a:r>
          </a:p>
        </p:txBody>
      </p:sp>
      <p:pic>
        <p:nvPicPr>
          <p:cNvPr id="6" name="Picture 5" descr="A close up of a word&#10;&#10;Description automatically generated">
            <a:extLst>
              <a:ext uri="{FF2B5EF4-FFF2-40B4-BE49-F238E27FC236}">
                <a16:creationId xmlns:a16="http://schemas.microsoft.com/office/drawing/2014/main" id="{0BA907F6-CE24-EDC9-9607-217062149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84" y="1572271"/>
            <a:ext cx="3672408" cy="761251"/>
          </a:xfrm>
          <a:prstGeom prst="rect">
            <a:avLst/>
          </a:prstGeom>
        </p:spPr>
      </p:pic>
      <p:pic>
        <p:nvPicPr>
          <p:cNvPr id="7" name="Picture 6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0047DF54-C06D-3D5D-E59F-E12809236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66" y="2453230"/>
            <a:ext cx="7772400" cy="1572714"/>
          </a:xfrm>
          <a:prstGeom prst="rect">
            <a:avLst/>
          </a:prstGeom>
        </p:spPr>
      </p:pic>
      <p:pic>
        <p:nvPicPr>
          <p:cNvPr id="9" name="Picture 8" descr="A math problem with numbers&#10;&#10;Description automatically generated">
            <a:extLst>
              <a:ext uri="{FF2B5EF4-FFF2-40B4-BE49-F238E27FC236}">
                <a16:creationId xmlns:a16="http://schemas.microsoft.com/office/drawing/2014/main" id="{E8118F8C-5CD9-2592-B9E4-3BBEEAF14C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0345" y="4142042"/>
            <a:ext cx="4487285" cy="130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133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Prime Numbers</a:t>
            </a:r>
          </a:p>
        </p:txBody>
      </p:sp>
      <p:pic>
        <p:nvPicPr>
          <p:cNvPr id="7" name="Picture 6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7B62949-9DF1-54C9-8929-E536B3486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48972"/>
            <a:ext cx="7772400" cy="1103861"/>
          </a:xfrm>
          <a:prstGeom prst="rect">
            <a:avLst/>
          </a:prstGeom>
        </p:spPr>
      </p:pic>
      <p:pic>
        <p:nvPicPr>
          <p:cNvPr id="9" name="Picture 8" descr="A black and white math symbols&#10;&#10;Description automatically generated">
            <a:extLst>
              <a:ext uri="{FF2B5EF4-FFF2-40B4-BE49-F238E27FC236}">
                <a16:creationId xmlns:a16="http://schemas.microsoft.com/office/drawing/2014/main" id="{7A59B0FF-199F-8766-6E68-FF33F882F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2749242"/>
            <a:ext cx="3146648" cy="1098830"/>
          </a:xfrm>
          <a:prstGeom prst="rect">
            <a:avLst/>
          </a:prstGeom>
        </p:spPr>
      </p:pic>
      <p:pic>
        <p:nvPicPr>
          <p:cNvPr id="11" name="Picture 10" descr="A math problem with numbers and equations&#10;&#10;Description automatically generated with medium confidence">
            <a:extLst>
              <a:ext uri="{FF2B5EF4-FFF2-40B4-BE49-F238E27FC236}">
                <a16:creationId xmlns:a16="http://schemas.microsoft.com/office/drawing/2014/main" id="{398107B9-F2BD-EC7E-DA06-27020F92F1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3888" y="2749242"/>
            <a:ext cx="5502460" cy="1745514"/>
          </a:xfrm>
          <a:prstGeom prst="rect">
            <a:avLst/>
          </a:prstGeom>
        </p:spPr>
      </p:pic>
      <p:pic>
        <p:nvPicPr>
          <p:cNvPr id="13" name="Picture 12" descr="A math problem with numbers&#10;&#10;Description automatically generated">
            <a:extLst>
              <a:ext uri="{FF2B5EF4-FFF2-40B4-BE49-F238E27FC236}">
                <a16:creationId xmlns:a16="http://schemas.microsoft.com/office/drawing/2014/main" id="{18C08D92-355A-B9B5-6829-EBA460D6FB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5816" y="5460115"/>
            <a:ext cx="3535164" cy="13427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4EE4AF-9EEA-0EC9-D2F7-167241C0A7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6771" y="4868561"/>
            <a:ext cx="5650458" cy="50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820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Fermat's Theorem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4D1D48AA-52FC-FD17-B191-D15BC4B92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2132856"/>
            <a:ext cx="9036496" cy="5181600"/>
          </a:xfrm>
        </p:spPr>
        <p:txBody>
          <a:bodyPr rtlCol="0">
            <a:normAutofit/>
          </a:bodyPr>
          <a:lstStyle/>
          <a:p>
            <a:pPr marL="0" indent="0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r>
              <a:rPr lang="en-US" sz="2200" dirty="0">
                <a:ea typeface="+mn-ea"/>
                <a:cs typeface="+mn-cs"/>
              </a:rPr>
              <a:t>If </a:t>
            </a:r>
            <a:r>
              <a:rPr lang="en-US" sz="2200" dirty="0">
                <a:solidFill>
                  <a:srgbClr val="FF0000"/>
                </a:solidFill>
                <a:ea typeface="+mn-ea"/>
                <a:cs typeface="+mn-cs"/>
              </a:rPr>
              <a:t>p</a:t>
            </a:r>
            <a:r>
              <a:rPr lang="en-US" sz="2200" dirty="0">
                <a:ea typeface="+mn-ea"/>
                <a:cs typeface="+mn-cs"/>
              </a:rPr>
              <a:t> is </a:t>
            </a:r>
            <a:r>
              <a:rPr lang="en-US" sz="2200" dirty="0">
                <a:solidFill>
                  <a:srgbClr val="FF0000"/>
                </a:solidFill>
                <a:ea typeface="+mn-ea"/>
                <a:cs typeface="+mn-cs"/>
              </a:rPr>
              <a:t>prime</a:t>
            </a:r>
            <a:r>
              <a:rPr lang="en-US" sz="2200" dirty="0">
                <a:ea typeface="+mn-ea"/>
                <a:cs typeface="+mn-cs"/>
              </a:rPr>
              <a:t> and </a:t>
            </a:r>
            <a:r>
              <a:rPr lang="en-US" sz="2200" dirty="0">
                <a:solidFill>
                  <a:srgbClr val="FF0000"/>
                </a:solidFill>
                <a:ea typeface="+mn-ea"/>
                <a:cs typeface="+mn-cs"/>
              </a:rPr>
              <a:t>a</a:t>
            </a:r>
            <a:r>
              <a:rPr lang="en-US" sz="2200" dirty="0">
                <a:ea typeface="+mn-ea"/>
                <a:cs typeface="+mn-cs"/>
              </a:rPr>
              <a:t> is a </a:t>
            </a:r>
            <a:r>
              <a:rPr lang="en-US" sz="2200" dirty="0">
                <a:solidFill>
                  <a:srgbClr val="FF0000"/>
                </a:solidFill>
                <a:ea typeface="+mn-ea"/>
                <a:cs typeface="+mn-cs"/>
              </a:rPr>
              <a:t>positive integer </a:t>
            </a:r>
            <a:r>
              <a:rPr lang="en-US" sz="2200" dirty="0">
                <a:ea typeface="+mn-ea"/>
                <a:cs typeface="+mn-cs"/>
              </a:rPr>
              <a:t>not divisible by </a:t>
            </a:r>
            <a:r>
              <a:rPr lang="en-US" sz="2200" dirty="0">
                <a:solidFill>
                  <a:srgbClr val="FF0000"/>
                </a:solidFill>
                <a:ea typeface="+mn-ea"/>
                <a:cs typeface="+mn-cs"/>
              </a:rPr>
              <a:t>p</a:t>
            </a:r>
            <a:r>
              <a:rPr lang="en-US" sz="2200" dirty="0">
                <a:ea typeface="+mn-ea"/>
                <a:cs typeface="+mn-cs"/>
              </a:rPr>
              <a:t>, then</a:t>
            </a:r>
          </a:p>
          <a:p>
            <a:pPr marL="0" indent="0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endParaRPr lang="en-US" sz="2200" i="1" dirty="0">
              <a:ea typeface="+mn-ea"/>
              <a:cs typeface="+mn-cs"/>
            </a:endParaRPr>
          </a:p>
          <a:p>
            <a:pPr marL="0" indent="0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endParaRPr lang="en-US" sz="2200" dirty="0">
              <a:ea typeface="+mn-ea"/>
              <a:cs typeface="+mn-cs"/>
            </a:endParaRPr>
          </a:p>
          <a:p>
            <a:pPr marL="0" indent="0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r>
              <a:rPr lang="en-US" sz="2200" dirty="0">
                <a:ea typeface="+mn-ea"/>
                <a:cs typeface="+mn-cs"/>
              </a:rPr>
              <a:t>Alternative form of Fermat’s theorem is also useful: If </a:t>
            </a:r>
            <a:r>
              <a:rPr lang="en-US" sz="2200" dirty="0">
                <a:solidFill>
                  <a:srgbClr val="FF0000"/>
                </a:solidFill>
                <a:ea typeface="+mn-ea"/>
                <a:cs typeface="+mn-cs"/>
              </a:rPr>
              <a:t>p is prime </a:t>
            </a:r>
            <a:r>
              <a:rPr lang="en-US" sz="2200" dirty="0">
                <a:ea typeface="+mn-ea"/>
                <a:cs typeface="+mn-cs"/>
              </a:rPr>
              <a:t>and </a:t>
            </a:r>
            <a:r>
              <a:rPr lang="en-US" sz="2200" dirty="0">
                <a:solidFill>
                  <a:srgbClr val="FF0000"/>
                </a:solidFill>
                <a:ea typeface="+mn-ea"/>
                <a:cs typeface="+mn-cs"/>
              </a:rPr>
              <a:t>a is just a positive integer</a:t>
            </a:r>
            <a:r>
              <a:rPr lang="en-US" sz="2200" dirty="0">
                <a:ea typeface="+mn-ea"/>
                <a:cs typeface="+mn-cs"/>
              </a:rPr>
              <a:t>, then</a:t>
            </a:r>
          </a:p>
          <a:p>
            <a:pPr marL="0" indent="0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endParaRPr lang="en-US" sz="2200" i="1" dirty="0">
              <a:ea typeface="+mn-ea"/>
              <a:cs typeface="+mn-cs"/>
            </a:endParaRPr>
          </a:p>
        </p:txBody>
      </p:sp>
      <p:pic>
        <p:nvPicPr>
          <p:cNvPr id="7" name="Picture 6" descr="A number one and a few symbols&#10;&#10;Description automatically generated with medium confidence">
            <a:extLst>
              <a:ext uri="{FF2B5EF4-FFF2-40B4-BE49-F238E27FC236}">
                <a16:creationId xmlns:a16="http://schemas.microsoft.com/office/drawing/2014/main" id="{8EF85058-CD0C-D5E3-05C6-6B7712828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848" y="2708920"/>
            <a:ext cx="2221160" cy="50185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4B6F607-AEE3-D94B-32D9-40E289C0D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8" y="5045014"/>
            <a:ext cx="1969280" cy="4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934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Fermat's Theorem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4D1D48AA-52FC-FD17-B191-D15BC4B92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524000"/>
            <a:ext cx="9036496" cy="5181600"/>
          </a:xfrm>
        </p:spPr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200" dirty="0">
                <a:ea typeface="+mn-ea"/>
                <a:cs typeface="+mn-cs"/>
              </a:rPr>
              <a:t>If </a:t>
            </a:r>
            <a:r>
              <a:rPr lang="en-US" sz="2200" dirty="0">
                <a:solidFill>
                  <a:srgbClr val="FF0000"/>
                </a:solidFill>
                <a:ea typeface="+mn-ea"/>
                <a:cs typeface="+mn-cs"/>
              </a:rPr>
              <a:t>p</a:t>
            </a:r>
            <a:r>
              <a:rPr lang="en-US" sz="2200" dirty="0">
                <a:ea typeface="+mn-ea"/>
                <a:cs typeface="+mn-cs"/>
              </a:rPr>
              <a:t> is </a:t>
            </a:r>
            <a:r>
              <a:rPr lang="en-US" sz="2200" dirty="0">
                <a:solidFill>
                  <a:srgbClr val="FF0000"/>
                </a:solidFill>
                <a:ea typeface="+mn-ea"/>
                <a:cs typeface="+mn-cs"/>
              </a:rPr>
              <a:t>prime</a:t>
            </a:r>
            <a:r>
              <a:rPr lang="en-US" sz="2200" dirty="0">
                <a:ea typeface="+mn-ea"/>
                <a:cs typeface="+mn-cs"/>
              </a:rPr>
              <a:t> and </a:t>
            </a:r>
            <a:r>
              <a:rPr lang="en-US" sz="2200" dirty="0">
                <a:solidFill>
                  <a:srgbClr val="FF0000"/>
                </a:solidFill>
                <a:ea typeface="+mn-ea"/>
                <a:cs typeface="+mn-cs"/>
              </a:rPr>
              <a:t>a</a:t>
            </a:r>
            <a:r>
              <a:rPr lang="en-US" sz="2200" dirty="0">
                <a:ea typeface="+mn-ea"/>
                <a:cs typeface="+mn-cs"/>
              </a:rPr>
              <a:t> is a </a:t>
            </a:r>
            <a:r>
              <a:rPr lang="en-US" sz="2200" dirty="0">
                <a:solidFill>
                  <a:srgbClr val="FF0000"/>
                </a:solidFill>
                <a:ea typeface="+mn-ea"/>
                <a:cs typeface="+mn-cs"/>
              </a:rPr>
              <a:t>positive integer </a:t>
            </a:r>
            <a:r>
              <a:rPr lang="en-US" sz="2200" dirty="0">
                <a:ea typeface="+mn-ea"/>
                <a:cs typeface="+mn-cs"/>
              </a:rPr>
              <a:t>not divisible by </a:t>
            </a:r>
            <a:r>
              <a:rPr lang="en-US" sz="2200" dirty="0">
                <a:solidFill>
                  <a:srgbClr val="FF0000"/>
                </a:solidFill>
                <a:ea typeface="+mn-ea"/>
                <a:cs typeface="+mn-cs"/>
              </a:rPr>
              <a:t>p</a:t>
            </a:r>
            <a:r>
              <a:rPr lang="en-US" sz="2200" dirty="0">
                <a:ea typeface="+mn-ea"/>
                <a:cs typeface="+mn-cs"/>
              </a:rPr>
              <a:t>, then</a:t>
            </a:r>
          </a:p>
          <a:p>
            <a:pPr marL="0" indent="0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endParaRPr lang="en-US" sz="2200" i="1" dirty="0">
              <a:ea typeface="+mn-ea"/>
              <a:cs typeface="+mn-cs"/>
            </a:endParaRPr>
          </a:p>
          <a:p>
            <a:pPr marL="0" indent="0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r>
              <a:rPr lang="en-US" sz="2000" dirty="0">
                <a:ea typeface="+mn-ea"/>
                <a:cs typeface="+mn-cs"/>
              </a:rPr>
              <a:t>Consider the set of positive integers less than </a:t>
            </a:r>
            <a:r>
              <a:rPr lang="en-US" sz="2000" dirty="0">
                <a:solidFill>
                  <a:srgbClr val="FF0000"/>
                </a:solidFill>
                <a:ea typeface="+mn-ea"/>
                <a:cs typeface="+mn-cs"/>
              </a:rPr>
              <a:t>p: {1, 2, … , p - 1} </a:t>
            </a:r>
            <a:r>
              <a:rPr lang="en-US" sz="2000" dirty="0">
                <a:ea typeface="+mn-ea"/>
                <a:cs typeface="+mn-cs"/>
              </a:rPr>
              <a:t>and </a:t>
            </a:r>
            <a:r>
              <a:rPr lang="en-US" sz="2000" dirty="0">
                <a:solidFill>
                  <a:srgbClr val="FF0000"/>
                </a:solidFill>
                <a:ea typeface="+mn-ea"/>
                <a:cs typeface="+mn-cs"/>
              </a:rPr>
              <a:t>multiply</a:t>
            </a:r>
            <a:r>
              <a:rPr lang="en-US" sz="2000" dirty="0">
                <a:ea typeface="+mn-ea"/>
                <a:cs typeface="+mn-cs"/>
              </a:rPr>
              <a:t> each element by </a:t>
            </a:r>
            <a:r>
              <a:rPr lang="en-US" sz="2000" dirty="0">
                <a:solidFill>
                  <a:srgbClr val="FF0000"/>
                </a:solidFill>
                <a:ea typeface="+mn-ea"/>
                <a:cs typeface="+mn-cs"/>
              </a:rPr>
              <a:t>a</a:t>
            </a:r>
            <a:r>
              <a:rPr lang="en-US" sz="2000" dirty="0">
                <a:ea typeface="+mn-ea"/>
                <a:cs typeface="+mn-cs"/>
              </a:rPr>
              <a:t>, </a:t>
            </a:r>
            <a:r>
              <a:rPr lang="en-US" sz="2000" dirty="0">
                <a:solidFill>
                  <a:srgbClr val="FF0000"/>
                </a:solidFill>
                <a:ea typeface="+mn-ea"/>
                <a:cs typeface="+mn-cs"/>
              </a:rPr>
              <a:t>modulo p</a:t>
            </a:r>
            <a:r>
              <a:rPr lang="en-US" sz="2000" dirty="0">
                <a:ea typeface="+mn-ea"/>
                <a:cs typeface="+mn-cs"/>
              </a:rPr>
              <a:t>, to get the set </a:t>
            </a:r>
            <a:r>
              <a:rPr lang="en-US" sz="2000" dirty="0">
                <a:solidFill>
                  <a:srgbClr val="FF0000"/>
                </a:solidFill>
                <a:ea typeface="+mn-ea"/>
                <a:cs typeface="+mn-cs"/>
              </a:rPr>
              <a:t>X = {a mod p, 2a mod p, …, (p - 1)a mod p}.</a:t>
            </a:r>
          </a:p>
          <a:p>
            <a:pPr marL="0" indent="0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r>
              <a:rPr lang="en-US" sz="2000" dirty="0">
                <a:solidFill>
                  <a:schemeClr val="tx1"/>
                </a:solidFill>
                <a:ea typeface="+mn-ea"/>
                <a:cs typeface="+mn-cs"/>
              </a:rPr>
              <a:t>The (p - 1) elements of X are all positive integers with no two elements equal and the X consists of the set of integers {1, 2, ,.. , p - 1} in some order.</a:t>
            </a:r>
          </a:p>
          <a:p>
            <a:pPr marL="0" indent="0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r>
              <a:rPr lang="en-US" sz="2000" dirty="0">
                <a:solidFill>
                  <a:schemeClr val="tx1"/>
                </a:solidFill>
                <a:ea typeface="+mn-ea"/>
                <a:cs typeface="+mn-cs"/>
              </a:rPr>
              <a:t>Multiplying the numbers in both sets (p and X) and taking the result mod p yields</a:t>
            </a:r>
          </a:p>
          <a:p>
            <a:pPr marL="0" indent="0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endParaRPr lang="en-US" sz="2000" dirty="0">
              <a:solidFill>
                <a:schemeClr val="tx1"/>
              </a:solidFill>
              <a:ea typeface="+mn-ea"/>
              <a:cs typeface="+mn-cs"/>
            </a:endParaRPr>
          </a:p>
          <a:p>
            <a:pPr marL="0" indent="0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endParaRPr lang="en-US" sz="2000" dirty="0">
              <a:solidFill>
                <a:schemeClr val="tx1"/>
              </a:solidFill>
              <a:ea typeface="+mn-ea"/>
              <a:cs typeface="+mn-cs"/>
            </a:endParaRPr>
          </a:p>
          <a:p>
            <a:pPr marL="0" indent="0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r>
              <a:rPr lang="en-US" sz="2000" dirty="0">
                <a:solidFill>
                  <a:schemeClr val="tx1"/>
                </a:solidFill>
                <a:ea typeface="+mn-ea"/>
                <a:cs typeface="+mn-cs"/>
              </a:rPr>
              <a:t>We can cancel the (p - 1)! term because it is relatively prime to p.</a:t>
            </a:r>
          </a:p>
        </p:txBody>
      </p:sp>
      <p:pic>
        <p:nvPicPr>
          <p:cNvPr id="7" name="Picture 6" descr="A number one and a few symbols&#10;&#10;Description automatically generated with medium confidence">
            <a:extLst>
              <a:ext uri="{FF2B5EF4-FFF2-40B4-BE49-F238E27FC236}">
                <a16:creationId xmlns:a16="http://schemas.microsoft.com/office/drawing/2014/main" id="{8EF85058-CD0C-D5E3-05C6-6B7712828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848" y="2132856"/>
            <a:ext cx="2221160" cy="5018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A7AF10-9BA5-26D4-2ACE-96465061D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7620" y="5302732"/>
            <a:ext cx="5962648" cy="7160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Alternative Fermat's Theorem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4D1D48AA-52FC-FD17-B191-D15BC4B92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524000"/>
            <a:ext cx="9036496" cy="5181600"/>
          </a:xfrm>
        </p:spPr>
        <p:txBody>
          <a:bodyPr rtlCol="0">
            <a:normAutofit/>
          </a:bodyPr>
          <a:lstStyle/>
          <a:p>
            <a:pPr marL="0" indent="0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r>
              <a:rPr lang="en-US" sz="2000" dirty="0">
                <a:ea typeface="+mn-ea"/>
                <a:cs typeface="+mn-cs"/>
              </a:rPr>
              <a:t>If </a:t>
            </a:r>
            <a:r>
              <a:rPr lang="en-US" sz="2000" dirty="0">
                <a:solidFill>
                  <a:srgbClr val="FF0000"/>
                </a:solidFill>
                <a:ea typeface="+mn-ea"/>
                <a:cs typeface="+mn-cs"/>
              </a:rPr>
              <a:t>p</a:t>
            </a:r>
            <a:r>
              <a:rPr lang="en-US" sz="2000" dirty="0">
                <a:ea typeface="+mn-ea"/>
                <a:cs typeface="+mn-cs"/>
              </a:rPr>
              <a:t> is </a:t>
            </a:r>
            <a:r>
              <a:rPr lang="en-US" sz="2000" dirty="0">
                <a:solidFill>
                  <a:srgbClr val="FF0000"/>
                </a:solidFill>
                <a:ea typeface="+mn-ea"/>
                <a:cs typeface="+mn-cs"/>
              </a:rPr>
              <a:t>prime</a:t>
            </a:r>
            <a:r>
              <a:rPr lang="en-US" sz="2000" dirty="0">
                <a:ea typeface="+mn-ea"/>
                <a:cs typeface="+mn-cs"/>
              </a:rPr>
              <a:t> and </a:t>
            </a:r>
            <a:r>
              <a:rPr lang="en-US" sz="2000" dirty="0">
                <a:solidFill>
                  <a:srgbClr val="FF0000"/>
                </a:solidFill>
                <a:ea typeface="+mn-ea"/>
                <a:cs typeface="+mn-cs"/>
              </a:rPr>
              <a:t>a</a:t>
            </a:r>
            <a:r>
              <a:rPr lang="en-US" sz="2000" dirty="0">
                <a:ea typeface="+mn-ea"/>
                <a:cs typeface="+mn-cs"/>
              </a:rPr>
              <a:t> is a </a:t>
            </a:r>
            <a:r>
              <a:rPr lang="en-US" sz="2000" dirty="0">
                <a:solidFill>
                  <a:srgbClr val="FF0000"/>
                </a:solidFill>
                <a:ea typeface="+mn-ea"/>
                <a:cs typeface="+mn-cs"/>
              </a:rPr>
              <a:t>positive integer </a:t>
            </a:r>
            <a:r>
              <a:rPr lang="en-US" sz="2000" dirty="0">
                <a:ea typeface="+mn-ea"/>
                <a:cs typeface="+mn-cs"/>
              </a:rPr>
              <a:t>not divisible by </a:t>
            </a:r>
            <a:r>
              <a:rPr lang="en-US" sz="2000" dirty="0">
                <a:solidFill>
                  <a:srgbClr val="FF0000"/>
                </a:solidFill>
                <a:ea typeface="+mn-ea"/>
                <a:cs typeface="+mn-cs"/>
              </a:rPr>
              <a:t>p</a:t>
            </a:r>
            <a:r>
              <a:rPr lang="en-US" sz="2000" dirty="0">
                <a:ea typeface="+mn-ea"/>
                <a:cs typeface="+mn-cs"/>
              </a:rPr>
              <a:t>, then</a:t>
            </a:r>
            <a:endParaRPr lang="en-US" sz="800" dirty="0">
              <a:ea typeface="+mn-ea"/>
              <a:cs typeface="+mn-cs"/>
            </a:endParaRPr>
          </a:p>
          <a:p>
            <a:pPr marL="0" indent="0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r>
              <a:rPr lang="en-US" sz="2000" dirty="0">
                <a:ea typeface="+mn-ea"/>
                <a:cs typeface="+mn-cs"/>
              </a:rPr>
              <a:t>Alternative form of Fermat’s theorem is also useful: If </a:t>
            </a:r>
            <a:r>
              <a:rPr lang="en-US" sz="2000" dirty="0">
                <a:solidFill>
                  <a:srgbClr val="FF0000"/>
                </a:solidFill>
                <a:ea typeface="+mn-ea"/>
                <a:cs typeface="+mn-cs"/>
              </a:rPr>
              <a:t>p is prime </a:t>
            </a:r>
            <a:r>
              <a:rPr lang="en-US" sz="2000" dirty="0">
                <a:ea typeface="+mn-ea"/>
                <a:cs typeface="+mn-cs"/>
              </a:rPr>
              <a:t>and </a:t>
            </a:r>
            <a:r>
              <a:rPr lang="en-US" sz="2000" dirty="0">
                <a:solidFill>
                  <a:srgbClr val="FF0000"/>
                </a:solidFill>
                <a:ea typeface="+mn-ea"/>
                <a:cs typeface="+mn-cs"/>
              </a:rPr>
              <a:t>a is just a positive integer</a:t>
            </a:r>
            <a:r>
              <a:rPr lang="en-US" sz="2000" dirty="0">
                <a:ea typeface="+mn-ea"/>
                <a:cs typeface="+mn-cs"/>
              </a:rPr>
              <a:t>, then</a:t>
            </a:r>
          </a:p>
          <a:p>
            <a:pPr marL="0" indent="0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endParaRPr lang="en-US" sz="2200" dirty="0">
              <a:ea typeface="+mn-ea"/>
              <a:cs typeface="+mn-cs"/>
            </a:endParaRPr>
          </a:p>
        </p:txBody>
      </p:sp>
      <p:pic>
        <p:nvPicPr>
          <p:cNvPr id="7" name="Picture 6" descr="A number one and a few symbols&#10;&#10;Description automatically generated with medium confidence">
            <a:extLst>
              <a:ext uri="{FF2B5EF4-FFF2-40B4-BE49-F238E27FC236}">
                <a16:creationId xmlns:a16="http://schemas.microsoft.com/office/drawing/2014/main" id="{8EF85058-CD0C-D5E3-05C6-6B7712828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416" y="1524000"/>
            <a:ext cx="1991568" cy="4499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029F4E-13AC-1D9F-4EF8-3813AE4F6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1176" y="2544564"/>
            <a:ext cx="2298700" cy="508000"/>
          </a:xfrm>
          <a:prstGeom prst="rect">
            <a:avLst/>
          </a:prstGeom>
        </p:spPr>
      </p:pic>
      <p:pic>
        <p:nvPicPr>
          <p:cNvPr id="6" name="Picture 5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E54C47AB-74F1-EF1F-57B4-E9A9AFB29B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210" y="3227595"/>
            <a:ext cx="3697197" cy="2338073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54256D3D-7467-885A-4033-0A92AF63E39C}"/>
              </a:ext>
            </a:extLst>
          </p:cNvPr>
          <p:cNvSpPr txBox="1">
            <a:spLocks/>
          </p:cNvSpPr>
          <p:nvPr/>
        </p:nvSpPr>
        <p:spPr bwMode="auto">
          <a:xfrm>
            <a:off x="331912" y="5730922"/>
            <a:ext cx="4240088" cy="399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fontAlgn="base">
              <a:spcBef>
                <a:spcPts val="24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ＭＳ Ｐゴシック" pitchFamily="-84" charset="-128"/>
              </a:defRPr>
            </a:lvl1pPr>
            <a:lvl2pPr marL="685800" indent="-336550" algn="l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2pPr>
            <a:lvl3pPr marL="1035050" indent="-349250" algn="l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3pPr>
            <a:lvl4pPr marL="1371600" indent="-336550" algn="l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4pPr>
            <a:lvl5pPr marL="1720850" indent="-349250" algn="l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r>
              <a:rPr lang="en-US" sz="2200" dirty="0">
                <a:ea typeface="+mn-ea"/>
                <a:cs typeface="+mn-cs"/>
              </a:rPr>
              <a:t>If a is not divisible by p </a:t>
            </a:r>
          </a:p>
        </p:txBody>
      </p:sp>
      <p:pic>
        <p:nvPicPr>
          <p:cNvPr id="11" name="Picture 10" descr="A paper with writing on it&#10;&#10;Description automatically generated">
            <a:extLst>
              <a:ext uri="{FF2B5EF4-FFF2-40B4-BE49-F238E27FC236}">
                <a16:creationId xmlns:a16="http://schemas.microsoft.com/office/drawing/2014/main" id="{902F5041-8740-2F67-B614-A47F838421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7345" y="2606040"/>
            <a:ext cx="2307515" cy="3017520"/>
          </a:xfrm>
          <a:prstGeom prst="rect">
            <a:avLst/>
          </a:prstGeom>
        </p:spPr>
      </p:pic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9E142FD5-6255-B876-0A32-D0D0E68C867A}"/>
              </a:ext>
            </a:extLst>
          </p:cNvPr>
          <p:cNvSpPr txBox="1">
            <a:spLocks/>
          </p:cNvSpPr>
          <p:nvPr/>
        </p:nvSpPr>
        <p:spPr bwMode="auto">
          <a:xfrm>
            <a:off x="6444208" y="5681769"/>
            <a:ext cx="4240088" cy="399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fontAlgn="base">
              <a:spcBef>
                <a:spcPts val="24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ＭＳ Ｐゴシック" pitchFamily="-84" charset="-128"/>
              </a:defRPr>
            </a:lvl1pPr>
            <a:lvl2pPr marL="685800" indent="-336550" algn="l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2pPr>
            <a:lvl3pPr marL="1035050" indent="-349250" algn="l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3pPr>
            <a:lvl4pPr marL="1371600" indent="-336550" algn="l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4pPr>
            <a:lvl5pPr marL="1720850" indent="-349250" algn="l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r>
              <a:rPr lang="en-US" sz="2200" dirty="0">
                <a:ea typeface="+mn-ea"/>
                <a:cs typeface="+mn-cs"/>
              </a:rPr>
              <a:t>If a is divisible by p 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115EB7FC-12B4-02D7-07A5-E01B6E5955EC}"/>
              </a:ext>
            </a:extLst>
          </p:cNvPr>
          <p:cNvSpPr txBox="1">
            <a:spLocks/>
          </p:cNvSpPr>
          <p:nvPr/>
        </p:nvSpPr>
        <p:spPr bwMode="auto">
          <a:xfrm>
            <a:off x="4757371" y="4581128"/>
            <a:ext cx="1661364" cy="399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ts val="24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ＭＳ Ｐゴシック" pitchFamily="-84" charset="-128"/>
              </a:defRPr>
            </a:lvl1pPr>
            <a:lvl2pPr marL="685800" indent="-336550" algn="l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2pPr>
            <a:lvl3pPr marL="1035050" indent="-349250" algn="l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3pPr>
            <a:lvl4pPr marL="1371600" indent="-336550" algn="l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4pPr>
            <a:lvl5pPr marL="1720850" indent="-349250" algn="l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None/>
              <a:defRPr/>
            </a:pPr>
            <a:r>
              <a:rPr lang="en-US" sz="1800" dirty="0">
                <a:ea typeface="+mn-ea"/>
                <a:cs typeface="+mn-cs"/>
              </a:rPr>
              <a:t>Since both sides contain p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4C6D8B2-4BEA-A011-53E3-2176042FFD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" y="6155737"/>
            <a:ext cx="7772400" cy="52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61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9688"/>
            <a:ext cx="9144000" cy="1412875"/>
          </a:xfrm>
        </p:spPr>
        <p:txBody>
          <a:bodyPr/>
          <a:lstStyle/>
          <a:p>
            <a:pPr>
              <a:lnSpc>
                <a:spcPts val="4800"/>
              </a:lnSpc>
            </a:pPr>
            <a:r>
              <a:rPr lang="en-AU" sz="3600" dirty="0"/>
              <a:t>Euler’s Totient Function </a:t>
            </a:r>
            <a:r>
              <a:rPr lang="en-AU" sz="3600" i="1" dirty="0" err="1"/>
              <a:t>ø</a:t>
            </a:r>
            <a:r>
              <a:rPr lang="en-AU" sz="3600" i="1" dirty="0"/>
              <a:t>(n)</a:t>
            </a:r>
            <a:endParaRPr lang="en-AU" sz="4400" i="1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D005EA8-4F2F-B012-1CD3-B88FB7F9E1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512" y="1916832"/>
            <a:ext cx="8964488" cy="4419600"/>
          </a:xfrm>
        </p:spPr>
        <p:txBody>
          <a:bodyPr/>
          <a:lstStyle/>
          <a:p>
            <a:r>
              <a:rPr lang="en-AU" sz="2200" dirty="0" err="1"/>
              <a:t>ø</a:t>
            </a:r>
            <a:r>
              <a:rPr lang="en-AU" sz="2200" dirty="0"/>
              <a:t>(n) is defined as the number of positive integers less than </a:t>
            </a:r>
            <a:r>
              <a:rPr lang="en-AU" sz="2200" dirty="0">
                <a:solidFill>
                  <a:srgbClr val="FF0000"/>
                </a:solidFill>
              </a:rPr>
              <a:t>n</a:t>
            </a:r>
            <a:r>
              <a:rPr lang="en-AU" sz="2200" dirty="0"/>
              <a:t> and relatively </a:t>
            </a:r>
            <a:r>
              <a:rPr lang="en-AU" sz="2200" dirty="0">
                <a:solidFill>
                  <a:srgbClr val="FF0000"/>
                </a:solidFill>
              </a:rPr>
              <a:t>prime to n</a:t>
            </a:r>
          </a:p>
          <a:p>
            <a:r>
              <a:rPr lang="en-AU" sz="2200" dirty="0" err="1"/>
              <a:t>ø</a:t>
            </a:r>
            <a:r>
              <a:rPr lang="en-AU" sz="2200" dirty="0"/>
              <a:t>(1) = 1</a:t>
            </a:r>
          </a:p>
          <a:p>
            <a:r>
              <a:rPr lang="en-AU" sz="2200" dirty="0"/>
              <a:t>For prime number p: </a:t>
            </a:r>
            <a:r>
              <a:rPr lang="en-AU" sz="2200" dirty="0" err="1"/>
              <a:t>ø</a:t>
            </a:r>
            <a:r>
              <a:rPr lang="en-AU" sz="2200" dirty="0"/>
              <a:t>(p)=p-1</a:t>
            </a:r>
          </a:p>
          <a:p>
            <a:r>
              <a:rPr lang="en-AU" sz="2200" dirty="0"/>
              <a:t>For number n: create prime factorization</a:t>
            </a:r>
          </a:p>
          <a:p>
            <a:r>
              <a:rPr lang="en-AU" sz="2200" dirty="0"/>
              <a:t>n=p</a:t>
            </a:r>
            <a:r>
              <a:rPr lang="en-AU" sz="2200" baseline="30000" dirty="0"/>
              <a:t>e1 </a:t>
            </a:r>
            <a:r>
              <a:rPr lang="en-AU" sz="2200" dirty="0"/>
              <a:t>q</a:t>
            </a:r>
            <a:r>
              <a:rPr lang="en-AU" sz="2200" baseline="30000" dirty="0"/>
              <a:t>e2 </a:t>
            </a:r>
            <a:r>
              <a:rPr lang="en-AU" sz="2200" dirty="0"/>
              <a:t>k</a:t>
            </a:r>
            <a:r>
              <a:rPr lang="en-AU" sz="2200" baseline="30000" dirty="0"/>
              <a:t>e3 </a:t>
            </a:r>
            <a:r>
              <a:rPr lang="en-AU" sz="2200" dirty="0"/>
              <a:t>… =&gt; </a:t>
            </a:r>
            <a:r>
              <a:rPr lang="en-AU" sz="2200" dirty="0" err="1"/>
              <a:t>ø</a:t>
            </a:r>
            <a:r>
              <a:rPr lang="en-AU" sz="2200" dirty="0"/>
              <a:t>(n)=</a:t>
            </a:r>
            <a:r>
              <a:rPr lang="en-AU" sz="2200" dirty="0" err="1"/>
              <a:t>ø</a:t>
            </a:r>
            <a:r>
              <a:rPr lang="en-AU" sz="2200" dirty="0"/>
              <a:t>(p) </a:t>
            </a:r>
            <a:r>
              <a:rPr lang="en-AU" sz="2200" dirty="0" err="1"/>
              <a:t>ø</a:t>
            </a:r>
            <a:r>
              <a:rPr lang="en-AU" sz="2200" dirty="0"/>
              <a:t>(q) </a:t>
            </a:r>
            <a:r>
              <a:rPr lang="en-AU" sz="2200" dirty="0" err="1"/>
              <a:t>ø</a:t>
            </a:r>
            <a:r>
              <a:rPr lang="en-AU" sz="2200" dirty="0"/>
              <a:t>(k)…=(p-1)(q-1)(k-1)…</a:t>
            </a:r>
          </a:p>
        </p:txBody>
      </p:sp>
      <p:pic>
        <p:nvPicPr>
          <p:cNvPr id="6" name="Picture 5" descr="A close-up of a math problem&#10;&#10;Description automatically generated">
            <a:extLst>
              <a:ext uri="{FF2B5EF4-FFF2-40B4-BE49-F238E27FC236}">
                <a16:creationId xmlns:a16="http://schemas.microsoft.com/office/drawing/2014/main" id="{D7B860E4-CFC6-C391-5840-BCE62ED6F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5733256"/>
            <a:ext cx="6080720" cy="895551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Euler's Theorem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916832"/>
            <a:ext cx="8496944" cy="4419600"/>
          </a:xfrm>
        </p:spPr>
        <p:txBody>
          <a:bodyPr/>
          <a:lstStyle/>
          <a:p>
            <a:r>
              <a:rPr lang="en-AU" sz="2400" dirty="0"/>
              <a:t>States that for every </a:t>
            </a:r>
            <a:r>
              <a:rPr lang="en-AU" sz="2400" i="1" dirty="0">
                <a:solidFill>
                  <a:srgbClr val="FF0000"/>
                </a:solidFill>
              </a:rPr>
              <a:t>a</a:t>
            </a:r>
            <a:r>
              <a:rPr lang="en-AU" sz="2400" i="1" dirty="0"/>
              <a:t> </a:t>
            </a:r>
            <a:r>
              <a:rPr lang="en-AU" sz="2400" dirty="0"/>
              <a:t>and </a:t>
            </a:r>
            <a:r>
              <a:rPr lang="en-AU" sz="2400" i="1" dirty="0" err="1">
                <a:solidFill>
                  <a:srgbClr val="FF0000"/>
                </a:solidFill>
              </a:rPr>
              <a:t>n</a:t>
            </a:r>
            <a:r>
              <a:rPr lang="en-AU" sz="2400" i="1" dirty="0"/>
              <a:t> </a:t>
            </a:r>
            <a:r>
              <a:rPr lang="en-AU" sz="2400" dirty="0"/>
              <a:t>that are relatively prime:</a:t>
            </a:r>
          </a:p>
          <a:p>
            <a:pPr>
              <a:buFont typeface="Candara" pitchFamily="-84" charset="0"/>
              <a:buNone/>
            </a:pPr>
            <a:r>
              <a:rPr lang="en-AU" sz="2400" dirty="0"/>
              <a:t>			</a:t>
            </a:r>
            <a:r>
              <a:rPr lang="en-US" sz="2400" i="1" dirty="0">
                <a:solidFill>
                  <a:schemeClr val="tx1"/>
                </a:solidFill>
              </a:rPr>
              <a:t>a</a:t>
            </a:r>
            <a:r>
              <a:rPr lang="en-AU" sz="2400" baseline="30000" dirty="0" err="1"/>
              <a:t>ø</a:t>
            </a:r>
            <a:r>
              <a:rPr lang="en-US" sz="2400" baseline="30000" dirty="0">
                <a:solidFill>
                  <a:schemeClr val="tx1"/>
                </a:solidFill>
              </a:rPr>
              <a:t>(</a:t>
            </a:r>
            <a:r>
              <a:rPr lang="en-US" sz="2400" baseline="30000" dirty="0" err="1">
                <a:solidFill>
                  <a:schemeClr val="tx1"/>
                </a:solidFill>
              </a:rPr>
              <a:t>n</a:t>
            </a:r>
            <a:r>
              <a:rPr lang="en-US" sz="2400" baseline="30000" dirty="0">
                <a:solidFill>
                  <a:schemeClr val="tx1"/>
                </a:solidFill>
              </a:rPr>
              <a:t>) </a:t>
            </a:r>
            <a:r>
              <a:rPr lang="en-US" sz="2400" dirty="0">
                <a:solidFill>
                  <a:schemeClr val="tx1"/>
                </a:solidFill>
              </a:rPr>
              <a:t>=  1(mod </a:t>
            </a:r>
            <a:r>
              <a:rPr lang="en-US" sz="2400" i="1" dirty="0" err="1">
                <a:solidFill>
                  <a:schemeClr val="tx1"/>
                </a:solidFill>
              </a:rPr>
              <a:t>n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</a:p>
          <a:p>
            <a:r>
              <a:rPr lang="en-US" sz="2400" dirty="0"/>
              <a:t>An alternative form is:</a:t>
            </a:r>
          </a:p>
          <a:p>
            <a:pPr>
              <a:buFont typeface="Candara" pitchFamily="-84" charset="0"/>
              <a:buNone/>
            </a:pPr>
            <a:r>
              <a:rPr lang="en-US" sz="2400" dirty="0"/>
              <a:t>			</a:t>
            </a:r>
            <a:r>
              <a:rPr lang="en-US" sz="2400" i="1" dirty="0">
                <a:solidFill>
                  <a:schemeClr val="tx1"/>
                </a:solidFill>
              </a:rPr>
              <a:t>a</a:t>
            </a:r>
            <a:r>
              <a:rPr lang="en-AU" sz="2400" baseline="30000" dirty="0" err="1"/>
              <a:t>ø</a:t>
            </a:r>
            <a:r>
              <a:rPr lang="en-US" sz="2400" baseline="30000" dirty="0">
                <a:solidFill>
                  <a:schemeClr val="tx1"/>
                </a:solidFill>
              </a:rPr>
              <a:t>(n)+1 </a:t>
            </a:r>
            <a:r>
              <a:rPr lang="en-US" sz="2400" dirty="0">
                <a:solidFill>
                  <a:schemeClr val="tx1"/>
                </a:solidFill>
              </a:rPr>
              <a:t>=  </a:t>
            </a:r>
            <a:r>
              <a:rPr lang="en-US" sz="2400" i="1" dirty="0">
                <a:solidFill>
                  <a:schemeClr val="tx1"/>
                </a:solidFill>
              </a:rPr>
              <a:t>a</a:t>
            </a:r>
            <a:r>
              <a:rPr lang="en-US" sz="2400" dirty="0">
                <a:solidFill>
                  <a:schemeClr val="tx1"/>
                </a:solidFill>
              </a:rPr>
              <a:t>(mod </a:t>
            </a:r>
            <a:r>
              <a:rPr lang="en-US" sz="2400" i="1" dirty="0">
                <a:solidFill>
                  <a:schemeClr val="tx1"/>
                </a:solidFill>
              </a:rPr>
              <a:t>n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  <a:endParaRPr lang="en-AU" sz="2400" dirty="0"/>
          </a:p>
          <a:p>
            <a:r>
              <a:rPr lang="en-AU" sz="2400" dirty="0"/>
              <a:t>If n is prime, then </a:t>
            </a:r>
            <a:r>
              <a:rPr lang="en-AU" sz="2400" dirty="0" err="1"/>
              <a:t>ø</a:t>
            </a:r>
            <a:r>
              <a:rPr lang="en-US" sz="2400" dirty="0">
                <a:solidFill>
                  <a:schemeClr val="tx1"/>
                </a:solidFill>
              </a:rPr>
              <a:t>(n)=n-1 and it becomes Fermat’s theorem.</a:t>
            </a:r>
            <a:endParaRPr lang="en-AU" sz="2400" dirty="0"/>
          </a:p>
          <a:p>
            <a:endParaRPr lang="en-AU" sz="2400" dirty="0"/>
          </a:p>
          <a:p>
            <a:endParaRPr lang="en-AU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Miller-Rabin Algorithm</a:t>
            </a:r>
          </a:p>
        </p:txBody>
      </p:sp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908F3F49-0950-D270-90DF-783AF5E2A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163" y="4365104"/>
            <a:ext cx="7772400" cy="2263960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7BB76367-4B9B-13A6-6DE9-FCBC33001F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464395"/>
            <a:ext cx="8712968" cy="4419600"/>
          </a:xfrm>
        </p:spPr>
        <p:txBody>
          <a:bodyPr/>
          <a:lstStyle/>
          <a:p>
            <a:r>
              <a:rPr lang="en-US" sz="2200" dirty="0"/>
              <a:t>Miller-Rabin algorithm is a probabilistic primality test used to determine whether a given number is prime.</a:t>
            </a:r>
          </a:p>
          <a:p>
            <a:r>
              <a:rPr lang="en-US" sz="2200" dirty="0"/>
              <a:t>Line 1:  n-1=2</a:t>
            </a:r>
            <a:r>
              <a:rPr lang="en-US" sz="2200" baseline="30000" dirty="0"/>
              <a:t>k </a:t>
            </a:r>
            <a:r>
              <a:rPr lang="en-US" sz="2200" dirty="0"/>
              <a:t>q		Line 5: a</a:t>
            </a:r>
            <a:r>
              <a:rPr lang="en-US" sz="2200" baseline="30000" dirty="0"/>
              <a:t>(2^j) q </a:t>
            </a:r>
            <a:r>
              <a:rPr lang="en-US" sz="2200" dirty="0"/>
              <a:t>mod n 		Line 3: </a:t>
            </a:r>
            <a:r>
              <a:rPr lang="en-US" sz="2200" dirty="0" err="1"/>
              <a:t>a</a:t>
            </a:r>
            <a:r>
              <a:rPr lang="en-US" sz="2200" baseline="30000" dirty="0" err="1"/>
              <a:t>q</a:t>
            </a:r>
            <a:endParaRPr lang="en-US" sz="2200" dirty="0"/>
          </a:p>
          <a:p>
            <a:r>
              <a:rPr lang="en-US" sz="2200" dirty="0"/>
              <a:t>Composite: definitely not prime</a:t>
            </a:r>
          </a:p>
          <a:p>
            <a:r>
              <a:rPr lang="en-US" sz="2200" dirty="0"/>
              <a:t>Inconclusive: we don’t know if it is prime or not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4095746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241BED4F-A449-2587-34EE-A8C4C344B8A9}"/>
              </a:ext>
            </a:extLst>
          </p:cNvPr>
          <p:cNvSpPr txBox="1">
            <a:spLocks/>
          </p:cNvSpPr>
          <p:nvPr/>
        </p:nvSpPr>
        <p:spPr>
          <a:xfrm>
            <a:off x="53752" y="116632"/>
            <a:ext cx="9036496" cy="51816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342900" indent="-342900" algn="l" rtl="0" fontAlgn="base">
              <a:spcBef>
                <a:spcPts val="24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ＭＳ Ｐゴシック" pitchFamily="-84" charset="-128"/>
              </a:defRPr>
            </a:lvl1pPr>
            <a:lvl2pPr marL="685800" indent="-336550" algn="l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2pPr>
            <a:lvl3pPr marL="1035050" indent="-349250" algn="l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3pPr>
            <a:lvl4pPr marL="1371600" indent="-336550" algn="l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4pPr>
            <a:lvl5pPr marL="1720850" indent="-349250" algn="l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-84" charset="0"/>
              <a:buNone/>
              <a:defRPr/>
            </a:pPr>
            <a:endParaRPr lang="en-US" sz="2000" dirty="0">
              <a:solidFill>
                <a:schemeClr val="tx1"/>
              </a:solidFill>
              <a:ea typeface="+mn-ea"/>
              <a:cs typeface="+mn-cs"/>
            </a:endParaRPr>
          </a:p>
        </p:txBody>
      </p:sp>
      <p:pic>
        <p:nvPicPr>
          <p:cNvPr id="3" name="Picture 2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E4D5527C-EC6D-4FE0-34B5-AC4649C77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25048"/>
            <a:ext cx="7772400" cy="2263960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58352F9-B3DA-E82A-FB97-F1A8993777B6}"/>
              </a:ext>
            </a:extLst>
          </p:cNvPr>
          <p:cNvSpPr txBox="1">
            <a:spLocks noChangeArrowheads="1"/>
          </p:cNvSpPr>
          <p:nvPr/>
        </p:nvSpPr>
        <p:spPr>
          <a:xfrm>
            <a:off x="625952" y="116632"/>
            <a:ext cx="8496944" cy="44196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ts val="24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ＭＳ Ｐゴシック" pitchFamily="-84" charset="-128"/>
              </a:defRPr>
            </a:lvl1pPr>
            <a:lvl2pPr marL="685800" indent="-336550" algn="l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2pPr>
            <a:lvl3pPr marL="1035050" indent="-349250" algn="l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3pPr>
            <a:lvl4pPr marL="1371600" indent="-336550" algn="l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4pPr>
            <a:lvl5pPr marL="1720850" indent="-349250" algn="l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Line 1:  n-1=2</a:t>
            </a:r>
            <a:r>
              <a:rPr lang="en-US" sz="2200" baseline="30000" dirty="0"/>
              <a:t>k </a:t>
            </a:r>
            <a:r>
              <a:rPr lang="en-US" sz="2200" dirty="0"/>
              <a:t>q		Line 5: a</a:t>
            </a:r>
            <a:r>
              <a:rPr lang="en-US" sz="2200" baseline="30000" dirty="0"/>
              <a:t>(2^j) q </a:t>
            </a:r>
            <a:r>
              <a:rPr lang="en-US" sz="2200" dirty="0"/>
              <a:t>mod n 		Line 3: </a:t>
            </a:r>
            <a:r>
              <a:rPr lang="en-US" sz="2200" dirty="0" err="1"/>
              <a:t>a</a:t>
            </a:r>
            <a:r>
              <a:rPr lang="en-US" sz="2200" baseline="30000" dirty="0" err="1"/>
              <a:t>q</a:t>
            </a:r>
            <a:endParaRPr lang="en-US" sz="22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8820B54-0F13-A5ED-1455-050796E92161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3397424"/>
            <a:ext cx="8712968" cy="44196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ts val="24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ＭＳ Ｐゴシック" pitchFamily="-84" charset="-128"/>
              </a:defRPr>
            </a:lvl1pPr>
            <a:lvl2pPr marL="685800" indent="-336550" algn="l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2pPr>
            <a:lvl3pPr marL="1035050" indent="-349250" algn="l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3pPr>
            <a:lvl4pPr marL="1371600" indent="-336550" algn="l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4pPr>
            <a:lvl5pPr marL="1720850" indent="-349250" algn="l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Line1: 	n= 29 	=&gt;n-1=28	=&gt; 28=2</a:t>
            </a:r>
            <a:r>
              <a:rPr lang="en-US" sz="2200" baseline="30000" dirty="0"/>
              <a:t>2 </a:t>
            </a:r>
            <a:r>
              <a:rPr lang="en-US" sz="2200" dirty="0"/>
              <a:t>7 		=&gt;k=2	q=7</a:t>
            </a:r>
          </a:p>
          <a:p>
            <a:pPr marL="0" indent="0">
              <a:buNone/>
            </a:pPr>
            <a:r>
              <a:rPr lang="en-US" sz="2200" dirty="0"/>
              <a:t>Line2:	 	1&lt;a&lt;n-1 		a=10</a:t>
            </a:r>
          </a:p>
          <a:p>
            <a:pPr marL="0" indent="0">
              <a:buNone/>
            </a:pPr>
            <a:r>
              <a:rPr lang="en-US" sz="2200" dirty="0"/>
              <a:t>Line3: 		10</a:t>
            </a:r>
            <a:r>
              <a:rPr lang="en-US" sz="2200" baseline="30000" dirty="0"/>
              <a:t>7 </a:t>
            </a:r>
            <a:r>
              <a:rPr lang="en-US" sz="2200" dirty="0"/>
              <a:t>mod 29 = 17	</a:t>
            </a:r>
          </a:p>
          <a:p>
            <a:pPr marL="0" indent="0">
              <a:buNone/>
            </a:pPr>
            <a:r>
              <a:rPr lang="en-US" sz="2200" dirty="0"/>
              <a:t>Line5 just for j=1:	10</a:t>
            </a:r>
            <a:r>
              <a:rPr lang="en-US" sz="2200" baseline="30000" dirty="0"/>
              <a:t> 2*7 </a:t>
            </a:r>
            <a:r>
              <a:rPr lang="en-US" sz="2200" dirty="0"/>
              <a:t>mod 29 = 28	return ”inconclusive”</a:t>
            </a:r>
          </a:p>
          <a:p>
            <a:pPr marL="0" indent="0">
              <a:buNone/>
            </a:pPr>
            <a:r>
              <a:rPr lang="en-US" sz="2200" dirty="0"/>
              <a:t>We can try all integers  1&lt;a&lt;n-1   and we will get ”inconclusive” thus n=29 has high probability of being prime number.</a:t>
            </a:r>
          </a:p>
          <a:p>
            <a:pPr marL="0" indent="0">
              <a:buNone/>
            </a:pP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3453199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241BED4F-A449-2587-34EE-A8C4C344B8A9}"/>
              </a:ext>
            </a:extLst>
          </p:cNvPr>
          <p:cNvSpPr txBox="1">
            <a:spLocks/>
          </p:cNvSpPr>
          <p:nvPr/>
        </p:nvSpPr>
        <p:spPr>
          <a:xfrm>
            <a:off x="53752" y="116632"/>
            <a:ext cx="9036496" cy="51816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342900" indent="-342900" algn="l" rtl="0" fontAlgn="base">
              <a:spcBef>
                <a:spcPts val="24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ＭＳ Ｐゴシック" pitchFamily="-84" charset="-128"/>
              </a:defRPr>
            </a:lvl1pPr>
            <a:lvl2pPr marL="685800" indent="-336550" algn="l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2pPr>
            <a:lvl3pPr marL="1035050" indent="-349250" algn="l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3pPr>
            <a:lvl4pPr marL="1371600" indent="-336550" algn="l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4pPr>
            <a:lvl5pPr marL="1720850" indent="-349250" algn="l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-84" charset="0"/>
              <a:buNone/>
              <a:defRPr/>
            </a:pPr>
            <a:endParaRPr lang="en-US" sz="2000" dirty="0">
              <a:solidFill>
                <a:schemeClr val="tx1"/>
              </a:solidFill>
              <a:ea typeface="+mn-ea"/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8820B54-0F13-A5ED-1455-050796E92161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3397424"/>
            <a:ext cx="8820472" cy="44196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ts val="24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ＭＳ Ｐゴシック" pitchFamily="-84" charset="-128"/>
              </a:defRPr>
            </a:lvl1pPr>
            <a:lvl2pPr marL="685800" indent="-336550" algn="l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2pPr>
            <a:lvl3pPr marL="1035050" indent="-349250" algn="l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3pPr>
            <a:lvl4pPr marL="1371600" indent="-336550" algn="l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4pPr>
            <a:lvl5pPr marL="1720850" indent="-349250" algn="l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Line1:	n= 221=13*17	 =&gt;n-1=220	=&gt; 220=2</a:t>
            </a:r>
            <a:r>
              <a:rPr lang="en-US" sz="2200" baseline="30000" dirty="0"/>
              <a:t>2 </a:t>
            </a:r>
            <a:r>
              <a:rPr lang="en-US" sz="2200" dirty="0"/>
              <a:t>55 	=&gt;k=2	q=55</a:t>
            </a:r>
          </a:p>
          <a:p>
            <a:pPr marL="0" indent="0">
              <a:buNone/>
            </a:pPr>
            <a:r>
              <a:rPr lang="en-US" sz="2200" dirty="0"/>
              <a:t>Line2:	 	1&lt;a&lt;n-1 		a=5</a:t>
            </a:r>
          </a:p>
          <a:p>
            <a:pPr marL="0" indent="0">
              <a:buNone/>
            </a:pPr>
            <a:r>
              <a:rPr lang="en-US" sz="2200" dirty="0"/>
              <a:t>Line3: 		5</a:t>
            </a:r>
            <a:r>
              <a:rPr lang="en-US" sz="2200" baseline="30000" dirty="0"/>
              <a:t>55 </a:t>
            </a:r>
            <a:r>
              <a:rPr lang="en-US" sz="2200" dirty="0"/>
              <a:t>mod 221 = 112	</a:t>
            </a:r>
          </a:p>
          <a:p>
            <a:pPr marL="0" indent="0">
              <a:buNone/>
            </a:pPr>
            <a:r>
              <a:rPr lang="en-US" sz="2200" dirty="0"/>
              <a:t>Line4:		both j=0, j=1 return “composite” 	</a:t>
            </a:r>
          </a:p>
          <a:p>
            <a:pPr marL="0" indent="0">
              <a:buNone/>
            </a:pPr>
            <a:r>
              <a:rPr lang="en-US" sz="2200" dirty="0"/>
              <a:t>Thus n=221 is not prime, but if we try a=21 test returns ”inconclusive”.</a:t>
            </a:r>
          </a:p>
          <a:p>
            <a:pPr marL="0" indent="0">
              <a:buNone/>
            </a:pPr>
            <a:endParaRPr lang="en-AU" sz="2200" dirty="0"/>
          </a:p>
        </p:txBody>
      </p:sp>
      <p:pic>
        <p:nvPicPr>
          <p:cNvPr id="4" name="Picture 3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7673C205-01CE-727D-03AC-22F1B40A6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25048"/>
            <a:ext cx="7772400" cy="2263960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29290ED2-1592-D171-DB1B-88B1D96E59C4}"/>
              </a:ext>
            </a:extLst>
          </p:cNvPr>
          <p:cNvSpPr txBox="1">
            <a:spLocks noChangeArrowheads="1"/>
          </p:cNvSpPr>
          <p:nvPr/>
        </p:nvSpPr>
        <p:spPr>
          <a:xfrm>
            <a:off x="625952" y="116632"/>
            <a:ext cx="8496944" cy="44196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ts val="24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ＭＳ Ｐゴシック" pitchFamily="-84" charset="-128"/>
              </a:defRPr>
            </a:lvl1pPr>
            <a:lvl2pPr marL="685800" indent="-336550" algn="l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2pPr>
            <a:lvl3pPr marL="1035050" indent="-349250" algn="l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3pPr>
            <a:lvl4pPr marL="1371600" indent="-336550" algn="l" rtl="0" fontAlgn="base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Candara" pitchFamily="-8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4pPr>
            <a:lvl5pPr marL="1720850" indent="-349250" algn="l" rtl="0" fontAlgn="base">
              <a:spcBef>
                <a:spcPts val="600"/>
              </a:spcBef>
              <a:spcAft>
                <a:spcPct val="0"/>
              </a:spcAft>
              <a:buClr>
                <a:srgbClr val="BAABE3"/>
              </a:buClr>
              <a:buFont typeface="Candara" pitchFamily="-8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Line 1:  n-1=2</a:t>
            </a:r>
            <a:r>
              <a:rPr lang="en-US" sz="2200" baseline="30000" dirty="0"/>
              <a:t>k </a:t>
            </a:r>
            <a:r>
              <a:rPr lang="en-US" sz="2200" dirty="0"/>
              <a:t>q		Line 5: a</a:t>
            </a:r>
            <a:r>
              <a:rPr lang="en-US" sz="2200" baseline="30000" dirty="0"/>
              <a:t>(2^j) q </a:t>
            </a:r>
            <a:r>
              <a:rPr lang="en-US" sz="2200" dirty="0"/>
              <a:t>mod n 		Line 3: </a:t>
            </a:r>
            <a:r>
              <a:rPr lang="en-US" sz="2200" dirty="0" err="1"/>
              <a:t>a</a:t>
            </a:r>
            <a:r>
              <a:rPr lang="en-US" sz="2200" baseline="30000" dirty="0" err="1"/>
              <a:t>q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1047263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DFA627-E913-0404-6A8F-11779787152B}"/>
              </a:ext>
            </a:extLst>
          </p:cNvPr>
          <p:cNvSpPr txBox="1"/>
          <p:nvPr/>
        </p:nvSpPr>
        <p:spPr>
          <a:xfrm>
            <a:off x="251520" y="404664"/>
            <a:ext cx="8352928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For odd number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n</a:t>
            </a:r>
            <a:r>
              <a:rPr lang="en-US" sz="2000" dirty="0">
                <a:latin typeface="+mn-lt"/>
              </a:rPr>
              <a:t> that is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not prime </a:t>
            </a:r>
            <a:r>
              <a:rPr lang="en-US" sz="2000" dirty="0">
                <a:latin typeface="+mn-lt"/>
              </a:rPr>
              <a:t>and randomly chosen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a</a:t>
            </a:r>
            <a:r>
              <a:rPr lang="en-US" sz="2000" dirty="0">
                <a:latin typeface="+mn-lt"/>
              </a:rPr>
              <a:t>, 1&lt;a&lt;n-1 the probability that TEST will return inconclusive (i.e., fail to detect that n is not prime) is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less than 1/4</a:t>
            </a:r>
            <a:r>
              <a:rPr lang="en-US" sz="2000" dirty="0">
                <a:latin typeface="+mn-lt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Thus, if we try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t</a:t>
            </a:r>
            <a:r>
              <a:rPr lang="en-US" sz="2000" dirty="0">
                <a:latin typeface="+mn-lt"/>
              </a:rPr>
              <a:t> different values of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a,</a:t>
            </a:r>
            <a:r>
              <a:rPr lang="en-US" sz="2000" dirty="0">
                <a:latin typeface="+mn-lt"/>
              </a:rPr>
              <a:t> then probability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becomes (1/4)</a:t>
            </a:r>
            <a:r>
              <a:rPr lang="en-US" sz="2000" baseline="30000" dirty="0">
                <a:solidFill>
                  <a:srgbClr val="FF0000"/>
                </a:solidFill>
                <a:latin typeface="+mn-lt"/>
              </a:rPr>
              <a:t>t 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If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t=10</a:t>
            </a:r>
            <a:r>
              <a:rPr lang="en-US" sz="2000" dirty="0">
                <a:latin typeface="+mn-lt"/>
              </a:rPr>
              <a:t>, we tried 10 different values for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a,</a:t>
            </a:r>
            <a:r>
              <a:rPr lang="en-US" sz="2000" dirty="0">
                <a:latin typeface="+mn-lt"/>
              </a:rPr>
              <a:t> the probability of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non prime</a:t>
            </a:r>
            <a:r>
              <a:rPr lang="en-US" sz="2000" dirty="0">
                <a:latin typeface="+mn-lt"/>
              </a:rPr>
              <a:t> number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passing test </a:t>
            </a:r>
            <a:r>
              <a:rPr lang="en-US" sz="2000" dirty="0">
                <a:latin typeface="+mn-lt"/>
              </a:rPr>
              <a:t>is less than (1/4)</a:t>
            </a:r>
            <a:r>
              <a:rPr lang="en-US" sz="2000" baseline="30000" dirty="0">
                <a:latin typeface="+mn-lt"/>
              </a:rPr>
              <a:t>t  </a:t>
            </a:r>
            <a:r>
              <a:rPr lang="en-US" sz="2000" dirty="0">
                <a:latin typeface="+mn-lt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10</a:t>
            </a:r>
            <a:r>
              <a:rPr lang="en-US" sz="2000" baseline="30000" dirty="0">
                <a:solidFill>
                  <a:srgbClr val="FF0000"/>
                </a:solidFill>
                <a:latin typeface="+mn-lt"/>
              </a:rPr>
              <a:t>-6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aseline="30000" dirty="0">
              <a:solidFill>
                <a:srgbClr val="FF0000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aseline="30000" dirty="0">
              <a:solidFill>
                <a:srgbClr val="FF0000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aseline="30000" dirty="0">
              <a:solidFill>
                <a:srgbClr val="FF0000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In 2002 (announced in 2002, published in 2004), Agrawal, </a:t>
            </a:r>
            <a:r>
              <a:rPr lang="en-US" sz="2000" dirty="0" err="1">
                <a:latin typeface="+mn-lt"/>
              </a:rPr>
              <a:t>Kayal</a:t>
            </a:r>
            <a:r>
              <a:rPr lang="en-US" sz="2000" dirty="0">
                <a:latin typeface="+mn-lt"/>
              </a:rPr>
              <a:t>, and Saxena developed a relatively simple deterministic algorithm that efficiently determines whether a given large number is a prime.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The algorithm, known as the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AKS</a:t>
            </a:r>
            <a:r>
              <a:rPr lang="en-US" sz="2000" dirty="0">
                <a:latin typeface="+mn-lt"/>
              </a:rPr>
              <a:t> algorithm,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does not appear </a:t>
            </a:r>
            <a:r>
              <a:rPr lang="en-US" sz="2000" dirty="0">
                <a:latin typeface="+mn-lt"/>
              </a:rPr>
              <a:t>to be as efficient as the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Miller–Rabin algorithm</a:t>
            </a:r>
            <a:r>
              <a:rPr lang="en-US" sz="2000" dirty="0">
                <a:latin typeface="+mn-lt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Thus far, AKS has not supplanted this older, probabilistic technique Miller–Rabin algorithm.</a:t>
            </a:r>
          </a:p>
        </p:txBody>
      </p:sp>
    </p:spTree>
    <p:extLst>
      <p:ext uri="{BB962C8B-B14F-4D97-AF65-F5344CB8AC3E}">
        <p14:creationId xmlns:p14="http://schemas.microsoft.com/office/powerpoint/2010/main" val="189821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ch01">
  <a:themeElements>
    <a:clrScheme name="ch01 4">
      <a:dk1>
        <a:srgbClr val="9B69FF"/>
      </a:dk1>
      <a:lt1>
        <a:srgbClr val="FFFFFF"/>
      </a:lt1>
      <a:dk2>
        <a:srgbClr val="666699"/>
      </a:dk2>
      <a:lt2>
        <a:srgbClr val="D9D9FF"/>
      </a:lt2>
      <a:accent1>
        <a:srgbClr val="9966FF"/>
      </a:accent1>
      <a:accent2>
        <a:srgbClr val="00FFFF"/>
      </a:accent2>
      <a:accent3>
        <a:srgbClr val="B8B8CA"/>
      </a:accent3>
      <a:accent4>
        <a:srgbClr val="DADADA"/>
      </a:accent4>
      <a:accent5>
        <a:srgbClr val="CAB8FF"/>
      </a:accent5>
      <a:accent6>
        <a:srgbClr val="00E7E7"/>
      </a:accent6>
      <a:hlink>
        <a:srgbClr val="5FAFFF"/>
      </a:hlink>
      <a:folHlink>
        <a:srgbClr val="003399"/>
      </a:folHlink>
    </a:clrScheme>
    <a:fontScheme name="ch0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h01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2E2E8E"/>
        </a:accent1>
        <a:accent2>
          <a:srgbClr val="0066CC"/>
        </a:accent2>
        <a:accent3>
          <a:srgbClr val="AAACB1"/>
        </a:accent3>
        <a:accent4>
          <a:srgbClr val="DADADA"/>
        </a:accent4>
        <a:accent5>
          <a:srgbClr val="ADADC6"/>
        </a:accent5>
        <a:accent6>
          <a:srgbClr val="005CB9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58718C"/>
        </a:accent1>
        <a:accent2>
          <a:srgbClr val="6D9D97"/>
        </a:accent2>
        <a:accent3>
          <a:srgbClr val="B0B9C3"/>
        </a:accent3>
        <a:accent4>
          <a:srgbClr val="DADADA"/>
        </a:accent4>
        <a:accent5>
          <a:srgbClr val="B4BBC5"/>
        </a:accent5>
        <a:accent6>
          <a:srgbClr val="628E88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88E4"/>
        </a:accent1>
        <a:accent2>
          <a:srgbClr val="009999"/>
        </a:accent2>
        <a:accent3>
          <a:srgbClr val="AAB9D3"/>
        </a:accent3>
        <a:accent4>
          <a:srgbClr val="DADADA"/>
        </a:accent4>
        <a:accent5>
          <a:srgbClr val="AAC3EF"/>
        </a:accent5>
        <a:accent6>
          <a:srgbClr val="008A8A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9966FF"/>
        </a:accent1>
        <a:accent2>
          <a:srgbClr val="00FFFF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E7E7"/>
        </a:accent6>
        <a:hlink>
          <a:srgbClr val="5FAFFF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8080"/>
        </a:accent1>
        <a:accent2>
          <a:srgbClr val="0099FF"/>
        </a:accent2>
        <a:accent3>
          <a:srgbClr val="AAB8B8"/>
        </a:accent3>
        <a:accent4>
          <a:srgbClr val="DADADA"/>
        </a:accent4>
        <a:accent5>
          <a:srgbClr val="AAC0C0"/>
        </a:accent5>
        <a:accent6>
          <a:srgbClr val="008AE7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CBD7CE"/>
        </a:accent1>
        <a:accent2>
          <a:srgbClr val="9CA8A4"/>
        </a:accent2>
        <a:accent3>
          <a:srgbClr val="CEDAD1"/>
        </a:accent3>
        <a:accent4>
          <a:srgbClr val="DADADA"/>
        </a:accent4>
        <a:accent5>
          <a:srgbClr val="E2E8E3"/>
        </a:accent5>
        <a:accent6>
          <a:srgbClr val="8D9894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686B5D"/>
        </a:accent1>
        <a:accent2>
          <a:srgbClr val="5D8770"/>
        </a:accent2>
        <a:accent3>
          <a:srgbClr val="B3B3AF"/>
        </a:accent3>
        <a:accent4>
          <a:srgbClr val="BCBAB1"/>
        </a:accent4>
        <a:accent5>
          <a:srgbClr val="B9BAB6"/>
        </a:accent5>
        <a:accent6>
          <a:srgbClr val="537A65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A4BCC4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94AAB1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01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E6E3D4"/>
        </a:accent1>
        <a:accent2>
          <a:srgbClr val="A2A4AC"/>
        </a:accent2>
        <a:accent3>
          <a:srgbClr val="E8E5D9"/>
        </a:accent3>
        <a:accent4>
          <a:srgbClr val="000000"/>
        </a:accent4>
        <a:accent5>
          <a:srgbClr val="F0EFE6"/>
        </a:accent5>
        <a:accent6>
          <a:srgbClr val="9294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Infusion">
  <a:themeElements>
    <a:clrScheme name="Infusion">
      <a:dk1>
        <a:sysClr val="windowText" lastClr="000000"/>
      </a:dk1>
      <a:lt1>
        <a:sysClr val="window" lastClr="FFFFFF"/>
      </a:lt1>
      <a:dk2>
        <a:srgbClr val="2F1F58"/>
      </a:dk2>
      <a:lt2>
        <a:srgbClr val="B7A9E0"/>
      </a:lt2>
      <a:accent1>
        <a:srgbClr val="8C73D0"/>
      </a:accent1>
      <a:accent2>
        <a:srgbClr val="C2E8C4"/>
      </a:accent2>
      <a:accent3>
        <a:srgbClr val="C5A6E8"/>
      </a:accent3>
      <a:accent4>
        <a:srgbClr val="B45EC7"/>
      </a:accent4>
      <a:accent5>
        <a:srgbClr val="9FDAFB"/>
      </a:accent5>
      <a:accent6>
        <a:srgbClr val="95C5B0"/>
      </a:accent6>
      <a:hlink>
        <a:srgbClr val="744AE0"/>
      </a:hlink>
      <a:folHlink>
        <a:srgbClr val="8D8AD1"/>
      </a:folHlink>
    </a:clrScheme>
    <a:fontScheme name="Infusion">
      <a:majorFont>
        <a:latin typeface="Mistral"/>
        <a:ea typeface=""/>
        <a:cs typeface=""/>
        <a:font script="Jpan" typeface="ＭＳ Ｐ明朝"/>
      </a:majorFont>
      <a:minorFont>
        <a:latin typeface="Candara"/>
        <a:ea typeface=""/>
        <a:cs typeface=""/>
        <a:font script="Jpan" typeface="メイリオ"/>
      </a:minorFont>
    </a:fontScheme>
    <a:fmtScheme name="Infusion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300000"/>
                <a:lumMod val="125000"/>
              </a:schemeClr>
            </a:duotone>
          </a:blip>
          <a:tile tx="0" ty="0" sx="50000" sy="5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135000"/>
              </a:schemeClr>
            </a:duotone>
          </a:blip>
          <a:tile tx="0" ty="0" sx="40000" sy="40000" flip="none" algn="tl"/>
        </a:blipFill>
      </a:fillStyleLst>
      <a:lnStyleLst>
        <a:ln w="38100" cap="flat" cmpd="sng" algn="ctr">
          <a:solidFill>
            <a:schemeClr val="phClr">
              <a:alpha val="70000"/>
              <a:satMod val="105000"/>
            </a:schemeClr>
          </a:solidFill>
          <a:prstDash val="solid"/>
          <a:miter/>
        </a:ln>
        <a:ln w="50800" cap="flat" cmpd="sng" algn="ctr">
          <a:solidFill>
            <a:schemeClr val="phClr">
              <a:alpha val="50000"/>
            </a:schemeClr>
          </a:solidFill>
          <a:prstDash val="solid"/>
          <a:miter/>
        </a:ln>
        <a:ln w="88900" cap="flat" cmpd="sng" algn="ctr">
          <a:solidFill>
            <a:schemeClr val="phClr">
              <a:alpha val="40000"/>
            </a:schemeClr>
          </a:solidFill>
          <a:prstDash val="solid"/>
          <a:miter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innerShdw blurRad="190500" dir="13500000">
              <a:srgbClr val="000000">
                <a:alpha val="50000"/>
              </a:srgbClr>
            </a:innerShdw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blipFill rotWithShape="1">
          <a:blip xmlns:r="http://schemas.openxmlformats.org/officeDocument/2006/relationships" r:embed="rId3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5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Mnementh:Users:lpb:admin:consult:Prentice-Hall:Slides:ch01.ppt</Template>
  <TotalTime>26756</TotalTime>
  <Words>1812</Words>
  <Application>Microsoft Macintosh PowerPoint</Application>
  <PresentationFormat>On-screen Show (4:3)</PresentationFormat>
  <Paragraphs>178</Paragraphs>
  <Slides>31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Candara</vt:lpstr>
      <vt:lpstr>Wingdings</vt:lpstr>
      <vt:lpstr>ch01</vt:lpstr>
      <vt:lpstr>Infusion</vt:lpstr>
      <vt:lpstr>PowerPoint Presentation</vt:lpstr>
      <vt:lpstr>PowerPoint Presentation</vt:lpstr>
      <vt:lpstr>Divisibility</vt:lpstr>
      <vt:lpstr>Divisibility</vt:lpstr>
      <vt:lpstr>Division Algorithm</vt:lpstr>
      <vt:lpstr>Division Algorithm</vt:lpstr>
      <vt:lpstr>Euclidean Algorithm</vt:lpstr>
      <vt:lpstr>Euclidean Algorithm</vt:lpstr>
      <vt:lpstr>Finding GCD</vt:lpstr>
      <vt:lpstr>Finding GCD</vt:lpstr>
      <vt:lpstr>Finding GCD</vt:lpstr>
      <vt:lpstr>PowerPoint Presentation</vt:lpstr>
      <vt:lpstr>Modular Arithmetic</vt:lpstr>
      <vt:lpstr>Modular Arithmetic</vt:lpstr>
      <vt:lpstr>Properties of Congruences</vt:lpstr>
      <vt:lpstr>Modular Arithmetic</vt:lpstr>
      <vt:lpstr>PowerPoint Presentation</vt:lpstr>
      <vt:lpstr>PowerPoint Presentation</vt:lpstr>
      <vt:lpstr>PowerPoint Presentation</vt:lpstr>
      <vt:lpstr>Prime Numbers</vt:lpstr>
      <vt:lpstr>Prime Numbers</vt:lpstr>
      <vt:lpstr>Prime Numbers</vt:lpstr>
      <vt:lpstr>Fermat's Theorem</vt:lpstr>
      <vt:lpstr>Fermat's Theorem</vt:lpstr>
      <vt:lpstr>Alternative Fermat's Theorem</vt:lpstr>
      <vt:lpstr>Euler’s Totient Function ø(n)</vt:lpstr>
      <vt:lpstr>Euler's Theorem</vt:lpstr>
      <vt:lpstr>Miller-Rabin Algorithm</vt:lpstr>
      <vt:lpstr>PowerPoint Presentation</vt:lpstr>
      <vt:lpstr>PowerPoint Presentation</vt:lpstr>
      <vt:lpstr>PowerPoint Presentation</vt:lpstr>
    </vt:vector>
  </TitlesOfParts>
  <Manager/>
  <Company>School of Eng &amp; IT, UNSW@ADFA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Stallings, Cryptography and Network Security 5/e</dc:title>
  <dc:subject>Lecture Overheads - Ch 4</dc:subject>
  <dc:creator>Dr Lawrie Brown</dc:creator>
  <cp:keywords/>
  <dc:description/>
  <cp:lastModifiedBy>Igor Remizov</cp:lastModifiedBy>
  <cp:revision>257</cp:revision>
  <cp:lastPrinted>2009-08-06T03:57:36Z</cp:lastPrinted>
  <dcterms:created xsi:type="dcterms:W3CDTF">2016-03-13T02:06:16Z</dcterms:created>
  <dcterms:modified xsi:type="dcterms:W3CDTF">2025-09-10T17:14:54Z</dcterms:modified>
  <cp:category/>
</cp:coreProperties>
</file>