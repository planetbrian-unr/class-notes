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df" ContentType="application/pd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1" r:id="rId1"/>
    <p:sldMasterId id="2147483725" r:id="rId2"/>
  </p:sldMasterIdLst>
  <p:notesMasterIdLst>
    <p:notesMasterId r:id="rId32"/>
  </p:notesMasterIdLst>
  <p:handoutMasterIdLst>
    <p:handoutMasterId r:id="rId33"/>
  </p:handoutMasterIdLst>
  <p:sldIdLst>
    <p:sldId id="354" r:id="rId3"/>
    <p:sldId id="355" r:id="rId4"/>
    <p:sldId id="277" r:id="rId5"/>
    <p:sldId id="275" r:id="rId6"/>
    <p:sldId id="326" r:id="rId7"/>
    <p:sldId id="356" r:id="rId8"/>
    <p:sldId id="357" r:id="rId9"/>
    <p:sldId id="359" r:id="rId10"/>
    <p:sldId id="361" r:id="rId11"/>
    <p:sldId id="363" r:id="rId12"/>
    <p:sldId id="362" r:id="rId13"/>
    <p:sldId id="278" r:id="rId14"/>
    <p:sldId id="280" r:id="rId15"/>
    <p:sldId id="364" r:id="rId16"/>
    <p:sldId id="282" r:id="rId17"/>
    <p:sldId id="365" r:id="rId18"/>
    <p:sldId id="284" r:id="rId19"/>
    <p:sldId id="384" r:id="rId20"/>
    <p:sldId id="379" r:id="rId21"/>
    <p:sldId id="380" r:id="rId22"/>
    <p:sldId id="381" r:id="rId23"/>
    <p:sldId id="382" r:id="rId24"/>
    <p:sldId id="383" r:id="rId25"/>
    <p:sldId id="386" r:id="rId26"/>
    <p:sldId id="387" r:id="rId27"/>
    <p:sldId id="388" r:id="rId28"/>
    <p:sldId id="389" r:id="rId29"/>
    <p:sldId id="390" r:id="rId30"/>
    <p:sldId id="391" r:id="rId31"/>
  </p:sldIdLst>
  <p:sldSz cx="9144000" cy="6858000" type="screen4x3"/>
  <p:notesSz cx="6858000" cy="9144000"/>
  <p:defaultTextStyle>
    <a:defPPr>
      <a:defRPr lang="en-A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1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1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1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1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1" charset="0"/>
        <a:ea typeface="+mn-ea"/>
        <a:cs typeface="+mn-cs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pitchFamily="-1" charset="0"/>
        <a:ea typeface="+mn-ea"/>
        <a:cs typeface="+mn-cs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pitchFamily="-1" charset="0"/>
        <a:ea typeface="+mn-ea"/>
        <a:cs typeface="+mn-cs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pitchFamily="-1" charset="0"/>
        <a:ea typeface="+mn-ea"/>
        <a:cs typeface="+mn-cs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pitchFamily="-1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notes" clrMode="gray"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328" autoAdjust="0"/>
    <p:restoredTop sz="92484" autoAdjust="0"/>
  </p:normalViewPr>
  <p:slideViewPr>
    <p:cSldViewPr>
      <p:cViewPr varScale="1">
        <p:scale>
          <a:sx n="100" d="100"/>
          <a:sy n="100" d="100"/>
        </p:scale>
        <p:origin x="1808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26" d="100"/>
          <a:sy n="126" d="100"/>
        </p:scale>
        <p:origin x="-2056" y="-12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E5A275C-1CD6-0545-86E6-24A2CEC3693D}" type="doc">
      <dgm:prSet loTypeId="urn:microsoft.com/office/officeart/2005/8/layout/matrix2" loCatId="matrix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A1DDF25-FFA9-B145-AE5C-991984DE3695}">
      <dgm:prSet/>
      <dgm:spPr/>
      <dgm:t>
        <a:bodyPr/>
        <a:lstStyle/>
        <a:p>
          <a:pPr rtl="0"/>
          <a:r>
            <a:rPr lang="en-US" dirty="0"/>
            <a:t>A block of plaintext is </a:t>
          </a:r>
          <a:r>
            <a:rPr lang="en-US" dirty="0">
              <a:solidFill>
                <a:srgbClr val="FF0000"/>
              </a:solidFill>
            </a:rPr>
            <a:t>treated as a whole </a:t>
          </a:r>
          <a:r>
            <a:rPr lang="en-US" dirty="0"/>
            <a:t>and used to produce a ciphertext block of equal length</a:t>
          </a:r>
        </a:p>
      </dgm:t>
    </dgm:pt>
    <dgm:pt modelId="{BC4B56E0-1CA8-2644-94CB-A095DF594B18}" type="parTrans" cxnId="{ACCD1752-D52B-AE4D-8444-99DB2A5BB954}">
      <dgm:prSet/>
      <dgm:spPr/>
      <dgm:t>
        <a:bodyPr/>
        <a:lstStyle/>
        <a:p>
          <a:endParaRPr lang="en-US"/>
        </a:p>
      </dgm:t>
    </dgm:pt>
    <dgm:pt modelId="{51E3C4C4-7F08-3E4E-86BF-C998F1E5CD36}" type="sibTrans" cxnId="{ACCD1752-D52B-AE4D-8444-99DB2A5BB954}">
      <dgm:prSet/>
      <dgm:spPr/>
      <dgm:t>
        <a:bodyPr/>
        <a:lstStyle/>
        <a:p>
          <a:endParaRPr lang="en-US"/>
        </a:p>
      </dgm:t>
    </dgm:pt>
    <dgm:pt modelId="{076F6597-BAC0-C641-B047-30B33625D51E}">
      <dgm:prSet/>
      <dgm:spPr/>
      <dgm:t>
        <a:bodyPr/>
        <a:lstStyle/>
        <a:p>
          <a:pPr rtl="0"/>
          <a:r>
            <a:rPr lang="en-US" dirty="0"/>
            <a:t>Typically a block size of </a:t>
          </a:r>
          <a:r>
            <a:rPr lang="en-US" dirty="0">
              <a:solidFill>
                <a:srgbClr val="FF0000"/>
              </a:solidFill>
            </a:rPr>
            <a:t>64 or 128 </a:t>
          </a:r>
          <a:r>
            <a:rPr lang="en-US" dirty="0"/>
            <a:t>bits is used</a:t>
          </a:r>
        </a:p>
      </dgm:t>
    </dgm:pt>
    <dgm:pt modelId="{32C112CF-96A9-D04E-9704-08506E631938}" type="parTrans" cxnId="{80979EFE-AA49-274C-9181-B33F94502A72}">
      <dgm:prSet/>
      <dgm:spPr/>
      <dgm:t>
        <a:bodyPr/>
        <a:lstStyle/>
        <a:p>
          <a:endParaRPr lang="en-US"/>
        </a:p>
      </dgm:t>
    </dgm:pt>
    <dgm:pt modelId="{0F1455F7-9A00-9D4E-A3D6-ED1B8AE1DAB0}" type="sibTrans" cxnId="{80979EFE-AA49-274C-9181-B33F94502A72}">
      <dgm:prSet/>
      <dgm:spPr/>
      <dgm:t>
        <a:bodyPr/>
        <a:lstStyle/>
        <a:p>
          <a:endParaRPr lang="en-US"/>
        </a:p>
      </dgm:t>
    </dgm:pt>
    <dgm:pt modelId="{22FA66FA-A9B2-8549-AF15-647BD146D7FD}">
      <dgm:prSet/>
      <dgm:spPr/>
      <dgm:t>
        <a:bodyPr/>
        <a:lstStyle/>
        <a:p>
          <a:pPr rtl="0"/>
          <a:r>
            <a:rPr lang="en-US" dirty="0"/>
            <a:t>As with a stream cipher,  the two users </a:t>
          </a:r>
          <a:r>
            <a:rPr lang="en-US" dirty="0">
              <a:solidFill>
                <a:srgbClr val="FF0000"/>
              </a:solidFill>
            </a:rPr>
            <a:t>share a symmetric encryption key </a:t>
          </a:r>
        </a:p>
      </dgm:t>
    </dgm:pt>
    <dgm:pt modelId="{8BD38B9D-9B01-304E-8CEF-51293D4AD0DC}" type="parTrans" cxnId="{C9D7261E-ED0E-1648-AE67-CF1788A5B283}">
      <dgm:prSet/>
      <dgm:spPr/>
      <dgm:t>
        <a:bodyPr/>
        <a:lstStyle/>
        <a:p>
          <a:endParaRPr lang="en-US"/>
        </a:p>
      </dgm:t>
    </dgm:pt>
    <dgm:pt modelId="{6220B37E-5029-EE4F-AA9D-5C6EF8112782}" type="sibTrans" cxnId="{C9D7261E-ED0E-1648-AE67-CF1788A5B283}">
      <dgm:prSet/>
      <dgm:spPr/>
      <dgm:t>
        <a:bodyPr/>
        <a:lstStyle/>
        <a:p>
          <a:endParaRPr lang="en-US"/>
        </a:p>
      </dgm:t>
    </dgm:pt>
    <dgm:pt modelId="{1B5FAC51-D70C-4D4D-B7F3-445742634A1A}">
      <dgm:prSet/>
      <dgm:spPr/>
      <dgm:t>
        <a:bodyPr/>
        <a:lstStyle/>
        <a:p>
          <a:pPr rtl="0"/>
          <a:r>
            <a:rPr lang="en-US" dirty="0"/>
            <a:t>The majority of network-based symmetric cryptographic applications make use of block ciphers</a:t>
          </a:r>
        </a:p>
      </dgm:t>
    </dgm:pt>
    <dgm:pt modelId="{05803D6B-EB82-9B45-A07B-F788A52C0969}" type="parTrans" cxnId="{04CEB378-E4E0-AD42-A696-60E202A1E270}">
      <dgm:prSet/>
      <dgm:spPr/>
      <dgm:t>
        <a:bodyPr/>
        <a:lstStyle/>
        <a:p>
          <a:endParaRPr lang="en-US"/>
        </a:p>
      </dgm:t>
    </dgm:pt>
    <dgm:pt modelId="{30D84D8B-4FF6-6141-BE10-C7FDC0E5B6EC}" type="sibTrans" cxnId="{04CEB378-E4E0-AD42-A696-60E202A1E270}">
      <dgm:prSet/>
      <dgm:spPr/>
      <dgm:t>
        <a:bodyPr/>
        <a:lstStyle/>
        <a:p>
          <a:endParaRPr lang="en-US"/>
        </a:p>
      </dgm:t>
    </dgm:pt>
    <dgm:pt modelId="{53B90DEE-6B91-5843-86E0-A685BF969F35}" type="pres">
      <dgm:prSet presAssocID="{4E5A275C-1CD6-0545-86E6-24A2CEC3693D}" presName="matrix" presStyleCnt="0">
        <dgm:presLayoutVars>
          <dgm:chMax val="1"/>
          <dgm:dir/>
          <dgm:resizeHandles val="exact"/>
        </dgm:presLayoutVars>
      </dgm:prSet>
      <dgm:spPr/>
    </dgm:pt>
    <dgm:pt modelId="{A54F1174-8CF9-9A40-9D07-E0CBAE921C39}" type="pres">
      <dgm:prSet presAssocID="{4E5A275C-1CD6-0545-86E6-24A2CEC3693D}" presName="axisShape" presStyleLbl="bgShp" presStyleIdx="0" presStyleCnt="1"/>
      <dgm:spPr>
        <a:solidFill>
          <a:schemeClr val="bg2"/>
        </a:solidFill>
        <a:ln>
          <a:solidFill>
            <a:schemeClr val="tx2"/>
          </a:solidFill>
        </a:ln>
      </dgm:spPr>
    </dgm:pt>
    <dgm:pt modelId="{FECC4BC1-441A-5849-8098-4815B636C467}" type="pres">
      <dgm:prSet presAssocID="{4E5A275C-1CD6-0545-86E6-24A2CEC3693D}" presName="rect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40DEB569-D830-3B4C-85A1-DEE51CF7A1AF}" type="pres">
      <dgm:prSet presAssocID="{4E5A275C-1CD6-0545-86E6-24A2CEC3693D}" presName="rect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E43A1B95-F31C-7B44-81E3-A24F046A9ABB}" type="pres">
      <dgm:prSet presAssocID="{4E5A275C-1CD6-0545-86E6-24A2CEC3693D}" presName="rect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50837987-4199-F845-9D3A-77DDE3DBCB6A}" type="pres">
      <dgm:prSet presAssocID="{4E5A275C-1CD6-0545-86E6-24A2CEC3693D}" presName="rect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4ABC7A19-7072-0B45-B65A-54D9F100AF75}" type="presOf" srcId="{3A1DDF25-FFA9-B145-AE5C-991984DE3695}" destId="{FECC4BC1-441A-5849-8098-4815B636C467}" srcOrd="0" destOrd="0" presId="urn:microsoft.com/office/officeart/2005/8/layout/matrix2"/>
    <dgm:cxn modelId="{C9D7261E-ED0E-1648-AE67-CF1788A5B283}" srcId="{4E5A275C-1CD6-0545-86E6-24A2CEC3693D}" destId="{22FA66FA-A9B2-8549-AF15-647BD146D7FD}" srcOrd="2" destOrd="0" parTransId="{8BD38B9D-9B01-304E-8CEF-51293D4AD0DC}" sibTransId="{6220B37E-5029-EE4F-AA9D-5C6EF8112782}"/>
    <dgm:cxn modelId="{ACCD1752-D52B-AE4D-8444-99DB2A5BB954}" srcId="{4E5A275C-1CD6-0545-86E6-24A2CEC3693D}" destId="{3A1DDF25-FFA9-B145-AE5C-991984DE3695}" srcOrd="0" destOrd="0" parTransId="{BC4B56E0-1CA8-2644-94CB-A095DF594B18}" sibTransId="{51E3C4C4-7F08-3E4E-86BF-C998F1E5CD36}"/>
    <dgm:cxn modelId="{04CEB378-E4E0-AD42-A696-60E202A1E270}" srcId="{4E5A275C-1CD6-0545-86E6-24A2CEC3693D}" destId="{1B5FAC51-D70C-4D4D-B7F3-445742634A1A}" srcOrd="3" destOrd="0" parTransId="{05803D6B-EB82-9B45-A07B-F788A52C0969}" sibTransId="{30D84D8B-4FF6-6141-BE10-C7FDC0E5B6EC}"/>
    <dgm:cxn modelId="{9557178B-DBD5-214F-9355-FF6B9A96B795}" type="presOf" srcId="{4E5A275C-1CD6-0545-86E6-24A2CEC3693D}" destId="{53B90DEE-6B91-5843-86E0-A685BF969F35}" srcOrd="0" destOrd="0" presId="urn:microsoft.com/office/officeart/2005/8/layout/matrix2"/>
    <dgm:cxn modelId="{26FC45B9-5CDF-C441-ACDD-8A221784CDDC}" type="presOf" srcId="{22FA66FA-A9B2-8549-AF15-647BD146D7FD}" destId="{E43A1B95-F31C-7B44-81E3-A24F046A9ABB}" srcOrd="0" destOrd="0" presId="urn:microsoft.com/office/officeart/2005/8/layout/matrix2"/>
    <dgm:cxn modelId="{460164DE-A1AF-F745-9EC1-7CA364C37A28}" type="presOf" srcId="{076F6597-BAC0-C641-B047-30B33625D51E}" destId="{40DEB569-D830-3B4C-85A1-DEE51CF7A1AF}" srcOrd="0" destOrd="0" presId="urn:microsoft.com/office/officeart/2005/8/layout/matrix2"/>
    <dgm:cxn modelId="{918537E9-0B8B-2245-98D2-839724C7E287}" type="presOf" srcId="{1B5FAC51-D70C-4D4D-B7F3-445742634A1A}" destId="{50837987-4199-F845-9D3A-77DDE3DBCB6A}" srcOrd="0" destOrd="0" presId="urn:microsoft.com/office/officeart/2005/8/layout/matrix2"/>
    <dgm:cxn modelId="{80979EFE-AA49-274C-9181-B33F94502A72}" srcId="{4E5A275C-1CD6-0545-86E6-24A2CEC3693D}" destId="{076F6597-BAC0-C641-B047-30B33625D51E}" srcOrd="1" destOrd="0" parTransId="{32C112CF-96A9-D04E-9704-08506E631938}" sibTransId="{0F1455F7-9A00-9D4E-A3D6-ED1B8AE1DAB0}"/>
    <dgm:cxn modelId="{8A63B8F0-89FC-4743-AF79-BD37A90DC330}" type="presParOf" srcId="{53B90DEE-6B91-5843-86E0-A685BF969F35}" destId="{A54F1174-8CF9-9A40-9D07-E0CBAE921C39}" srcOrd="0" destOrd="0" presId="urn:microsoft.com/office/officeart/2005/8/layout/matrix2"/>
    <dgm:cxn modelId="{2ED6CE28-663C-F646-AFA2-9ECBFFDF03E1}" type="presParOf" srcId="{53B90DEE-6B91-5843-86E0-A685BF969F35}" destId="{FECC4BC1-441A-5849-8098-4815B636C467}" srcOrd="1" destOrd="0" presId="urn:microsoft.com/office/officeart/2005/8/layout/matrix2"/>
    <dgm:cxn modelId="{CC4CB403-BA0C-4C45-BEDF-86FAABFCA171}" type="presParOf" srcId="{53B90DEE-6B91-5843-86E0-A685BF969F35}" destId="{40DEB569-D830-3B4C-85A1-DEE51CF7A1AF}" srcOrd="2" destOrd="0" presId="urn:microsoft.com/office/officeart/2005/8/layout/matrix2"/>
    <dgm:cxn modelId="{0D1C3E07-2066-7145-B3BC-49F3B3A64325}" type="presParOf" srcId="{53B90DEE-6B91-5843-86E0-A685BF969F35}" destId="{E43A1B95-F31C-7B44-81E3-A24F046A9ABB}" srcOrd="3" destOrd="0" presId="urn:microsoft.com/office/officeart/2005/8/layout/matrix2"/>
    <dgm:cxn modelId="{7A581D48-46BD-AF49-8FF9-4F792CF891C8}" type="presParOf" srcId="{53B90DEE-6B91-5843-86E0-A685BF969F35}" destId="{50837987-4199-F845-9D3A-77DDE3DBCB6A}" srcOrd="4" destOrd="0" presId="urn:microsoft.com/office/officeart/2005/8/layout/matrix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4F1174-8CF9-9A40-9D07-E0CBAE921C39}">
      <dsp:nvSpPr>
        <dsp:cNvPr id="0" name=""/>
        <dsp:cNvSpPr/>
      </dsp:nvSpPr>
      <dsp:spPr>
        <a:xfrm>
          <a:off x="1795182" y="0"/>
          <a:ext cx="4944034" cy="4944034"/>
        </a:xfrm>
        <a:prstGeom prst="quadArrow">
          <a:avLst>
            <a:gd name="adj1" fmla="val 2000"/>
            <a:gd name="adj2" fmla="val 4000"/>
            <a:gd name="adj3" fmla="val 5000"/>
          </a:avLst>
        </a:prstGeom>
        <a:solidFill>
          <a:schemeClr val="bg2"/>
        </a:solidFill>
        <a:ln>
          <a:solidFill>
            <a:schemeClr val="tx2"/>
          </a:solidFill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FECC4BC1-441A-5849-8098-4815B636C467}">
      <dsp:nvSpPr>
        <dsp:cNvPr id="0" name=""/>
        <dsp:cNvSpPr/>
      </dsp:nvSpPr>
      <dsp:spPr>
        <a:xfrm>
          <a:off x="2116544" y="321362"/>
          <a:ext cx="1977614" cy="1977614"/>
        </a:xfrm>
        <a:prstGeom prst="roundRect">
          <a:avLst/>
        </a:prstGeom>
        <a:blipFill rotWithShape="1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noFill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 block of plaintext is </a:t>
          </a:r>
          <a:r>
            <a:rPr lang="en-US" sz="1600" kern="1200" dirty="0">
              <a:solidFill>
                <a:srgbClr val="FF0000"/>
              </a:solidFill>
            </a:rPr>
            <a:t>treated as a whole </a:t>
          </a:r>
          <a:r>
            <a:rPr lang="en-US" sz="1600" kern="1200" dirty="0"/>
            <a:t>and used to produce a ciphertext block of equal length</a:t>
          </a:r>
        </a:p>
      </dsp:txBody>
      <dsp:txXfrm>
        <a:off x="2213083" y="417901"/>
        <a:ext cx="1784536" cy="1784536"/>
      </dsp:txXfrm>
    </dsp:sp>
    <dsp:sp modelId="{40DEB569-D830-3B4C-85A1-DEE51CF7A1AF}">
      <dsp:nvSpPr>
        <dsp:cNvPr id="0" name=""/>
        <dsp:cNvSpPr/>
      </dsp:nvSpPr>
      <dsp:spPr>
        <a:xfrm>
          <a:off x="4440241" y="321362"/>
          <a:ext cx="1977614" cy="1977614"/>
        </a:xfrm>
        <a:prstGeom prst="roundRect">
          <a:avLst/>
        </a:prstGeom>
        <a:blipFill rotWithShape="1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noFill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Typically a block size of </a:t>
          </a:r>
          <a:r>
            <a:rPr lang="en-US" sz="1600" kern="1200" dirty="0">
              <a:solidFill>
                <a:srgbClr val="FF0000"/>
              </a:solidFill>
            </a:rPr>
            <a:t>64 or 128 </a:t>
          </a:r>
          <a:r>
            <a:rPr lang="en-US" sz="1600" kern="1200" dirty="0"/>
            <a:t>bits is used</a:t>
          </a:r>
        </a:p>
      </dsp:txBody>
      <dsp:txXfrm>
        <a:off x="4536780" y="417901"/>
        <a:ext cx="1784536" cy="1784536"/>
      </dsp:txXfrm>
    </dsp:sp>
    <dsp:sp modelId="{E43A1B95-F31C-7B44-81E3-A24F046A9ABB}">
      <dsp:nvSpPr>
        <dsp:cNvPr id="0" name=""/>
        <dsp:cNvSpPr/>
      </dsp:nvSpPr>
      <dsp:spPr>
        <a:xfrm>
          <a:off x="2116544" y="2645058"/>
          <a:ext cx="1977614" cy="1977614"/>
        </a:xfrm>
        <a:prstGeom prst="roundRect">
          <a:avLst/>
        </a:prstGeom>
        <a:blipFill rotWithShape="1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noFill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As with a stream cipher,  the two users </a:t>
          </a:r>
          <a:r>
            <a:rPr lang="en-US" sz="1600" kern="1200" dirty="0">
              <a:solidFill>
                <a:srgbClr val="FF0000"/>
              </a:solidFill>
            </a:rPr>
            <a:t>share a symmetric encryption key </a:t>
          </a:r>
        </a:p>
      </dsp:txBody>
      <dsp:txXfrm>
        <a:off x="2213083" y="2741597"/>
        <a:ext cx="1784536" cy="1784536"/>
      </dsp:txXfrm>
    </dsp:sp>
    <dsp:sp modelId="{50837987-4199-F845-9D3A-77DDE3DBCB6A}">
      <dsp:nvSpPr>
        <dsp:cNvPr id="0" name=""/>
        <dsp:cNvSpPr/>
      </dsp:nvSpPr>
      <dsp:spPr>
        <a:xfrm>
          <a:off x="4440241" y="2645058"/>
          <a:ext cx="1977614" cy="1977614"/>
        </a:xfrm>
        <a:prstGeom prst="roundRect">
          <a:avLst/>
        </a:prstGeom>
        <a:blipFill rotWithShape="1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70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70000"/>
                <a:satMod val="135000"/>
              </a:schemeClr>
            </a:duotone>
          </a:blip>
          <a:tile tx="0" ty="0" sx="40000" sy="40000" flip="none" algn="tl"/>
        </a:blipFill>
        <a:ln>
          <a:noFill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The majority of network-based symmetric cryptographic applications make use of block ciphers</a:t>
          </a:r>
        </a:p>
      </dsp:txBody>
      <dsp:txXfrm>
        <a:off x="4536780" y="2741597"/>
        <a:ext cx="1784536" cy="17845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2">
  <dgm:title val=""/>
  <dgm:desc val=""/>
  <dgm:catLst>
    <dgm:cat type="matrix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l" for="ch" forName="rect1" refType="w" fact="0.065"/>
          <dgm:constr type="t" for="ch" forName="rect1" refType="h" fact="0.065"/>
          <dgm:constr type="w" for="ch" forName="rect2" refType="w" fact="0.4"/>
          <dgm:constr type="h" for="ch" forName="rect2" refType="h" fact="0.4"/>
          <dgm:constr type="r" for="ch" forName="rect2" refType="w" fact="0.935"/>
          <dgm:constr type="t" for="ch" forName="rect2" refType="h" fact="0.065"/>
          <dgm:constr type="w" for="ch" forName="rect3" refType="w" fact="0.4"/>
          <dgm:constr type="h" for="ch" forName="rect3" refType="w" fact="0.4"/>
          <dgm:constr type="l" for="ch" forName="rect3" refType="w" fact="0.065"/>
          <dgm:constr type="b" for="ch" forName="rect3" refType="h" fact="0.935"/>
          <dgm:constr type="w" for="ch" forName="rect4" refType="w" fact="0.4"/>
          <dgm:constr type="h" for="ch" forName="rect4" refType="h" fact="0.4"/>
          <dgm:constr type="r" for="ch" forName="rect4" refType="w" fact="0.935"/>
          <dgm:constr type="b" for="ch" forName="rect4" refType="h" fact="0.935"/>
        </dgm:constrLst>
      </dgm:if>
      <dgm:else name="Name2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r" for="ch" forName="rect1" refType="w" fact="0.935"/>
          <dgm:constr type="t" for="ch" forName="rect1" refType="h" fact="0.065"/>
          <dgm:constr type="w" for="ch" forName="rect2" refType="w" fact="0.4"/>
          <dgm:constr type="h" for="ch" forName="rect2" refType="h" fact="0.4"/>
          <dgm:constr type="l" for="ch" forName="rect2" refType="w" fact="0.065"/>
          <dgm:constr type="t" for="ch" forName="rect2" refType="h" fact="0.065"/>
          <dgm:constr type="w" for="ch" forName="rect3" refType="w" fact="0.4"/>
          <dgm:constr type="h" for="ch" forName="rect3" refType="w" fact="0.4"/>
          <dgm:constr type="r" for="ch" forName="rect3" refType="w" fact="0.935"/>
          <dgm:constr type="b" for="ch" forName="rect3" refType="h" fact="0.935"/>
          <dgm:constr type="w" for="ch" forName="rect4" refType="w" fact="0.4"/>
          <dgm:constr type="h" for="ch" forName="rect4" refType="h" fact="0.4"/>
          <dgm:constr type="l" for="ch" forName="rect4" refType="w" fact="0.065"/>
          <dgm:constr type="b" for="ch" forName="rect4" refType="h" fact="0.935"/>
        </dgm:constrLst>
      </dgm:else>
    </dgm:choose>
    <dgm:ruleLst/>
    <dgm:choose name="Name3">
      <dgm:if name="Name4" axis="ch" ptType="node" func="cnt" op="gte" val="1">
        <dgm:layoutNode name="axisShape" styleLbl="bgShp">
          <dgm:alg type="sp"/>
          <dgm:shape xmlns:r="http://schemas.openxmlformats.org/officeDocument/2006/relationships" type="quadArrow" r:blip="">
            <dgm:adjLst>
              <dgm:adj idx="1" val="0.02"/>
              <dgm:adj idx="2" val="0.04"/>
              <dgm:adj idx="3" val="0.05"/>
            </dgm:adjLst>
          </dgm:shape>
          <dgm:presOf/>
          <dgm:constrLst/>
          <dgm:ruleLst/>
        </dgm:layoutNode>
        <dgm:layoutNode name="rect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-107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51555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-107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51556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-107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51557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-107" charset="0"/>
              </a:defRPr>
            </a:lvl1pPr>
          </a:lstStyle>
          <a:p>
            <a:pPr>
              <a:defRPr/>
            </a:pPr>
            <a:fld id="{D3613805-4F3D-264B-B930-DACA5122DEE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-107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2531" name="Rectangle 1027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-107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4340" name="Rectangle 1028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3" name="Rectangle 1029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  <a:p>
            <a:pPr lvl="3"/>
            <a:r>
              <a:rPr lang="en-AU" noProof="0"/>
              <a:t>Fourth level</a:t>
            </a:r>
          </a:p>
          <a:p>
            <a:pPr lvl="4"/>
            <a:r>
              <a:rPr lang="en-AU" noProof="0"/>
              <a:t>Fifth level</a:t>
            </a:r>
          </a:p>
        </p:txBody>
      </p:sp>
      <p:sp>
        <p:nvSpPr>
          <p:cNvPr id="22534" name="Rectangle 1030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-107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2535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-107" charset="0"/>
              </a:defRPr>
            </a:lvl1pPr>
          </a:lstStyle>
          <a:p>
            <a:pPr>
              <a:defRPr/>
            </a:pPr>
            <a:fld id="{32E074F0-BC3C-BD4A-9904-F5309CE7DC1D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107" charset="-128"/>
        <a:cs typeface="ＭＳ Ｐゴシック" pitchFamily="-107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6C4D792-DC70-B74B-B529-0D0086BB6A94}" type="slidenum">
              <a:rPr lang="en-AU">
                <a:latin typeface="Arial" pitchFamily="-1" charset="0"/>
              </a:rPr>
              <a:pPr/>
              <a:t>3</a:t>
            </a:fld>
            <a:endParaRPr lang="en-AU" dirty="0">
              <a:latin typeface="Arial" pitchFamily="-1" charset="0"/>
            </a:endParaRPr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AU" dirty="0">
              <a:latin typeface="Arial" pitchFamily="-1" charset="0"/>
              <a:ea typeface="ＭＳ Ｐゴシック" pitchFamily="-1" charset="-128"/>
              <a:cs typeface="ＭＳ Ｐゴシック" pitchFamily="-1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758CDF2-4B20-9A47-B637-6DB54462D8BD}" type="slidenum">
              <a:rPr lang="en-AU">
                <a:latin typeface="Arial" pitchFamily="-1" charset="0"/>
              </a:rPr>
              <a:pPr/>
              <a:t>4</a:t>
            </a:fld>
            <a:endParaRPr lang="en-AU" dirty="0">
              <a:latin typeface="Arial" pitchFamily="-1" charset="0"/>
            </a:endParaRP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AU" dirty="0">
              <a:latin typeface="Arial" pitchFamily="-1" charset="0"/>
              <a:ea typeface="Arial" pitchFamily="-1" charset="0"/>
              <a:cs typeface="Arial" pitchFamily="-1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dirty="0">
                <a:latin typeface="Arial" pitchFamily="-1" charset="0"/>
                <a:ea typeface="ＭＳ Ｐゴシック" pitchFamily="-1" charset="-128"/>
                <a:cs typeface="ＭＳ Ｐゴシック" pitchFamily="-1" charset="-128"/>
              </a:rPr>
              <a:t>Examples</a:t>
            </a:r>
            <a:r>
              <a:rPr lang="en-US" baseline="0" dirty="0">
                <a:latin typeface="Arial" pitchFamily="-1" charset="0"/>
                <a:ea typeface="ＭＳ Ｐゴシック" pitchFamily="-1" charset="-128"/>
                <a:cs typeface="ＭＳ Ｐゴシック" pitchFamily="-1" charset="-128"/>
              </a:rPr>
              <a:t> of stream and block ciphers.</a:t>
            </a:r>
            <a:endParaRPr lang="en-US" dirty="0">
              <a:latin typeface="Arial" pitchFamily="-1" charset="0"/>
              <a:ea typeface="ＭＳ Ｐゴシック" pitchFamily="-1" charset="-128"/>
              <a:cs typeface="ＭＳ Ｐゴシック" pitchFamily="-1" charset="-128"/>
            </a:endParaRPr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FB18FF3-90B1-8B49-904A-2825A49256D3}" type="slidenum">
              <a:rPr lang="en-AU" smtClean="0">
                <a:latin typeface="Arial" pitchFamily="-1" charset="0"/>
              </a:rPr>
              <a:pPr/>
              <a:t>5</a:t>
            </a:fld>
            <a:endParaRPr lang="en-AU" dirty="0">
              <a:latin typeface="Arial" pitchFamily="-1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dirty="0">
                <a:latin typeface="Arial" pitchFamily="-1" charset="0"/>
                <a:ea typeface="ＭＳ Ｐゴシック" pitchFamily="-1" charset="-128"/>
                <a:cs typeface="ＭＳ Ｐゴシック" pitchFamily="-1" charset="-128"/>
              </a:rPr>
              <a:t>Examples</a:t>
            </a:r>
            <a:r>
              <a:rPr lang="en-US" baseline="0" dirty="0">
                <a:latin typeface="Arial" pitchFamily="-1" charset="0"/>
                <a:ea typeface="ＭＳ Ｐゴシック" pitchFamily="-1" charset="-128"/>
                <a:cs typeface="ＭＳ Ｐゴシック" pitchFamily="-1" charset="-128"/>
              </a:rPr>
              <a:t> of stream and block ciphers.</a:t>
            </a:r>
            <a:endParaRPr lang="en-US" dirty="0">
              <a:latin typeface="Arial" pitchFamily="-1" charset="0"/>
              <a:ea typeface="ＭＳ Ｐゴシック" pitchFamily="-1" charset="-128"/>
              <a:cs typeface="ＭＳ Ｐゴシック" pitchFamily="-1" charset="-128"/>
            </a:endParaRPr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FB18FF3-90B1-8B49-904A-2825A49256D3}" type="slidenum">
              <a:rPr lang="en-AU" smtClean="0">
                <a:latin typeface="Arial" pitchFamily="-1" charset="0"/>
              </a:rPr>
              <a:pPr/>
              <a:t>6</a:t>
            </a:fld>
            <a:endParaRPr lang="en-AU" dirty="0">
              <a:latin typeface="Arial" pitchFamily="-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90451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>
              <a:latin typeface="Arial" pitchFamily="-1" charset="0"/>
              <a:ea typeface="ＭＳ Ｐゴシック" pitchFamily="-1" charset="-128"/>
              <a:cs typeface="ＭＳ Ｐゴシック" pitchFamily="-1" charset="-128"/>
            </a:endParaRPr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FB18FF3-90B1-8B49-904A-2825A49256D3}" type="slidenum">
              <a:rPr lang="en-AU" smtClean="0">
                <a:latin typeface="Arial" pitchFamily="-1" charset="0"/>
              </a:rPr>
              <a:pPr/>
              <a:t>7</a:t>
            </a:fld>
            <a:endParaRPr lang="en-AU" dirty="0">
              <a:latin typeface="Arial" pitchFamily="-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33982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8887839-B638-5940-A40E-D2058DA52E48}" type="slidenum">
              <a:rPr lang="en-AU">
                <a:latin typeface="Arial" pitchFamily="-1" charset="0"/>
              </a:rPr>
              <a:pPr/>
              <a:t>8</a:t>
            </a:fld>
            <a:endParaRPr lang="en-AU" dirty="0">
              <a:latin typeface="Arial" pitchFamily="-1" charset="0"/>
            </a:endParaRPr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AU" dirty="0">
              <a:latin typeface="Arial" pitchFamily="-1" charset="0"/>
              <a:ea typeface="ＭＳ Ｐゴシック" pitchFamily="-1" charset="-128"/>
              <a:cs typeface="ＭＳ Ｐゴシック" pitchFamily="-1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883578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8887839-B638-5940-A40E-D2058DA52E48}" type="slidenum">
              <a:rPr lang="en-AU">
                <a:latin typeface="Arial" pitchFamily="-1" charset="0"/>
              </a:rPr>
              <a:pPr/>
              <a:t>9</a:t>
            </a:fld>
            <a:endParaRPr lang="en-AU" dirty="0">
              <a:latin typeface="Arial" pitchFamily="-1" charset="0"/>
            </a:endParaRPr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AU" dirty="0">
              <a:latin typeface="Arial" pitchFamily="-1" charset="0"/>
              <a:ea typeface="ＭＳ Ｐゴシック" pitchFamily="-1" charset="-128"/>
              <a:cs typeface="ＭＳ Ｐゴシック" pitchFamily="-1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881103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8887839-B638-5940-A40E-D2058DA52E48}" type="slidenum">
              <a:rPr lang="en-AU">
                <a:latin typeface="Arial" pitchFamily="-1" charset="0"/>
              </a:rPr>
              <a:pPr/>
              <a:t>10</a:t>
            </a:fld>
            <a:endParaRPr lang="en-AU" dirty="0">
              <a:latin typeface="Arial" pitchFamily="-1" charset="0"/>
            </a:endParaRPr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AU" dirty="0">
              <a:latin typeface="Arial" pitchFamily="-1" charset="0"/>
              <a:ea typeface="ＭＳ Ｐゴシック" pitchFamily="-1" charset="-128"/>
              <a:cs typeface="ＭＳ Ｐゴシック" pitchFamily="-1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753217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8887839-B638-5940-A40E-D2058DA52E48}" type="slidenum">
              <a:rPr lang="en-AU">
                <a:latin typeface="Arial" pitchFamily="-1" charset="0"/>
              </a:rPr>
              <a:pPr/>
              <a:t>11</a:t>
            </a:fld>
            <a:endParaRPr lang="en-AU" dirty="0">
              <a:latin typeface="Arial" pitchFamily="-1" charset="0"/>
            </a:endParaRPr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AU" dirty="0">
              <a:latin typeface="Arial" pitchFamily="-1" charset="0"/>
              <a:ea typeface="ＭＳ Ｐゴシック" pitchFamily="-1" charset="-128"/>
              <a:cs typeface="ＭＳ Ｐゴシック" pitchFamily="-1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908651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8887839-B638-5940-A40E-D2058DA52E48}" type="slidenum">
              <a:rPr lang="en-AU">
                <a:latin typeface="Arial" pitchFamily="-1" charset="0"/>
              </a:rPr>
              <a:pPr/>
              <a:t>12</a:t>
            </a:fld>
            <a:endParaRPr lang="en-AU" dirty="0">
              <a:latin typeface="Arial" pitchFamily="-1" charset="0"/>
            </a:endParaRPr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AU" dirty="0">
              <a:latin typeface="Arial" pitchFamily="-1" charset="0"/>
              <a:ea typeface="ＭＳ Ｐゴシック" pitchFamily="-1" charset="-128"/>
              <a:cs typeface="ＭＳ Ｐゴシック" pitchFamily="-1" charset="-128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7725B11-0D82-5A49-9B0B-3038EE19D03F}" type="slidenum">
              <a:rPr lang="en-AU">
                <a:latin typeface="Arial" pitchFamily="-1" charset="0"/>
              </a:rPr>
              <a:pPr/>
              <a:t>13</a:t>
            </a:fld>
            <a:endParaRPr lang="en-AU" dirty="0">
              <a:latin typeface="Arial" pitchFamily="-1" charset="0"/>
            </a:endParaRPr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AU" b="0" dirty="0">
              <a:latin typeface="Arial" pitchFamily="-1" charset="0"/>
              <a:ea typeface="ＭＳ Ｐゴシック" pitchFamily="-1" charset="-128"/>
              <a:cs typeface="ＭＳ Ｐゴシック" pitchFamily="-1" charset="-128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7725B11-0D82-5A49-9B0B-3038EE19D03F}" type="slidenum">
              <a:rPr lang="en-AU">
                <a:latin typeface="Arial" pitchFamily="-1" charset="0"/>
              </a:rPr>
              <a:pPr/>
              <a:t>14</a:t>
            </a:fld>
            <a:endParaRPr lang="en-AU" dirty="0">
              <a:latin typeface="Arial" pitchFamily="-1" charset="0"/>
            </a:endParaRPr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AU" b="0" dirty="0">
              <a:latin typeface="Arial" pitchFamily="-1" charset="0"/>
              <a:ea typeface="ＭＳ Ｐゴシック" pitchFamily="-1" charset="-128"/>
              <a:cs typeface="ＭＳ Ｐゴシック" pitchFamily="-1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586090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5357048-952B-E74D-AF0E-0A90697A4229}" type="slidenum">
              <a:rPr lang="en-AU">
                <a:latin typeface="Arial" pitchFamily="-1" charset="0"/>
              </a:rPr>
              <a:pPr/>
              <a:t>15</a:t>
            </a:fld>
            <a:endParaRPr lang="en-AU" dirty="0">
              <a:latin typeface="Arial" pitchFamily="-1" charset="0"/>
            </a:endParaRPr>
          </a:p>
        </p:txBody>
      </p:sp>
      <p:sp>
        <p:nvSpPr>
          <p:cNvPr id="38915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>
              <a:latin typeface="Arial" pitchFamily="-1" charset="0"/>
              <a:ea typeface="Arial" pitchFamily="-1" charset="0"/>
              <a:cs typeface="Arial" pitchFamily="-1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B3921E8-7112-7743-9C8C-50A6F855B20C}" type="slidenum">
              <a:rPr lang="en-AU">
                <a:latin typeface="Arial" pitchFamily="-1" charset="0"/>
              </a:rPr>
              <a:pPr/>
              <a:t>17</a:t>
            </a:fld>
            <a:endParaRPr lang="en-AU" dirty="0">
              <a:latin typeface="Arial" pitchFamily="-1" charset="0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>
              <a:latin typeface="Arial" pitchFamily="-1" charset="0"/>
              <a:ea typeface="ＭＳ Ｐゴシック" pitchFamily="-1" charset="-128"/>
              <a:cs typeface="ＭＳ Ｐゴシック" pitchFamily="-1" charset="-128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B3921E8-7112-7743-9C8C-50A6F855B20C}" type="slidenum">
              <a:rPr lang="en-AU">
                <a:latin typeface="Arial" pitchFamily="-1" charset="0"/>
              </a:rPr>
              <a:pPr/>
              <a:t>18</a:t>
            </a:fld>
            <a:endParaRPr lang="en-AU" dirty="0">
              <a:latin typeface="Arial" pitchFamily="-1" charset="0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>
              <a:latin typeface="Arial" pitchFamily="-1" charset="0"/>
              <a:ea typeface="ＭＳ Ｐゴシック" pitchFamily="-1" charset="-128"/>
              <a:cs typeface="ＭＳ Ｐゴシック" pitchFamily="-1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55609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4AA22FE-6BB0-AD40-80CE-0E7C986A9FD6}" type="slidenum">
              <a:rPr lang="en-AU">
                <a:latin typeface="Arial" pitchFamily="-1" charset="0"/>
              </a:rPr>
              <a:pPr/>
              <a:t>19</a:t>
            </a:fld>
            <a:endParaRPr lang="en-AU" dirty="0">
              <a:latin typeface="Arial" pitchFamily="-1" charset="0"/>
            </a:endParaRP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AU" dirty="0">
                <a:latin typeface="Arial" pitchFamily="-1" charset="0"/>
                <a:ea typeface="Arial" pitchFamily="-1" charset="0"/>
                <a:cs typeface="Arial" pitchFamily="-1" charset="0"/>
              </a:rPr>
              <a:t>https://</a:t>
            </a:r>
            <a:r>
              <a:rPr lang="en-AU" dirty="0" err="1">
                <a:latin typeface="Arial" pitchFamily="-1" charset="0"/>
                <a:ea typeface="Arial" pitchFamily="-1" charset="0"/>
                <a:cs typeface="Arial" pitchFamily="-1" charset="0"/>
              </a:rPr>
              <a:t>page.math.tu-berlin.de</a:t>
            </a:r>
            <a:r>
              <a:rPr lang="en-AU" dirty="0">
                <a:latin typeface="Arial" pitchFamily="-1" charset="0"/>
                <a:ea typeface="Arial" pitchFamily="-1" charset="0"/>
                <a:cs typeface="Arial" pitchFamily="-1" charset="0"/>
              </a:rPr>
              <a:t>/~</a:t>
            </a:r>
            <a:r>
              <a:rPr lang="en-AU" dirty="0" err="1">
                <a:latin typeface="Arial" pitchFamily="-1" charset="0"/>
                <a:ea typeface="Arial" pitchFamily="-1" charset="0"/>
                <a:cs typeface="Arial" pitchFamily="-1" charset="0"/>
              </a:rPr>
              <a:t>kant</a:t>
            </a:r>
            <a:r>
              <a:rPr lang="en-AU" dirty="0">
                <a:latin typeface="Arial" pitchFamily="-1" charset="0"/>
                <a:ea typeface="Arial" pitchFamily="-1" charset="0"/>
                <a:cs typeface="Arial" pitchFamily="-1" charset="0"/>
              </a:rPr>
              <a:t>/teaching/</a:t>
            </a:r>
            <a:r>
              <a:rPr lang="en-AU" dirty="0" err="1">
                <a:latin typeface="Arial" pitchFamily="-1" charset="0"/>
                <a:ea typeface="Arial" pitchFamily="-1" charset="0"/>
                <a:cs typeface="Arial" pitchFamily="-1" charset="0"/>
              </a:rPr>
              <a:t>hess</a:t>
            </a:r>
            <a:r>
              <a:rPr lang="en-AU" dirty="0">
                <a:latin typeface="Arial" pitchFamily="-1" charset="0"/>
                <a:ea typeface="Arial" pitchFamily="-1" charset="0"/>
                <a:cs typeface="Arial" pitchFamily="-1" charset="0"/>
              </a:rPr>
              <a:t>/krypto-ws2006/</a:t>
            </a:r>
            <a:r>
              <a:rPr lang="en-AU" dirty="0" err="1">
                <a:latin typeface="Arial" pitchFamily="-1" charset="0"/>
                <a:ea typeface="Arial" pitchFamily="-1" charset="0"/>
                <a:cs typeface="Arial" pitchFamily="-1" charset="0"/>
              </a:rPr>
              <a:t>des.htm</a:t>
            </a:r>
            <a:endParaRPr lang="en-AU" dirty="0">
              <a:latin typeface="Arial" pitchFamily="-1" charset="0"/>
              <a:ea typeface="Arial" pitchFamily="-1" charset="0"/>
              <a:cs typeface="Arial" pitchFamily="-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887089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4AA22FE-6BB0-AD40-80CE-0E7C986A9FD6}" type="slidenum">
              <a:rPr lang="en-AU">
                <a:latin typeface="Arial" pitchFamily="-1" charset="0"/>
              </a:rPr>
              <a:pPr/>
              <a:t>20</a:t>
            </a:fld>
            <a:endParaRPr lang="en-AU" dirty="0">
              <a:latin typeface="Arial" pitchFamily="-1" charset="0"/>
            </a:endParaRP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AU" dirty="0">
                <a:latin typeface="Arial" pitchFamily="-1" charset="0"/>
                <a:ea typeface="Arial" pitchFamily="-1" charset="0"/>
                <a:cs typeface="Arial" pitchFamily="-1" charset="0"/>
              </a:rPr>
              <a:t>https://</a:t>
            </a:r>
            <a:r>
              <a:rPr lang="en-AU" dirty="0" err="1">
                <a:latin typeface="Arial" pitchFamily="-1" charset="0"/>
                <a:ea typeface="Arial" pitchFamily="-1" charset="0"/>
                <a:cs typeface="Arial" pitchFamily="-1" charset="0"/>
              </a:rPr>
              <a:t>page.math.tu-berlin.de</a:t>
            </a:r>
            <a:r>
              <a:rPr lang="en-AU" dirty="0">
                <a:latin typeface="Arial" pitchFamily="-1" charset="0"/>
                <a:ea typeface="Arial" pitchFamily="-1" charset="0"/>
                <a:cs typeface="Arial" pitchFamily="-1" charset="0"/>
              </a:rPr>
              <a:t>/~</a:t>
            </a:r>
            <a:r>
              <a:rPr lang="en-AU" dirty="0" err="1">
                <a:latin typeface="Arial" pitchFamily="-1" charset="0"/>
                <a:ea typeface="Arial" pitchFamily="-1" charset="0"/>
                <a:cs typeface="Arial" pitchFamily="-1" charset="0"/>
              </a:rPr>
              <a:t>kant</a:t>
            </a:r>
            <a:r>
              <a:rPr lang="en-AU" dirty="0">
                <a:latin typeface="Arial" pitchFamily="-1" charset="0"/>
                <a:ea typeface="Arial" pitchFamily="-1" charset="0"/>
                <a:cs typeface="Arial" pitchFamily="-1" charset="0"/>
              </a:rPr>
              <a:t>/teaching/</a:t>
            </a:r>
            <a:r>
              <a:rPr lang="en-AU" dirty="0" err="1">
                <a:latin typeface="Arial" pitchFamily="-1" charset="0"/>
                <a:ea typeface="Arial" pitchFamily="-1" charset="0"/>
                <a:cs typeface="Arial" pitchFamily="-1" charset="0"/>
              </a:rPr>
              <a:t>hess</a:t>
            </a:r>
            <a:r>
              <a:rPr lang="en-AU" dirty="0">
                <a:latin typeface="Arial" pitchFamily="-1" charset="0"/>
                <a:ea typeface="Arial" pitchFamily="-1" charset="0"/>
                <a:cs typeface="Arial" pitchFamily="-1" charset="0"/>
              </a:rPr>
              <a:t>/krypto-ws2006/</a:t>
            </a:r>
            <a:r>
              <a:rPr lang="en-AU" dirty="0" err="1">
                <a:latin typeface="Arial" pitchFamily="-1" charset="0"/>
                <a:ea typeface="Arial" pitchFamily="-1" charset="0"/>
                <a:cs typeface="Arial" pitchFamily="-1" charset="0"/>
              </a:rPr>
              <a:t>des.htm</a:t>
            </a:r>
            <a:endParaRPr lang="en-AU" dirty="0">
              <a:latin typeface="Arial" pitchFamily="-1" charset="0"/>
              <a:ea typeface="Arial" pitchFamily="-1" charset="0"/>
              <a:cs typeface="Arial" pitchFamily="-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90893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4AA22FE-6BB0-AD40-80CE-0E7C986A9FD6}" type="slidenum">
              <a:rPr lang="en-AU">
                <a:latin typeface="Arial" pitchFamily="-1" charset="0"/>
              </a:rPr>
              <a:pPr/>
              <a:t>22</a:t>
            </a:fld>
            <a:endParaRPr lang="en-AU" dirty="0">
              <a:latin typeface="Arial" pitchFamily="-1" charset="0"/>
            </a:endParaRP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AU" dirty="0">
              <a:latin typeface="Arial" pitchFamily="-1" charset="0"/>
              <a:ea typeface="Arial" pitchFamily="-1" charset="0"/>
              <a:cs typeface="Arial" pitchFamily="-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761734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4AA22FE-6BB0-AD40-80CE-0E7C986A9FD6}" type="slidenum">
              <a:rPr lang="en-AU">
                <a:latin typeface="Arial" pitchFamily="-1" charset="0"/>
              </a:rPr>
              <a:pPr/>
              <a:t>23</a:t>
            </a:fld>
            <a:endParaRPr lang="en-AU" dirty="0">
              <a:latin typeface="Arial" pitchFamily="-1" charset="0"/>
            </a:endParaRP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AU" dirty="0">
              <a:latin typeface="Arial" pitchFamily="-1" charset="0"/>
              <a:ea typeface="Arial" pitchFamily="-1" charset="0"/>
              <a:cs typeface="Arial" pitchFamily="-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593066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C6472-AD84-F091-AE30-BAF5CF50E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1031">
            <a:extLst>
              <a:ext uri="{FF2B5EF4-FFF2-40B4-BE49-F238E27FC236}">
                <a16:creationId xmlns:a16="http://schemas.microsoft.com/office/drawing/2014/main" id="{57419489-5A10-6181-EC2C-FADAD1F6DAC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8887839-B638-5940-A40E-D2058DA52E48}" type="slidenum">
              <a:rPr lang="en-AU">
                <a:latin typeface="Arial" pitchFamily="-1" charset="0"/>
              </a:rPr>
              <a:pPr/>
              <a:t>24</a:t>
            </a:fld>
            <a:endParaRPr lang="en-AU" dirty="0">
              <a:latin typeface="Arial" pitchFamily="-1" charset="0"/>
            </a:endParaRP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01ED05CA-4482-1538-B203-E26DE91FED2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0DEFC5CA-B98C-AF50-5A76-2309E41B89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AU" dirty="0">
              <a:latin typeface="Arial" pitchFamily="-1" charset="0"/>
              <a:ea typeface="ＭＳ Ｐゴシック" pitchFamily="-1" charset="-128"/>
              <a:cs typeface="ＭＳ Ｐゴシック" pitchFamily="-1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307337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8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8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8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15"/>
          <p:cNvGrpSpPr/>
          <p:nvPr/>
        </p:nvGrpSpPr>
        <p:grpSpPr>
          <a:xfrm>
            <a:off x="0" y="0"/>
            <a:ext cx="1581220" cy="6858000"/>
            <a:chOff x="134471" y="0"/>
            <a:chExt cx="1581220" cy="6858000"/>
          </a:xfrm>
        </p:grpSpPr>
        <p:pic>
          <p:nvPicPr>
            <p:cNvPr id="7" name="Picture 6" descr="Overlay-Blank.jpg"/>
            <p:cNvPicPr>
              <a:picLocks noChangeAspect="1"/>
            </p:cNvPicPr>
            <p:nvPr userDrawn="1"/>
          </p:nvPicPr>
          <p:blipFill>
            <a:blip r:embed="rId2"/>
            <a:srcRect l="1471" r="83676"/>
            <a:stretch>
              <a:fillRect/>
            </a:stretch>
          </p:blipFill>
          <p:spPr>
            <a:xfrm>
              <a:off x="134471" y="0"/>
              <a:ext cx="1358153" cy="6858000"/>
            </a:xfrm>
            <a:prstGeom prst="rect">
              <a:avLst/>
            </a:prstGeom>
          </p:spPr>
        </p:pic>
        <p:pic>
          <p:nvPicPr>
            <p:cNvPr id="9" name="Picture 8" descr="Overlay-VerticalBridge.jpg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447800" y="0"/>
              <a:ext cx="267891" cy="6858000"/>
            </a:xfrm>
            <a:prstGeom prst="rect">
              <a:avLst/>
            </a:prstGeom>
          </p:spPr>
        </p:pic>
      </p:grpSp>
      <p:grpSp>
        <p:nvGrpSpPr>
          <p:cNvPr id="11" name="Group 16"/>
          <p:cNvGrpSpPr/>
          <p:nvPr/>
        </p:nvGrpSpPr>
        <p:grpSpPr>
          <a:xfrm>
            <a:off x="7546266" y="0"/>
            <a:ext cx="1597734" cy="6858000"/>
            <a:chOff x="7413812" y="0"/>
            <a:chExt cx="1597734" cy="6858000"/>
          </a:xfrm>
        </p:grpSpPr>
        <p:pic>
          <p:nvPicPr>
            <p:cNvPr id="8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r="85125"/>
            <a:stretch>
              <a:fillRect/>
            </a:stretch>
          </p:blipFill>
          <p:spPr>
            <a:xfrm>
              <a:off x="7651376" y="0"/>
              <a:ext cx="1360170" cy="6858000"/>
            </a:xfrm>
            <a:prstGeom prst="rect">
              <a:avLst/>
            </a:prstGeom>
          </p:spPr>
        </p:pic>
        <p:pic>
          <p:nvPicPr>
            <p:cNvPr id="10" name="Picture 9" descr="Overlay-VerticalBridge.jpg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 flipH="1">
              <a:off x="7413812" y="0"/>
              <a:ext cx="267891" cy="6858000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4200" y="3693645"/>
            <a:ext cx="5446713" cy="1470025"/>
          </a:xfrm>
        </p:spPr>
        <p:txBody>
          <a:bodyPr anchor="b" anchorCtr="0"/>
          <a:lstStyle>
            <a:lvl1pPr>
              <a:lnSpc>
                <a:spcPts val="6800"/>
              </a:lnSpc>
              <a:defRPr sz="65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54200" y="5204011"/>
            <a:ext cx="5446713" cy="851647"/>
          </a:xfrm>
        </p:spPr>
        <p:txBody>
          <a:bodyPr>
            <a:normAutofit/>
          </a:bodyPr>
          <a:lstStyle>
            <a:lvl1pPr marL="0" indent="0" algn="ctr">
              <a:spcBef>
                <a:spcPts val="30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257800" y="6356350"/>
            <a:ext cx="213360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26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/>
              <a:t>© 2020 Pearson Education, Inc., Hoboken, NJ. All rights reserved. </a:t>
            </a:r>
            <a:endParaRPr lang="en-US" dirty="0"/>
          </a:p>
        </p:txBody>
      </p:sp>
      <p:pic>
        <p:nvPicPr>
          <p:cNvPr id="15" name="Picture 14" descr="HR-Col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4480" y="4841209"/>
            <a:ext cx="6035040" cy="340391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1372650"/>
            <a:ext cx="9144000" cy="5485350"/>
            <a:chOff x="0" y="1372650"/>
            <a:chExt cx="9144000" cy="5485350"/>
          </a:xfrm>
        </p:grpSpPr>
        <p:pic>
          <p:nvPicPr>
            <p:cNvPr id="8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t="23333"/>
            <a:stretch>
              <a:fillRect/>
            </a:stretch>
          </p:blipFill>
          <p:spPr>
            <a:xfrm>
              <a:off x="0" y="1600200"/>
              <a:ext cx="9144000" cy="5257800"/>
            </a:xfrm>
            <a:prstGeom prst="rect">
              <a:avLst/>
            </a:prstGeom>
          </p:spPr>
        </p:pic>
        <p:pic>
          <p:nvPicPr>
            <p:cNvPr id="9" name="Picture 8" descr="Overlay-HorizontalBridge.jpg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0" y="1372650"/>
              <a:ext cx="9144000" cy="267891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 Pearson Education, Inc., Hoboken, NJ. All rights reserved.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686DFBD-27E2-E046-A517-7C0202BD7FAE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15"/>
          <p:cNvGrpSpPr/>
          <p:nvPr/>
        </p:nvGrpSpPr>
        <p:grpSpPr>
          <a:xfrm>
            <a:off x="0" y="0"/>
            <a:ext cx="1581220" cy="6858000"/>
            <a:chOff x="134471" y="0"/>
            <a:chExt cx="1581220" cy="6858000"/>
          </a:xfrm>
        </p:grpSpPr>
        <p:pic>
          <p:nvPicPr>
            <p:cNvPr id="7" name="Picture 6" descr="Overlay-Blank.jpg"/>
            <p:cNvPicPr>
              <a:picLocks noChangeAspect="1"/>
            </p:cNvPicPr>
            <p:nvPr userDrawn="1"/>
          </p:nvPicPr>
          <p:blipFill>
            <a:blip r:embed="rId2"/>
            <a:srcRect l="1471" r="83676"/>
            <a:stretch>
              <a:fillRect/>
            </a:stretch>
          </p:blipFill>
          <p:spPr>
            <a:xfrm>
              <a:off x="134471" y="0"/>
              <a:ext cx="1358153" cy="6858000"/>
            </a:xfrm>
            <a:prstGeom prst="rect">
              <a:avLst/>
            </a:prstGeom>
          </p:spPr>
        </p:pic>
        <p:pic>
          <p:nvPicPr>
            <p:cNvPr id="9" name="Picture 8" descr="Overlay-VerticalBridge.jpg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447800" y="0"/>
              <a:ext cx="267891" cy="6858000"/>
            </a:xfrm>
            <a:prstGeom prst="rect">
              <a:avLst/>
            </a:prstGeom>
          </p:spPr>
        </p:pic>
      </p:grpSp>
      <p:grpSp>
        <p:nvGrpSpPr>
          <p:cNvPr id="11" name="Group 16"/>
          <p:cNvGrpSpPr/>
          <p:nvPr/>
        </p:nvGrpSpPr>
        <p:grpSpPr>
          <a:xfrm>
            <a:off x="7546266" y="0"/>
            <a:ext cx="1597734" cy="6858000"/>
            <a:chOff x="7413812" y="0"/>
            <a:chExt cx="1597734" cy="6858000"/>
          </a:xfrm>
        </p:grpSpPr>
        <p:pic>
          <p:nvPicPr>
            <p:cNvPr id="8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r="85125"/>
            <a:stretch>
              <a:fillRect/>
            </a:stretch>
          </p:blipFill>
          <p:spPr>
            <a:xfrm>
              <a:off x="7651376" y="0"/>
              <a:ext cx="1360170" cy="6858000"/>
            </a:xfrm>
            <a:prstGeom prst="rect">
              <a:avLst/>
            </a:prstGeom>
          </p:spPr>
        </p:pic>
        <p:pic>
          <p:nvPicPr>
            <p:cNvPr id="10" name="Picture 9" descr="Overlay-VerticalBridge.jpg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 flipH="1">
              <a:off x="7413812" y="0"/>
              <a:ext cx="267891" cy="6858000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4200" y="3693645"/>
            <a:ext cx="5446713" cy="1470025"/>
          </a:xfrm>
        </p:spPr>
        <p:txBody>
          <a:bodyPr anchor="b" anchorCtr="0"/>
          <a:lstStyle>
            <a:lvl1pPr>
              <a:lnSpc>
                <a:spcPts val="6800"/>
              </a:lnSpc>
              <a:defRPr sz="65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54200" y="5204011"/>
            <a:ext cx="5446713" cy="851647"/>
          </a:xfrm>
        </p:spPr>
        <p:txBody>
          <a:bodyPr>
            <a:normAutofit/>
          </a:bodyPr>
          <a:lstStyle>
            <a:lvl1pPr marL="0" indent="0" algn="ctr">
              <a:spcBef>
                <a:spcPts val="30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257800" y="6356350"/>
            <a:ext cx="213360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26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/>
              <a:t>© 2020 Pearson Education, Inc., Hoboken, NJ. All rights reserved. </a:t>
            </a:r>
            <a:endParaRPr lang="en-US" dirty="0"/>
          </a:p>
        </p:txBody>
      </p:sp>
      <p:pic>
        <p:nvPicPr>
          <p:cNvPr id="15" name="Picture 14" descr="HR-Col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4480" y="4841209"/>
            <a:ext cx="6035040" cy="340391"/>
          </a:xfrm>
          <a:prstGeom prst="rect">
            <a:avLst/>
          </a:prstGeom>
        </p:spPr>
      </p:pic>
      <p:sp>
        <p:nvSpPr>
          <p:cNvPr id="14" name="Picture Placeholder 13"/>
          <p:cNvSpPr>
            <a:spLocks noGrp="1"/>
          </p:cNvSpPr>
          <p:nvPr>
            <p:ph type="pic" sz="quarter" idx="12"/>
          </p:nvPr>
        </p:nvSpPr>
        <p:spPr>
          <a:xfrm>
            <a:off x="3307977" y="950260"/>
            <a:ext cx="2528046" cy="2528046"/>
          </a:xfrm>
          <a:prstGeom prst="ellipse">
            <a:avLst/>
          </a:prstGeom>
          <a:solidFill>
            <a:schemeClr val="bg1">
              <a:lumMod val="85000"/>
            </a:schemeClr>
          </a:solidFill>
          <a:ln w="101600">
            <a:noFill/>
            <a:miter lim="800000"/>
          </a:ln>
          <a:effectLst>
            <a:innerShdw blurRad="762000">
              <a:schemeClr val="accent1">
                <a:alpha val="80000"/>
              </a:schemeClr>
            </a:innerShdw>
            <a:softEdge rad="317500"/>
          </a:effectLst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ts val="2400"/>
              </a:spcBef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None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picture</a:t>
            </a:r>
            <a:endParaRPr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54200" y="1851212"/>
            <a:ext cx="5446714" cy="1730375"/>
          </a:xfrm>
        </p:spPr>
        <p:txBody>
          <a:bodyPr anchor="b" anchorCtr="0"/>
          <a:lstStyle>
            <a:lvl1pPr algn="ctr">
              <a:lnSpc>
                <a:spcPts val="6800"/>
              </a:lnSpc>
              <a:defRPr sz="6500" b="0" cap="none" baseline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54200" y="3576918"/>
            <a:ext cx="5446714" cy="829982"/>
          </a:xfrm>
        </p:spPr>
        <p:txBody>
          <a:bodyPr anchor="t" anchorCtr="0">
            <a:normAutofit/>
          </a:bodyPr>
          <a:lstStyle>
            <a:lvl1pPr marL="0" indent="0" algn="ctr">
              <a:spcBef>
                <a:spcPts val="30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 Pearson Education, Inc., Hoboken, NJ. All rights reserved.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BFCEC01-5D5A-024B-AFBB-4CAA8FF73F55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grpSp>
        <p:nvGrpSpPr>
          <p:cNvPr id="7" name="Group 9"/>
          <p:cNvGrpSpPr/>
          <p:nvPr/>
        </p:nvGrpSpPr>
        <p:grpSpPr>
          <a:xfrm>
            <a:off x="0" y="0"/>
            <a:ext cx="9144000" cy="1191256"/>
            <a:chOff x="0" y="0"/>
            <a:chExt cx="9144000" cy="1191256"/>
          </a:xfrm>
        </p:grpSpPr>
        <p:pic>
          <p:nvPicPr>
            <p:cNvPr id="8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b="85555"/>
            <a:stretch>
              <a:fillRect/>
            </a:stretch>
          </p:blipFill>
          <p:spPr>
            <a:xfrm>
              <a:off x="0" y="0"/>
              <a:ext cx="9144000" cy="990600"/>
            </a:xfrm>
            <a:prstGeom prst="rect">
              <a:avLst/>
            </a:prstGeom>
          </p:spPr>
        </p:pic>
        <p:pic>
          <p:nvPicPr>
            <p:cNvPr id="9" name="Picture 8" descr="Overlay-HorizontalBridge.jpg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 flipV="1">
              <a:off x="0" y="923365"/>
              <a:ext cx="9144000" cy="267891"/>
            </a:xfrm>
            <a:prstGeom prst="rect">
              <a:avLst/>
            </a:prstGeom>
          </p:spPr>
        </p:pic>
      </p:grpSp>
      <p:grpSp>
        <p:nvGrpSpPr>
          <p:cNvPr id="10" name="Group 10"/>
          <p:cNvGrpSpPr/>
          <p:nvPr/>
        </p:nvGrpSpPr>
        <p:grpSpPr>
          <a:xfrm flipV="1">
            <a:off x="0" y="5666744"/>
            <a:ext cx="9144000" cy="1191256"/>
            <a:chOff x="0" y="0"/>
            <a:chExt cx="9144000" cy="1191256"/>
          </a:xfrm>
        </p:grpSpPr>
        <p:pic>
          <p:nvPicPr>
            <p:cNvPr id="12" name="Picture 11" descr="Overlay-Blank.jpg"/>
            <p:cNvPicPr>
              <a:picLocks noChangeAspect="1"/>
            </p:cNvPicPr>
            <p:nvPr userDrawn="1"/>
          </p:nvPicPr>
          <p:blipFill>
            <a:blip r:embed="rId2"/>
            <a:srcRect b="85555"/>
            <a:stretch>
              <a:fillRect/>
            </a:stretch>
          </p:blipFill>
          <p:spPr>
            <a:xfrm>
              <a:off x="0" y="0"/>
              <a:ext cx="9144000" cy="990600"/>
            </a:xfrm>
            <a:prstGeom prst="rect">
              <a:avLst/>
            </a:prstGeom>
          </p:spPr>
        </p:pic>
        <p:pic>
          <p:nvPicPr>
            <p:cNvPr id="13" name="Picture 12" descr="Overlay-HorizontalBridge.jpg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 flipV="1">
              <a:off x="0" y="923365"/>
              <a:ext cx="9144000" cy="267891"/>
            </a:xfrm>
            <a:prstGeom prst="rect">
              <a:avLst/>
            </a:prstGeom>
          </p:spPr>
        </p:pic>
      </p:grpSp>
      <p:pic>
        <p:nvPicPr>
          <p:cNvPr id="14" name="Picture 13" descr="HR-Col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4480" y="3258805"/>
            <a:ext cx="6035040" cy="340391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1372650"/>
            <a:ext cx="9144000" cy="5485350"/>
            <a:chOff x="0" y="1372650"/>
            <a:chExt cx="9144000" cy="5485350"/>
          </a:xfrm>
        </p:grpSpPr>
        <p:pic>
          <p:nvPicPr>
            <p:cNvPr id="9" name="Picture 8" descr="Overlay-Blank.jpg"/>
            <p:cNvPicPr>
              <a:picLocks noChangeAspect="1"/>
            </p:cNvPicPr>
            <p:nvPr userDrawn="1"/>
          </p:nvPicPr>
          <p:blipFill>
            <a:blip r:embed="rId2"/>
            <a:srcRect t="23333"/>
            <a:stretch>
              <a:fillRect/>
            </a:stretch>
          </p:blipFill>
          <p:spPr>
            <a:xfrm>
              <a:off x="0" y="1600200"/>
              <a:ext cx="9144000" cy="5257800"/>
            </a:xfrm>
            <a:prstGeom prst="rect">
              <a:avLst/>
            </a:prstGeom>
          </p:spPr>
        </p:pic>
        <p:pic>
          <p:nvPicPr>
            <p:cNvPr id="10" name="Picture 9" descr="Overlay-HorizontalBridge.jpg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0" y="1372650"/>
              <a:ext cx="9144000" cy="267891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92162" y="1774825"/>
            <a:ext cx="3566160" cy="430371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6534" y="1774825"/>
            <a:ext cx="3566160" cy="430371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 Pearson Education, Inc., Hoboken, NJ. All rights reserved.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3298D1-69AE-D94B-83B4-C1E8F3597BB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1372650"/>
            <a:ext cx="9144000" cy="5485350"/>
            <a:chOff x="0" y="1372650"/>
            <a:chExt cx="9144000" cy="5485350"/>
          </a:xfrm>
        </p:grpSpPr>
        <p:pic>
          <p:nvPicPr>
            <p:cNvPr id="11" name="Picture 10" descr="Overlay-Blank.jpg"/>
            <p:cNvPicPr>
              <a:picLocks noChangeAspect="1"/>
            </p:cNvPicPr>
            <p:nvPr userDrawn="1"/>
          </p:nvPicPr>
          <p:blipFill>
            <a:blip r:embed="rId2"/>
            <a:srcRect t="23333"/>
            <a:stretch>
              <a:fillRect/>
            </a:stretch>
          </p:blipFill>
          <p:spPr>
            <a:xfrm>
              <a:off x="0" y="1600200"/>
              <a:ext cx="9144000" cy="5257800"/>
            </a:xfrm>
            <a:prstGeom prst="rect">
              <a:avLst/>
            </a:prstGeom>
          </p:spPr>
        </p:pic>
        <p:pic>
          <p:nvPicPr>
            <p:cNvPr id="12" name="Picture 11" descr="Overlay-HorizontalBridge.jpg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0" y="1372650"/>
              <a:ext cx="9144000" cy="267891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7240" y="1879320"/>
            <a:ext cx="3566160" cy="639762"/>
          </a:xfrm>
        </p:spPr>
        <p:txBody>
          <a:bodyPr anchor="b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2800" b="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77240" y="2590799"/>
            <a:ext cx="3566160" cy="3487739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66048" y="1879320"/>
            <a:ext cx="3566160" cy="639762"/>
          </a:xfrm>
        </p:spPr>
        <p:txBody>
          <a:bodyPr anchor="b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2800" b="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66048" y="2590799"/>
            <a:ext cx="3566160" cy="3487739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 Pearson Education, Inc., Hoboken, NJ. All rights reserved.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5E9BEDC-36A3-9E40-B9B7-EF42D67A6E4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14" name="Picture 13" descr="Overlay-HorizontalBridge.jpg"/>
          <p:cNvPicPr>
            <a:picLocks noChangeAspect="1"/>
          </p:cNvPicPr>
          <p:nvPr/>
        </p:nvPicPr>
        <p:blipFill>
          <a:blip r:embed="rId3"/>
          <a:srcRect t="23425" r="61031" b="39764"/>
          <a:stretch>
            <a:fillRect/>
          </a:stretch>
        </p:blipFill>
        <p:spPr>
          <a:xfrm>
            <a:off x="4766048" y="2460812"/>
            <a:ext cx="3563348" cy="98613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</p:pic>
      <p:pic>
        <p:nvPicPr>
          <p:cNvPr id="15" name="Picture 14" descr="Overlay-HorizontalBridge.jpg"/>
          <p:cNvPicPr>
            <a:picLocks noChangeAspect="1"/>
          </p:cNvPicPr>
          <p:nvPr/>
        </p:nvPicPr>
        <p:blipFill>
          <a:blip r:embed="rId3"/>
          <a:srcRect t="23425" r="61031" b="39764"/>
          <a:stretch>
            <a:fillRect/>
          </a:stretch>
        </p:blipFill>
        <p:spPr>
          <a:xfrm>
            <a:off x="780052" y="2460812"/>
            <a:ext cx="3563348" cy="98613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0" y="1372650"/>
            <a:ext cx="9144000" cy="5485350"/>
            <a:chOff x="0" y="1372650"/>
            <a:chExt cx="9144000" cy="5485350"/>
          </a:xfrm>
        </p:grpSpPr>
        <p:pic>
          <p:nvPicPr>
            <p:cNvPr id="7" name="Picture 6" descr="Overlay-Blank.jpg"/>
            <p:cNvPicPr>
              <a:picLocks noChangeAspect="1"/>
            </p:cNvPicPr>
            <p:nvPr userDrawn="1"/>
          </p:nvPicPr>
          <p:blipFill>
            <a:blip r:embed="rId2"/>
            <a:srcRect t="23333"/>
            <a:stretch>
              <a:fillRect/>
            </a:stretch>
          </p:blipFill>
          <p:spPr>
            <a:xfrm>
              <a:off x="0" y="1600200"/>
              <a:ext cx="9144000" cy="5257800"/>
            </a:xfrm>
            <a:prstGeom prst="rect">
              <a:avLst/>
            </a:prstGeom>
          </p:spPr>
        </p:pic>
        <p:pic>
          <p:nvPicPr>
            <p:cNvPr id="8" name="Picture 7" descr="Overlay-HorizontalBridge.jpg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0" y="1372650"/>
              <a:ext cx="9144000" cy="267891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 Pearson Education, Inc., Hoboken, NJ. All rights reserved.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487DAE-8C80-B544-80C4-9497E4FC796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Overlay-Blan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 Pearson Education, Inc., Hoboken, NJ. All rights reserved.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BF51CE2-3593-EE4E-B491-85B6833DF5C8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11"/>
          <p:cNvGrpSpPr/>
          <p:nvPr/>
        </p:nvGrpSpPr>
        <p:grpSpPr>
          <a:xfrm>
            <a:off x="4267200" y="0"/>
            <a:ext cx="4876800" cy="6858000"/>
            <a:chOff x="4267200" y="0"/>
            <a:chExt cx="4876800" cy="6858000"/>
          </a:xfrm>
        </p:grpSpPr>
        <p:pic>
          <p:nvPicPr>
            <p:cNvPr id="9" name="Picture 8" descr="Overlay-Blank.jpg"/>
            <p:cNvPicPr>
              <a:picLocks noChangeAspect="1"/>
            </p:cNvPicPr>
            <p:nvPr userDrawn="1"/>
          </p:nvPicPr>
          <p:blipFill>
            <a:blip r:embed="rId2"/>
            <a:srcRect l="4302" r="46875"/>
            <a:stretch>
              <a:fillRect/>
            </a:stretch>
          </p:blipFill>
          <p:spPr>
            <a:xfrm>
              <a:off x="4495800" y="0"/>
              <a:ext cx="4648200" cy="6858000"/>
            </a:xfrm>
            <a:prstGeom prst="rect">
              <a:avLst/>
            </a:prstGeom>
          </p:spPr>
        </p:pic>
        <p:pic>
          <p:nvPicPr>
            <p:cNvPr id="10" name="Picture 9" descr="Overlay-VerticalBridge.jpg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 flipH="1">
              <a:off x="4267200" y="0"/>
              <a:ext cx="267891" cy="6858000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609600"/>
            <a:ext cx="3612776" cy="1537447"/>
          </a:xfrm>
        </p:spPr>
        <p:txBody>
          <a:bodyPr anchor="b"/>
          <a:lstStyle>
            <a:lvl1pPr algn="ctr">
              <a:lnSpc>
                <a:spcPct val="100000"/>
              </a:lnSpc>
              <a:defRPr sz="3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85859" y="381001"/>
            <a:ext cx="3813174" cy="5697537"/>
          </a:xfrm>
        </p:spPr>
        <p:txBody>
          <a:bodyPr>
            <a:normAutofit/>
          </a:bodyPr>
          <a:lstStyle>
            <a:lvl1pPr>
              <a:defRPr sz="2400" b="0"/>
            </a:lvl1pPr>
            <a:lvl2pPr>
              <a:defRPr sz="2200" b="0"/>
            </a:lvl2pPr>
            <a:lvl3pPr>
              <a:defRPr sz="2000" b="0"/>
            </a:lvl3pPr>
            <a:lvl4pPr>
              <a:defRPr sz="1800" b="0"/>
            </a:lvl4pPr>
            <a:lvl5pPr>
              <a:defRPr sz="1800" b="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2209801"/>
            <a:ext cx="3612776" cy="3200400"/>
          </a:xfrm>
        </p:spPr>
        <p:txBody>
          <a:bodyPr>
            <a:normAutofit/>
          </a:bodyPr>
          <a:lstStyle>
            <a:lvl1pPr marL="0" indent="0" algn="ctr">
              <a:buNone/>
              <a:defRPr sz="1800" b="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/>
              <a:t>© 2020 Pearson Education, Inc., Hoboken, NJ. All rights reserved.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267200" y="6356350"/>
            <a:ext cx="609600" cy="365125"/>
          </a:xfrm>
        </p:spPr>
        <p:txBody>
          <a:bodyPr/>
          <a:lstStyle>
            <a:lvl1pPr algn="ctr">
              <a:defRPr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</a:lstStyle>
          <a:p>
            <a:pPr>
              <a:defRPr/>
            </a:pPr>
            <a:fld id="{816E368C-1A76-764C-A4C6-A47FE0348898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Overlay-Blan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609600"/>
            <a:ext cx="3612822" cy="1536192"/>
          </a:xfr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873625" y="381000"/>
            <a:ext cx="3813175" cy="5697538"/>
          </a:xfrm>
          <a:solidFill>
            <a:schemeClr val="bg1">
              <a:lumMod val="85000"/>
            </a:schemeClr>
          </a:solidFill>
          <a:ln w="101600">
            <a:solidFill>
              <a:schemeClr val="accent1">
                <a:lumMod val="40000"/>
                <a:lumOff val="60000"/>
                <a:alpha val="40000"/>
              </a:schemeClr>
            </a:solidFill>
            <a:miter lim="800000"/>
          </a:ln>
          <a:effectLst>
            <a:innerShdw blurRad="457200">
              <a:schemeClr val="accent1">
                <a:alpha val="80000"/>
              </a:schemeClr>
            </a:innerShdw>
            <a:softEdge rad="31750"/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9984" y="2209799"/>
            <a:ext cx="3613792" cy="3222625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sz="18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 algn="ctr" defTabSz="914400" rtl="0" eaLnBrk="1" latinLnBrk="0" hangingPunct="1">
              <a:spcBef>
                <a:spcPts val="2400"/>
              </a:spcBef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 Pearson Education, Inc., Hoboken, NJ. All rights reserved.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88F6A25-87B4-714F-A465-0F8A51BF0F85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4267200" y="0"/>
            <a:ext cx="4876800" cy="6858000"/>
            <a:chOff x="4267200" y="0"/>
            <a:chExt cx="4876800" cy="6858000"/>
          </a:xfrm>
        </p:grpSpPr>
        <p:pic>
          <p:nvPicPr>
            <p:cNvPr id="10" name="Picture 9" descr="Overlay-Blank.jpg"/>
            <p:cNvPicPr>
              <a:picLocks noChangeAspect="1"/>
            </p:cNvPicPr>
            <p:nvPr userDrawn="1"/>
          </p:nvPicPr>
          <p:blipFill>
            <a:blip r:embed="rId2"/>
            <a:srcRect l="4302" r="46875"/>
            <a:stretch>
              <a:fillRect/>
            </a:stretch>
          </p:blipFill>
          <p:spPr>
            <a:xfrm>
              <a:off x="4495800" y="0"/>
              <a:ext cx="4648200" cy="6858000"/>
            </a:xfrm>
            <a:prstGeom prst="rect">
              <a:avLst/>
            </a:prstGeom>
          </p:spPr>
        </p:pic>
        <p:pic>
          <p:nvPicPr>
            <p:cNvPr id="11" name="Picture 10" descr="Overlay-VerticalBridge.jpg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 flipH="1">
              <a:off x="4267200" y="0"/>
              <a:ext cx="267891" cy="6858000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609600"/>
            <a:ext cx="3612822" cy="1536192"/>
          </a:xfr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873625" y="381000"/>
            <a:ext cx="3813175" cy="5697538"/>
          </a:xfrm>
          <a:solidFill>
            <a:schemeClr val="bg1">
              <a:lumMod val="85000"/>
            </a:schemeClr>
          </a:solidFill>
          <a:ln w="101600">
            <a:noFill/>
            <a:miter lim="800000"/>
          </a:ln>
          <a:effectLst>
            <a:innerShdw blurRad="457200">
              <a:schemeClr val="tx1">
                <a:lumMod val="50000"/>
                <a:lumOff val="50000"/>
                <a:alpha val="80000"/>
              </a:schemeClr>
            </a:innerShdw>
            <a:softEdge rad="127000"/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9984" y="2209799"/>
            <a:ext cx="3613792" cy="3222625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sz="18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 algn="ctr" defTabSz="914400" rtl="0" eaLnBrk="1" latinLnBrk="0" hangingPunct="1">
              <a:spcBef>
                <a:spcPts val="2400"/>
              </a:spcBef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 Pearson Education, Inc., Hoboken, NJ. All rights reserved.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1CBA271-37AA-1A4B-93BB-23FD1460592A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1372650"/>
            <a:ext cx="9144000" cy="5485350"/>
            <a:chOff x="0" y="1372650"/>
            <a:chExt cx="9144000" cy="5485350"/>
          </a:xfrm>
        </p:grpSpPr>
        <p:pic>
          <p:nvPicPr>
            <p:cNvPr id="8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t="23333"/>
            <a:stretch>
              <a:fillRect/>
            </a:stretch>
          </p:blipFill>
          <p:spPr>
            <a:xfrm>
              <a:off x="0" y="1600200"/>
              <a:ext cx="9144000" cy="5257800"/>
            </a:xfrm>
            <a:prstGeom prst="rect">
              <a:avLst/>
            </a:prstGeom>
          </p:spPr>
        </p:pic>
        <p:pic>
          <p:nvPicPr>
            <p:cNvPr id="9" name="Picture 8" descr="Overlay-HorizontalBridge.jpg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0" y="1372650"/>
              <a:ext cx="9144000" cy="267891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 Pearson Education, Inc., Hoboken, NJ. All rights reserved.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23CE70-09B5-AA4F-97D6-E97562FB12F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0"/>
          <p:cNvGrpSpPr/>
          <p:nvPr/>
        </p:nvGrpSpPr>
        <p:grpSpPr>
          <a:xfrm>
            <a:off x="0" y="0"/>
            <a:ext cx="7696200" cy="6858000"/>
            <a:chOff x="0" y="0"/>
            <a:chExt cx="7696200" cy="6858000"/>
          </a:xfrm>
        </p:grpSpPr>
        <p:pic>
          <p:nvPicPr>
            <p:cNvPr id="8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l="1471" r="16862"/>
            <a:stretch>
              <a:fillRect/>
            </a:stretch>
          </p:blipFill>
          <p:spPr>
            <a:xfrm>
              <a:off x="0" y="0"/>
              <a:ext cx="7467600" cy="6858000"/>
            </a:xfrm>
            <a:prstGeom prst="rect">
              <a:avLst/>
            </a:prstGeom>
          </p:spPr>
        </p:pic>
        <p:pic>
          <p:nvPicPr>
            <p:cNvPr id="9" name="Picture 8" descr="Overlay-VerticalBridge.jpg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7428309" y="0"/>
              <a:ext cx="267891" cy="6858000"/>
            </a:xfrm>
            <a:prstGeom prst="rect">
              <a:avLst/>
            </a:prstGeom>
          </p:spPr>
        </p:pic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20000" y="381001"/>
            <a:ext cx="1447800" cy="56975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381001"/>
            <a:ext cx="6705600" cy="56975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 Pearson Education, Inc., Hoboken, NJ. All rights reserved.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DBE6252-CF9A-1F42-9564-151AE148B485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15"/>
          <p:cNvGrpSpPr/>
          <p:nvPr/>
        </p:nvGrpSpPr>
        <p:grpSpPr>
          <a:xfrm>
            <a:off x="0" y="0"/>
            <a:ext cx="1581220" cy="6858000"/>
            <a:chOff x="134471" y="0"/>
            <a:chExt cx="1581220" cy="6858000"/>
          </a:xfrm>
        </p:grpSpPr>
        <p:pic>
          <p:nvPicPr>
            <p:cNvPr id="7" name="Picture 6" descr="Overlay-Blank.jpg"/>
            <p:cNvPicPr>
              <a:picLocks noChangeAspect="1"/>
            </p:cNvPicPr>
            <p:nvPr userDrawn="1"/>
          </p:nvPicPr>
          <p:blipFill>
            <a:blip r:embed="rId2"/>
            <a:srcRect l="1471" r="83676"/>
            <a:stretch>
              <a:fillRect/>
            </a:stretch>
          </p:blipFill>
          <p:spPr>
            <a:xfrm>
              <a:off x="134471" y="0"/>
              <a:ext cx="1358153" cy="6858000"/>
            </a:xfrm>
            <a:prstGeom prst="rect">
              <a:avLst/>
            </a:prstGeom>
          </p:spPr>
        </p:pic>
        <p:pic>
          <p:nvPicPr>
            <p:cNvPr id="9" name="Picture 8" descr="Overlay-VerticalBridge.jpg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447800" y="0"/>
              <a:ext cx="267891" cy="6858000"/>
            </a:xfrm>
            <a:prstGeom prst="rect">
              <a:avLst/>
            </a:prstGeom>
          </p:spPr>
        </p:pic>
      </p:grpSp>
      <p:grpSp>
        <p:nvGrpSpPr>
          <p:cNvPr id="11" name="Group 16"/>
          <p:cNvGrpSpPr/>
          <p:nvPr/>
        </p:nvGrpSpPr>
        <p:grpSpPr>
          <a:xfrm>
            <a:off x="7546266" y="0"/>
            <a:ext cx="1597734" cy="6858000"/>
            <a:chOff x="7413812" y="0"/>
            <a:chExt cx="1597734" cy="6858000"/>
          </a:xfrm>
        </p:grpSpPr>
        <p:pic>
          <p:nvPicPr>
            <p:cNvPr id="8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r="85125"/>
            <a:stretch>
              <a:fillRect/>
            </a:stretch>
          </p:blipFill>
          <p:spPr>
            <a:xfrm>
              <a:off x="7651376" y="0"/>
              <a:ext cx="1360170" cy="6858000"/>
            </a:xfrm>
            <a:prstGeom prst="rect">
              <a:avLst/>
            </a:prstGeom>
          </p:spPr>
        </p:pic>
        <p:pic>
          <p:nvPicPr>
            <p:cNvPr id="10" name="Picture 9" descr="Overlay-VerticalBridge.jpg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 flipH="1">
              <a:off x="7413812" y="0"/>
              <a:ext cx="267891" cy="6858000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4200" y="3693645"/>
            <a:ext cx="5446713" cy="1470025"/>
          </a:xfrm>
        </p:spPr>
        <p:txBody>
          <a:bodyPr anchor="b" anchorCtr="0"/>
          <a:lstStyle>
            <a:lvl1pPr>
              <a:lnSpc>
                <a:spcPts val="6800"/>
              </a:lnSpc>
              <a:defRPr sz="65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54200" y="5204011"/>
            <a:ext cx="5446713" cy="851647"/>
          </a:xfrm>
        </p:spPr>
        <p:txBody>
          <a:bodyPr>
            <a:normAutofit/>
          </a:bodyPr>
          <a:lstStyle>
            <a:lvl1pPr marL="0" indent="0" algn="ctr">
              <a:spcBef>
                <a:spcPts val="30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257800" y="6356350"/>
            <a:ext cx="213360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26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/>
              <a:t>© 2020 Pearson Education, Inc., Hoboken, NJ. All rights reserved. </a:t>
            </a:r>
            <a:endParaRPr lang="en-US" dirty="0"/>
          </a:p>
        </p:txBody>
      </p:sp>
      <p:pic>
        <p:nvPicPr>
          <p:cNvPr id="15" name="Picture 14" descr="HR-Col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4480" y="4841209"/>
            <a:ext cx="6035040" cy="340391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1372650"/>
            <a:ext cx="9144000" cy="5485350"/>
            <a:chOff x="0" y="1372650"/>
            <a:chExt cx="9144000" cy="5485350"/>
          </a:xfrm>
        </p:grpSpPr>
        <p:pic>
          <p:nvPicPr>
            <p:cNvPr id="8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t="23333"/>
            <a:stretch>
              <a:fillRect/>
            </a:stretch>
          </p:blipFill>
          <p:spPr>
            <a:xfrm>
              <a:off x="0" y="1600200"/>
              <a:ext cx="9144000" cy="5257800"/>
            </a:xfrm>
            <a:prstGeom prst="rect">
              <a:avLst/>
            </a:prstGeom>
          </p:spPr>
        </p:pic>
        <p:pic>
          <p:nvPicPr>
            <p:cNvPr id="9" name="Picture 8" descr="Overlay-HorizontalBridge.jpg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0" y="1372650"/>
              <a:ext cx="9144000" cy="267891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 Pearson Education, Inc., Hoboken, NJ. All rights reserved.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B66D99A-972D-EA40-B039-603871F6BAA4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15"/>
          <p:cNvGrpSpPr/>
          <p:nvPr/>
        </p:nvGrpSpPr>
        <p:grpSpPr>
          <a:xfrm>
            <a:off x="0" y="0"/>
            <a:ext cx="1581220" cy="6858000"/>
            <a:chOff x="134471" y="0"/>
            <a:chExt cx="1581220" cy="6858000"/>
          </a:xfrm>
        </p:grpSpPr>
        <p:pic>
          <p:nvPicPr>
            <p:cNvPr id="7" name="Picture 6" descr="Overlay-Blank.jpg"/>
            <p:cNvPicPr>
              <a:picLocks noChangeAspect="1"/>
            </p:cNvPicPr>
            <p:nvPr userDrawn="1"/>
          </p:nvPicPr>
          <p:blipFill>
            <a:blip r:embed="rId2"/>
            <a:srcRect l="1471" r="83676"/>
            <a:stretch>
              <a:fillRect/>
            </a:stretch>
          </p:blipFill>
          <p:spPr>
            <a:xfrm>
              <a:off x="134471" y="0"/>
              <a:ext cx="1358153" cy="6858000"/>
            </a:xfrm>
            <a:prstGeom prst="rect">
              <a:avLst/>
            </a:prstGeom>
          </p:spPr>
        </p:pic>
        <p:pic>
          <p:nvPicPr>
            <p:cNvPr id="9" name="Picture 8" descr="Overlay-VerticalBridge.jpg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447800" y="0"/>
              <a:ext cx="267891" cy="6858000"/>
            </a:xfrm>
            <a:prstGeom prst="rect">
              <a:avLst/>
            </a:prstGeom>
          </p:spPr>
        </p:pic>
      </p:grpSp>
      <p:grpSp>
        <p:nvGrpSpPr>
          <p:cNvPr id="11" name="Group 16"/>
          <p:cNvGrpSpPr/>
          <p:nvPr/>
        </p:nvGrpSpPr>
        <p:grpSpPr>
          <a:xfrm>
            <a:off x="7546266" y="0"/>
            <a:ext cx="1597734" cy="6858000"/>
            <a:chOff x="7413812" y="0"/>
            <a:chExt cx="1597734" cy="6858000"/>
          </a:xfrm>
        </p:grpSpPr>
        <p:pic>
          <p:nvPicPr>
            <p:cNvPr id="8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r="85125"/>
            <a:stretch>
              <a:fillRect/>
            </a:stretch>
          </p:blipFill>
          <p:spPr>
            <a:xfrm>
              <a:off x="7651376" y="0"/>
              <a:ext cx="1360170" cy="6858000"/>
            </a:xfrm>
            <a:prstGeom prst="rect">
              <a:avLst/>
            </a:prstGeom>
          </p:spPr>
        </p:pic>
        <p:pic>
          <p:nvPicPr>
            <p:cNvPr id="10" name="Picture 9" descr="Overlay-VerticalBridge.jpg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 flipH="1">
              <a:off x="7413812" y="0"/>
              <a:ext cx="267891" cy="6858000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4200" y="3693645"/>
            <a:ext cx="5446713" cy="1470025"/>
          </a:xfrm>
        </p:spPr>
        <p:txBody>
          <a:bodyPr anchor="b" anchorCtr="0"/>
          <a:lstStyle>
            <a:lvl1pPr>
              <a:lnSpc>
                <a:spcPts val="6800"/>
              </a:lnSpc>
              <a:defRPr sz="65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54200" y="5204011"/>
            <a:ext cx="5446713" cy="851647"/>
          </a:xfrm>
        </p:spPr>
        <p:txBody>
          <a:bodyPr>
            <a:normAutofit/>
          </a:bodyPr>
          <a:lstStyle>
            <a:lvl1pPr marL="0" indent="0" algn="ctr">
              <a:spcBef>
                <a:spcPts val="30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257800" y="6356350"/>
            <a:ext cx="213360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26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/>
              <a:t>© 2020 Pearson Education, Inc., Hoboken, NJ. All rights reserved. </a:t>
            </a:r>
            <a:endParaRPr lang="en-US" dirty="0"/>
          </a:p>
        </p:txBody>
      </p:sp>
      <p:pic>
        <p:nvPicPr>
          <p:cNvPr id="15" name="Picture 14" descr="HR-Col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4480" y="4841209"/>
            <a:ext cx="6035040" cy="340391"/>
          </a:xfrm>
          <a:prstGeom prst="rect">
            <a:avLst/>
          </a:prstGeom>
        </p:spPr>
      </p:pic>
      <p:sp>
        <p:nvSpPr>
          <p:cNvPr id="14" name="Picture Placeholder 13"/>
          <p:cNvSpPr>
            <a:spLocks noGrp="1"/>
          </p:cNvSpPr>
          <p:nvPr>
            <p:ph type="pic" sz="quarter" idx="12"/>
          </p:nvPr>
        </p:nvSpPr>
        <p:spPr>
          <a:xfrm>
            <a:off x="3307977" y="950260"/>
            <a:ext cx="2528046" cy="2528046"/>
          </a:xfrm>
          <a:prstGeom prst="ellipse">
            <a:avLst/>
          </a:prstGeom>
          <a:solidFill>
            <a:schemeClr val="bg1">
              <a:lumMod val="85000"/>
            </a:schemeClr>
          </a:solidFill>
          <a:ln w="101600">
            <a:noFill/>
            <a:miter lim="800000"/>
          </a:ln>
          <a:effectLst>
            <a:innerShdw blurRad="762000">
              <a:schemeClr val="accent1">
                <a:alpha val="80000"/>
              </a:schemeClr>
            </a:innerShdw>
            <a:softEdge rad="317500"/>
          </a:effectLst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ts val="2400"/>
              </a:spcBef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None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picture</a:t>
            </a:r>
            <a:endParaRPr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54200" y="1851212"/>
            <a:ext cx="5446714" cy="1730375"/>
          </a:xfrm>
        </p:spPr>
        <p:txBody>
          <a:bodyPr anchor="b" anchorCtr="0"/>
          <a:lstStyle>
            <a:lvl1pPr algn="ctr">
              <a:lnSpc>
                <a:spcPts val="6800"/>
              </a:lnSpc>
              <a:defRPr sz="6500" b="0" cap="none" baseline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54200" y="3576918"/>
            <a:ext cx="5446714" cy="829982"/>
          </a:xfrm>
        </p:spPr>
        <p:txBody>
          <a:bodyPr anchor="t" anchorCtr="0">
            <a:normAutofit/>
          </a:bodyPr>
          <a:lstStyle>
            <a:lvl1pPr marL="0" indent="0" algn="ctr">
              <a:spcBef>
                <a:spcPts val="30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 Pearson Education, Inc., Hoboken, NJ. All rights reserved.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F244BF-7537-EE4D-B10C-E03246C2E2A4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grpSp>
        <p:nvGrpSpPr>
          <p:cNvPr id="7" name="Group 9"/>
          <p:cNvGrpSpPr/>
          <p:nvPr/>
        </p:nvGrpSpPr>
        <p:grpSpPr>
          <a:xfrm>
            <a:off x="0" y="0"/>
            <a:ext cx="9144000" cy="1191256"/>
            <a:chOff x="0" y="0"/>
            <a:chExt cx="9144000" cy="1191256"/>
          </a:xfrm>
        </p:grpSpPr>
        <p:pic>
          <p:nvPicPr>
            <p:cNvPr id="8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b="85555"/>
            <a:stretch>
              <a:fillRect/>
            </a:stretch>
          </p:blipFill>
          <p:spPr>
            <a:xfrm>
              <a:off x="0" y="0"/>
              <a:ext cx="9144000" cy="990600"/>
            </a:xfrm>
            <a:prstGeom prst="rect">
              <a:avLst/>
            </a:prstGeom>
          </p:spPr>
        </p:pic>
        <p:pic>
          <p:nvPicPr>
            <p:cNvPr id="9" name="Picture 8" descr="Overlay-HorizontalBridge.jpg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 flipV="1">
              <a:off x="0" y="923365"/>
              <a:ext cx="9144000" cy="267891"/>
            </a:xfrm>
            <a:prstGeom prst="rect">
              <a:avLst/>
            </a:prstGeom>
          </p:spPr>
        </p:pic>
      </p:grpSp>
      <p:grpSp>
        <p:nvGrpSpPr>
          <p:cNvPr id="10" name="Group 10"/>
          <p:cNvGrpSpPr/>
          <p:nvPr/>
        </p:nvGrpSpPr>
        <p:grpSpPr>
          <a:xfrm flipV="1">
            <a:off x="0" y="5666744"/>
            <a:ext cx="9144000" cy="1191256"/>
            <a:chOff x="0" y="0"/>
            <a:chExt cx="9144000" cy="1191256"/>
          </a:xfrm>
        </p:grpSpPr>
        <p:pic>
          <p:nvPicPr>
            <p:cNvPr id="12" name="Picture 11" descr="Overlay-Blank.jpg"/>
            <p:cNvPicPr>
              <a:picLocks noChangeAspect="1"/>
            </p:cNvPicPr>
            <p:nvPr userDrawn="1"/>
          </p:nvPicPr>
          <p:blipFill>
            <a:blip r:embed="rId2"/>
            <a:srcRect b="85555"/>
            <a:stretch>
              <a:fillRect/>
            </a:stretch>
          </p:blipFill>
          <p:spPr>
            <a:xfrm>
              <a:off x="0" y="0"/>
              <a:ext cx="9144000" cy="990600"/>
            </a:xfrm>
            <a:prstGeom prst="rect">
              <a:avLst/>
            </a:prstGeom>
          </p:spPr>
        </p:pic>
        <p:pic>
          <p:nvPicPr>
            <p:cNvPr id="13" name="Picture 12" descr="Overlay-HorizontalBridge.jpg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 flipV="1">
              <a:off x="0" y="923365"/>
              <a:ext cx="9144000" cy="267891"/>
            </a:xfrm>
            <a:prstGeom prst="rect">
              <a:avLst/>
            </a:prstGeom>
          </p:spPr>
        </p:pic>
      </p:grpSp>
      <p:pic>
        <p:nvPicPr>
          <p:cNvPr id="14" name="Picture 13" descr="HR-Col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4480" y="3258805"/>
            <a:ext cx="6035040" cy="340391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1372650"/>
            <a:ext cx="9144000" cy="5485350"/>
            <a:chOff x="0" y="1372650"/>
            <a:chExt cx="9144000" cy="5485350"/>
          </a:xfrm>
        </p:grpSpPr>
        <p:pic>
          <p:nvPicPr>
            <p:cNvPr id="9" name="Picture 8" descr="Overlay-Blank.jpg"/>
            <p:cNvPicPr>
              <a:picLocks noChangeAspect="1"/>
            </p:cNvPicPr>
            <p:nvPr userDrawn="1"/>
          </p:nvPicPr>
          <p:blipFill>
            <a:blip r:embed="rId2"/>
            <a:srcRect t="23333"/>
            <a:stretch>
              <a:fillRect/>
            </a:stretch>
          </p:blipFill>
          <p:spPr>
            <a:xfrm>
              <a:off x="0" y="1600200"/>
              <a:ext cx="9144000" cy="5257800"/>
            </a:xfrm>
            <a:prstGeom prst="rect">
              <a:avLst/>
            </a:prstGeom>
          </p:spPr>
        </p:pic>
        <p:pic>
          <p:nvPicPr>
            <p:cNvPr id="10" name="Picture 9" descr="Overlay-HorizontalBridge.jpg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0" y="1372650"/>
              <a:ext cx="9144000" cy="267891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92162" y="1774825"/>
            <a:ext cx="3566160" cy="430371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6534" y="1774825"/>
            <a:ext cx="3566160" cy="430371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 Pearson Education, Inc., Hoboken, NJ. All rights reserved.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8E3AEFF-5E1D-1344-A51F-4E32BAFF3704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1372650"/>
            <a:ext cx="9144000" cy="5485350"/>
            <a:chOff x="0" y="1372650"/>
            <a:chExt cx="9144000" cy="5485350"/>
          </a:xfrm>
        </p:grpSpPr>
        <p:pic>
          <p:nvPicPr>
            <p:cNvPr id="11" name="Picture 10" descr="Overlay-Blank.jpg"/>
            <p:cNvPicPr>
              <a:picLocks noChangeAspect="1"/>
            </p:cNvPicPr>
            <p:nvPr userDrawn="1"/>
          </p:nvPicPr>
          <p:blipFill>
            <a:blip r:embed="rId2"/>
            <a:srcRect t="23333"/>
            <a:stretch>
              <a:fillRect/>
            </a:stretch>
          </p:blipFill>
          <p:spPr>
            <a:xfrm>
              <a:off x="0" y="1600200"/>
              <a:ext cx="9144000" cy="5257800"/>
            </a:xfrm>
            <a:prstGeom prst="rect">
              <a:avLst/>
            </a:prstGeom>
          </p:spPr>
        </p:pic>
        <p:pic>
          <p:nvPicPr>
            <p:cNvPr id="12" name="Picture 11" descr="Overlay-HorizontalBridge.jpg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0" y="1372650"/>
              <a:ext cx="9144000" cy="267891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7240" y="1879320"/>
            <a:ext cx="3566160" cy="639762"/>
          </a:xfrm>
        </p:spPr>
        <p:txBody>
          <a:bodyPr anchor="b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2800" b="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77240" y="2590799"/>
            <a:ext cx="3566160" cy="3487739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66048" y="1879320"/>
            <a:ext cx="3566160" cy="639762"/>
          </a:xfrm>
        </p:spPr>
        <p:txBody>
          <a:bodyPr anchor="b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2800" b="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66048" y="2590799"/>
            <a:ext cx="3566160" cy="3487739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 Pearson Education, Inc., Hoboken, NJ. All rights reserved.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3441C3-1BF6-ED4A-A044-95467CE04095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14" name="Picture 13" descr="Overlay-HorizontalBridge.jpg"/>
          <p:cNvPicPr>
            <a:picLocks noChangeAspect="1"/>
          </p:cNvPicPr>
          <p:nvPr/>
        </p:nvPicPr>
        <p:blipFill>
          <a:blip r:embed="rId3"/>
          <a:srcRect t="23425" r="61031" b="39764"/>
          <a:stretch>
            <a:fillRect/>
          </a:stretch>
        </p:blipFill>
        <p:spPr>
          <a:xfrm>
            <a:off x="4766048" y="2460812"/>
            <a:ext cx="3563348" cy="98613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</p:pic>
      <p:pic>
        <p:nvPicPr>
          <p:cNvPr id="15" name="Picture 14" descr="Overlay-HorizontalBridge.jpg"/>
          <p:cNvPicPr>
            <a:picLocks noChangeAspect="1"/>
          </p:cNvPicPr>
          <p:nvPr/>
        </p:nvPicPr>
        <p:blipFill>
          <a:blip r:embed="rId3"/>
          <a:srcRect t="23425" r="61031" b="39764"/>
          <a:stretch>
            <a:fillRect/>
          </a:stretch>
        </p:blipFill>
        <p:spPr>
          <a:xfrm>
            <a:off x="780052" y="2460812"/>
            <a:ext cx="3563348" cy="98613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0" y="1372650"/>
            <a:ext cx="9144000" cy="5485350"/>
            <a:chOff x="0" y="1372650"/>
            <a:chExt cx="9144000" cy="5485350"/>
          </a:xfrm>
        </p:grpSpPr>
        <p:pic>
          <p:nvPicPr>
            <p:cNvPr id="7" name="Picture 6" descr="Overlay-Blank.jpg"/>
            <p:cNvPicPr>
              <a:picLocks noChangeAspect="1"/>
            </p:cNvPicPr>
            <p:nvPr userDrawn="1"/>
          </p:nvPicPr>
          <p:blipFill>
            <a:blip r:embed="rId2"/>
            <a:srcRect t="23333"/>
            <a:stretch>
              <a:fillRect/>
            </a:stretch>
          </p:blipFill>
          <p:spPr>
            <a:xfrm>
              <a:off x="0" y="1600200"/>
              <a:ext cx="9144000" cy="5257800"/>
            </a:xfrm>
            <a:prstGeom prst="rect">
              <a:avLst/>
            </a:prstGeom>
          </p:spPr>
        </p:pic>
        <p:pic>
          <p:nvPicPr>
            <p:cNvPr id="8" name="Picture 7" descr="Overlay-HorizontalBridge.jpg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0" y="1372650"/>
              <a:ext cx="9144000" cy="267891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 Pearson Education, Inc., Hoboken, NJ. All rights reserved.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1DDCCAA-7C73-3B4C-A71C-8A80ADA107D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Overlay-Blan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 Pearson Education, Inc., Hoboken, NJ. All rights reserved.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3F1A371-69C3-6140-9789-97FA9384AE1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11"/>
          <p:cNvGrpSpPr/>
          <p:nvPr/>
        </p:nvGrpSpPr>
        <p:grpSpPr>
          <a:xfrm>
            <a:off x="4267200" y="0"/>
            <a:ext cx="4876800" cy="6858000"/>
            <a:chOff x="4267200" y="0"/>
            <a:chExt cx="4876800" cy="6858000"/>
          </a:xfrm>
        </p:grpSpPr>
        <p:pic>
          <p:nvPicPr>
            <p:cNvPr id="9" name="Picture 8" descr="Overlay-Blank.jpg"/>
            <p:cNvPicPr>
              <a:picLocks noChangeAspect="1"/>
            </p:cNvPicPr>
            <p:nvPr userDrawn="1"/>
          </p:nvPicPr>
          <p:blipFill>
            <a:blip r:embed="rId2"/>
            <a:srcRect l="4302" r="46875"/>
            <a:stretch>
              <a:fillRect/>
            </a:stretch>
          </p:blipFill>
          <p:spPr>
            <a:xfrm>
              <a:off x="4495800" y="0"/>
              <a:ext cx="4648200" cy="6858000"/>
            </a:xfrm>
            <a:prstGeom prst="rect">
              <a:avLst/>
            </a:prstGeom>
          </p:spPr>
        </p:pic>
        <p:pic>
          <p:nvPicPr>
            <p:cNvPr id="10" name="Picture 9" descr="Overlay-VerticalBridge.jpg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 flipH="1">
              <a:off x="4267200" y="0"/>
              <a:ext cx="267891" cy="6858000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609600"/>
            <a:ext cx="3612776" cy="1537447"/>
          </a:xfrm>
        </p:spPr>
        <p:txBody>
          <a:bodyPr anchor="b"/>
          <a:lstStyle>
            <a:lvl1pPr algn="ctr">
              <a:lnSpc>
                <a:spcPct val="100000"/>
              </a:lnSpc>
              <a:defRPr sz="3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85859" y="381001"/>
            <a:ext cx="3813174" cy="5697537"/>
          </a:xfrm>
        </p:spPr>
        <p:txBody>
          <a:bodyPr>
            <a:normAutofit/>
          </a:bodyPr>
          <a:lstStyle>
            <a:lvl1pPr>
              <a:defRPr sz="2400" b="0"/>
            </a:lvl1pPr>
            <a:lvl2pPr>
              <a:defRPr sz="2200" b="0"/>
            </a:lvl2pPr>
            <a:lvl3pPr>
              <a:defRPr sz="2000" b="0"/>
            </a:lvl3pPr>
            <a:lvl4pPr>
              <a:defRPr sz="1800" b="0"/>
            </a:lvl4pPr>
            <a:lvl5pPr>
              <a:defRPr sz="1800" b="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2209801"/>
            <a:ext cx="3612776" cy="3200400"/>
          </a:xfrm>
        </p:spPr>
        <p:txBody>
          <a:bodyPr>
            <a:normAutofit/>
          </a:bodyPr>
          <a:lstStyle>
            <a:lvl1pPr marL="0" indent="0" algn="ctr">
              <a:buNone/>
              <a:defRPr sz="1800" b="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/>
              <a:t>© 2020 Pearson Education, Inc., Hoboken, NJ. All rights reserved.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267200" y="6356350"/>
            <a:ext cx="609600" cy="365125"/>
          </a:xfrm>
        </p:spPr>
        <p:txBody>
          <a:bodyPr/>
          <a:lstStyle>
            <a:lvl1pPr algn="ctr">
              <a:defRPr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</a:lstStyle>
          <a:p>
            <a:pPr>
              <a:defRPr/>
            </a:pPr>
            <a:fld id="{5596CAAF-9D24-0C45-9877-D780AD708434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Overlay-Blan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609600"/>
            <a:ext cx="3612822" cy="1536192"/>
          </a:xfr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873625" y="381000"/>
            <a:ext cx="3813175" cy="5697538"/>
          </a:xfrm>
          <a:solidFill>
            <a:schemeClr val="bg1">
              <a:lumMod val="85000"/>
            </a:schemeClr>
          </a:solidFill>
          <a:ln w="101600">
            <a:solidFill>
              <a:schemeClr val="accent1">
                <a:lumMod val="40000"/>
                <a:lumOff val="60000"/>
                <a:alpha val="40000"/>
              </a:schemeClr>
            </a:solidFill>
            <a:miter lim="800000"/>
          </a:ln>
          <a:effectLst>
            <a:innerShdw blurRad="457200">
              <a:schemeClr val="accent1">
                <a:alpha val="80000"/>
              </a:schemeClr>
            </a:innerShdw>
            <a:softEdge rad="31750"/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9984" y="2209799"/>
            <a:ext cx="3613792" cy="3222625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sz="18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 algn="ctr" defTabSz="914400" rtl="0" eaLnBrk="1" latinLnBrk="0" hangingPunct="1">
              <a:spcBef>
                <a:spcPts val="2400"/>
              </a:spcBef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 Pearson Education, Inc., Hoboken, NJ. All rights reserved.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75ED1B-F40F-B945-9F1C-A1F072E0B524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4267200" y="0"/>
            <a:ext cx="4876800" cy="6858000"/>
            <a:chOff x="4267200" y="0"/>
            <a:chExt cx="4876800" cy="6858000"/>
          </a:xfrm>
        </p:grpSpPr>
        <p:pic>
          <p:nvPicPr>
            <p:cNvPr id="10" name="Picture 9" descr="Overlay-Blank.jpg"/>
            <p:cNvPicPr>
              <a:picLocks noChangeAspect="1"/>
            </p:cNvPicPr>
            <p:nvPr userDrawn="1"/>
          </p:nvPicPr>
          <p:blipFill>
            <a:blip r:embed="rId2"/>
            <a:srcRect l="4302" r="46875"/>
            <a:stretch>
              <a:fillRect/>
            </a:stretch>
          </p:blipFill>
          <p:spPr>
            <a:xfrm>
              <a:off x="4495800" y="0"/>
              <a:ext cx="4648200" cy="6858000"/>
            </a:xfrm>
            <a:prstGeom prst="rect">
              <a:avLst/>
            </a:prstGeom>
          </p:spPr>
        </p:pic>
        <p:pic>
          <p:nvPicPr>
            <p:cNvPr id="11" name="Picture 10" descr="Overlay-VerticalBridge.jpg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 flipH="1">
              <a:off x="4267200" y="0"/>
              <a:ext cx="267891" cy="6858000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609600"/>
            <a:ext cx="3612822" cy="1536192"/>
          </a:xfr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873625" y="381000"/>
            <a:ext cx="3813175" cy="5697538"/>
          </a:xfrm>
          <a:solidFill>
            <a:schemeClr val="bg1">
              <a:lumMod val="85000"/>
            </a:schemeClr>
          </a:solidFill>
          <a:ln w="101600">
            <a:noFill/>
            <a:miter lim="800000"/>
          </a:ln>
          <a:effectLst>
            <a:innerShdw blurRad="457200">
              <a:schemeClr val="tx1">
                <a:lumMod val="50000"/>
                <a:lumOff val="50000"/>
                <a:alpha val="80000"/>
              </a:schemeClr>
            </a:innerShdw>
            <a:softEdge rad="127000"/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9984" y="2209799"/>
            <a:ext cx="3613792" cy="3222625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sz="18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 algn="ctr" defTabSz="914400" rtl="0" eaLnBrk="1" latinLnBrk="0" hangingPunct="1">
              <a:spcBef>
                <a:spcPts val="2400"/>
              </a:spcBef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 Pearson Education, Inc., Hoboken, NJ. All rights reserved.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0CA49C-4816-5548-9A30-0DF23F022A4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1372650"/>
            <a:ext cx="9144000" cy="5485350"/>
            <a:chOff x="0" y="1372650"/>
            <a:chExt cx="9144000" cy="5485350"/>
          </a:xfrm>
        </p:grpSpPr>
        <p:pic>
          <p:nvPicPr>
            <p:cNvPr id="8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t="23333"/>
            <a:stretch>
              <a:fillRect/>
            </a:stretch>
          </p:blipFill>
          <p:spPr>
            <a:xfrm>
              <a:off x="0" y="1600200"/>
              <a:ext cx="9144000" cy="5257800"/>
            </a:xfrm>
            <a:prstGeom prst="rect">
              <a:avLst/>
            </a:prstGeom>
          </p:spPr>
        </p:pic>
        <p:pic>
          <p:nvPicPr>
            <p:cNvPr id="9" name="Picture 8" descr="Overlay-HorizontalBridge.jpg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0" y="1372650"/>
              <a:ext cx="9144000" cy="267891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 Pearson Education, Inc., Hoboken, NJ. All rights reserved.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CAD9AD-2D1B-A64A-B5EE-4F53A0EC582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0"/>
          <p:cNvGrpSpPr/>
          <p:nvPr/>
        </p:nvGrpSpPr>
        <p:grpSpPr>
          <a:xfrm>
            <a:off x="0" y="0"/>
            <a:ext cx="7696200" cy="6858000"/>
            <a:chOff x="0" y="0"/>
            <a:chExt cx="7696200" cy="6858000"/>
          </a:xfrm>
        </p:grpSpPr>
        <p:pic>
          <p:nvPicPr>
            <p:cNvPr id="8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l="1471" r="16862"/>
            <a:stretch>
              <a:fillRect/>
            </a:stretch>
          </p:blipFill>
          <p:spPr>
            <a:xfrm>
              <a:off x="0" y="0"/>
              <a:ext cx="7467600" cy="6858000"/>
            </a:xfrm>
            <a:prstGeom prst="rect">
              <a:avLst/>
            </a:prstGeom>
          </p:spPr>
        </p:pic>
        <p:pic>
          <p:nvPicPr>
            <p:cNvPr id="9" name="Picture 8" descr="Overlay-VerticalBridge.jpg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7428309" y="0"/>
              <a:ext cx="267891" cy="6858000"/>
            </a:xfrm>
            <a:prstGeom prst="rect">
              <a:avLst/>
            </a:prstGeom>
          </p:spPr>
        </p:pic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20000" y="381001"/>
            <a:ext cx="1447800" cy="56975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381001"/>
            <a:ext cx="6705600" cy="56975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 Pearson Education, Inc., Hoboken, NJ. All rights reserved.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7BE59C2-72A5-FB42-8B31-1E1DCF41DA1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92162" y="40341"/>
            <a:ext cx="7570787" cy="14119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2162" y="1761565"/>
            <a:ext cx="7570787" cy="42896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51812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67200" y="6356350"/>
            <a:ext cx="609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</a:lstStyle>
          <a:p>
            <a:pPr>
              <a:defRPr/>
            </a:pPr>
            <a:fld id="{D70CA49C-4816-5548-9A30-0DF23F022A4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72035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© 2020 Pearson Education, Inc., Hoboken, NJ. All rights reserved. 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</p:sldLayoutIdLst>
  <p:hf sldNum="0" hdr="0" dt="0"/>
  <p:txStyles>
    <p:titleStyle>
      <a:lvl1pPr algn="ctr" defTabSz="914400" rtl="0" eaLnBrk="1" latinLnBrk="0" hangingPunct="1">
        <a:lnSpc>
          <a:spcPts val="6000"/>
        </a:lnSpc>
        <a:spcBef>
          <a:spcPct val="0"/>
        </a:spcBef>
        <a:buNone/>
        <a:defRPr sz="5400" kern="1200">
          <a:solidFill>
            <a:schemeClr val="tx2"/>
          </a:solidFill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ts val="2400"/>
        </a:spcBef>
        <a:buClr>
          <a:schemeClr val="accent1">
            <a:lumMod val="60000"/>
            <a:lumOff val="40000"/>
          </a:schemeClr>
        </a:buClr>
        <a:buFont typeface="Candara" pitchFamily="34" charset="0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336550" algn="l" defTabSz="914400" rtl="0" eaLnBrk="1" latinLnBrk="0" hangingPunct="1">
        <a:spcBef>
          <a:spcPts val="600"/>
        </a:spcBef>
        <a:buClr>
          <a:schemeClr val="tx2"/>
        </a:buClr>
        <a:buFont typeface="Candara" pitchFamily="34" charset="0"/>
        <a:buChar char="•"/>
        <a:defRPr sz="2600" kern="1200">
          <a:solidFill>
            <a:schemeClr val="tx2"/>
          </a:solidFill>
          <a:latin typeface="+mn-lt"/>
          <a:ea typeface="+mn-ea"/>
          <a:cs typeface="+mn-cs"/>
        </a:defRPr>
      </a:lvl2pPr>
      <a:lvl3pPr marL="1035050" indent="-349250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Font typeface="Candara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371600" indent="-336550" algn="l" defTabSz="914400" rtl="0" eaLnBrk="1" latinLnBrk="0" hangingPunct="1">
        <a:spcBef>
          <a:spcPts val="600"/>
        </a:spcBef>
        <a:buClr>
          <a:schemeClr val="tx2"/>
        </a:buClr>
        <a:buFont typeface="Candara" pitchFamily="34" charset="0"/>
        <a:buChar char="•"/>
        <a:defRPr sz="2200" kern="1200">
          <a:solidFill>
            <a:schemeClr val="tx2"/>
          </a:solidFill>
          <a:latin typeface="+mn-lt"/>
          <a:ea typeface="+mn-ea"/>
          <a:cs typeface="+mn-cs"/>
        </a:defRPr>
      </a:lvl4pPr>
      <a:lvl5pPr marL="1720850" indent="-349250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Font typeface="Candara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92162" y="40341"/>
            <a:ext cx="7570787" cy="14119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2162" y="1761565"/>
            <a:ext cx="7570787" cy="42896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51812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67200" y="6356350"/>
            <a:ext cx="609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</a:lstStyle>
          <a:p>
            <a:pPr>
              <a:defRPr/>
            </a:pPr>
            <a:fld id="{D70CA49C-4816-5548-9A30-0DF23F022A4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72035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© 2020 Pearson Education, Inc., Hoboken, NJ. All rights reserved. 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</p:sldLayoutIdLst>
  <p:hf sldNum="0" hdr="0" dt="0"/>
  <p:txStyles>
    <p:titleStyle>
      <a:lvl1pPr algn="ctr" defTabSz="914400" rtl="0" eaLnBrk="1" latinLnBrk="0" hangingPunct="1">
        <a:lnSpc>
          <a:spcPts val="6000"/>
        </a:lnSpc>
        <a:spcBef>
          <a:spcPct val="0"/>
        </a:spcBef>
        <a:buNone/>
        <a:defRPr sz="5400" kern="1200">
          <a:solidFill>
            <a:schemeClr val="tx2"/>
          </a:solidFill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ts val="2400"/>
        </a:spcBef>
        <a:buClr>
          <a:schemeClr val="accent1">
            <a:lumMod val="60000"/>
            <a:lumOff val="40000"/>
          </a:schemeClr>
        </a:buClr>
        <a:buFont typeface="Candara" pitchFamily="34" charset="0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336550" algn="l" defTabSz="914400" rtl="0" eaLnBrk="1" latinLnBrk="0" hangingPunct="1">
        <a:spcBef>
          <a:spcPts val="600"/>
        </a:spcBef>
        <a:buClr>
          <a:schemeClr val="tx2"/>
        </a:buClr>
        <a:buFont typeface="Candara" pitchFamily="34" charset="0"/>
        <a:buChar char="•"/>
        <a:defRPr sz="2600" kern="1200">
          <a:solidFill>
            <a:schemeClr val="tx2"/>
          </a:solidFill>
          <a:latin typeface="+mn-lt"/>
          <a:ea typeface="+mn-ea"/>
          <a:cs typeface="+mn-cs"/>
        </a:defRPr>
      </a:lvl2pPr>
      <a:lvl3pPr marL="1035050" indent="-349250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Font typeface="Candara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371600" indent="-336550" algn="l" defTabSz="914400" rtl="0" eaLnBrk="1" latinLnBrk="0" hangingPunct="1">
        <a:spcBef>
          <a:spcPts val="600"/>
        </a:spcBef>
        <a:buClr>
          <a:schemeClr val="tx2"/>
        </a:buClr>
        <a:buFont typeface="Candara" pitchFamily="34" charset="0"/>
        <a:buChar char="•"/>
        <a:defRPr sz="2200" kern="1200">
          <a:solidFill>
            <a:schemeClr val="tx2"/>
          </a:solidFill>
          <a:latin typeface="+mn-lt"/>
          <a:ea typeface="+mn-ea"/>
          <a:cs typeface="+mn-cs"/>
        </a:defRPr>
      </a:lvl4pPr>
      <a:lvl5pPr marL="1720850" indent="-349250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Font typeface="Candara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7.png"/><Relationship Id="rId4" Type="http://schemas.openxmlformats.org/officeDocument/2006/relationships/image" Target="../media/image17.pd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d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d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9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page.math.tu-berlin.de/~kant/teaching/hess/krypto-ws2006/des.htm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058702A-BFEA-B9F0-1D2E-F3FB26811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2020 Pearson Education, Inc., Hoboken, NJ. All rights reserved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B1861A-763D-5551-355E-BAAB9116F4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9447" y="523745"/>
            <a:ext cx="4521986" cy="5810509"/>
          </a:xfrm>
          <a:prstGeom prst="rect">
            <a:avLst/>
          </a:prstGeom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C53D45E4-C156-D7BC-BF9F-A07BC3F8BF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2321" y="1490951"/>
            <a:ext cx="3854932" cy="1011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77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77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University of Nevada – Reno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Computer Science &amp; Engineering Department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CS454/654 Reliability and Security of Computing Systems  - Fall 2024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u="sng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endParaRPr lang="en-US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endParaRPr lang="en-US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endParaRPr lang="en-US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u="sng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0207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-up of a book&#10;&#10;Description automatically generated">
            <a:extLst>
              <a:ext uri="{FF2B5EF4-FFF2-40B4-BE49-F238E27FC236}">
                <a16:creationId xmlns:a16="http://schemas.microsoft.com/office/drawing/2014/main" id="{7107F125-99FC-0764-69A2-FB2ECC5B60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0"/>
            <a:ext cx="70452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6650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Stream Cipher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1AF69F-6463-CD32-B4D0-C0895DA068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761565"/>
            <a:ext cx="8280920" cy="4289611"/>
          </a:xfrm>
        </p:spPr>
        <p:txBody>
          <a:bodyPr>
            <a:normAutofit/>
          </a:bodyPr>
          <a:lstStyle/>
          <a:p>
            <a:r>
              <a:rPr lang="en-US" sz="2000" dirty="0"/>
              <a:t>A </a:t>
            </a:r>
            <a:r>
              <a:rPr lang="en-US" sz="2000" dirty="0">
                <a:solidFill>
                  <a:srgbClr val="FF0000"/>
                </a:solidFill>
              </a:rPr>
              <a:t>stream cipher </a:t>
            </a:r>
            <a:r>
              <a:rPr lang="en-US" sz="2000" dirty="0"/>
              <a:t>is one that encrypts a digital data stream </a:t>
            </a:r>
            <a:r>
              <a:rPr lang="en-US" sz="2000" dirty="0">
                <a:solidFill>
                  <a:srgbClr val="FF0000"/>
                </a:solidFill>
              </a:rPr>
              <a:t>one bit or one byte at a time</a:t>
            </a:r>
            <a:r>
              <a:rPr lang="en-US" sz="2000" dirty="0"/>
              <a:t>. Example of stream cipher is </a:t>
            </a:r>
            <a:r>
              <a:rPr lang="en-US" sz="2000" dirty="0" err="1"/>
              <a:t>Vernam</a:t>
            </a:r>
            <a:r>
              <a:rPr lang="en-US" sz="2000" dirty="0"/>
              <a:t> or Vigenère cipher.</a:t>
            </a:r>
          </a:p>
          <a:p>
            <a:r>
              <a:rPr lang="en-US" sz="2000" dirty="0"/>
              <a:t>If the cryptographic </a:t>
            </a:r>
            <a:r>
              <a:rPr lang="en-US" sz="2000" dirty="0">
                <a:solidFill>
                  <a:srgbClr val="FF0000"/>
                </a:solidFill>
              </a:rPr>
              <a:t>keystream is random</a:t>
            </a:r>
            <a:r>
              <a:rPr lang="en-US" sz="2000" dirty="0"/>
              <a:t>, then this cipher is </a:t>
            </a:r>
            <a:r>
              <a:rPr lang="en-US" sz="2000" dirty="0">
                <a:solidFill>
                  <a:srgbClr val="FF0000"/>
                </a:solidFill>
              </a:rPr>
              <a:t>unbreakable</a:t>
            </a:r>
            <a:r>
              <a:rPr lang="en-US" sz="2000" dirty="0"/>
              <a:t> by any means other than acquiring the keystream.</a:t>
            </a:r>
          </a:p>
          <a:p>
            <a:r>
              <a:rPr lang="en-US" sz="2000" dirty="0">
                <a:solidFill>
                  <a:srgbClr val="FF0000"/>
                </a:solidFill>
              </a:rPr>
              <a:t>Sharing the keystream </a:t>
            </a:r>
            <a:r>
              <a:rPr lang="en-US" sz="2000" dirty="0"/>
              <a:t>introduces </a:t>
            </a:r>
            <a:r>
              <a:rPr lang="en-US" sz="2000" dirty="0">
                <a:solidFill>
                  <a:srgbClr val="FF0000"/>
                </a:solidFill>
              </a:rPr>
              <a:t>complexities</a:t>
            </a:r>
            <a:r>
              <a:rPr lang="en-US" sz="2000" dirty="0"/>
              <a:t> such as extra traffic, transferring keystream over secure channel.</a:t>
            </a:r>
          </a:p>
          <a:p>
            <a:r>
              <a:rPr lang="en-US" sz="2000" dirty="0"/>
              <a:t>For practical reasons bit-stream </a:t>
            </a:r>
            <a:r>
              <a:rPr lang="en-US" sz="2000" dirty="0">
                <a:solidFill>
                  <a:srgbClr val="FF0000"/>
                </a:solidFill>
              </a:rPr>
              <a:t>generator must be used </a:t>
            </a:r>
            <a:r>
              <a:rPr lang="en-US" sz="2000" dirty="0"/>
              <a:t>(some kind of function or algorithm).</a:t>
            </a:r>
          </a:p>
          <a:p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Cipher</a:t>
            </a:r>
            <a:endParaRPr lang="en-AU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52887823"/>
              </p:ext>
            </p:extLst>
          </p:nvPr>
        </p:nvGraphicFramePr>
        <p:xfrm>
          <a:off x="381000" y="1761565"/>
          <a:ext cx="8534400" cy="49440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375CF9-FD72-9747-9663-FD28A065615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851" b="16400"/>
          <a:stretch/>
        </p:blipFill>
        <p:spPr>
          <a:xfrm>
            <a:off x="1210815" y="167034"/>
            <a:ext cx="6565541" cy="6690965"/>
          </a:xfrm>
          <a:prstGeom prst="rect">
            <a:avLst/>
          </a:prstGeom>
        </p:spPr>
      </p:pic>
    </p:spTree>
  </p:cSld>
  <p:clrMapOvr>
    <a:masterClrMapping/>
  </p:clrMapOvr>
  <p:transition>
    <p:dissolv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ECE1BA6-66BA-A08D-7229-FA6EDCCBD07E}"/>
              </a:ext>
            </a:extLst>
          </p:cNvPr>
          <p:cNvSpPr txBox="1">
            <a:spLocks/>
          </p:cNvSpPr>
          <p:nvPr/>
        </p:nvSpPr>
        <p:spPr>
          <a:xfrm>
            <a:off x="323528" y="620689"/>
            <a:ext cx="8280920" cy="3816424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ts val="2400"/>
              </a:spcBef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 sz="2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336550" algn="l" defTabSz="914400" rtl="0" eaLnBrk="1" latinLnBrk="0" hangingPunct="1">
              <a:spcBef>
                <a:spcPts val="600"/>
              </a:spcBef>
              <a:buClr>
                <a:schemeClr val="tx2"/>
              </a:buClr>
              <a:buFont typeface="Candara" pitchFamily="34" charset="0"/>
              <a:buChar char="•"/>
              <a:defRPr sz="2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035050" indent="-34925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-336550" algn="l" defTabSz="914400" rtl="0" eaLnBrk="1" latinLnBrk="0" hangingPunct="1">
              <a:spcBef>
                <a:spcPts val="600"/>
              </a:spcBef>
              <a:buClr>
                <a:schemeClr val="tx2"/>
              </a:buClr>
              <a:buFont typeface="Candara" pitchFamily="34" charset="0"/>
              <a:buChar char="•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720850" indent="-34925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sz="2000" dirty="0"/>
              <a:t>A block cipher operates on a plaintext block of </a:t>
            </a:r>
            <a:r>
              <a:rPr lang="en-US" sz="2000" dirty="0">
                <a:solidFill>
                  <a:srgbClr val="FF0000"/>
                </a:solidFill>
              </a:rPr>
              <a:t>n bits </a:t>
            </a:r>
            <a:r>
              <a:rPr lang="en-US" sz="2000" dirty="0"/>
              <a:t>to produce a cipher- text block of </a:t>
            </a:r>
            <a:r>
              <a:rPr lang="en-US" sz="2000" dirty="0">
                <a:solidFill>
                  <a:srgbClr val="FF0000"/>
                </a:solidFill>
              </a:rPr>
              <a:t>n bits</a:t>
            </a:r>
            <a:r>
              <a:rPr lang="en-US" sz="2000" dirty="0"/>
              <a:t>. </a:t>
            </a:r>
          </a:p>
          <a:p>
            <a:pPr fontAlgn="auto">
              <a:spcAft>
                <a:spcPts val="0"/>
              </a:spcAft>
            </a:pPr>
            <a:r>
              <a:rPr lang="en-US" sz="2000" dirty="0"/>
              <a:t>There are </a:t>
            </a:r>
            <a:r>
              <a:rPr lang="en-US" sz="2000" dirty="0">
                <a:solidFill>
                  <a:srgbClr val="FF0000"/>
                </a:solidFill>
              </a:rPr>
              <a:t>2</a:t>
            </a:r>
            <a:r>
              <a:rPr lang="en-US" sz="2000" baseline="30000" dirty="0">
                <a:solidFill>
                  <a:srgbClr val="FF0000"/>
                </a:solidFill>
              </a:rPr>
              <a:t>n</a:t>
            </a:r>
            <a:r>
              <a:rPr lang="en-US" sz="2000" dirty="0">
                <a:solidFill>
                  <a:srgbClr val="FF0000"/>
                </a:solidFill>
              </a:rPr>
              <a:t> possible different plaintext blocks </a:t>
            </a:r>
            <a:r>
              <a:rPr lang="en-US" sz="2000" dirty="0"/>
              <a:t>and, for the encryption to be reversible (i.e., for decryption to be possible), each must produce a </a:t>
            </a:r>
            <a:r>
              <a:rPr lang="en-US" sz="2000" dirty="0">
                <a:solidFill>
                  <a:srgbClr val="FF0000"/>
                </a:solidFill>
              </a:rPr>
              <a:t>unique</a:t>
            </a:r>
            <a:r>
              <a:rPr lang="en-US" sz="2000" dirty="0"/>
              <a:t> ciphertext block. </a:t>
            </a:r>
          </a:p>
          <a:p>
            <a:pPr marL="349250" lvl="1" indent="0" fontAlgn="auto">
              <a:spcAft>
                <a:spcPts val="0"/>
              </a:spcAft>
              <a:buNone/>
            </a:pPr>
            <a:r>
              <a:rPr lang="en-US" sz="2000" dirty="0"/>
              <a:t>If we limit ourselves to reversible mappings, the number of different transformations is 2^n!</a:t>
            </a:r>
          </a:p>
          <a:p>
            <a:pPr marL="349250" lvl="1" indent="0" fontAlgn="auto">
              <a:spcAft>
                <a:spcPts val="0"/>
              </a:spcAft>
              <a:buNone/>
            </a:pPr>
            <a:r>
              <a:rPr lang="en-US" sz="2000" dirty="0"/>
              <a:t>2</a:t>
            </a:r>
            <a:r>
              <a:rPr lang="en-US" sz="2000" baseline="30000" dirty="0"/>
              <a:t>n</a:t>
            </a:r>
            <a:r>
              <a:rPr lang="en-US" sz="2000" dirty="0"/>
              <a:t>! </a:t>
            </a:r>
            <a:r>
              <a:rPr lang="en-US" sz="1800" dirty="0"/>
              <a:t>For the </a:t>
            </a:r>
            <a:r>
              <a:rPr lang="en-US" sz="1800" dirty="0">
                <a:solidFill>
                  <a:srgbClr val="FF0000"/>
                </a:solidFill>
              </a:rPr>
              <a:t>1st plaintext</a:t>
            </a:r>
            <a:r>
              <a:rPr lang="en-US" sz="1800" dirty="0"/>
              <a:t>, we can choose any of </a:t>
            </a:r>
            <a:r>
              <a:rPr lang="en-US" sz="1800" dirty="0">
                <a:solidFill>
                  <a:srgbClr val="FF0000"/>
                </a:solidFill>
              </a:rPr>
              <a:t>2</a:t>
            </a:r>
            <a:r>
              <a:rPr lang="en-US" sz="1800" baseline="30000" dirty="0">
                <a:solidFill>
                  <a:srgbClr val="FF0000"/>
                </a:solidFill>
              </a:rPr>
              <a:t>n</a:t>
            </a:r>
            <a:r>
              <a:rPr lang="en-US" sz="1800" dirty="0">
                <a:solidFill>
                  <a:srgbClr val="FF0000"/>
                </a:solidFill>
              </a:rPr>
              <a:t> ciphertext </a:t>
            </a:r>
            <a:r>
              <a:rPr lang="en-US" sz="1800" dirty="0"/>
              <a:t>blocks. For the 2nd plaintext, we choose from among 2</a:t>
            </a:r>
            <a:r>
              <a:rPr lang="en-US" sz="1800" baseline="30000" dirty="0"/>
              <a:t>n</a:t>
            </a:r>
            <a:r>
              <a:rPr lang="en-US" sz="1800" dirty="0"/>
              <a:t> - 1 remaining ciphertext blocks, and so on.</a:t>
            </a:r>
          </a:p>
          <a:p>
            <a:pPr fontAlgn="auto">
              <a:spcAft>
                <a:spcPts val="0"/>
              </a:spcAft>
            </a:pPr>
            <a:endParaRPr lang="en-US" sz="2000" dirty="0"/>
          </a:p>
          <a:p>
            <a:pPr fontAlgn="auto">
              <a:spcAft>
                <a:spcPts val="0"/>
              </a:spcAft>
            </a:pPr>
            <a:endParaRPr lang="en-US" sz="2000" dirty="0"/>
          </a:p>
          <a:p>
            <a:pPr fontAlgn="auto">
              <a:spcAft>
                <a:spcPts val="0"/>
              </a:spcAft>
            </a:pPr>
            <a:endParaRPr lang="en-US" sz="2000" dirty="0"/>
          </a:p>
          <a:p>
            <a:pPr fontAlgn="auto">
              <a:spcAft>
                <a:spcPts val="0"/>
              </a:spcAft>
            </a:pPr>
            <a:endParaRPr lang="en-US" sz="2000" dirty="0"/>
          </a:p>
          <a:p>
            <a:pPr fontAlgn="auto">
              <a:spcAft>
                <a:spcPts val="0"/>
              </a:spcAft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75495701"/>
      </p:ext>
    </p:extLst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280AD2F-866E-65DD-7C46-1BF57757C40C}"/>
              </a:ext>
            </a:extLst>
          </p:cNvPr>
          <p:cNvSpPr txBox="1">
            <a:spLocks/>
          </p:cNvSpPr>
          <p:nvPr/>
        </p:nvSpPr>
        <p:spPr>
          <a:xfrm>
            <a:off x="323528" y="620688"/>
            <a:ext cx="8640960" cy="428961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ts val="2400"/>
              </a:spcBef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 sz="2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336550" algn="l" defTabSz="914400" rtl="0" eaLnBrk="1" latinLnBrk="0" hangingPunct="1">
              <a:spcBef>
                <a:spcPts val="600"/>
              </a:spcBef>
              <a:buClr>
                <a:schemeClr val="tx2"/>
              </a:buClr>
              <a:buFont typeface="Candara" pitchFamily="34" charset="0"/>
              <a:buChar char="•"/>
              <a:defRPr sz="2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035050" indent="-34925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-336550" algn="l" defTabSz="914400" rtl="0" eaLnBrk="1" latinLnBrk="0" hangingPunct="1">
              <a:spcBef>
                <a:spcPts val="600"/>
              </a:spcBef>
              <a:buClr>
                <a:schemeClr val="tx2"/>
              </a:buClr>
              <a:buFont typeface="Candara" pitchFamily="34" charset="0"/>
              <a:buChar char="•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720850" indent="-34925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sz="2000" dirty="0"/>
              <a:t>If block size is small, then the system is equivalent to a </a:t>
            </a:r>
            <a:r>
              <a:rPr lang="en-US" sz="2000" dirty="0">
                <a:solidFill>
                  <a:srgbClr val="FF0000"/>
                </a:solidFill>
              </a:rPr>
              <a:t>classical substitution cipher </a:t>
            </a:r>
            <a:r>
              <a:rPr lang="en-US" sz="2000" dirty="0"/>
              <a:t>and </a:t>
            </a:r>
            <a:r>
              <a:rPr lang="en-US" sz="2000" dirty="0">
                <a:solidFill>
                  <a:srgbClr val="FF0000"/>
                </a:solidFill>
              </a:rPr>
              <a:t>vulnerable to a statistical analysis of the plaintext. </a:t>
            </a:r>
            <a:r>
              <a:rPr lang="en-US" sz="2000" dirty="0"/>
              <a:t>Thus, </a:t>
            </a:r>
            <a:r>
              <a:rPr lang="en-US" sz="2000" dirty="0">
                <a:solidFill>
                  <a:srgbClr val="FF0000"/>
                </a:solidFill>
              </a:rPr>
              <a:t>n</a:t>
            </a:r>
            <a:r>
              <a:rPr lang="en-US" sz="2000" dirty="0"/>
              <a:t> should be large to prevent cryptanalysis.</a:t>
            </a:r>
          </a:p>
          <a:p>
            <a:pPr fontAlgn="auto">
              <a:spcAft>
                <a:spcPts val="0"/>
              </a:spcAft>
            </a:pPr>
            <a:r>
              <a:rPr lang="en-US" sz="2000" dirty="0"/>
              <a:t>A reversible substitution for a large block size is not practical. Assume n=4.</a:t>
            </a:r>
          </a:p>
          <a:p>
            <a:pPr fontAlgn="auto">
              <a:spcAft>
                <a:spcPts val="0"/>
              </a:spcAft>
            </a:pPr>
            <a:endParaRPr lang="en-US" sz="2000" dirty="0"/>
          </a:p>
          <a:p>
            <a:pPr fontAlgn="auto">
              <a:spcAft>
                <a:spcPts val="0"/>
              </a:spcAft>
            </a:pPr>
            <a:endParaRPr lang="en-US" sz="2000" dirty="0">
              <a:solidFill>
                <a:srgbClr val="FF0000"/>
              </a:solidFill>
            </a:endParaRPr>
          </a:p>
        </p:txBody>
      </p:sp>
      <p:pic>
        <p:nvPicPr>
          <p:cNvPr id="8" name="Picture 7" descr="A table of binary code&#10;&#10;Description automatically generated">
            <a:extLst>
              <a:ext uri="{FF2B5EF4-FFF2-40B4-BE49-F238E27FC236}">
                <a16:creationId xmlns:a16="http://schemas.microsoft.com/office/drawing/2014/main" id="{96ED0A90-0A7D-8B8F-03AF-89029D7CE9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848" y="2340963"/>
            <a:ext cx="5934860" cy="4517037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5F105EF-F7F0-FC8F-D694-F9FF82425C76}"/>
              </a:ext>
            </a:extLst>
          </p:cNvPr>
          <p:cNvSpPr txBox="1">
            <a:spLocks/>
          </p:cNvSpPr>
          <p:nvPr/>
        </p:nvSpPr>
        <p:spPr>
          <a:xfrm>
            <a:off x="321038" y="2765493"/>
            <a:ext cx="2708590" cy="428961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ts val="2400"/>
              </a:spcBef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 sz="2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336550" algn="l" defTabSz="914400" rtl="0" eaLnBrk="1" latinLnBrk="0" hangingPunct="1">
              <a:spcBef>
                <a:spcPts val="600"/>
              </a:spcBef>
              <a:buClr>
                <a:schemeClr val="tx2"/>
              </a:buClr>
              <a:buFont typeface="Candara" pitchFamily="34" charset="0"/>
              <a:buChar char="•"/>
              <a:defRPr sz="2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035050" indent="-34925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-336550" algn="l" defTabSz="914400" rtl="0" eaLnBrk="1" latinLnBrk="0" hangingPunct="1">
              <a:spcBef>
                <a:spcPts val="600"/>
              </a:spcBef>
              <a:buClr>
                <a:schemeClr val="tx2"/>
              </a:buClr>
              <a:buFont typeface="Candara" pitchFamily="34" charset="0"/>
              <a:buChar char="•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720850" indent="-34925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sz="2000" dirty="0"/>
              <a:t>The required key length is (4 bits) * (16 rows) = 64 bits</a:t>
            </a:r>
          </a:p>
          <a:p>
            <a:pPr fontAlgn="auto">
              <a:spcAft>
                <a:spcPts val="0"/>
              </a:spcAft>
            </a:pPr>
            <a:r>
              <a:rPr lang="en-US" sz="2000" dirty="0"/>
              <a:t>For a </a:t>
            </a:r>
            <a:r>
              <a:rPr lang="en-US" sz="2000" dirty="0">
                <a:solidFill>
                  <a:srgbClr val="FF0000"/>
                </a:solidFill>
              </a:rPr>
              <a:t>64-bit block</a:t>
            </a:r>
            <a:r>
              <a:rPr lang="en-US" sz="2000" dirty="0"/>
              <a:t>, which is a </a:t>
            </a:r>
            <a:r>
              <a:rPr lang="en-US" sz="2000" dirty="0">
                <a:solidFill>
                  <a:srgbClr val="FF0000"/>
                </a:solidFill>
              </a:rPr>
              <a:t>desirable length</a:t>
            </a:r>
            <a:r>
              <a:rPr lang="en-US" sz="2000" dirty="0"/>
              <a:t> to prevent statistical attacks, the required key length is 64 * 2</a:t>
            </a:r>
            <a:r>
              <a:rPr lang="en-US" sz="2000" baseline="30000" dirty="0"/>
              <a:t>64</a:t>
            </a:r>
            <a:r>
              <a:rPr lang="en-US" sz="2000" dirty="0"/>
              <a:t> = 2</a:t>
            </a:r>
            <a:r>
              <a:rPr lang="en-US" sz="2000" baseline="30000" dirty="0"/>
              <a:t>70</a:t>
            </a:r>
            <a:r>
              <a:rPr lang="en-US" sz="2000" dirty="0"/>
              <a:t> ≈ 10</a:t>
            </a:r>
            <a:r>
              <a:rPr lang="en-US" sz="2000" baseline="30000" dirty="0"/>
              <a:t>21</a:t>
            </a:r>
            <a:r>
              <a:rPr lang="en-US" sz="2000" dirty="0"/>
              <a:t> bits.</a:t>
            </a:r>
          </a:p>
          <a:p>
            <a:pPr fontAlgn="auto">
              <a:spcAft>
                <a:spcPts val="0"/>
              </a:spcAft>
            </a:pPr>
            <a:endParaRPr lang="en-US" sz="2000" dirty="0"/>
          </a:p>
          <a:p>
            <a:pPr fontAlgn="auto">
              <a:spcAft>
                <a:spcPts val="0"/>
              </a:spcAft>
            </a:pPr>
            <a:endParaRPr lang="en-US" sz="2000" dirty="0"/>
          </a:p>
          <a:p>
            <a:pPr fontAlgn="auto">
              <a:spcAft>
                <a:spcPts val="0"/>
              </a:spcAft>
            </a:pPr>
            <a:endParaRPr 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9973733"/>
      </p:ext>
    </p:extLst>
  </p:cSld>
  <p:clrMapOvr>
    <a:masterClrMapping/>
  </p:clrMapOvr>
  <p:transition>
    <p:dissolv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77813"/>
            <a:ext cx="8686800" cy="1139825"/>
          </a:xfrm>
        </p:spPr>
        <p:txBody>
          <a:bodyPr/>
          <a:lstStyle/>
          <a:p>
            <a:pPr eaLnBrk="1" hangingPunct="1">
              <a:defRPr/>
            </a:pPr>
            <a:r>
              <a:rPr lang="en-AU" dirty="0"/>
              <a:t>Feistel Cipher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67544" y="1600200"/>
            <a:ext cx="8568952" cy="4867835"/>
          </a:xfrm>
        </p:spPr>
        <p:txBody>
          <a:bodyPr>
            <a:normAutofit/>
          </a:bodyPr>
          <a:lstStyle/>
          <a:p>
            <a:pPr marL="457200" lvl="1" indent="-457200">
              <a:spcBef>
                <a:spcPts val="2400"/>
              </a:spcBef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sz="2200" dirty="0"/>
              <a:t>Is a practical application of a proposal (1945) by </a:t>
            </a:r>
            <a:r>
              <a:rPr lang="en-US" sz="2200" dirty="0">
                <a:solidFill>
                  <a:srgbClr val="FF0000"/>
                </a:solidFill>
              </a:rPr>
              <a:t>Claude Shannon </a:t>
            </a:r>
            <a:r>
              <a:rPr lang="en-US" sz="2200" dirty="0"/>
              <a:t>to develop a product cipher that alternates </a:t>
            </a:r>
            <a:r>
              <a:rPr lang="en-US" sz="2200" dirty="0">
                <a:solidFill>
                  <a:srgbClr val="FF0000"/>
                </a:solidFill>
              </a:rPr>
              <a:t>Substitution</a:t>
            </a:r>
            <a:r>
              <a:rPr lang="en-US" sz="2200" dirty="0"/>
              <a:t> and </a:t>
            </a:r>
            <a:r>
              <a:rPr lang="en-US" sz="2200" dirty="0">
                <a:solidFill>
                  <a:srgbClr val="FF0000"/>
                </a:solidFill>
              </a:rPr>
              <a:t>Permutation</a:t>
            </a:r>
            <a:r>
              <a:rPr lang="en-US" sz="2200" dirty="0"/>
              <a:t> functions.</a:t>
            </a:r>
          </a:p>
          <a:p>
            <a:pPr marL="457200" lvl="1" indent="-457200">
              <a:spcBef>
                <a:spcPts val="2400"/>
              </a:spcBef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sz="2200" dirty="0">
                <a:solidFill>
                  <a:srgbClr val="FF0000"/>
                </a:solidFill>
              </a:rPr>
              <a:t>Claude Shannon</a:t>
            </a:r>
            <a:r>
              <a:rPr lang="en-US" sz="2200" dirty="0"/>
              <a:t>, often regarded as the </a:t>
            </a:r>
            <a:r>
              <a:rPr lang="en-US" sz="2200" dirty="0">
                <a:solidFill>
                  <a:srgbClr val="FF0000"/>
                </a:solidFill>
              </a:rPr>
              <a:t>father of information theory</a:t>
            </a:r>
            <a:r>
              <a:rPr lang="en-US" sz="2200" dirty="0"/>
              <a:t>, introduced the concepts of </a:t>
            </a:r>
            <a:r>
              <a:rPr lang="en-US" sz="2200" dirty="0">
                <a:solidFill>
                  <a:srgbClr val="FF0000"/>
                </a:solidFill>
              </a:rPr>
              <a:t>confusion and diffusion </a:t>
            </a:r>
            <a:r>
              <a:rPr lang="en-US" sz="2200" dirty="0"/>
              <a:t>in the context of cryptography to describe </a:t>
            </a:r>
            <a:r>
              <a:rPr lang="en-US" sz="2200" dirty="0">
                <a:solidFill>
                  <a:srgbClr val="FF0000"/>
                </a:solidFill>
              </a:rPr>
              <a:t>essential properties </a:t>
            </a:r>
            <a:r>
              <a:rPr lang="en-US" sz="2200" dirty="0"/>
              <a:t>of a </a:t>
            </a:r>
            <a:r>
              <a:rPr lang="en-US" sz="2200" dirty="0">
                <a:solidFill>
                  <a:srgbClr val="FF0000"/>
                </a:solidFill>
              </a:rPr>
              <a:t>secure cipher</a:t>
            </a:r>
            <a:r>
              <a:rPr lang="en-US" sz="2200" dirty="0"/>
              <a:t>. </a:t>
            </a:r>
          </a:p>
          <a:p>
            <a:pPr marL="342900" lvl="1" indent="-342900">
              <a:spcBef>
                <a:spcPts val="2400"/>
              </a:spcBef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sz="2200" dirty="0"/>
              <a:t>The </a:t>
            </a:r>
            <a:r>
              <a:rPr lang="en-US" sz="2200" dirty="0">
                <a:solidFill>
                  <a:srgbClr val="FF0000"/>
                </a:solidFill>
              </a:rPr>
              <a:t>structure</a:t>
            </a:r>
            <a:r>
              <a:rPr lang="en-US" sz="2200" dirty="0"/>
              <a:t> of </a:t>
            </a:r>
            <a:r>
              <a:rPr lang="en-US" sz="2200" dirty="0" err="1"/>
              <a:t>Fiestel</a:t>
            </a:r>
            <a:r>
              <a:rPr lang="en-US" sz="2200" dirty="0"/>
              <a:t> Cipher is used by many </a:t>
            </a:r>
            <a:r>
              <a:rPr lang="en-US" sz="2200" dirty="0">
                <a:solidFill>
                  <a:srgbClr val="FF0000"/>
                </a:solidFill>
              </a:rPr>
              <a:t>significant</a:t>
            </a:r>
            <a:r>
              <a:rPr lang="en-US" sz="2200" dirty="0"/>
              <a:t> symmetric block ciphers currently in use. </a:t>
            </a:r>
          </a:p>
          <a:p>
            <a:pPr marL="692150" lvl="2" indent="-342900">
              <a:spcBef>
                <a:spcPts val="2400"/>
              </a:spcBef>
            </a:pPr>
            <a:r>
              <a:rPr lang="en-US" sz="2200" dirty="0"/>
              <a:t>Camellia block cipher is a Feistel structure; it is used as one of the symmetric ciphers in TLS.</a:t>
            </a:r>
          </a:p>
        </p:txBody>
      </p:sp>
    </p:spTree>
    <p:extLst>
      <p:ext uri="{BB962C8B-B14F-4D97-AF65-F5344CB8AC3E}">
        <p14:creationId xmlns:p14="http://schemas.microsoft.com/office/powerpoint/2010/main" val="33631845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77813"/>
            <a:ext cx="8686800" cy="1139825"/>
          </a:xfrm>
        </p:spPr>
        <p:txBody>
          <a:bodyPr/>
          <a:lstStyle/>
          <a:p>
            <a:pPr eaLnBrk="1" hangingPunct="1">
              <a:defRPr/>
            </a:pPr>
            <a:r>
              <a:rPr lang="en-AU" dirty="0"/>
              <a:t>Claude Shannon </a:t>
            </a:r>
            <a:br>
              <a:rPr lang="en-AU" dirty="0"/>
            </a:br>
            <a:r>
              <a:rPr lang="en-AU" dirty="0"/>
              <a:t>confusion and diffusion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67544" y="1600200"/>
            <a:ext cx="8568952" cy="4867835"/>
          </a:xfrm>
        </p:spPr>
        <p:txBody>
          <a:bodyPr>
            <a:normAutofit/>
          </a:bodyPr>
          <a:lstStyle/>
          <a:p>
            <a:pPr marL="457200" lvl="1" indent="-457200">
              <a:spcBef>
                <a:spcPts val="2400"/>
              </a:spcBef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sz="2200" dirty="0"/>
              <a:t>Shannon’s concern was to </a:t>
            </a:r>
            <a:r>
              <a:rPr lang="en-US" sz="2200" dirty="0">
                <a:solidFill>
                  <a:srgbClr val="FF0000"/>
                </a:solidFill>
              </a:rPr>
              <a:t>prevent</a:t>
            </a:r>
            <a:r>
              <a:rPr lang="en-US" sz="2200" dirty="0"/>
              <a:t> cryptanalysis based on </a:t>
            </a:r>
            <a:r>
              <a:rPr lang="en-US" sz="2200" dirty="0">
                <a:solidFill>
                  <a:srgbClr val="FF0000"/>
                </a:solidFill>
              </a:rPr>
              <a:t>statistical analysis</a:t>
            </a:r>
            <a:r>
              <a:rPr lang="en-US" sz="2200" dirty="0"/>
              <a:t>. </a:t>
            </a:r>
          </a:p>
          <a:p>
            <a:pPr marL="457200" lvl="1" indent="-457200">
              <a:spcBef>
                <a:spcPts val="2400"/>
              </a:spcBef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sz="2200" dirty="0"/>
              <a:t>The goal of </a:t>
            </a:r>
            <a:r>
              <a:rPr lang="en-US" sz="2200" b="1" dirty="0">
                <a:solidFill>
                  <a:srgbClr val="00B0F0"/>
                </a:solidFill>
              </a:rPr>
              <a:t>confusion</a:t>
            </a:r>
            <a:r>
              <a:rPr lang="en-US" sz="2200" dirty="0"/>
              <a:t> is to obscure the </a:t>
            </a:r>
            <a:r>
              <a:rPr lang="en-US" sz="2200" dirty="0">
                <a:solidFill>
                  <a:srgbClr val="FF0000"/>
                </a:solidFill>
              </a:rPr>
              <a:t>connection between the key and the ciphertext</a:t>
            </a:r>
            <a:r>
              <a:rPr lang="en-US" sz="2200" dirty="0"/>
              <a:t>, making it difficult for an attacker to determine the key even if they have several pairs of plaintext and corresponding ciphertext. Achieved Through: </a:t>
            </a:r>
            <a:r>
              <a:rPr lang="en-US" sz="2200" dirty="0">
                <a:solidFill>
                  <a:srgbClr val="FF0000"/>
                </a:solidFill>
              </a:rPr>
              <a:t>Substitution.</a:t>
            </a:r>
          </a:p>
          <a:p>
            <a:pPr marL="457200" lvl="1" indent="-457200">
              <a:spcBef>
                <a:spcPts val="2400"/>
              </a:spcBef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sz="2200" dirty="0"/>
              <a:t>The mechanism of </a:t>
            </a:r>
            <a:r>
              <a:rPr lang="en-US" sz="2200" b="1" dirty="0">
                <a:solidFill>
                  <a:srgbClr val="00B0F0"/>
                </a:solidFill>
              </a:rPr>
              <a:t>diffusion</a:t>
            </a:r>
            <a:r>
              <a:rPr lang="en-US" sz="2200" dirty="0"/>
              <a:t> seeks to make the statistical relationship </a:t>
            </a:r>
            <a:r>
              <a:rPr lang="en-US" sz="2200" dirty="0">
                <a:solidFill>
                  <a:srgbClr val="FF0000"/>
                </a:solidFill>
              </a:rPr>
              <a:t>between the plaintext and ciphertext as complex </a:t>
            </a:r>
            <a:r>
              <a:rPr lang="en-US" sz="2200" dirty="0"/>
              <a:t>as possible in order to prevent attempts to deduce the key. </a:t>
            </a:r>
          </a:p>
        </p:txBody>
      </p:sp>
    </p:spTree>
    <p:extLst>
      <p:ext uri="{BB962C8B-B14F-4D97-AF65-F5344CB8AC3E}">
        <p14:creationId xmlns:p14="http://schemas.microsoft.com/office/powerpoint/2010/main" val="7564580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77813"/>
            <a:ext cx="8686800" cy="1139825"/>
          </a:xfrm>
        </p:spPr>
        <p:txBody>
          <a:bodyPr/>
          <a:lstStyle/>
          <a:p>
            <a:pPr eaLnBrk="1" hangingPunct="1">
              <a:defRPr/>
            </a:pPr>
            <a:r>
              <a:rPr lang="en-AU" dirty="0"/>
              <a:t>Claude Shannon </a:t>
            </a:r>
            <a:br>
              <a:rPr lang="en-AU" dirty="0"/>
            </a:br>
            <a:r>
              <a:rPr lang="en-AU" dirty="0"/>
              <a:t>confusion and diffusion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67544" y="2014446"/>
            <a:ext cx="8568952" cy="4867835"/>
          </a:xfrm>
        </p:spPr>
        <p:txBody>
          <a:bodyPr>
            <a:normAutofit/>
          </a:bodyPr>
          <a:lstStyle/>
          <a:p>
            <a:pPr marL="457200" lvl="1" indent="-457200">
              <a:spcBef>
                <a:spcPts val="2400"/>
              </a:spcBef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sz="2000" dirty="0"/>
              <a:t>In </a:t>
            </a:r>
            <a:r>
              <a:rPr lang="en-US" sz="2000" dirty="0">
                <a:solidFill>
                  <a:srgbClr val="FF0000"/>
                </a:solidFill>
              </a:rPr>
              <a:t>diffusion</a:t>
            </a:r>
            <a:r>
              <a:rPr lang="en-US" sz="2000" dirty="0"/>
              <a:t>, each plaintext digit affect the </a:t>
            </a:r>
            <a:r>
              <a:rPr lang="en-US" sz="2000" dirty="0">
                <a:solidFill>
                  <a:srgbClr val="FF0000"/>
                </a:solidFill>
              </a:rPr>
              <a:t>value of many ciphertext digits</a:t>
            </a:r>
            <a:r>
              <a:rPr lang="en-US" sz="2000" dirty="0"/>
              <a:t>; generally, this is equivalent to having each ciphertext digit be affected by many plaintext digits. </a:t>
            </a:r>
          </a:p>
          <a:p>
            <a:pPr marL="457200" lvl="1" indent="-457200">
              <a:spcBef>
                <a:spcPts val="2400"/>
              </a:spcBef>
              <a:buClr>
                <a:schemeClr val="accent1">
                  <a:lumMod val="60000"/>
                  <a:lumOff val="40000"/>
                </a:schemeClr>
              </a:buClr>
            </a:pPr>
            <a:endParaRPr lang="en-US" sz="2000" dirty="0"/>
          </a:p>
          <a:p>
            <a:pPr marL="457200" lvl="1" indent="-457200">
              <a:spcBef>
                <a:spcPts val="2400"/>
              </a:spcBef>
              <a:buClr>
                <a:schemeClr val="accent1">
                  <a:lumMod val="60000"/>
                  <a:lumOff val="40000"/>
                </a:schemeClr>
              </a:buClr>
            </a:pPr>
            <a:endParaRPr lang="en-US" sz="2000" dirty="0"/>
          </a:p>
          <a:p>
            <a:pPr marL="457200" lvl="1" indent="-457200">
              <a:spcBef>
                <a:spcPts val="2400"/>
              </a:spcBef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sz="2000" dirty="0"/>
              <a:t>An example of diffusion is to encrypt a message </a:t>
            </a:r>
            <a:r>
              <a:rPr lang="en-US" sz="2000" dirty="0">
                <a:solidFill>
                  <a:srgbClr val="FF0000"/>
                </a:solidFill>
              </a:rPr>
              <a:t>M = m1, m2, m3, … </a:t>
            </a:r>
            <a:r>
              <a:rPr lang="en-US" sz="2000" dirty="0"/>
              <a:t>of characters with an averaging operation adding </a:t>
            </a:r>
            <a:r>
              <a:rPr lang="en-US" sz="2000" dirty="0">
                <a:solidFill>
                  <a:srgbClr val="FF0000"/>
                </a:solidFill>
              </a:rPr>
              <a:t>k successive </a:t>
            </a:r>
            <a:r>
              <a:rPr lang="en-US" sz="2000" dirty="0"/>
              <a:t>letters to get a ciphertext letter </a:t>
            </a:r>
            <a:r>
              <a:rPr lang="en-US" sz="2000" dirty="0" err="1">
                <a:solidFill>
                  <a:srgbClr val="FF0000"/>
                </a:solidFill>
              </a:rPr>
              <a:t>y</a:t>
            </a:r>
            <a:r>
              <a:rPr lang="en-US" sz="2000" baseline="-25000" dirty="0" err="1">
                <a:solidFill>
                  <a:srgbClr val="FF0000"/>
                </a:solidFill>
              </a:rPr>
              <a:t>n</a:t>
            </a:r>
            <a:r>
              <a:rPr lang="en-US" sz="2000" dirty="0"/>
              <a:t>.</a:t>
            </a:r>
          </a:p>
        </p:txBody>
      </p:sp>
      <p:pic>
        <p:nvPicPr>
          <p:cNvPr id="3" name="Picture 2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52B609FE-9BE3-BF2D-1BAE-F54B297EBB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3250" y="3195174"/>
            <a:ext cx="2857500" cy="78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1103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77813"/>
            <a:ext cx="8686800" cy="1139825"/>
          </a:xfrm>
        </p:spPr>
        <p:txBody>
          <a:bodyPr/>
          <a:lstStyle/>
          <a:p>
            <a:pPr eaLnBrk="1" hangingPunct="1">
              <a:defRPr/>
            </a:pPr>
            <a:r>
              <a:rPr lang="en-AU" dirty="0"/>
              <a:t>Claude Shannon </a:t>
            </a:r>
            <a:br>
              <a:rPr lang="en-AU" dirty="0"/>
            </a:br>
            <a:r>
              <a:rPr lang="en-AU" dirty="0"/>
              <a:t>confusion and diffusion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323528" y="1600201"/>
            <a:ext cx="8928992" cy="2692896"/>
          </a:xfrm>
        </p:spPr>
        <p:txBody>
          <a:bodyPr>
            <a:normAutofit/>
          </a:bodyPr>
          <a:lstStyle/>
          <a:p>
            <a:pPr marL="457200" lvl="1" indent="-457200">
              <a:spcBef>
                <a:spcPts val="2400"/>
              </a:spcBef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sz="2000" dirty="0"/>
              <a:t>With diffusion the </a:t>
            </a:r>
            <a:r>
              <a:rPr lang="en-US" sz="2000" dirty="0">
                <a:solidFill>
                  <a:srgbClr val="FF0000"/>
                </a:solidFill>
              </a:rPr>
              <a:t>distribution</a:t>
            </a:r>
            <a:r>
              <a:rPr lang="en-US" sz="2000" dirty="0"/>
              <a:t> of how often each letter appears in the ciphertext will be </a:t>
            </a:r>
            <a:r>
              <a:rPr lang="en-US" sz="2000" dirty="0">
                <a:solidFill>
                  <a:srgbClr val="FF0000"/>
                </a:solidFill>
              </a:rPr>
              <a:t>more uniform </a:t>
            </a:r>
            <a:r>
              <a:rPr lang="en-US" sz="2000" dirty="0"/>
              <a:t>compared to their distribution in the plaintext. Helps to </a:t>
            </a:r>
            <a:r>
              <a:rPr lang="en-US" sz="2000" dirty="0">
                <a:solidFill>
                  <a:srgbClr val="FF0000"/>
                </a:solidFill>
              </a:rPr>
              <a:t>prevent statistical crypto analysis with frequency distribution</a:t>
            </a:r>
            <a:r>
              <a:rPr lang="en-US" sz="2000" dirty="0"/>
              <a:t>.</a:t>
            </a:r>
          </a:p>
          <a:p>
            <a:pPr marL="457200" lvl="1" indent="-457200">
              <a:spcBef>
                <a:spcPts val="2400"/>
              </a:spcBef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sz="2000" dirty="0"/>
              <a:t>Example: plain text = HELLO WORLD  </a:t>
            </a:r>
          </a:p>
          <a:p>
            <a:pPr marL="806450" lvl="2" indent="-457200">
              <a:spcBef>
                <a:spcPts val="2400"/>
              </a:spcBef>
            </a:pPr>
            <a:r>
              <a:rPr lang="en-US" sz="2000" dirty="0"/>
              <a:t>Distribution is </a:t>
            </a:r>
            <a:r>
              <a:rPr lang="en-US" sz="2000" dirty="0">
                <a:solidFill>
                  <a:srgbClr val="FF0000"/>
                </a:solidFill>
              </a:rPr>
              <a:t>H: 1</a:t>
            </a:r>
            <a:r>
              <a:rPr lang="en-US" sz="2000" dirty="0"/>
              <a:t>, E: 1, </a:t>
            </a:r>
            <a:r>
              <a:rPr lang="en-US" sz="2000" dirty="0">
                <a:solidFill>
                  <a:srgbClr val="FF0000"/>
                </a:solidFill>
              </a:rPr>
              <a:t>L: 3</a:t>
            </a:r>
            <a:r>
              <a:rPr lang="en-US" sz="2000" dirty="0"/>
              <a:t>, O: 2, W: 1, R: 1, D: 1</a:t>
            </a:r>
          </a:p>
        </p:txBody>
      </p:sp>
      <p:pic>
        <p:nvPicPr>
          <p:cNvPr id="5" name="Picture 4" descr="A table of numbers with black text&#10;&#10;Description automatically generated">
            <a:extLst>
              <a:ext uri="{FF2B5EF4-FFF2-40B4-BE49-F238E27FC236}">
                <a16:creationId xmlns:a16="http://schemas.microsoft.com/office/drawing/2014/main" id="{212FA160-7D87-EEBF-06F8-C09065E8BA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6491" y="4482724"/>
            <a:ext cx="5419948" cy="2375276"/>
          </a:xfrm>
          <a:prstGeom prst="rect">
            <a:avLst/>
          </a:prstGeom>
        </p:spPr>
      </p:pic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E759411E-9028-973A-F6A9-E6B0348ACFFA}"/>
              </a:ext>
            </a:extLst>
          </p:cNvPr>
          <p:cNvSpPr txBox="1">
            <a:spLocks/>
          </p:cNvSpPr>
          <p:nvPr/>
        </p:nvSpPr>
        <p:spPr>
          <a:xfrm>
            <a:off x="227401" y="4424082"/>
            <a:ext cx="3600400" cy="48678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ts val="2400"/>
              </a:spcBef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 sz="2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336550" algn="l" defTabSz="914400" rtl="0" eaLnBrk="1" latinLnBrk="0" hangingPunct="1">
              <a:spcBef>
                <a:spcPts val="600"/>
              </a:spcBef>
              <a:buClr>
                <a:schemeClr val="tx2"/>
              </a:buClr>
              <a:buFont typeface="Candara" pitchFamily="34" charset="0"/>
              <a:buChar char="•"/>
              <a:defRPr sz="2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035050" indent="-34925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-336550" algn="l" defTabSz="914400" rtl="0" eaLnBrk="1" latinLnBrk="0" hangingPunct="1">
              <a:spcBef>
                <a:spcPts val="600"/>
              </a:spcBef>
              <a:buClr>
                <a:schemeClr val="tx2"/>
              </a:buClr>
              <a:buFont typeface="Candara" pitchFamily="34" charset="0"/>
              <a:buChar char="•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720850" indent="-34925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-457200" fontAlgn="auto">
              <a:spcBef>
                <a:spcPts val="2400"/>
              </a:spcBef>
              <a:spcAft>
                <a:spcPts val="0"/>
              </a:spcAft>
            </a:pPr>
            <a:r>
              <a:rPr lang="en-US" sz="2000" dirty="0"/>
              <a:t>Encrypted HJMQSO</a:t>
            </a:r>
          </a:p>
          <a:p>
            <a:pPr marL="806450" lvl="2" indent="-457200" fontAlgn="auto">
              <a:spcBef>
                <a:spcPts val="2400"/>
              </a:spcBef>
              <a:spcAft>
                <a:spcPts val="0"/>
              </a:spcAft>
            </a:pPr>
            <a:r>
              <a:rPr lang="en-US" sz="2000" dirty="0"/>
              <a:t>Distribution: H:1, J:1, M:1, Q:1, S:1, O:1 </a:t>
            </a:r>
          </a:p>
          <a:p>
            <a:pPr marL="806450" lvl="2" indent="-457200" fontAlgn="auto">
              <a:spcBef>
                <a:spcPts val="2400"/>
              </a:spcBef>
              <a:spcAft>
                <a:spcPts val="0"/>
              </a:spcAft>
            </a:pPr>
            <a:r>
              <a:rPr lang="en-US" sz="2000" dirty="0"/>
              <a:t>More uniform</a:t>
            </a:r>
          </a:p>
        </p:txBody>
      </p:sp>
    </p:spTree>
    <p:extLst>
      <p:ext uri="{BB962C8B-B14F-4D97-AF65-F5344CB8AC3E}">
        <p14:creationId xmlns:p14="http://schemas.microsoft.com/office/powerpoint/2010/main" val="36746109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77813"/>
            <a:ext cx="4055368" cy="1139825"/>
          </a:xfrm>
        </p:spPr>
        <p:txBody>
          <a:bodyPr/>
          <a:lstStyle/>
          <a:p>
            <a:pPr eaLnBrk="1" hangingPunct="1">
              <a:defRPr/>
            </a:pPr>
            <a:r>
              <a:rPr lang="en-AU" dirty="0"/>
              <a:t>Feistel Cipher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395536" y="1676781"/>
            <a:ext cx="3744416" cy="4867835"/>
          </a:xfrm>
        </p:spPr>
        <p:txBody>
          <a:bodyPr>
            <a:normAutofit/>
          </a:bodyPr>
          <a:lstStyle/>
          <a:p>
            <a:r>
              <a:rPr lang="en-US" sz="2000" dirty="0"/>
              <a:t>Feistel proposed the use of a cipher that alternates substitutions (Confusion) and permutations (Diffusion).</a:t>
            </a:r>
          </a:p>
          <a:p>
            <a:endParaRPr lang="en-US" sz="2000" dirty="0"/>
          </a:p>
          <a:p>
            <a:r>
              <a:rPr lang="en-US" sz="2000" dirty="0"/>
              <a:t>Permutation: No elements are added or deleted or replaced in the sequence, rather the order in which the elements appear in the sequence is changed</a:t>
            </a:r>
          </a:p>
          <a:p>
            <a:endParaRPr lang="en-US" sz="2000" dirty="0"/>
          </a:p>
        </p:txBody>
      </p:sp>
      <p:pic>
        <p:nvPicPr>
          <p:cNvPr id="7" name="Picture 6" descr="A white surface with small spots&#10;&#10;Description automatically generated">
            <a:extLst>
              <a:ext uri="{FF2B5EF4-FFF2-40B4-BE49-F238E27FC236}">
                <a16:creationId xmlns:a16="http://schemas.microsoft.com/office/drawing/2014/main" id="{F6909A88-757C-1F16-F6BF-A7C6222AAD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2618" y="0"/>
            <a:ext cx="5121381" cy="2336800"/>
          </a:xfrm>
          <a:prstGeom prst="rect">
            <a:avLst/>
          </a:prstGeom>
        </p:spPr>
      </p:pic>
      <p:pic>
        <p:nvPicPr>
          <p:cNvPr id="2" name="Picture 1" descr="f03.pdf">
            <a:extLst>
              <a:ext uri="{FF2B5EF4-FFF2-40B4-BE49-F238E27FC236}">
                <a16:creationId xmlns:a16="http://schemas.microsoft.com/office/drawing/2014/main" id="{D9A11CE8-1461-0EC6-2B12-7B0DAD5F5BC3}"/>
              </a:ext>
            </a:extLst>
          </p:cNvPr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4"/>
              <a:stretch>
                <a:fillRect/>
              </a:stretch>
            </p:blipFill>
          </mc:Choice>
          <mc:Fallback>
            <p:blipFill>
              <a:blip r:embed="rId5"/>
              <a:stretch>
                <a:fillRect/>
              </a:stretch>
            </p:blipFill>
          </mc:Fallback>
        </mc:AlternateContent>
        <p:spPr>
          <a:xfrm>
            <a:off x="3932684" y="-170329"/>
            <a:ext cx="5562600" cy="719865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03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3995936" y="-99392"/>
            <a:ext cx="5562600" cy="7198658"/>
          </a:xfrm>
          <a:prstGeom prst="rect">
            <a:avLst/>
          </a:prstGeom>
        </p:spPr>
      </p:pic>
      <p:pic>
        <p:nvPicPr>
          <p:cNvPr id="3" name="Picture 2" descr="A screenshot of a math test&#10;&#10;Description automatically generated">
            <a:extLst>
              <a:ext uri="{FF2B5EF4-FFF2-40B4-BE49-F238E27FC236}">
                <a16:creationId xmlns:a16="http://schemas.microsoft.com/office/drawing/2014/main" id="{D89A3B15-B548-B7FA-6323-2B357CDA36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980728"/>
            <a:ext cx="4450712" cy="4568552"/>
          </a:xfrm>
          <a:prstGeom prst="rect">
            <a:avLst/>
          </a:prstGeom>
        </p:spPr>
      </p:pic>
    </p:spTree>
  </p:cSld>
  <p:clrMapOvr>
    <a:masterClrMapping/>
  </p:clrMapOvr>
  <p:transition>
    <p:dissolv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03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4139952" y="12032"/>
            <a:ext cx="5562600" cy="7198658"/>
          </a:xfrm>
          <a:prstGeom prst="rect">
            <a:avLst/>
          </a:prstGeom>
        </p:spPr>
      </p:pic>
      <p:pic>
        <p:nvPicPr>
          <p:cNvPr id="4" name="Picture 3" descr="A screenshot of a white sheet&#10;&#10;Description automatically generated">
            <a:extLst>
              <a:ext uri="{FF2B5EF4-FFF2-40B4-BE49-F238E27FC236}">
                <a16:creationId xmlns:a16="http://schemas.microsoft.com/office/drawing/2014/main" id="{3D65DDCA-64B1-3687-87A4-6CCF99DAA4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04664"/>
            <a:ext cx="4597578" cy="426030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2E40E72-855F-F611-BD1F-C7084E6DE5F7}"/>
              </a:ext>
            </a:extLst>
          </p:cNvPr>
          <p:cNvSpPr txBox="1"/>
          <p:nvPr/>
        </p:nvSpPr>
        <p:spPr>
          <a:xfrm>
            <a:off x="395536" y="5282750"/>
            <a:ext cx="40324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n-lt"/>
              </a:rPr>
              <a:t>Note: K</a:t>
            </a:r>
            <a:r>
              <a:rPr lang="en-US" baseline="-25000" dirty="0">
                <a:latin typeface="+mn-lt"/>
              </a:rPr>
              <a:t>i </a:t>
            </a:r>
            <a:r>
              <a:rPr lang="en-US" dirty="0">
                <a:latin typeface="+mn-lt"/>
              </a:rPr>
              <a:t>in reverse order. That is, use </a:t>
            </a:r>
            <a:r>
              <a:rPr lang="en-US" dirty="0" err="1">
                <a:latin typeface="+mn-lt"/>
              </a:rPr>
              <a:t>K</a:t>
            </a:r>
            <a:r>
              <a:rPr lang="en-US" baseline="-25000" dirty="0" err="1">
                <a:latin typeface="+mn-lt"/>
              </a:rPr>
              <a:t>n</a:t>
            </a:r>
            <a:r>
              <a:rPr lang="en-US" dirty="0">
                <a:latin typeface="+mn-lt"/>
              </a:rPr>
              <a:t> in the first round, K</a:t>
            </a:r>
            <a:r>
              <a:rPr lang="en-US" baseline="-25000" dirty="0">
                <a:latin typeface="+mn-lt"/>
              </a:rPr>
              <a:t>n-1</a:t>
            </a:r>
            <a:r>
              <a:rPr lang="en-US" dirty="0">
                <a:latin typeface="+mn-lt"/>
              </a:rPr>
              <a:t> in the second round, and so on, until K</a:t>
            </a:r>
            <a:r>
              <a:rPr lang="en-US" baseline="-25000" dirty="0">
                <a:latin typeface="+mn-lt"/>
              </a:rPr>
              <a:t>1</a:t>
            </a:r>
            <a:r>
              <a:rPr lang="en-US" dirty="0">
                <a:latin typeface="+mn-lt"/>
              </a:rPr>
              <a:t> is used in the last round.</a:t>
            </a:r>
          </a:p>
        </p:txBody>
      </p:sp>
    </p:spTree>
    <p:extLst>
      <p:ext uri="{BB962C8B-B14F-4D97-AF65-F5344CB8AC3E}">
        <p14:creationId xmlns:p14="http://schemas.microsoft.com/office/powerpoint/2010/main" val="3790118944"/>
      </p:ext>
    </p:extLst>
  </p:cSld>
  <p:clrMapOvr>
    <a:masterClrMapping/>
  </p:clrMapOvr>
  <p:transition>
    <p:dissolv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40341"/>
            <a:ext cx="9144000" cy="1411941"/>
          </a:xfrm>
        </p:spPr>
        <p:txBody>
          <a:bodyPr/>
          <a:lstStyle/>
          <a:p>
            <a:pPr eaLnBrk="1" hangingPunct="1">
              <a:defRPr/>
            </a:pPr>
            <a:r>
              <a:rPr lang="en-AU" dirty="0"/>
              <a:t>Feistel Cipher Design Features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539552" y="1772816"/>
            <a:ext cx="8359080" cy="4953000"/>
          </a:xfrm>
        </p:spPr>
        <p:txBody>
          <a:bodyPr>
            <a:noAutofit/>
          </a:bodyPr>
          <a:lstStyle/>
          <a:p>
            <a:r>
              <a:rPr lang="en-US" sz="2000" b="1" dirty="0"/>
              <a:t>Block/key size: </a:t>
            </a:r>
            <a:r>
              <a:rPr lang="en-US" sz="2000" dirty="0"/>
              <a:t>Larger block/key sizes mean greater security but reduced encryption/decryption speed for a given algorithm</a:t>
            </a:r>
          </a:p>
          <a:p>
            <a:r>
              <a:rPr lang="en-US" sz="2000" b="1" dirty="0"/>
              <a:t>Number of rounds:</a:t>
            </a:r>
            <a:r>
              <a:rPr lang="en-US" sz="2000" dirty="0"/>
              <a:t> The essence of the Feistel cipher is that a single round offers inadequate security but that multiple rounds offer increasing security.</a:t>
            </a:r>
          </a:p>
          <a:p>
            <a:r>
              <a:rPr lang="en-US" sz="2000" b="1" dirty="0"/>
              <a:t>Subkey generation algorithm: </a:t>
            </a:r>
            <a:r>
              <a:rPr lang="en-US" sz="2000" dirty="0"/>
              <a:t>Greater complexity in this algorithm should lead to greater difficulty of cryptanalysis.</a:t>
            </a:r>
          </a:p>
          <a:p>
            <a:r>
              <a:rPr lang="en-US" sz="2000" b="1" dirty="0"/>
              <a:t>Round function F: </a:t>
            </a:r>
            <a:r>
              <a:rPr lang="en-US" sz="2000" dirty="0"/>
              <a:t>Greater complexity generally means greater resistance to cryptanalysis.</a:t>
            </a:r>
          </a:p>
          <a:p>
            <a:endParaRPr lang="en-US" sz="2000" dirty="0"/>
          </a:p>
          <a:p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-up of a book&#10;&#10;Description automatically generated">
            <a:extLst>
              <a:ext uri="{FF2B5EF4-FFF2-40B4-BE49-F238E27FC236}">
                <a16:creationId xmlns:a16="http://schemas.microsoft.com/office/drawing/2014/main" id="{7107F125-99FC-0764-69A2-FB2ECC5B60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0"/>
            <a:ext cx="7045249" cy="6858000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7EBDDFD7-C717-CDEA-4F51-ED771D57D9AF}"/>
              </a:ext>
            </a:extLst>
          </p:cNvPr>
          <p:cNvSpPr/>
          <p:nvPr/>
        </p:nvSpPr>
        <p:spPr>
          <a:xfrm>
            <a:off x="1805682" y="3140968"/>
            <a:ext cx="3270373" cy="1656184"/>
          </a:xfrm>
          <a:prstGeom prst="ellipse">
            <a:avLst/>
          </a:prstGeom>
          <a:noFill/>
          <a:ln>
            <a:solidFill>
              <a:srgbClr val="FF0000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25039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AU" sz="4000" dirty="0"/>
              <a:t>Data Encryption Standard (DES)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762000" y="1828800"/>
            <a:ext cx="7772400" cy="4715435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Issued in 1977 by the National Bureau of Standards (now NIST) as Federal Information Processing Standard.</a:t>
            </a:r>
          </a:p>
          <a:p>
            <a:r>
              <a:rPr lang="en-US" dirty="0"/>
              <a:t>Was the most widely used encryption scheme until the introduction of the Advanced Encryption Standard (AES) in 2001.</a:t>
            </a:r>
          </a:p>
          <a:p>
            <a:r>
              <a:rPr lang="en-US" dirty="0"/>
              <a:t>Algorithm itself is referred to as the Data Encryption Algorithm (DEA).</a:t>
            </a:r>
          </a:p>
          <a:p>
            <a:pPr lvl="1"/>
            <a:r>
              <a:rPr lang="en-US" dirty="0"/>
              <a:t>Data are encrypted in 64-bit blocks using a 56-bit key.</a:t>
            </a:r>
          </a:p>
          <a:p>
            <a:pPr lvl="1"/>
            <a:r>
              <a:rPr lang="en-US" dirty="0"/>
              <a:t>The algorithm transforms 64-bit input in a series of steps into a 64-bit output.</a:t>
            </a:r>
          </a:p>
          <a:p>
            <a:pPr lvl="1"/>
            <a:r>
              <a:rPr lang="en-US" dirty="0"/>
              <a:t>The same steps, with the same key, are used to reverse the encryption.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AU" sz="4000" dirty="0"/>
              <a:t>Data Encryption Standard (DES)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BF29BB-400A-7BE0-8F35-8AF7270516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2162" y="1761565"/>
            <a:ext cx="3536285" cy="4289611"/>
          </a:xfrm>
        </p:spPr>
        <p:txBody>
          <a:bodyPr/>
          <a:lstStyle/>
          <a:p>
            <a:r>
              <a:rPr lang="en-US" sz="2000" dirty="0">
                <a:hlinkClick r:id="rId3"/>
              </a:rPr>
              <a:t>https://page.math.tu-berlin.de/~kant/teaching/hess/krypto-ws2006/des.htm</a:t>
            </a:r>
            <a:endParaRPr lang="en-US" sz="20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 descr="A diagram of a data encryption standard&#10;&#10;Description automatically generated">
            <a:extLst>
              <a:ext uri="{FF2B5EF4-FFF2-40B4-BE49-F238E27FC236}">
                <a16:creationId xmlns:a16="http://schemas.microsoft.com/office/drawing/2014/main" id="{A9BF283B-EE47-64D0-D2BF-3530736F44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5554" y="1486525"/>
            <a:ext cx="4328446" cy="5408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6944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3F4152-D8AC-47FE-57E6-C3C13CCCEC67}"/>
              </a:ext>
            </a:extLst>
          </p:cNvPr>
          <p:cNvSpPr txBox="1">
            <a:spLocks/>
          </p:cNvSpPr>
          <p:nvPr/>
        </p:nvSpPr>
        <p:spPr>
          <a:xfrm>
            <a:off x="0" y="260648"/>
            <a:ext cx="8820472" cy="79208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ts val="2400"/>
              </a:spcBef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 sz="2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336550" algn="l" defTabSz="914400" rtl="0" eaLnBrk="1" latinLnBrk="0" hangingPunct="1">
              <a:spcBef>
                <a:spcPts val="600"/>
              </a:spcBef>
              <a:buClr>
                <a:schemeClr val="tx2"/>
              </a:buClr>
              <a:buFont typeface="Candara" pitchFamily="34" charset="0"/>
              <a:buChar char="•"/>
              <a:defRPr sz="2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035050" indent="-34925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-336550" algn="l" defTabSz="914400" rtl="0" eaLnBrk="1" latinLnBrk="0" hangingPunct="1">
              <a:spcBef>
                <a:spcPts val="600"/>
              </a:spcBef>
              <a:buClr>
                <a:schemeClr val="tx2"/>
              </a:buClr>
              <a:buFont typeface="Candara" pitchFamily="34" charset="0"/>
              <a:buChar char="•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720850" indent="-34925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lang="en-US" sz="2000" b="1" dirty="0"/>
              <a:t>Avalanche effect:  </a:t>
            </a:r>
            <a:r>
              <a:rPr lang="en-US" sz="2000" dirty="0"/>
              <a:t>a change in one bit of the plaintext or one bit of the key should produce a change in many bits of the ciphertext. </a:t>
            </a:r>
          </a:p>
        </p:txBody>
      </p:sp>
      <p:pic>
        <p:nvPicPr>
          <p:cNvPr id="7" name="Picture 6" descr="A group of numbers on a white background&#10;&#10;Description automatically generated">
            <a:extLst>
              <a:ext uri="{FF2B5EF4-FFF2-40B4-BE49-F238E27FC236}">
                <a16:creationId xmlns:a16="http://schemas.microsoft.com/office/drawing/2014/main" id="{30775310-B903-D3B0-ACF1-D10EEC61BF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1412776"/>
            <a:ext cx="3683000" cy="1181100"/>
          </a:xfrm>
          <a:prstGeom prst="rect">
            <a:avLst/>
          </a:prstGeom>
        </p:spPr>
      </p:pic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74ED7FC0-9A73-F2DA-B155-FA28484D558D}"/>
              </a:ext>
            </a:extLst>
          </p:cNvPr>
          <p:cNvSpPr txBox="1">
            <a:spLocks/>
          </p:cNvSpPr>
          <p:nvPr/>
        </p:nvSpPr>
        <p:spPr>
          <a:xfrm>
            <a:off x="4283968" y="1419863"/>
            <a:ext cx="5472608" cy="79208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ts val="2400"/>
              </a:spcBef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 sz="2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336550" algn="l" defTabSz="914400" rtl="0" eaLnBrk="1" latinLnBrk="0" hangingPunct="1">
              <a:spcBef>
                <a:spcPts val="600"/>
              </a:spcBef>
              <a:buClr>
                <a:schemeClr val="tx2"/>
              </a:buClr>
              <a:buFont typeface="Candara" pitchFamily="34" charset="0"/>
              <a:buChar char="•"/>
              <a:defRPr sz="2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035050" indent="-34925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-336550" algn="l" defTabSz="914400" rtl="0" eaLnBrk="1" latinLnBrk="0" hangingPunct="1">
              <a:spcBef>
                <a:spcPts val="600"/>
              </a:spcBef>
              <a:buClr>
                <a:schemeClr val="tx2"/>
              </a:buClr>
              <a:buFont typeface="Candara" pitchFamily="34" charset="0"/>
              <a:buChar char="•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720850" indent="-34925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lang="en-US" sz="2000" dirty="0"/>
              <a:t>We change single bit in plaintext and input becomes 12468aceeca86420</a:t>
            </a:r>
          </a:p>
        </p:txBody>
      </p:sp>
      <p:pic>
        <p:nvPicPr>
          <p:cNvPr id="10" name="Picture 9" descr="A table of numbers and letters&#10;&#10;Description automatically generated">
            <a:extLst>
              <a:ext uri="{FF2B5EF4-FFF2-40B4-BE49-F238E27FC236}">
                <a16:creationId xmlns:a16="http://schemas.microsoft.com/office/drawing/2014/main" id="{29A07564-89F6-1C0B-45D8-DB27AF9101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9832" y="2631249"/>
            <a:ext cx="5976664" cy="4201716"/>
          </a:xfrm>
          <a:prstGeom prst="rect">
            <a:avLst/>
          </a:prstGeom>
        </p:spPr>
      </p:pic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DC319809-AF4E-CA38-8391-A06418A75ED3}"/>
              </a:ext>
            </a:extLst>
          </p:cNvPr>
          <p:cNvSpPr txBox="1">
            <a:spLocks/>
          </p:cNvSpPr>
          <p:nvPr/>
        </p:nvSpPr>
        <p:spPr>
          <a:xfrm>
            <a:off x="114218" y="3212976"/>
            <a:ext cx="2801597" cy="2405235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ts val="2400"/>
              </a:spcBef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 sz="2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336550" algn="l" defTabSz="914400" rtl="0" eaLnBrk="1" latinLnBrk="0" hangingPunct="1">
              <a:spcBef>
                <a:spcPts val="600"/>
              </a:spcBef>
              <a:buClr>
                <a:schemeClr val="tx2"/>
              </a:buClr>
              <a:buFont typeface="Candara" pitchFamily="34" charset="0"/>
              <a:buChar char="•"/>
              <a:defRPr sz="2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035050" indent="-34925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-336550" algn="l" defTabSz="914400" rtl="0" eaLnBrk="1" latinLnBrk="0" hangingPunct="1">
              <a:spcBef>
                <a:spcPts val="600"/>
              </a:spcBef>
              <a:buClr>
                <a:schemeClr val="tx2"/>
              </a:buClr>
              <a:buFont typeface="Candara" pitchFamily="34" charset="0"/>
              <a:buChar char="•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720850" indent="-34925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lang="en-US" sz="2000" dirty="0"/>
              <a:t>The </a:t>
            </a:r>
            <a:r>
              <a:rPr lang="en-US" sz="2000" dirty="0">
                <a:solidFill>
                  <a:srgbClr val="FF0000"/>
                </a:solidFill>
              </a:rPr>
              <a:t>2nd column </a:t>
            </a:r>
            <a:r>
              <a:rPr lang="en-US" sz="2000" dirty="0"/>
              <a:t>of the table shows the </a:t>
            </a:r>
            <a:r>
              <a:rPr lang="en-US" sz="2000" dirty="0">
                <a:solidFill>
                  <a:srgbClr val="FF0000"/>
                </a:solidFill>
              </a:rPr>
              <a:t>intermediate 64-bit </a:t>
            </a:r>
            <a:r>
              <a:rPr lang="en-US" sz="2000" dirty="0"/>
              <a:t>values at the end of each round for the </a:t>
            </a:r>
            <a:r>
              <a:rPr lang="en-US" sz="2000" dirty="0">
                <a:solidFill>
                  <a:srgbClr val="FF0000"/>
                </a:solidFill>
              </a:rPr>
              <a:t>two plaintexts. 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lang="en-US" sz="2000" dirty="0"/>
              <a:t>The </a:t>
            </a:r>
            <a:r>
              <a:rPr lang="en-US" sz="2000" dirty="0">
                <a:solidFill>
                  <a:srgbClr val="FF0000"/>
                </a:solidFill>
              </a:rPr>
              <a:t>3rd column </a:t>
            </a:r>
            <a:r>
              <a:rPr lang="en-US" sz="2000" dirty="0"/>
              <a:t>shows the </a:t>
            </a:r>
            <a:r>
              <a:rPr lang="en-US" sz="2000" dirty="0">
                <a:solidFill>
                  <a:srgbClr val="FF0000"/>
                </a:solidFill>
              </a:rPr>
              <a:t>number of bits </a:t>
            </a:r>
            <a:r>
              <a:rPr lang="en-US" sz="2000" dirty="0"/>
              <a:t>that </a:t>
            </a:r>
            <a:r>
              <a:rPr lang="en-US" sz="2000" dirty="0">
                <a:solidFill>
                  <a:srgbClr val="FF0000"/>
                </a:solidFill>
              </a:rPr>
              <a:t>differ</a:t>
            </a:r>
            <a:r>
              <a:rPr lang="en-US" sz="2000" dirty="0"/>
              <a:t> between the two intermediate values. </a:t>
            </a:r>
          </a:p>
        </p:txBody>
      </p:sp>
    </p:spTree>
    <p:extLst>
      <p:ext uri="{BB962C8B-B14F-4D97-AF65-F5344CB8AC3E}">
        <p14:creationId xmlns:p14="http://schemas.microsoft.com/office/powerpoint/2010/main" val="2728503860"/>
      </p:ext>
    </p:extLst>
  </p:cSld>
  <p:clrMapOvr>
    <a:masterClrMapping/>
  </p:clrMapOvr>
  <p:transition spd="med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3F4152-D8AC-47FE-57E6-C3C13CCCEC67}"/>
              </a:ext>
            </a:extLst>
          </p:cNvPr>
          <p:cNvSpPr txBox="1">
            <a:spLocks/>
          </p:cNvSpPr>
          <p:nvPr/>
        </p:nvSpPr>
        <p:spPr>
          <a:xfrm>
            <a:off x="0" y="260648"/>
            <a:ext cx="8820472" cy="79208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ts val="2400"/>
              </a:spcBef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 sz="2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336550" algn="l" defTabSz="914400" rtl="0" eaLnBrk="1" latinLnBrk="0" hangingPunct="1">
              <a:spcBef>
                <a:spcPts val="600"/>
              </a:spcBef>
              <a:buClr>
                <a:schemeClr val="tx2"/>
              </a:buClr>
              <a:buFont typeface="Candara" pitchFamily="34" charset="0"/>
              <a:buChar char="•"/>
              <a:defRPr sz="2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035050" indent="-34925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-336550" algn="l" defTabSz="914400" rtl="0" eaLnBrk="1" latinLnBrk="0" hangingPunct="1">
              <a:spcBef>
                <a:spcPts val="600"/>
              </a:spcBef>
              <a:buClr>
                <a:schemeClr val="tx2"/>
              </a:buClr>
              <a:buFont typeface="Candara" pitchFamily="34" charset="0"/>
              <a:buChar char="•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720850" indent="-34925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lang="en-US" sz="2000" b="1" dirty="0"/>
              <a:t>Avalanche effect:  </a:t>
            </a:r>
            <a:r>
              <a:rPr lang="en-US" sz="2000" dirty="0"/>
              <a:t>a change in one bit of the plaintext or one bit of the key should produce a change in many bits of the ciphertext. </a:t>
            </a:r>
          </a:p>
        </p:txBody>
      </p:sp>
      <p:pic>
        <p:nvPicPr>
          <p:cNvPr id="7" name="Picture 6" descr="A group of numbers on a white background&#10;&#10;Description automatically generated">
            <a:extLst>
              <a:ext uri="{FF2B5EF4-FFF2-40B4-BE49-F238E27FC236}">
                <a16:creationId xmlns:a16="http://schemas.microsoft.com/office/drawing/2014/main" id="{30775310-B903-D3B0-ACF1-D10EEC61BF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1412776"/>
            <a:ext cx="3683000" cy="1181100"/>
          </a:xfrm>
          <a:prstGeom prst="rect">
            <a:avLst/>
          </a:prstGeom>
        </p:spPr>
      </p:pic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74ED7FC0-9A73-F2DA-B155-FA28484D558D}"/>
              </a:ext>
            </a:extLst>
          </p:cNvPr>
          <p:cNvSpPr txBox="1">
            <a:spLocks/>
          </p:cNvSpPr>
          <p:nvPr/>
        </p:nvSpPr>
        <p:spPr>
          <a:xfrm>
            <a:off x="4283968" y="1419863"/>
            <a:ext cx="4902810" cy="79208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ts val="2400"/>
              </a:spcBef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 sz="2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336550" algn="l" defTabSz="914400" rtl="0" eaLnBrk="1" latinLnBrk="0" hangingPunct="1">
              <a:spcBef>
                <a:spcPts val="600"/>
              </a:spcBef>
              <a:buClr>
                <a:schemeClr val="tx2"/>
              </a:buClr>
              <a:buFont typeface="Candara" pitchFamily="34" charset="0"/>
              <a:buChar char="•"/>
              <a:defRPr sz="2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035050" indent="-34925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-336550" algn="l" defTabSz="914400" rtl="0" eaLnBrk="1" latinLnBrk="0" hangingPunct="1">
              <a:spcBef>
                <a:spcPts val="600"/>
              </a:spcBef>
              <a:buClr>
                <a:schemeClr val="tx2"/>
              </a:buClr>
              <a:buFont typeface="Candara" pitchFamily="34" charset="0"/>
              <a:buChar char="•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720850" indent="-34925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lang="en-US" sz="2000" dirty="0"/>
              <a:t>We change single bit in key and </a:t>
            </a:r>
            <a:r>
              <a:rPr lang="en-US" sz="2000" dirty="0">
                <a:solidFill>
                  <a:srgbClr val="FF0000"/>
                </a:solidFill>
              </a:rPr>
              <a:t>key becomes</a:t>
            </a:r>
            <a:r>
              <a:rPr lang="en-US" sz="2000" dirty="0"/>
              <a:t> 1f1571c947d9e859</a:t>
            </a:r>
          </a:p>
        </p:txBody>
      </p:sp>
      <p:pic>
        <p:nvPicPr>
          <p:cNvPr id="3" name="Picture 2" descr="A table of numbers and letters&#10;&#10;Description automatically generated">
            <a:extLst>
              <a:ext uri="{FF2B5EF4-FFF2-40B4-BE49-F238E27FC236}">
                <a16:creationId xmlns:a16="http://schemas.microsoft.com/office/drawing/2014/main" id="{16358A0B-251C-87D6-CF3E-A3F5EBF37F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7863" y="2653981"/>
            <a:ext cx="5838915" cy="4204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56951"/>
      </p:ext>
    </p:extLst>
  </p:cSld>
  <p:clrMapOvr>
    <a:masterClrMapping/>
  </p:clrMapOvr>
  <p:transition spd="med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-up of a book&#10;&#10;Description automatically generated">
            <a:extLst>
              <a:ext uri="{FF2B5EF4-FFF2-40B4-BE49-F238E27FC236}">
                <a16:creationId xmlns:a16="http://schemas.microsoft.com/office/drawing/2014/main" id="{7107F125-99FC-0764-69A2-FB2ECC5B60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0"/>
            <a:ext cx="7045249" cy="6858000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7EBDDFD7-C717-CDEA-4F51-ED771D57D9AF}"/>
              </a:ext>
            </a:extLst>
          </p:cNvPr>
          <p:cNvSpPr/>
          <p:nvPr/>
        </p:nvSpPr>
        <p:spPr>
          <a:xfrm>
            <a:off x="1835696" y="4653136"/>
            <a:ext cx="3270373" cy="1152128"/>
          </a:xfrm>
          <a:prstGeom prst="ellipse">
            <a:avLst/>
          </a:prstGeom>
          <a:noFill/>
          <a:ln>
            <a:solidFill>
              <a:srgbClr val="FF0000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67900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2B6E5950-514E-CE19-F9B6-95361CA457AF}"/>
              </a:ext>
            </a:extLst>
          </p:cNvPr>
          <p:cNvSpPr txBox="1">
            <a:spLocks/>
          </p:cNvSpPr>
          <p:nvPr/>
        </p:nvSpPr>
        <p:spPr>
          <a:xfrm>
            <a:off x="34989" y="188640"/>
            <a:ext cx="7704856" cy="2405235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ts val="2400"/>
              </a:spcBef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 sz="2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336550" algn="l" defTabSz="914400" rtl="0" eaLnBrk="1" latinLnBrk="0" hangingPunct="1">
              <a:spcBef>
                <a:spcPts val="600"/>
              </a:spcBef>
              <a:buClr>
                <a:schemeClr val="tx2"/>
              </a:buClr>
              <a:buFont typeface="Candara" pitchFamily="34" charset="0"/>
              <a:buChar char="•"/>
              <a:defRPr sz="2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035050" indent="-34925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-336550" algn="l" defTabSz="914400" rtl="0" eaLnBrk="1" latinLnBrk="0" hangingPunct="1">
              <a:spcBef>
                <a:spcPts val="600"/>
              </a:spcBef>
              <a:buClr>
                <a:schemeClr val="tx2"/>
              </a:buClr>
              <a:buFont typeface="Candara" pitchFamily="34" charset="0"/>
              <a:buChar char="•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720850" indent="-34925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lang="en-US" sz="2000" b="1" dirty="0"/>
              <a:t>THE STRENGTH OF DES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4FA8E30A-BD88-07CE-3113-7733B903F0A8}"/>
              </a:ext>
            </a:extLst>
          </p:cNvPr>
          <p:cNvSpPr txBox="1">
            <a:spLocks/>
          </p:cNvSpPr>
          <p:nvPr/>
        </p:nvSpPr>
        <p:spPr>
          <a:xfrm>
            <a:off x="0" y="692696"/>
            <a:ext cx="8784976" cy="4918517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ts val="2400"/>
              </a:spcBef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 sz="2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336550" algn="l" defTabSz="914400" rtl="0" eaLnBrk="1" latinLnBrk="0" hangingPunct="1">
              <a:spcBef>
                <a:spcPts val="600"/>
              </a:spcBef>
              <a:buClr>
                <a:schemeClr val="tx2"/>
              </a:buClr>
              <a:buFont typeface="Candara" pitchFamily="34" charset="0"/>
              <a:buChar char="•"/>
              <a:defRPr sz="2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035050" indent="-34925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-336550" algn="l" defTabSz="914400" rtl="0" eaLnBrk="1" latinLnBrk="0" hangingPunct="1">
              <a:spcBef>
                <a:spcPts val="600"/>
              </a:spcBef>
              <a:buClr>
                <a:schemeClr val="tx2"/>
              </a:buClr>
              <a:buFont typeface="Candara" pitchFamily="34" charset="0"/>
              <a:buChar char="•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720850" indent="-34925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lang="en-US" sz="2000" dirty="0"/>
              <a:t>Two concerns: key size and the nature of the algorithm.</a:t>
            </a:r>
          </a:p>
        </p:txBody>
      </p:sp>
      <p:pic>
        <p:nvPicPr>
          <p:cNvPr id="9" name="Picture 8" descr="A table with numbers and symbols&#10;&#10;Description automatically generated">
            <a:extLst>
              <a:ext uri="{FF2B5EF4-FFF2-40B4-BE49-F238E27FC236}">
                <a16:creationId xmlns:a16="http://schemas.microsoft.com/office/drawing/2014/main" id="{B6202CF2-215B-578B-59B0-008BC59BF1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26429"/>
            <a:ext cx="7772400" cy="3243326"/>
          </a:xfrm>
          <a:prstGeom prst="rect">
            <a:avLst/>
          </a:prstGeom>
        </p:spPr>
      </p:pic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B411C857-387D-3B4C-9728-BB49B176D616}"/>
              </a:ext>
            </a:extLst>
          </p:cNvPr>
          <p:cNvSpPr txBox="1">
            <a:spLocks/>
          </p:cNvSpPr>
          <p:nvPr/>
        </p:nvSpPr>
        <p:spPr>
          <a:xfrm>
            <a:off x="179512" y="4669774"/>
            <a:ext cx="8964488" cy="151216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ts val="2400"/>
              </a:spcBef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 sz="2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336550" algn="l" defTabSz="914400" rtl="0" eaLnBrk="1" latinLnBrk="0" hangingPunct="1">
              <a:spcBef>
                <a:spcPts val="600"/>
              </a:spcBef>
              <a:buClr>
                <a:schemeClr val="tx2"/>
              </a:buClr>
              <a:buFont typeface="Candara" pitchFamily="34" charset="0"/>
              <a:buChar char="•"/>
              <a:defRPr sz="2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035050" indent="-34925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-336550" algn="l" defTabSz="914400" rtl="0" eaLnBrk="1" latinLnBrk="0" hangingPunct="1">
              <a:spcBef>
                <a:spcPts val="600"/>
              </a:spcBef>
              <a:buClr>
                <a:schemeClr val="tx2"/>
              </a:buClr>
              <a:buFont typeface="Candara" pitchFamily="34" charset="0"/>
              <a:buChar char="•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720850" indent="-34925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lang="en-US" sz="2000" dirty="0"/>
              <a:t>A </a:t>
            </a:r>
            <a:r>
              <a:rPr lang="en-US" sz="2000" dirty="0">
                <a:solidFill>
                  <a:srgbClr val="FF0000"/>
                </a:solidFill>
              </a:rPr>
              <a:t>single PC </a:t>
            </a:r>
            <a:r>
              <a:rPr lang="en-US" sz="2000" dirty="0"/>
              <a:t>can </a:t>
            </a:r>
            <a:r>
              <a:rPr lang="en-US" sz="2000" dirty="0">
                <a:solidFill>
                  <a:srgbClr val="FF0000"/>
                </a:solidFill>
              </a:rPr>
              <a:t>break DES </a:t>
            </a:r>
            <a:r>
              <a:rPr lang="en-US" sz="2000" dirty="0"/>
              <a:t>in about </a:t>
            </a:r>
            <a:r>
              <a:rPr lang="en-US" sz="2000" dirty="0">
                <a:solidFill>
                  <a:srgbClr val="FF0000"/>
                </a:solidFill>
              </a:rPr>
              <a:t>a year</a:t>
            </a:r>
            <a:r>
              <a:rPr lang="en-US" sz="2000" dirty="0"/>
              <a:t>; if multiple PCs work in parallel, the time is drastically shortened. 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lang="en-US" sz="2000" dirty="0"/>
              <a:t>Today’s supercomputers should be able to find a key in about </a:t>
            </a:r>
            <a:r>
              <a:rPr lang="en-US" sz="2000" dirty="0">
                <a:solidFill>
                  <a:srgbClr val="FF0000"/>
                </a:solidFill>
              </a:rPr>
              <a:t>an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FF0000"/>
                </a:solidFill>
              </a:rPr>
              <a:t>hour</a:t>
            </a:r>
            <a:r>
              <a:rPr lang="en-US" sz="2000" dirty="0"/>
              <a:t>. 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lang="en-US" sz="2000" dirty="0"/>
              <a:t>Fortunately, there are a number of alternatives to DES, the most important of which are AES and triple DES, discussed in Chapters 6 and 7, respectively.</a:t>
            </a:r>
          </a:p>
        </p:txBody>
      </p:sp>
    </p:spTree>
    <p:extLst>
      <p:ext uri="{BB962C8B-B14F-4D97-AF65-F5344CB8AC3E}">
        <p14:creationId xmlns:p14="http://schemas.microsoft.com/office/powerpoint/2010/main" val="1578516194"/>
      </p:ext>
    </p:extLst>
  </p:cSld>
  <p:clrMapOvr>
    <a:masterClrMapping/>
  </p:clrMapOvr>
  <p:transition spd="med"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2B6E5950-514E-CE19-F9B6-95361CA457AF}"/>
              </a:ext>
            </a:extLst>
          </p:cNvPr>
          <p:cNvSpPr txBox="1">
            <a:spLocks/>
          </p:cNvSpPr>
          <p:nvPr/>
        </p:nvSpPr>
        <p:spPr>
          <a:xfrm>
            <a:off x="34989" y="188640"/>
            <a:ext cx="7704856" cy="2405235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ts val="2400"/>
              </a:spcBef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 sz="2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336550" algn="l" defTabSz="914400" rtl="0" eaLnBrk="1" latinLnBrk="0" hangingPunct="1">
              <a:spcBef>
                <a:spcPts val="600"/>
              </a:spcBef>
              <a:buClr>
                <a:schemeClr val="tx2"/>
              </a:buClr>
              <a:buFont typeface="Candara" pitchFamily="34" charset="0"/>
              <a:buChar char="•"/>
              <a:defRPr sz="2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035050" indent="-34925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-336550" algn="l" defTabSz="914400" rtl="0" eaLnBrk="1" latinLnBrk="0" hangingPunct="1">
              <a:spcBef>
                <a:spcPts val="600"/>
              </a:spcBef>
              <a:buClr>
                <a:schemeClr val="tx2"/>
              </a:buClr>
              <a:buFont typeface="Candara" pitchFamily="34" charset="0"/>
              <a:buChar char="•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720850" indent="-34925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lang="en-US" sz="2000" b="1" dirty="0"/>
              <a:t>THE STRENGTH OF DES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4FA8E30A-BD88-07CE-3113-7733B903F0A8}"/>
              </a:ext>
            </a:extLst>
          </p:cNvPr>
          <p:cNvSpPr txBox="1">
            <a:spLocks/>
          </p:cNvSpPr>
          <p:nvPr/>
        </p:nvSpPr>
        <p:spPr>
          <a:xfrm>
            <a:off x="0" y="692696"/>
            <a:ext cx="8784976" cy="4918517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ts val="2400"/>
              </a:spcBef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 sz="2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336550" algn="l" defTabSz="914400" rtl="0" eaLnBrk="1" latinLnBrk="0" hangingPunct="1">
              <a:spcBef>
                <a:spcPts val="600"/>
              </a:spcBef>
              <a:buClr>
                <a:schemeClr val="tx2"/>
              </a:buClr>
              <a:buFont typeface="Candara" pitchFamily="34" charset="0"/>
              <a:buChar char="•"/>
              <a:defRPr sz="2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035050" indent="-34925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-336550" algn="l" defTabSz="914400" rtl="0" eaLnBrk="1" latinLnBrk="0" hangingPunct="1">
              <a:spcBef>
                <a:spcPts val="600"/>
              </a:spcBef>
              <a:buClr>
                <a:schemeClr val="tx2"/>
              </a:buClr>
              <a:buFont typeface="Candara" pitchFamily="34" charset="0"/>
              <a:buChar char="•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720850" indent="-34925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lang="en-US" sz="2000" dirty="0"/>
              <a:t>Two concerns: key size and the nature of the algorithm.</a:t>
            </a:r>
          </a:p>
        </p:txBody>
      </p:sp>
      <p:pic>
        <p:nvPicPr>
          <p:cNvPr id="4" name="Picture 3" descr="A table with numbers and text&#10;&#10;Description automatically generated">
            <a:extLst>
              <a:ext uri="{FF2B5EF4-FFF2-40B4-BE49-F238E27FC236}">
                <a16:creationId xmlns:a16="http://schemas.microsoft.com/office/drawing/2014/main" id="{7C6246C2-059D-D070-49C8-9105FDE083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2151" y="1918768"/>
            <a:ext cx="4822242" cy="4426818"/>
          </a:xfrm>
          <a:prstGeom prst="rect">
            <a:avLst/>
          </a:prstGeom>
        </p:spPr>
      </p:pic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6385267A-B087-D0E1-6AB5-1E23CD9712A8}"/>
              </a:ext>
            </a:extLst>
          </p:cNvPr>
          <p:cNvSpPr txBox="1">
            <a:spLocks/>
          </p:cNvSpPr>
          <p:nvPr/>
        </p:nvSpPr>
        <p:spPr>
          <a:xfrm>
            <a:off x="9607" y="1259668"/>
            <a:ext cx="4202353" cy="4918517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ts val="2400"/>
              </a:spcBef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 sz="2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336550" algn="l" defTabSz="914400" rtl="0" eaLnBrk="1" latinLnBrk="0" hangingPunct="1">
              <a:spcBef>
                <a:spcPts val="600"/>
              </a:spcBef>
              <a:buClr>
                <a:schemeClr val="tx2"/>
              </a:buClr>
              <a:buFont typeface="Candara" pitchFamily="34" charset="0"/>
              <a:buChar char="•"/>
              <a:defRPr sz="2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035050" indent="-34925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-336550" algn="l" defTabSz="914400" rtl="0" eaLnBrk="1" latinLnBrk="0" hangingPunct="1">
              <a:spcBef>
                <a:spcPts val="600"/>
              </a:spcBef>
              <a:buClr>
                <a:schemeClr val="tx2"/>
              </a:buClr>
              <a:buFont typeface="Candara" pitchFamily="34" charset="0"/>
              <a:buChar char="•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720850" indent="-349250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lang="en-US" sz="2000" b="1" dirty="0"/>
              <a:t>Nature of the algorithm</a:t>
            </a:r>
          </a:p>
          <a:p>
            <a:pPr fontAlgn="auto">
              <a:spcAft>
                <a:spcPts val="0"/>
              </a:spcAft>
            </a:pPr>
            <a:r>
              <a:rPr lang="en-US" sz="1800" dirty="0"/>
              <a:t>The </a:t>
            </a:r>
            <a:r>
              <a:rPr lang="en-US" sz="1800" dirty="0">
                <a:solidFill>
                  <a:srgbClr val="FF0000"/>
                </a:solidFill>
              </a:rPr>
              <a:t>design criteria for the S-boxes were not made public </a:t>
            </a:r>
            <a:r>
              <a:rPr lang="en-US" sz="1800" dirty="0"/>
              <a:t>when DES was first introduced. This lack of transparency has led to suspicion and concern within the cryptographic community.</a:t>
            </a:r>
          </a:p>
          <a:p>
            <a:pPr fontAlgn="auto">
              <a:spcAft>
                <a:spcPts val="0"/>
              </a:spcAft>
            </a:pPr>
            <a:r>
              <a:rPr lang="en-US" sz="1800" dirty="0"/>
              <a:t>Over the years, researchers have </a:t>
            </a:r>
            <a:r>
              <a:rPr lang="en-US" sz="1800" dirty="0">
                <a:solidFill>
                  <a:srgbClr val="FF0000"/>
                </a:solidFill>
              </a:rPr>
              <a:t>discovered</a:t>
            </a:r>
            <a:r>
              <a:rPr lang="en-US" sz="1800" dirty="0"/>
              <a:t> </a:t>
            </a:r>
            <a:r>
              <a:rPr lang="en-US" sz="1800" dirty="0">
                <a:solidFill>
                  <a:srgbClr val="FF0000"/>
                </a:solidFill>
              </a:rPr>
              <a:t>certain patterns </a:t>
            </a:r>
            <a:r>
              <a:rPr lang="en-US" sz="1800" dirty="0"/>
              <a:t>and behaviors in the </a:t>
            </a:r>
            <a:r>
              <a:rPr lang="en-US" sz="1800" dirty="0">
                <a:solidFill>
                  <a:srgbClr val="FF0000"/>
                </a:solidFill>
              </a:rPr>
              <a:t>S-boxes</a:t>
            </a:r>
            <a:r>
              <a:rPr lang="en-US" sz="1800" dirty="0"/>
              <a:t> that were not initially expected.</a:t>
            </a:r>
          </a:p>
          <a:p>
            <a:pPr fontAlgn="auto">
              <a:spcAft>
                <a:spcPts val="0"/>
              </a:spcAft>
            </a:pPr>
            <a:r>
              <a:rPr lang="en-US" sz="1800" dirty="0"/>
              <a:t>Despite this, </a:t>
            </a:r>
            <a:r>
              <a:rPr lang="en-US" sz="1800" dirty="0">
                <a:solidFill>
                  <a:srgbClr val="FF0000"/>
                </a:solidFill>
              </a:rPr>
              <a:t>no one has </a:t>
            </a:r>
            <a:r>
              <a:rPr lang="en-US" sz="1800" dirty="0"/>
              <a:t>so far succeeded in </a:t>
            </a:r>
            <a:r>
              <a:rPr lang="en-US" sz="1800" dirty="0">
                <a:solidFill>
                  <a:srgbClr val="FF0000"/>
                </a:solidFill>
              </a:rPr>
              <a:t>discovering</a:t>
            </a:r>
            <a:r>
              <a:rPr lang="en-US" sz="1800" dirty="0"/>
              <a:t> the supposed </a:t>
            </a:r>
            <a:r>
              <a:rPr lang="en-US" sz="1800" dirty="0">
                <a:solidFill>
                  <a:srgbClr val="FF0000"/>
                </a:solidFill>
              </a:rPr>
              <a:t>fatal weaknesses </a:t>
            </a:r>
            <a:r>
              <a:rPr lang="en-US" sz="1800" dirty="0"/>
              <a:t>in the S-boxes.</a:t>
            </a:r>
          </a:p>
        </p:txBody>
      </p:sp>
    </p:spTree>
    <p:extLst>
      <p:ext uri="{BB962C8B-B14F-4D97-AF65-F5344CB8AC3E}">
        <p14:creationId xmlns:p14="http://schemas.microsoft.com/office/powerpoint/2010/main" val="4266388094"/>
      </p:ext>
    </p:extLst>
  </p:cSld>
  <p:clrMapOvr>
    <a:masterClrMapping/>
  </p:clrMapOvr>
  <p:transition spd="med">
    <p:wip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49541-A7FF-DCE4-310B-7137452B8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A163AC07-1562-40E0-581C-11A4C354CC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277813"/>
            <a:ext cx="8686800" cy="1139825"/>
          </a:xfrm>
        </p:spPr>
        <p:txBody>
          <a:bodyPr/>
          <a:lstStyle/>
          <a:p>
            <a:pPr eaLnBrk="1" hangingPunct="1">
              <a:defRPr/>
            </a:pPr>
            <a:r>
              <a:rPr lang="en-AU" dirty="0"/>
              <a:t>Example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F77883-7500-B90E-937A-0EB345EFD1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44" y="1600200"/>
            <a:ext cx="8568952" cy="4867835"/>
          </a:xfrm>
        </p:spPr>
        <p:txBody>
          <a:bodyPr>
            <a:normAutofit/>
          </a:bodyPr>
          <a:lstStyle/>
          <a:p>
            <a:r>
              <a:rPr lang="en-US" dirty="0"/>
              <a:t>generate 1 round version of DES </a:t>
            </a:r>
          </a:p>
          <a:p>
            <a:r>
              <a:rPr lang="en-US" dirty="0"/>
              <a:t>Hexadecimal notation : 0123456789ABCDEF </a:t>
            </a:r>
          </a:p>
          <a:p>
            <a:r>
              <a:rPr lang="en-US" dirty="0"/>
              <a:t>Binary Notation: 0000 0001 0010 0011 0100 0101 0110 0111 1000 1001 1010 1011 1100 1101 1110 1111</a:t>
            </a:r>
          </a:p>
          <a:p>
            <a:pPr marL="457200" lvl="1" indent="-457200">
              <a:spcBef>
                <a:spcPts val="2400"/>
              </a:spcBef>
              <a:buClr>
                <a:schemeClr val="accent1">
                  <a:lumMod val="60000"/>
                  <a:lumOff val="40000"/>
                </a:schemeClr>
              </a:buClr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4337898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8AAEB-9C90-5C4C-EEA0-04FD933F2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Example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DF2D69-8ED7-83C4-2BC1-8732726FEF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Step 1: Initial Permutation (IP)</a:t>
            </a:r>
            <a:endParaRPr lang="en-US" sz="2400" dirty="0"/>
          </a:p>
          <a:p>
            <a:r>
              <a:rPr lang="en-US" sz="2400" dirty="0"/>
              <a:t>The 64-bit plaintext block is permuted according to a fixed table (IP table).</a:t>
            </a:r>
          </a:p>
          <a:p>
            <a:r>
              <a:rPr lang="en-US" sz="2400" dirty="0"/>
              <a:t>The first bit of the output is the 58th bit of the input, the second is the 50th, and so on.</a:t>
            </a:r>
          </a:p>
          <a:p>
            <a:r>
              <a:rPr lang="en-US" sz="2400" dirty="0"/>
              <a:t>The purpose of this step is to rearrange the bits of the plaintext before the main encryption rounds begin.</a:t>
            </a:r>
          </a:p>
          <a:p>
            <a:endParaRPr lang="en-US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9FC32E-9158-512F-0328-1FFF198B8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 Pearson Education, Inc., Hoboken, NJ. All rights reserved.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66096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5A6C2-719F-6B22-7A78-6FBE21174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Example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D76AF1-B665-FF51-1D7A-3625DE783F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1400" b="1" dirty="0"/>
              <a:t>Step 2: Key Generation</a:t>
            </a:r>
            <a:endParaRPr lang="en-US" sz="1400" dirty="0"/>
          </a:p>
          <a:p>
            <a:r>
              <a:rPr lang="en-US" sz="1400" dirty="0"/>
              <a:t>A 64-bit key is provided as input, but only 56 bits are used (the 8th, 16th, 24th, etc., bits are parity bits).</a:t>
            </a:r>
          </a:p>
          <a:p>
            <a:r>
              <a:rPr lang="en-US" sz="1400" dirty="0"/>
              <a:t>First, the 56 bits are selected and permuted according to a fixed table (PC-1).</a:t>
            </a:r>
          </a:p>
          <a:p>
            <a:r>
              <a:rPr lang="en-US" sz="1400" dirty="0"/>
              <a:t>The result is split into two 28-bit halves, C0​ and D0​.</a:t>
            </a:r>
          </a:p>
          <a:p>
            <a:r>
              <a:rPr lang="en-US" sz="1400" dirty="0"/>
              <a:t>For each of the 16 rounds of DES, a different 48-bit subkey is generated.</a:t>
            </a:r>
          </a:p>
          <a:p>
            <a:r>
              <a:rPr lang="en-US" sz="1400" dirty="0"/>
              <a:t>For Round 1, C0​ and D0​ are each cyclically left-shifted by one bit to create C1​ and D1​.</a:t>
            </a:r>
          </a:p>
          <a:p>
            <a:r>
              <a:rPr lang="en-US" sz="1400" dirty="0"/>
              <a:t>C1​ and D1​ are then concatenated to form a 56-bit block.</a:t>
            </a:r>
          </a:p>
          <a:p>
            <a:r>
              <a:rPr lang="en-US" sz="1400" dirty="0"/>
              <a:t>Finally, this 56-bit block is permutated and 8 bits are dropped to produce the 48-bit subkey K1​ (using the PC-2 table).</a:t>
            </a:r>
          </a:p>
          <a:p>
            <a:endParaRPr lang="en-US" sz="1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97A921-6D26-94F4-F293-9CAF5142D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 Pearson Education, Inc., Hoboken, NJ. All rights reserved.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3807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6A229-BBD9-E89B-6E64-47200A457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Example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519627-3FE9-1724-F8EC-CF66C12171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Step 3: Round 1 (Feistel Function)</a:t>
            </a:r>
            <a:endParaRPr lang="en-US" sz="2400" dirty="0"/>
          </a:p>
          <a:p>
            <a:pPr lvl="0"/>
            <a:r>
              <a:rPr lang="en-US" sz="2400" dirty="0"/>
              <a:t>The 64-bit block (the output of the IP step) is split into two 32-bit halves: a left half () and a right half ().</a:t>
            </a:r>
          </a:p>
          <a:p>
            <a:pPr lvl="0"/>
            <a:r>
              <a:rPr lang="en-US" sz="2400" dirty="0"/>
              <a:t>The core of the DES algorithm is the Feistel function, which is applied to the right half .</a:t>
            </a:r>
          </a:p>
          <a:p>
            <a:pPr lvl="0"/>
            <a:r>
              <a:rPr lang="en-US" sz="2400" dirty="0"/>
              <a:t>The new left half is simply the old right half .</a:t>
            </a:r>
          </a:p>
          <a:p>
            <a:pPr lvl="0"/>
            <a:r>
              <a:rPr lang="en-US" sz="2400" dirty="0"/>
              <a:t>The new right half is calculated as , where is the XOR operation and is the Feistel function.</a:t>
            </a:r>
          </a:p>
          <a:p>
            <a:endParaRPr lang="en-US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F2E3DA-3226-2E02-CDEB-6AAF0A301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 Pearson Education, Inc., Hoboken, NJ. All rights reserved.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00958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359E1-4C62-6EFA-84ED-A29F69890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Example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42C0F6-4582-4E75-5DD9-B4F2A3FBD2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1600" b="1" dirty="0"/>
              <a:t>Step 3a: Feistel Function </a:t>
            </a:r>
          </a:p>
          <a:p>
            <a:r>
              <a:rPr lang="en-US" sz="1600" dirty="0"/>
              <a:t>Expansion Permutation (E): The 32-bit right half is expanded to 48 bits. The expansion table repeats certain bits of the 32-bit input to create the 48-bit output.</a:t>
            </a:r>
          </a:p>
          <a:p>
            <a:r>
              <a:rPr lang="en-US" sz="1600" dirty="0"/>
              <a:t>XOR with Subkey: The expanded 48-bit block is XORed with the 48-bit subkey (generated in Step 2).</a:t>
            </a:r>
          </a:p>
          <a:p>
            <a:r>
              <a:rPr lang="en-US" sz="1600" dirty="0"/>
              <a:t>S-Box Substitution: The 48-bit result is divided into eight 6-bit blocks. Each 6-bit block is fed into a different substitution box (S-box). An S-box is a non-linear lookup table that transforms a 6-bit input into a 4-bit output. The purpose of this step is to introduce confusion into the cipher.</a:t>
            </a:r>
          </a:p>
          <a:p>
            <a:r>
              <a:rPr lang="en-US" sz="1600" dirty="0"/>
              <a:t>Permutation (P): The eight 4-bit outputs from the S-boxes are combined to form a 32-bit block, which is then permuted according to a fixed table (P table). This step provides diffusion, spreading the influence of each input bit over many output bits.</a:t>
            </a:r>
          </a:p>
          <a:p>
            <a:endParaRPr lang="en-US" sz="16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776C48-8100-660A-92A8-C4D8BDF69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 Pearson Education, Inc., Hoboken, NJ. All rights reserved.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1223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9C676-2E88-EBA6-3BE4-7B11C8538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Example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EDFCB2-86F5-6D6D-46FC-AE371B8DD9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/>
              <a:t>Step 3b: Combining the Halves</a:t>
            </a:r>
            <a:endParaRPr lang="en-US" sz="2000" dirty="0"/>
          </a:p>
          <a:p>
            <a:pPr lvl="0"/>
            <a:r>
              <a:rPr lang="en-US" sz="2000" dirty="0"/>
              <a:t>The final 32-bit output of the Feistel function is XORed with the original 32-bit left half (). This result becomes the new right half ().</a:t>
            </a:r>
          </a:p>
          <a:p>
            <a:pPr lvl="0"/>
            <a:r>
              <a:rPr lang="en-US" sz="2000" dirty="0"/>
              <a:t>The original right half () becomes the new left half ().</a:t>
            </a:r>
          </a:p>
          <a:p>
            <a:pPr lvl="0"/>
            <a:r>
              <a:rPr lang="en-US" sz="2000" dirty="0"/>
              <a:t>The new left and right halves ( and ) are concatenated to form the 64-bit output of Round 1. This output becomes the input for Round 2.</a:t>
            </a:r>
          </a:p>
          <a:p>
            <a:endParaRPr lang="en-US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4ABE7C-EAA9-4E82-17C8-B360B88DF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 Pearson Education, Inc., Hoboken, NJ. All rights reserved.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988295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theme/_rels/them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theme/theme1.xml><?xml version="1.0" encoding="utf-8"?>
<a:theme xmlns:a="http://schemas.openxmlformats.org/drawingml/2006/main" name="Infusion">
  <a:themeElements>
    <a:clrScheme name="Infusion">
      <a:dk1>
        <a:sysClr val="windowText" lastClr="000000"/>
      </a:dk1>
      <a:lt1>
        <a:sysClr val="window" lastClr="FFFFFF"/>
      </a:lt1>
      <a:dk2>
        <a:srgbClr val="2F1F58"/>
      </a:dk2>
      <a:lt2>
        <a:srgbClr val="B7A9E0"/>
      </a:lt2>
      <a:accent1>
        <a:srgbClr val="8C73D0"/>
      </a:accent1>
      <a:accent2>
        <a:srgbClr val="C2E8C4"/>
      </a:accent2>
      <a:accent3>
        <a:srgbClr val="C5A6E8"/>
      </a:accent3>
      <a:accent4>
        <a:srgbClr val="B45EC7"/>
      </a:accent4>
      <a:accent5>
        <a:srgbClr val="9FDAFB"/>
      </a:accent5>
      <a:accent6>
        <a:srgbClr val="95C5B0"/>
      </a:accent6>
      <a:hlink>
        <a:srgbClr val="744AE0"/>
      </a:hlink>
      <a:folHlink>
        <a:srgbClr val="8D8AD1"/>
      </a:folHlink>
    </a:clrScheme>
    <a:fontScheme name="Infusion">
      <a:majorFont>
        <a:latin typeface="Mistral"/>
        <a:ea typeface=""/>
        <a:cs typeface=""/>
        <a:font script="Jpan" typeface="ＭＳ Ｐ明朝"/>
      </a:majorFont>
      <a:minorFont>
        <a:latin typeface="Candara"/>
        <a:ea typeface=""/>
        <a:cs typeface=""/>
        <a:font script="Jpan" typeface="メイリオ"/>
      </a:minorFont>
    </a:fontScheme>
    <a:fmtScheme name="Infusion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70000"/>
                <a:satMod val="120000"/>
              </a:schemeClr>
              <a:schemeClr val="phClr">
                <a:tint val="70000"/>
                <a:satMod val="300000"/>
                <a:lumMod val="125000"/>
              </a:schemeClr>
            </a:duotone>
          </a:blip>
          <a:tile tx="0" ty="0" sx="50000" sy="5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shade val="70000"/>
                <a:satMod val="120000"/>
              </a:schemeClr>
              <a:schemeClr val="phClr">
                <a:tint val="70000"/>
                <a:satMod val="135000"/>
              </a:schemeClr>
            </a:duotone>
          </a:blip>
          <a:tile tx="0" ty="0" sx="40000" sy="40000" flip="none" algn="tl"/>
        </a:blipFill>
      </a:fillStyleLst>
      <a:lnStyleLst>
        <a:ln w="38100" cap="flat" cmpd="sng" algn="ctr">
          <a:solidFill>
            <a:schemeClr val="phClr">
              <a:alpha val="70000"/>
              <a:satMod val="105000"/>
            </a:schemeClr>
          </a:solidFill>
          <a:prstDash val="solid"/>
          <a:miter/>
        </a:ln>
        <a:ln w="50800" cap="flat" cmpd="sng" algn="ctr">
          <a:solidFill>
            <a:schemeClr val="phClr">
              <a:alpha val="50000"/>
            </a:schemeClr>
          </a:solidFill>
          <a:prstDash val="solid"/>
          <a:miter/>
        </a:ln>
        <a:ln w="88900" cap="flat" cmpd="sng" algn="ctr">
          <a:solidFill>
            <a:schemeClr val="phClr">
              <a:alpha val="40000"/>
            </a:schemeClr>
          </a:solidFill>
          <a:prstDash val="solid"/>
          <a:miter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innerShdw blurRad="190500" dir="13500000">
              <a:srgbClr val="000000">
                <a:alpha val="50000"/>
              </a:srgbClr>
            </a:innerShdw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blipFill rotWithShape="1">
          <a:blip xmlns:r="http://schemas.openxmlformats.org/officeDocument/2006/relationships" r:embed="rId3">
            <a:duotone>
              <a:schemeClr val="phClr">
                <a:shade val="70000"/>
                <a:satMod val="500000"/>
                <a:lumMod val="50000"/>
              </a:schemeClr>
              <a:schemeClr val="phClr">
                <a:satMod val="800000"/>
                <a:lumMod val="250000"/>
              </a:schemeClr>
            </a:duotone>
          </a:blip>
          <a:stretch/>
        </a:blipFill>
        <a:blipFill rotWithShape="1">
          <a:blip xmlns:r="http://schemas.openxmlformats.org/officeDocument/2006/relationships" r:embed="rId4">
            <a:duotone>
              <a:schemeClr val="phClr">
                <a:shade val="70000"/>
                <a:satMod val="500000"/>
                <a:lumMod val="50000"/>
              </a:schemeClr>
              <a:schemeClr val="phClr">
                <a:satMod val="800000"/>
                <a:lumMod val="250000"/>
              </a:schemeClr>
            </a:duotone>
          </a:blip>
          <a:stretch/>
        </a:blipFill>
        <a:blipFill rotWithShape="1">
          <a:blip xmlns:r="http://schemas.openxmlformats.org/officeDocument/2006/relationships" r:embed="rId5">
            <a:duotone>
              <a:schemeClr val="phClr">
                <a:shade val="70000"/>
                <a:satMod val="500000"/>
                <a:lumMod val="50000"/>
              </a:schemeClr>
              <a:schemeClr val="phClr">
                <a:satMod val="800000"/>
                <a:lumMod val="25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Infusion">
  <a:themeElements>
    <a:clrScheme name="Infusion">
      <a:dk1>
        <a:sysClr val="windowText" lastClr="000000"/>
      </a:dk1>
      <a:lt1>
        <a:sysClr val="window" lastClr="FFFFFF"/>
      </a:lt1>
      <a:dk2>
        <a:srgbClr val="2F1F58"/>
      </a:dk2>
      <a:lt2>
        <a:srgbClr val="B7A9E0"/>
      </a:lt2>
      <a:accent1>
        <a:srgbClr val="8C73D0"/>
      </a:accent1>
      <a:accent2>
        <a:srgbClr val="C2E8C4"/>
      </a:accent2>
      <a:accent3>
        <a:srgbClr val="C5A6E8"/>
      </a:accent3>
      <a:accent4>
        <a:srgbClr val="B45EC7"/>
      </a:accent4>
      <a:accent5>
        <a:srgbClr val="9FDAFB"/>
      </a:accent5>
      <a:accent6>
        <a:srgbClr val="95C5B0"/>
      </a:accent6>
      <a:hlink>
        <a:srgbClr val="744AE0"/>
      </a:hlink>
      <a:folHlink>
        <a:srgbClr val="8D8AD1"/>
      </a:folHlink>
    </a:clrScheme>
    <a:fontScheme name="Infusion">
      <a:majorFont>
        <a:latin typeface="Mistral"/>
        <a:ea typeface=""/>
        <a:cs typeface=""/>
        <a:font script="Jpan" typeface="ＭＳ Ｐ明朝"/>
      </a:majorFont>
      <a:minorFont>
        <a:latin typeface="Candara"/>
        <a:ea typeface=""/>
        <a:cs typeface=""/>
        <a:font script="Jpan" typeface="メイリオ"/>
      </a:minorFont>
    </a:fontScheme>
    <a:fmtScheme name="Infusion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70000"/>
                <a:satMod val="120000"/>
              </a:schemeClr>
              <a:schemeClr val="phClr">
                <a:tint val="70000"/>
                <a:satMod val="300000"/>
                <a:lumMod val="125000"/>
              </a:schemeClr>
            </a:duotone>
          </a:blip>
          <a:tile tx="0" ty="0" sx="50000" sy="5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shade val="70000"/>
                <a:satMod val="120000"/>
              </a:schemeClr>
              <a:schemeClr val="phClr">
                <a:tint val="70000"/>
                <a:satMod val="135000"/>
              </a:schemeClr>
            </a:duotone>
          </a:blip>
          <a:tile tx="0" ty="0" sx="40000" sy="40000" flip="none" algn="tl"/>
        </a:blipFill>
      </a:fillStyleLst>
      <a:lnStyleLst>
        <a:ln w="38100" cap="flat" cmpd="sng" algn="ctr">
          <a:solidFill>
            <a:schemeClr val="phClr">
              <a:alpha val="70000"/>
              <a:satMod val="105000"/>
            </a:schemeClr>
          </a:solidFill>
          <a:prstDash val="solid"/>
          <a:miter/>
        </a:ln>
        <a:ln w="50800" cap="flat" cmpd="sng" algn="ctr">
          <a:solidFill>
            <a:schemeClr val="phClr">
              <a:alpha val="50000"/>
            </a:schemeClr>
          </a:solidFill>
          <a:prstDash val="solid"/>
          <a:miter/>
        </a:ln>
        <a:ln w="88900" cap="flat" cmpd="sng" algn="ctr">
          <a:solidFill>
            <a:schemeClr val="phClr">
              <a:alpha val="40000"/>
            </a:schemeClr>
          </a:solidFill>
          <a:prstDash val="solid"/>
          <a:miter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innerShdw blurRad="190500" dir="13500000">
              <a:srgbClr val="000000">
                <a:alpha val="50000"/>
              </a:srgbClr>
            </a:innerShdw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blipFill rotWithShape="1">
          <a:blip xmlns:r="http://schemas.openxmlformats.org/officeDocument/2006/relationships" r:embed="rId3">
            <a:duotone>
              <a:schemeClr val="phClr">
                <a:shade val="70000"/>
                <a:satMod val="500000"/>
                <a:lumMod val="50000"/>
              </a:schemeClr>
              <a:schemeClr val="phClr">
                <a:satMod val="800000"/>
                <a:lumMod val="250000"/>
              </a:schemeClr>
            </a:duotone>
          </a:blip>
          <a:stretch/>
        </a:blipFill>
        <a:blipFill rotWithShape="1">
          <a:blip xmlns:r="http://schemas.openxmlformats.org/officeDocument/2006/relationships" r:embed="rId4">
            <a:duotone>
              <a:schemeClr val="phClr">
                <a:shade val="70000"/>
                <a:satMod val="500000"/>
                <a:lumMod val="50000"/>
              </a:schemeClr>
              <a:schemeClr val="phClr">
                <a:satMod val="800000"/>
                <a:lumMod val="250000"/>
              </a:schemeClr>
            </a:duotone>
          </a:blip>
          <a:stretch/>
        </a:blipFill>
        <a:blipFill rotWithShape="1">
          <a:blip xmlns:r="http://schemas.openxmlformats.org/officeDocument/2006/relationships" r:embed="rId5">
            <a:duotone>
              <a:schemeClr val="phClr">
                <a:shade val="70000"/>
                <a:satMod val="500000"/>
                <a:lumMod val="50000"/>
              </a:schemeClr>
              <a:schemeClr val="phClr">
                <a:satMod val="800000"/>
                <a:lumMod val="25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Macintosh HD:Users:lpb:admin:consult:Prentice-Hall:Slides:ch01.ppt</Template>
  <TotalTime>10749</TotalTime>
  <Words>2038</Words>
  <Application>Microsoft Macintosh PowerPoint</Application>
  <PresentationFormat>On-screen Show (4:3)</PresentationFormat>
  <Paragraphs>153</Paragraphs>
  <Slides>29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Calibri</vt:lpstr>
      <vt:lpstr>Candara</vt:lpstr>
      <vt:lpstr>Infusion</vt:lpstr>
      <vt:lpstr>1_Infusion</vt:lpstr>
      <vt:lpstr>PowerPoint Presentation</vt:lpstr>
      <vt:lpstr>PowerPoint Presentation</vt:lpstr>
      <vt:lpstr>Stream Cipher</vt:lpstr>
      <vt:lpstr>Block Cipher</vt:lpstr>
      <vt:lpstr>PowerPoint Presentation</vt:lpstr>
      <vt:lpstr>PowerPoint Presentation</vt:lpstr>
      <vt:lpstr>PowerPoint Presentation</vt:lpstr>
      <vt:lpstr>Feistel Cipher</vt:lpstr>
      <vt:lpstr>Claude Shannon  confusion and diffusion </vt:lpstr>
      <vt:lpstr>Claude Shannon  confusion and diffusion </vt:lpstr>
      <vt:lpstr>Claude Shannon  confusion and diffusion </vt:lpstr>
      <vt:lpstr>Feistel Cipher</vt:lpstr>
      <vt:lpstr>PowerPoint Presentation</vt:lpstr>
      <vt:lpstr>PowerPoint Presentation</vt:lpstr>
      <vt:lpstr>Feistel Cipher Design Features</vt:lpstr>
      <vt:lpstr>PowerPoint Presentation</vt:lpstr>
      <vt:lpstr>Data Encryption Standard (DES)</vt:lpstr>
      <vt:lpstr>Data Encryption Standard (DES)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</vt:lpstr>
      <vt:lpstr>Example</vt:lpstr>
      <vt:lpstr>Example</vt:lpstr>
      <vt:lpstr>Example</vt:lpstr>
      <vt:lpstr>Example</vt:lpstr>
      <vt:lpstr>Example</vt:lpstr>
    </vt:vector>
  </TitlesOfParts>
  <Manager/>
  <Company>School of Eng &amp; IT, UNSW@ADFA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William Stallings, Cryptography and Network Security 5/e</dc:title>
  <dc:subject>Lecture Overheads - Ch 3</dc:subject>
  <dc:creator>Dr Lawrie Brown</dc:creator>
  <cp:keywords/>
  <dc:description/>
  <cp:lastModifiedBy>Igor Remizov</cp:lastModifiedBy>
  <cp:revision>308</cp:revision>
  <cp:lastPrinted>2009-08-04T06:08:06Z</cp:lastPrinted>
  <dcterms:created xsi:type="dcterms:W3CDTF">2016-03-13T01:59:00Z</dcterms:created>
  <dcterms:modified xsi:type="dcterms:W3CDTF">2025-09-17T20:20:31Z</dcterms:modified>
  <cp:category/>
</cp:coreProperties>
</file>