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85" r:id="rId2"/>
  </p:sldMasterIdLst>
  <p:notesMasterIdLst>
    <p:notesMasterId r:id="rId17"/>
  </p:notesMasterIdLst>
  <p:handoutMasterIdLst>
    <p:handoutMasterId r:id="rId18"/>
  </p:handoutMasterIdLst>
  <p:sldIdLst>
    <p:sldId id="354" r:id="rId3"/>
    <p:sldId id="355" r:id="rId4"/>
    <p:sldId id="312" r:id="rId5"/>
    <p:sldId id="358" r:id="rId6"/>
    <p:sldId id="359" r:id="rId7"/>
    <p:sldId id="375" r:id="rId8"/>
    <p:sldId id="357" r:id="rId9"/>
    <p:sldId id="360" r:id="rId10"/>
    <p:sldId id="361" r:id="rId11"/>
    <p:sldId id="362" r:id="rId12"/>
    <p:sldId id="363" r:id="rId13"/>
    <p:sldId id="364" r:id="rId14"/>
    <p:sldId id="373" r:id="rId15"/>
    <p:sldId id="374" r:id="rId16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gray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64" autoAdjust="0"/>
    <p:restoredTop sz="94066" autoAdjust="0"/>
  </p:normalViewPr>
  <p:slideViewPr>
    <p:cSldViewPr>
      <p:cViewPr varScale="1">
        <p:scale>
          <a:sx n="102" d="100"/>
          <a:sy n="102" d="100"/>
        </p:scale>
        <p:origin x="214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51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-1344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3731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3732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73733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EF44FAB5-79B8-084C-AB75-E317614038D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endParaRPr lang="en-AU" dirty="0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CB959BEF-6AC3-7540-A43C-A7798D3FCAA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3</a:t>
            </a:fld>
            <a:endParaRPr lang="en-A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4561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03894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9B623-39CC-1F2D-28F1-BA936FED5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6FCFB-CA2A-1EB2-0763-F197A0D81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C841F8-0507-32F3-AD73-CCDFB6307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8B42E-B5DE-1A59-DD8A-FC4FAF49EF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02518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6296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4563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7220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5233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79237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9244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baseline="0" dirty="0">
              <a:solidFill>
                <a:schemeClr val="tx1"/>
              </a:solidFill>
              <a:latin typeface="Arial" pitchFamily="-107" charset="0"/>
              <a:ea typeface="ＭＳ Ｐゴシック" pitchFamily="-107" charset="-128"/>
              <a:cs typeface="ＭＳ Ｐゴシック" pitchFamily="-107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959BEF-6AC3-7540-A43C-A7798D3FCAAB}" type="slidenum">
              <a:rPr lang="en-AU" smtClean="0"/>
              <a:pPr>
                <a:defRPr/>
              </a:pPr>
              <a:t>13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13653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1027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6" name="Group 1028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7" name="Group 1029"/>
              <p:cNvGrpSpPr>
                <a:grpSpLocks/>
              </p:cNvGrpSpPr>
              <p:nvPr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60" name="Oval 1030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1" name="Oval 1031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2" name="Oval 1032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3" name="Oval 1033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4" name="Oval 1034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5" name="Oval 1035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6" name="Oval 1036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67" name="Oval 1037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8" name="Oval 1038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9" name="Oval 1039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0" name="Oval 1040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1" name="Oval 1041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2" name="Oval 1042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3" name="Freeform 1043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4" name="Freeform 1044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5" name="Freeform 1045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6" name="Freeform 1046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7" name="Freeform 1047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8" name="Freeform 1048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19" name="Freeform 1049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0" name="Freeform 1050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1" name="Freeform 1051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2" name="Freeform 1052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3" name="Freeform 1053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4" name="Freeform 1054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5" name="Freeform 1055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6" name="Freeform 1056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7" name="Freeform 1057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8" name="Freeform 1058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29" name="Freeform 1059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0" name="Freeform 1060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1" name="Freeform 1061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2" name="Freeform 1062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3" name="Freeform 1063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4" name="Freeform 1064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5" name="Freeform 1065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6" name="Freeform 1066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7" name="Freeform 1067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8" name="Freeform 1068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39" name="Freeform 1069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0" name="Freeform 1070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1" name="Freeform 1071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2" name="Freeform 1072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3" name="Freeform 1073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4" name="Freeform 1074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5" name="Freeform 1075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6" name="Freeform 1076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47" name="Oval 1077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48" name="Group 1078"/>
              <p:cNvGrpSpPr>
                <a:grpSpLocks/>
              </p:cNvGrpSpPr>
              <p:nvPr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54" name="Oval 1079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5" name="Oval 1080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6" name="Oval 1081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7" name="Oval 1082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8" name="Oval 1083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9" name="Oval 1084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49" name="Group 1085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50" name="Oval 1086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1" name="Oval 1087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2" name="Oval 1088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53" name="Oval 1089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6866" name="Rectangle 109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6867" name="Rectangle 109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-107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8" name="Rectangle 109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9" name="Rectangle 109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70" name="Rectangle 109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98558D-EDEF-6E49-B96D-9C3FADE10C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668E8-CB30-1B4D-93AB-5D2DD1B60B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2AF57C-3280-0644-86E8-18FD8A22CD3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645CD-4595-C648-9785-F95E54BD1D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9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15433-4EEF-DF40-A66B-7CF99177B5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8E1A6-2C0A-DC46-9BC0-5CAA931D92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4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E177B-2501-454C-AAE0-495436BCF2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B29FC2-87A2-FA4F-86AA-E71D2B343C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7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DCA415-B046-FC48-9DF6-C959FC4A05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647B1-DEAE-604C-8277-A0CE194EBD7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6" name="Rectangle 6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D8F0B-58A5-DB41-9726-20EC5E8A05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6BE87-E5FB-E549-B6FD-BE8C668A25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0"/>
            <a:ext cx="1581150" cy="6858000"/>
            <a:chOff x="134471" y="0"/>
            <a:chExt cx="158122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83676"/>
            <a:stretch>
              <a:fillRect/>
            </a:stretch>
          </p:blipFill>
          <p:spPr bwMode="auto">
            <a:xfrm>
              <a:off x="134471" y="0"/>
              <a:ext cx="1358153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478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546975" y="0"/>
            <a:ext cx="1597025" cy="6858000"/>
            <a:chOff x="7413812" y="0"/>
            <a:chExt cx="1597734" cy="6858000"/>
          </a:xfrm>
        </p:grpSpPr>
        <p:pic>
          <p:nvPicPr>
            <p:cNvPr id="9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r="85126"/>
            <a:stretch>
              <a:fillRect/>
            </a:stretch>
          </p:blipFill>
          <p:spPr bwMode="auto">
            <a:xfrm>
              <a:off x="7651376" y="0"/>
              <a:ext cx="136017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1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7413812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4841875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0" y="0"/>
            <a:ext cx="9144000" cy="1190625"/>
            <a:chOff x="0" y="0"/>
            <a:chExt cx="9144000" cy="1191256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7" name="Group 10"/>
          <p:cNvGrpSpPr>
            <a:grpSpLocks/>
          </p:cNvGrpSpPr>
          <p:nvPr/>
        </p:nvGrpSpPr>
        <p:grpSpPr bwMode="auto">
          <a:xfrm flipV="1">
            <a:off x="0" y="5667375"/>
            <a:ext cx="9144000" cy="1190625"/>
            <a:chOff x="0" y="0"/>
            <a:chExt cx="9144000" cy="1191256"/>
          </a:xfrm>
        </p:grpSpPr>
        <p:pic>
          <p:nvPicPr>
            <p:cNvPr id="8" name="Picture 10" descr="Overlay-Blank.jpg"/>
            <p:cNvPicPr>
              <a:picLocks noChangeAspect="1"/>
            </p:cNvPicPr>
            <p:nvPr userDrawn="1"/>
          </p:nvPicPr>
          <p:blipFill>
            <a:blip r:embed="rId2"/>
            <a:srcRect b="85555"/>
            <a:stretch>
              <a:fillRect/>
            </a:stretch>
          </p:blipFill>
          <p:spPr bwMode="auto">
            <a:xfrm>
              <a:off x="0" y="0"/>
              <a:ext cx="9144000" cy="990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11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V="1">
              <a:off x="0" y="923365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12" descr="HR-Colo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54163" y="3259138"/>
            <a:ext cx="60356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00" y="1851212"/>
            <a:ext cx="5446714" cy="1730375"/>
          </a:xfrm>
        </p:spPr>
        <p:txBody>
          <a:bodyPr anchor="b"/>
          <a:lstStyle>
            <a:lvl1pPr algn="ctr">
              <a:lnSpc>
                <a:spcPts val="6800"/>
              </a:lnSpc>
              <a:defRPr sz="6500" b="0" cap="none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4200" y="3576918"/>
            <a:ext cx="5446714" cy="829982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25685A-713B-8549-9275-7DEE06C1AF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162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6534" y="1774825"/>
            <a:ext cx="3566160" cy="43037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342E1-65BB-6E4A-A0CC-A610AAC07D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8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" name="Picture 9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4765675" y="2460625"/>
            <a:ext cx="3563938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pic>
        <p:nvPicPr>
          <p:cNvPr id="11" name="Picture 10" descr="Overlay-HorizontalBridge.jpg"/>
          <p:cNvPicPr>
            <a:picLocks noChangeAspect="1"/>
          </p:cNvPicPr>
          <p:nvPr/>
        </p:nvPicPr>
        <p:blipFill>
          <a:blip r:embed="rId3"/>
          <a:srcRect t="23425" r="61031" b="39764"/>
          <a:stretch>
            <a:fillRect/>
          </a:stretch>
        </p:blipFill>
        <p:spPr>
          <a:xfrm>
            <a:off x="779463" y="2460625"/>
            <a:ext cx="3563937" cy="984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7240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048" y="1879320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048" y="2590799"/>
            <a:ext cx="3566160" cy="348773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1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B56AA-FE0D-774B-9115-3002173F52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4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F1141-6830-8D46-9787-8E222FA999B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1FC6E-DD23-0745-9A88-FF90FE027BF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776" cy="1537447"/>
          </a:xfrm>
        </p:spPr>
        <p:txBody>
          <a:bodyPr anchor="b"/>
          <a:lstStyle>
            <a:lvl1pPr algn="ctr">
              <a:lnSpc>
                <a:spcPct val="100000"/>
              </a:lnSpc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859" y="381001"/>
            <a:ext cx="3813174" cy="5697537"/>
          </a:xfrm>
        </p:spPr>
        <p:txBody>
          <a:bodyPr>
            <a:normAutofit/>
          </a:bodyPr>
          <a:lstStyle>
            <a:lvl1pPr>
              <a:defRPr sz="2400" b="0"/>
            </a:lvl1pPr>
            <a:lvl2pPr>
              <a:defRPr sz="2200" b="0"/>
            </a:lvl2pPr>
            <a:lvl3pPr>
              <a:defRPr sz="2000" b="0"/>
            </a:lvl3pPr>
            <a:lvl4pPr>
              <a:defRPr sz="1800" b="0"/>
            </a:lvl4pPr>
            <a:lvl5pPr>
              <a:defRPr sz="1800" b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2209801"/>
            <a:ext cx="3612776" cy="3200400"/>
          </a:xfrm>
        </p:spPr>
        <p:txBody>
          <a:bodyPr>
            <a:norm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>
              <a:defRPr/>
            </a:pPr>
            <a:fld id="{13EBF9D1-F2F6-354E-8D82-1F22732BF2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Overlay-Blank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solidFill>
              <a:schemeClr val="accent1">
                <a:lumMod val="40000"/>
                <a:lumOff val="60000"/>
                <a:alpha val="40000"/>
              </a:schemeClr>
            </a:solidFill>
            <a:miter lim="800000"/>
          </a:ln>
          <a:effectLst>
            <a:innerShdw blurRad="457200">
              <a:schemeClr val="accent1">
                <a:alpha val="80000"/>
              </a:schemeClr>
            </a:innerShdw>
            <a:softEdge rad="3175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13960-210B-8C44-ADE8-24754ADD3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4267200" y="0"/>
            <a:ext cx="4876800" cy="6858000"/>
            <a:chOff x="4267200" y="0"/>
            <a:chExt cx="4876800" cy="6858000"/>
          </a:xfrm>
        </p:grpSpPr>
        <p:pic>
          <p:nvPicPr>
            <p:cNvPr id="6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4301" r="46875"/>
            <a:stretch>
              <a:fillRect/>
            </a:stretch>
          </p:blipFill>
          <p:spPr bwMode="auto">
            <a:xfrm>
              <a:off x="4495800" y="0"/>
              <a:ext cx="46482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 flipH="1">
              <a:off x="4267200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3612822" cy="1536192"/>
          </a:xfrm>
        </p:spPr>
        <p:txBody>
          <a:bodyPr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73625" y="381000"/>
            <a:ext cx="3813175" cy="5697538"/>
          </a:xfr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457200">
              <a:schemeClr val="tx1">
                <a:lumMod val="50000"/>
                <a:lumOff val="50000"/>
                <a:alpha val="80000"/>
              </a:schemeClr>
            </a:innerShdw>
            <a:softEdge rad="127000"/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9984" y="2209799"/>
            <a:ext cx="3613792" cy="3222625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C925CD-4C5D-6D4E-9FE4-4D8095B5073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1373188"/>
            <a:ext cx="9144000" cy="5484812"/>
            <a:chOff x="0" y="1372650"/>
            <a:chExt cx="9144000" cy="548535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t="23334"/>
            <a:stretch>
              <a:fillRect/>
            </a:stretch>
          </p:blipFill>
          <p:spPr bwMode="auto">
            <a:xfrm>
              <a:off x="0" y="1600200"/>
              <a:ext cx="9144000" cy="525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Horizont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372650"/>
              <a:ext cx="9144000" cy="2678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85A41B-8327-0E42-B599-5675DCE9B2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0" y="0"/>
            <a:ext cx="7696200" cy="6858000"/>
            <a:chOff x="0" y="0"/>
            <a:chExt cx="7696200" cy="6858000"/>
          </a:xfrm>
        </p:grpSpPr>
        <p:pic>
          <p:nvPicPr>
            <p:cNvPr id="5" name="Picture 7" descr="Overlay-Blank.jpg"/>
            <p:cNvPicPr>
              <a:picLocks noChangeAspect="1"/>
            </p:cNvPicPr>
            <p:nvPr userDrawn="1"/>
          </p:nvPicPr>
          <p:blipFill>
            <a:blip r:embed="rId2"/>
            <a:srcRect l="1471" r="16862"/>
            <a:stretch>
              <a:fillRect/>
            </a:stretch>
          </p:blipFill>
          <p:spPr bwMode="auto">
            <a:xfrm>
              <a:off x="0" y="0"/>
              <a:ext cx="74676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Picture 8" descr="Overlay-VerticalBridge.jpg"/>
            <p:cNvPicPr>
              <a:picLocks noChangeAspect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428309" y="0"/>
              <a:ext cx="267891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0" y="381001"/>
            <a:ext cx="1447800" cy="5697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1"/>
            <a:ext cx="6705600" cy="56975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D9FD7-61BB-7A44-8CC2-6AE4A679CA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75779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en-US" dirty="0">
                <a:latin typeface="Arial" pitchFamily="-107" charset="0"/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1776" y="3024"/>
              <a:ext cx="3929" cy="1290"/>
              <a:chOff x="1776" y="3024"/>
              <a:chExt cx="3929" cy="1290"/>
            </a:xfrm>
          </p:grpSpPr>
          <p:grpSp>
            <p:nvGrpSpPr>
              <p:cNvPr id="1034" name="Group 5"/>
              <p:cNvGrpSpPr>
                <a:grpSpLocks/>
              </p:cNvGrpSpPr>
              <p:nvPr userDrawn="1"/>
            </p:nvGrpSpPr>
            <p:grpSpPr bwMode="auto">
              <a:xfrm>
                <a:off x="2268" y="3934"/>
                <a:ext cx="638" cy="377"/>
                <a:chOff x="2268" y="3934"/>
                <a:chExt cx="638" cy="377"/>
              </a:xfrm>
            </p:grpSpPr>
            <p:sp>
              <p:nvSpPr>
                <p:cNvPr id="75782" name="Oval 6"/>
                <p:cNvSpPr>
                  <a:spLocks noChangeArrowheads="1"/>
                </p:cNvSpPr>
                <p:nvPr/>
              </p:nvSpPr>
              <p:spPr bwMode="hidden">
                <a:xfrm>
                  <a:off x="2268" y="3934"/>
                  <a:ext cx="638" cy="3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3" name="Oval 7"/>
                <p:cNvSpPr>
                  <a:spLocks noChangeArrowheads="1"/>
                </p:cNvSpPr>
                <p:nvPr/>
              </p:nvSpPr>
              <p:spPr bwMode="hidden">
                <a:xfrm>
                  <a:off x="2314" y="3958"/>
                  <a:ext cx="543" cy="3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87843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4" name="Oval 8"/>
                <p:cNvSpPr>
                  <a:spLocks noChangeArrowheads="1"/>
                </p:cNvSpPr>
                <p:nvPr/>
              </p:nvSpPr>
              <p:spPr bwMode="hidden">
                <a:xfrm>
                  <a:off x="2341" y="3979"/>
                  <a:ext cx="501" cy="29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0980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5" name="Oval 9"/>
                <p:cNvSpPr>
                  <a:spLocks noChangeArrowheads="1"/>
                </p:cNvSpPr>
                <p:nvPr/>
              </p:nvSpPr>
              <p:spPr bwMode="hidden">
                <a:xfrm>
                  <a:off x="2368" y="3997"/>
                  <a:ext cx="444" cy="258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6" name="Oval 10"/>
                <p:cNvSpPr>
                  <a:spLocks noChangeArrowheads="1"/>
                </p:cNvSpPr>
                <p:nvPr/>
              </p:nvSpPr>
              <p:spPr bwMode="hidden">
                <a:xfrm>
                  <a:off x="2385" y="4005"/>
                  <a:ext cx="413" cy="24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7" name="Oval 11"/>
                <p:cNvSpPr>
                  <a:spLocks noChangeArrowheads="1"/>
                </p:cNvSpPr>
                <p:nvPr/>
              </p:nvSpPr>
              <p:spPr bwMode="hidden">
                <a:xfrm>
                  <a:off x="2437" y="4026"/>
                  <a:ext cx="306" cy="19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8784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8" name="Oval 12"/>
                <p:cNvSpPr>
                  <a:spLocks noChangeArrowheads="1"/>
                </p:cNvSpPr>
                <p:nvPr/>
              </p:nvSpPr>
              <p:spPr bwMode="hidden">
                <a:xfrm>
                  <a:off x="2476" y="4056"/>
                  <a:ext cx="227" cy="135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789" name="Oval 13"/>
                <p:cNvSpPr>
                  <a:spLocks noChangeArrowheads="1"/>
                </p:cNvSpPr>
                <p:nvPr/>
              </p:nvSpPr>
              <p:spPr bwMode="hidden">
                <a:xfrm>
                  <a:off x="2542" y="4097"/>
                  <a:ext cx="90" cy="60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0980"/>
                        <a:invGamma/>
                      </a:schemeClr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sp>
            <p:nvSpPr>
              <p:cNvPr id="75790" name="Oval 14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1" name="Oval 15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2" name="Oval 16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3" name="Oval 17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4" name="Oval 18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5" name="Freeform 19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6" name="Freeform 20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84706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7" name="Freeform 21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8" name="Freeform 22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799" name="Freeform 23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0" name="Freeform 24"/>
              <p:cNvSpPr>
                <a:spLocks/>
              </p:cNvSpPr>
              <p:nvPr/>
            </p:nvSpPr>
            <p:spPr bwMode="hidden">
              <a:xfrm>
                <a:off x="4175" y="4050"/>
                <a:ext cx="180" cy="132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29" y="132"/>
                  </a:cxn>
                  <a:cxn ang="0">
                    <a:pos x="77" y="108"/>
                  </a:cxn>
                  <a:cxn ang="0">
                    <a:pos x="119" y="78"/>
                  </a:cxn>
                  <a:cxn ang="0">
                    <a:pos x="155" y="48"/>
                  </a:cxn>
                  <a:cxn ang="0">
                    <a:pos x="179" y="12"/>
                  </a:cxn>
                  <a:cxn ang="0">
                    <a:pos x="173" y="6"/>
                  </a:cxn>
                  <a:cxn ang="0">
                    <a:pos x="167" y="0"/>
                  </a:cxn>
                  <a:cxn ang="0">
                    <a:pos x="137" y="42"/>
                  </a:cxn>
                  <a:cxn ang="0">
                    <a:pos x="101" y="78"/>
                  </a:cxn>
                  <a:cxn ang="0">
                    <a:pos x="53" y="108"/>
                  </a:cxn>
                  <a:cxn ang="0">
                    <a:pos x="0" y="132"/>
                  </a:cxn>
                  <a:cxn ang="0">
                    <a:pos x="0" y="132"/>
                  </a:cxn>
                </a:cxnLst>
                <a:rect l="0" t="0" r="r" b="b"/>
                <a:pathLst>
                  <a:path w="179" h="132">
                    <a:moveTo>
                      <a:pt x="0" y="132"/>
                    </a:moveTo>
                    <a:lnTo>
                      <a:pt x="29" y="132"/>
                    </a:lnTo>
                    <a:lnTo>
                      <a:pt x="77" y="108"/>
                    </a:lnTo>
                    <a:lnTo>
                      <a:pt x="119" y="78"/>
                    </a:lnTo>
                    <a:lnTo>
                      <a:pt x="155" y="48"/>
                    </a:lnTo>
                    <a:lnTo>
                      <a:pt x="179" y="12"/>
                    </a:lnTo>
                    <a:lnTo>
                      <a:pt x="173" y="6"/>
                    </a:lnTo>
                    <a:lnTo>
                      <a:pt x="167" y="0"/>
                    </a:lnTo>
                    <a:lnTo>
                      <a:pt x="137" y="42"/>
                    </a:lnTo>
                    <a:lnTo>
                      <a:pt x="101" y="78"/>
                    </a:lnTo>
                    <a:lnTo>
                      <a:pt x="53" y="108"/>
                    </a:lnTo>
                    <a:lnTo>
                      <a:pt x="0" y="132"/>
                    </a:lnTo>
                    <a:lnTo>
                      <a:pt x="0" y="1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1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90980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2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3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4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5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6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7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8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09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0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1" name="Freeform 35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2" name="Freeform 36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3" name="Freeform 37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4" name="Freeform 38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5" name="Freeform 39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6" name="Freeform 40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7" name="Freeform 41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8" name="Freeform 42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accent1">
                      <a:gamma/>
                      <a:shade val="9686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19" name="Freeform 43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0" name="Freeform 44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1" name="Freeform 45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tint val="96863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2" name="Freeform 46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3" name="Freeform 47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4" name="Freeform 48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5" name="Freeform 49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6" name="Freeform 50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7" name="Freeform 51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8" name="Freeform 52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sp>
            <p:nvSpPr>
              <p:cNvPr id="75829" name="Oval 53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94118"/>
                      <a:invGamma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pPr>
                  <a:defRPr/>
                </a:pPr>
                <a:endParaRPr lang="en-US" dirty="0">
                  <a:latin typeface="Arial" pitchFamily="-107" charset="0"/>
                </a:endParaRPr>
              </a:p>
            </p:txBody>
          </p:sp>
          <p:grpSp>
            <p:nvGrpSpPr>
              <p:cNvPr id="1075" name="Group 54"/>
              <p:cNvGrpSpPr>
                <a:grpSpLocks/>
              </p:cNvGrpSpPr>
              <p:nvPr userDrawn="1"/>
            </p:nvGrpSpPr>
            <p:grpSpPr bwMode="auto">
              <a:xfrm>
                <a:off x="4546" y="3608"/>
                <a:ext cx="518" cy="319"/>
                <a:chOff x="4546" y="3608"/>
                <a:chExt cx="518" cy="319"/>
              </a:xfrm>
            </p:grpSpPr>
            <p:sp>
              <p:nvSpPr>
                <p:cNvPr id="75831" name="Oval 55"/>
                <p:cNvSpPr>
                  <a:spLocks noChangeArrowheads="1"/>
                </p:cNvSpPr>
                <p:nvPr/>
              </p:nvSpPr>
              <p:spPr bwMode="hidden">
                <a:xfrm>
                  <a:off x="4546" y="3608"/>
                  <a:ext cx="518" cy="31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2" name="Oval 56"/>
                <p:cNvSpPr>
                  <a:spLocks noChangeArrowheads="1"/>
                </p:cNvSpPr>
                <p:nvPr/>
              </p:nvSpPr>
              <p:spPr bwMode="hidden">
                <a:xfrm>
                  <a:off x="4578" y="3630"/>
                  <a:ext cx="446" cy="27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tint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3" name="Oval 57"/>
                <p:cNvSpPr>
                  <a:spLocks noChangeArrowheads="1"/>
                </p:cNvSpPr>
                <p:nvPr/>
              </p:nvSpPr>
              <p:spPr bwMode="hidden">
                <a:xfrm>
                  <a:off x="4610" y="3650"/>
                  <a:ext cx="386" cy="233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4" name="Oval 58"/>
                <p:cNvSpPr>
                  <a:spLocks noChangeArrowheads="1"/>
                </p:cNvSpPr>
                <p:nvPr/>
              </p:nvSpPr>
              <p:spPr bwMode="hidden">
                <a:xfrm>
                  <a:off x="4654" y="3678"/>
                  <a:ext cx="298" cy="17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4118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5" name="Oval 59"/>
                <p:cNvSpPr>
                  <a:spLocks noChangeArrowheads="1"/>
                </p:cNvSpPr>
                <p:nvPr/>
              </p:nvSpPr>
              <p:spPr bwMode="hidden">
                <a:xfrm>
                  <a:off x="4690" y="3698"/>
                  <a:ext cx="222" cy="139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1">
                        <a:gamma/>
                        <a:shade val="94118"/>
                        <a:invGamma/>
                      </a:schemeClr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6" name="Oval 60"/>
                <p:cNvSpPr>
                  <a:spLocks noChangeArrowheads="1"/>
                </p:cNvSpPr>
                <p:nvPr/>
              </p:nvSpPr>
              <p:spPr bwMode="hidden">
                <a:xfrm>
                  <a:off x="4738" y="3728"/>
                  <a:ext cx="126" cy="81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>
                        <a:gamma/>
                        <a:shade val="96863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  <p:grpSp>
            <p:nvGrpSpPr>
              <p:cNvPr id="1076" name="Group 61"/>
              <p:cNvGrpSpPr>
                <a:grpSpLocks/>
              </p:cNvGrpSpPr>
              <p:nvPr userDrawn="1"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75838" name="Oval 62"/>
                <p:cNvSpPr>
                  <a:spLocks noChangeArrowheads="1"/>
                </p:cNvSpPr>
                <p:nvPr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39" name="Oval 63"/>
                <p:cNvSpPr>
                  <a:spLocks noChangeArrowheads="1"/>
                </p:cNvSpPr>
                <p:nvPr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40" name="Oval 64"/>
                <p:cNvSpPr>
                  <a:spLocks noChangeArrowheads="1"/>
                </p:cNvSpPr>
                <p:nvPr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  <p:sp>
              <p:nvSpPr>
                <p:cNvPr id="75841" name="Oval 65"/>
                <p:cNvSpPr>
                  <a:spLocks noChangeArrowheads="1"/>
                </p:cNvSpPr>
                <p:nvPr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dirty="0">
                    <a:latin typeface="Arial" pitchFamily="-107" charset="0"/>
                  </a:endParaRPr>
                </a:p>
              </p:txBody>
            </p:sp>
          </p:grpSp>
        </p:grpSp>
      </p:grpSp>
      <p:sp>
        <p:nvSpPr>
          <p:cNvPr id="75842" name="Rectangle 66"/>
          <p:cNvSpPr>
            <a:spLocks noGrp="1" noChangeArrowheads="1"/>
          </p:cNvSpPr>
          <p:nvPr>
            <p:ph type="title"/>
          </p:nvPr>
        </p:nvSpPr>
        <p:spPr bwMode="black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5843" name="Rectangle 67"/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844" name="Rectangle 68"/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  <p:sp>
        <p:nvSpPr>
          <p:cNvPr id="75845" name="Rectangle 69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-107" charset="0"/>
              </a:defRPr>
            </a:lvl1pPr>
          </a:lstStyle>
          <a:p>
            <a:pPr>
              <a:defRPr/>
            </a:pPr>
            <a:fld id="{39035AE5-5969-D34B-B84F-BCD4664DAD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5846" name="Rectangle 70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57200" y="1676400"/>
            <a:ext cx="82296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-84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-84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-84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ＭＳ Ｐゴシック" pitchFamily="-107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792163" y="39688"/>
            <a:ext cx="757078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92163" y="1762125"/>
            <a:ext cx="7570787" cy="42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5162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200" y="6356350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fld id="{3431E8D6-C4E6-E04D-BE90-11C56E0B4B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147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-1" charset="0"/>
              </a:defRPr>
            </a:lvl1pPr>
          </a:lstStyle>
          <a:p>
            <a:pPr>
              <a:defRPr/>
            </a:pPr>
            <a:r>
              <a:rPr lang="en-US"/>
              <a:t>© 2020 Pearson Education, Inc., Hoboken, NJ. All rights reserved.        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hf sldNum="0" hdr="0" dt="0"/>
  <p:txStyles>
    <p:titleStyle>
      <a:lvl1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2pPr>
      <a:lvl3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3pPr>
      <a:lvl4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4pPr>
      <a:lvl5pPr algn="ctr" rtl="0" eaLnBrk="0" fontAlgn="base" hangingPunct="0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5pPr>
      <a:lvl6pPr marL="4572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6pPr>
      <a:lvl7pPr marL="9144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7pPr>
      <a:lvl8pPr marL="13716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8pPr>
      <a:lvl9pPr marL="1828800" algn="ctr" rtl="0" fontAlgn="base">
        <a:lnSpc>
          <a:spcPts val="6000"/>
        </a:lnSpc>
        <a:spcBef>
          <a:spcPct val="0"/>
        </a:spcBef>
        <a:spcAft>
          <a:spcPct val="0"/>
        </a:spcAft>
        <a:defRPr sz="5400">
          <a:solidFill>
            <a:schemeClr val="tx2"/>
          </a:solidFill>
          <a:latin typeface="Candara" pitchFamily="-84" charset="0"/>
          <a:ea typeface="ＭＳ Ｐゴシック" pitchFamily="-84" charset="-128"/>
          <a:cs typeface="ＭＳ Ｐゴシック" pitchFamily="-84" charset="-128"/>
        </a:defRPr>
      </a:lvl9pPr>
    </p:titleStyle>
    <p:bodyStyle>
      <a:lvl1pPr marL="342900" indent="-342900" algn="l" rtl="0" eaLnBrk="0" fontAlgn="base" hangingPunct="0">
        <a:spcBef>
          <a:spcPts val="24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800" kern="1200">
          <a:solidFill>
            <a:schemeClr val="tx2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6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2pPr>
      <a:lvl3pPr marL="1035050" indent="-349250" algn="l" rtl="0" eaLnBrk="0" fontAlgn="base" hangingPunct="0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4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3pPr>
      <a:lvl4pPr marL="1371600" indent="-336550" algn="l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Font typeface="Candara" pitchFamily="-84" charset="0"/>
        <a:buChar char="•"/>
        <a:defRPr sz="22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4pPr>
      <a:lvl5pPr marL="1720850" indent="-349250" algn="l" rtl="0" eaLnBrk="0" fontAlgn="base" hangingPunct="0">
        <a:spcBef>
          <a:spcPts val="600"/>
        </a:spcBef>
        <a:spcAft>
          <a:spcPct val="0"/>
        </a:spcAft>
        <a:buClr>
          <a:srgbClr val="BAABE3"/>
        </a:buClr>
        <a:buFont typeface="Candara" pitchFamily="-84" charset="0"/>
        <a:buChar char="•"/>
        <a:defRPr sz="2000" kern="1200">
          <a:solidFill>
            <a:schemeClr val="tx2"/>
          </a:solidFill>
          <a:latin typeface="+mn-lt"/>
          <a:ea typeface="ＭＳ Ｐゴシック" pitchFamily="-8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co.com/c/en/us/support/security/asa-5500-series-next-generation-firewalls/serie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pn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58702A-BFEA-B9F0-1D2E-F3FB2681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2020 Pearson Education, Inc., Hoboken, NJ.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B1861A-763D-5551-355E-BAAB9116F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447" y="523745"/>
            <a:ext cx="4521986" cy="5810509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C53D45E4-C156-D7BC-BF9F-A07BC3F8B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321" y="1490951"/>
            <a:ext cx="3854932" cy="101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77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77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University of Nevada – Reno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Computer Science &amp; Engineering Department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CS454/654 Reliability and Security of Computing Systems  - Fall 2024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2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book&#10;&#10;Description automatically generated">
            <a:extLst>
              <a:ext uri="{FF2B5EF4-FFF2-40B4-BE49-F238E27FC236}">
                <a16:creationId xmlns:a16="http://schemas.microsoft.com/office/drawing/2014/main" id="{B5199C99-8CFD-B4F3-363E-A5A6E2B80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307" y="332656"/>
            <a:ext cx="6150029" cy="609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36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B6BA46F-69E5-29B0-E2E6-8726BD34F2B6}"/>
              </a:ext>
            </a:extLst>
          </p:cNvPr>
          <p:cNvSpPr txBox="1"/>
          <p:nvPr/>
        </p:nvSpPr>
        <p:spPr>
          <a:xfrm>
            <a:off x="251520" y="260648"/>
            <a:ext cx="13933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Firewalls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7DF5D-B264-2F9F-80D8-C044CE6D3559}"/>
              </a:ext>
            </a:extLst>
          </p:cNvPr>
          <p:cNvSpPr txBox="1"/>
          <p:nvPr/>
        </p:nvSpPr>
        <p:spPr>
          <a:xfrm>
            <a:off x="251520" y="1052736"/>
            <a:ext cx="889248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Deployed</a:t>
            </a:r>
            <a:r>
              <a:rPr lang="en-US" dirty="0"/>
              <a:t> on </a:t>
            </a:r>
            <a:r>
              <a:rPr lang="en-US" dirty="0">
                <a:solidFill>
                  <a:srgbClr val="FF0000"/>
                </a:solidFill>
              </a:rPr>
              <a:t>outer perimeter </a:t>
            </a:r>
            <a:r>
              <a:rPr lang="en-US" dirty="0"/>
              <a:t>of the network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 deployed in </a:t>
            </a:r>
            <a:r>
              <a:rPr lang="en-US" dirty="0">
                <a:solidFill>
                  <a:srgbClr val="FF0000"/>
                </a:solidFill>
              </a:rPr>
              <a:t>inner</a:t>
            </a:r>
            <a:r>
              <a:rPr lang="en-US" dirty="0"/>
              <a:t> network to </a:t>
            </a:r>
            <a:r>
              <a:rPr lang="en-US" dirty="0">
                <a:solidFill>
                  <a:srgbClr val="FF0000"/>
                </a:solidFill>
              </a:rPr>
              <a:t>segregate portions </a:t>
            </a:r>
            <a:r>
              <a:rPr lang="en-US" dirty="0"/>
              <a:t>of the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Enforces access policy.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Four techniques </a:t>
            </a:r>
            <a:r>
              <a:rPr lang="en-US" dirty="0"/>
              <a:t>that firewalls use to control access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Service control:</a:t>
            </a:r>
            <a:r>
              <a:rPr lang="en-US" dirty="0"/>
              <a:t> What type of services can be accessed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Direction control:</a:t>
            </a:r>
            <a:r>
              <a:rPr lang="en-US" dirty="0"/>
              <a:t> What should be the direction of the traffic for service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User control:</a:t>
            </a:r>
            <a:r>
              <a:rPr lang="en-US" dirty="0"/>
              <a:t> Tailoring the access depending on user.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Behavioral control:</a:t>
            </a:r>
            <a:r>
              <a:rPr lang="en-US" dirty="0"/>
              <a:t> How particular service can be used.</a:t>
            </a:r>
          </a:p>
        </p:txBody>
      </p:sp>
      <p:pic>
        <p:nvPicPr>
          <p:cNvPr id="12" name="Picture 11" descr="A diagram of a firewall&#10;&#10;Description automatically generated">
            <a:extLst>
              <a:ext uri="{FF2B5EF4-FFF2-40B4-BE49-F238E27FC236}">
                <a16:creationId xmlns:a16="http://schemas.microsoft.com/office/drawing/2014/main" id="{CC1AA9E8-FE9E-4860-8C37-A168E9750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636" y="2250896"/>
            <a:ext cx="6224379" cy="2068581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B6BA46F-69E5-29B0-E2E6-8726BD34F2B6}"/>
              </a:ext>
            </a:extLst>
          </p:cNvPr>
          <p:cNvSpPr txBox="1"/>
          <p:nvPr/>
        </p:nvSpPr>
        <p:spPr>
          <a:xfrm>
            <a:off x="251520" y="260648"/>
            <a:ext cx="13933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Firewalls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E7DF5D-B264-2F9F-80D8-C044CE6D3559}"/>
              </a:ext>
            </a:extLst>
          </p:cNvPr>
          <p:cNvSpPr txBox="1"/>
          <p:nvPr/>
        </p:nvSpPr>
        <p:spPr>
          <a:xfrm>
            <a:off x="251520" y="1052736"/>
            <a:ext cx="889248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Firewall enables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Traffic </a:t>
            </a:r>
            <a:r>
              <a:rPr lang="en-US" dirty="0">
                <a:solidFill>
                  <a:srgbClr val="FF0000"/>
                </a:solidFill>
              </a:rPr>
              <a:t>monitoring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Network address translation (</a:t>
            </a:r>
            <a:r>
              <a:rPr lang="en-US" dirty="0">
                <a:solidFill>
                  <a:srgbClr val="FF0000"/>
                </a:solidFill>
              </a:rPr>
              <a:t>NAT</a:t>
            </a:r>
            <a:r>
              <a:rPr lang="en-US" dirty="0"/>
              <a:t>) and logging internet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Facilitate Virtual Private Networks (</a:t>
            </a:r>
            <a:r>
              <a:rPr lang="en-US" dirty="0">
                <a:solidFill>
                  <a:srgbClr val="FF0000"/>
                </a:solidFill>
              </a:rPr>
              <a:t>VPN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However, firewall </a:t>
            </a:r>
            <a:r>
              <a:rPr lang="en-US" dirty="0">
                <a:solidFill>
                  <a:srgbClr val="FF0000"/>
                </a:solidFill>
              </a:rPr>
              <a:t>can not protect internal threats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Types of 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Packet 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Stateful Inspection 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Application Level Gateway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Circuit-level gateway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630788"/>
      </p:ext>
    </p:extLst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E7DF5D-B264-2F9F-80D8-C044CE6D3559}"/>
              </a:ext>
            </a:extLst>
          </p:cNvPr>
          <p:cNvSpPr txBox="1"/>
          <p:nvPr/>
        </p:nvSpPr>
        <p:spPr>
          <a:xfrm>
            <a:off x="251520" y="260648"/>
            <a:ext cx="889248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Packet Filtering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filtering to traffic based on source/destination IP, protocol, and port number.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Examine each individual packet and </a:t>
            </a:r>
            <a:r>
              <a:rPr lang="en-US" dirty="0">
                <a:solidFill>
                  <a:srgbClr val="FF0000"/>
                </a:solidFill>
              </a:rPr>
              <a:t>apply predefined rules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Cisco ASA 5500-X Series Firewalls - Supports simple packet filtering </a:t>
            </a:r>
            <a:r>
              <a:rPr lang="en-US" sz="1400" dirty="0">
                <a:hlinkClick r:id="rId3"/>
              </a:rPr>
              <a:t>https://www.cisco.com/c/en/us/support/security/asa-5500-series-next-generation-firewalls/series.html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A table with text and images&#10;&#10;Description automatically generated with medium confidence">
            <a:extLst>
              <a:ext uri="{FF2B5EF4-FFF2-40B4-BE49-F238E27FC236}">
                <a16:creationId xmlns:a16="http://schemas.microsoft.com/office/drawing/2014/main" id="{A7E33F95-3601-1371-332D-D38C6F91F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2495078"/>
            <a:ext cx="6978095" cy="410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88402"/>
      </p:ext>
    </p:extLst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CD14E-9404-3215-17C2-D9C5CB7A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ED7609-6E8E-EE01-91E6-C0BB25ECEE74}"/>
              </a:ext>
            </a:extLst>
          </p:cNvPr>
          <p:cNvSpPr txBox="1"/>
          <p:nvPr/>
        </p:nvSpPr>
        <p:spPr>
          <a:xfrm>
            <a:off x="251520" y="260648"/>
            <a:ext cx="889248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Packet Filtering Attacks &amp; Countermeasures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1. IP address spoofing</a:t>
            </a:r>
            <a:r>
              <a:rPr lang="en-US" dirty="0"/>
              <a:t>. Spoofed IP address belongs to an internal host. </a:t>
            </a:r>
          </a:p>
          <a:p>
            <a:endParaRPr lang="en-US" dirty="0"/>
          </a:p>
          <a:p>
            <a:r>
              <a:rPr lang="en-US" dirty="0"/>
              <a:t>Countermeasure: discard packets with an inside source IP address if the packet arrives on an external interface (typically implemented on a router external to the firewall).</a:t>
            </a:r>
          </a:p>
          <a:p>
            <a:endParaRPr lang="en-US" dirty="0"/>
          </a:p>
          <a:p>
            <a:r>
              <a:rPr lang="en-US" b="1" dirty="0"/>
              <a:t>2. Source Routing Attacks. </a:t>
            </a:r>
            <a:r>
              <a:rPr lang="en-US" dirty="0"/>
              <a:t>It attempts to specify the route (path on the Internet) in hopes that it will bypass security measures that do not analyze the source routing information.</a:t>
            </a:r>
          </a:p>
          <a:p>
            <a:endParaRPr lang="en-US" dirty="0"/>
          </a:p>
          <a:p>
            <a:r>
              <a:rPr lang="en-US" dirty="0"/>
              <a:t>Countermeasure: discard all packets that use this option.</a:t>
            </a:r>
          </a:p>
          <a:p>
            <a:endParaRPr lang="en-US" dirty="0"/>
          </a:p>
          <a:p>
            <a:r>
              <a:rPr lang="en-US" b="1" dirty="0"/>
              <a:t>3. Tiny fragment attacks. </a:t>
            </a:r>
            <a:r>
              <a:rPr lang="en-US" dirty="0"/>
              <a:t>Attempt to use IP fragmentation option to create extremely small fragments and force TCP header information into a separate packet fragment.  IT attempts to circumvent  the filtering rules that depend on TCP header information. </a:t>
            </a:r>
          </a:p>
          <a:p>
            <a:endParaRPr lang="en-US" dirty="0"/>
          </a:p>
          <a:p>
            <a:r>
              <a:rPr lang="en-US" dirty="0"/>
              <a:t>Countermeasure: enforcing the rule that the first fragment of a packet must contain a predefined minimum amount of the transport header. If the first fragment is rejected, then the filter can remember the packet and discard all subsequent fragments. 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092375"/>
      </p:ext>
    </p:extLst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E7DF5D-B264-2F9F-80D8-C044CE6D3559}"/>
              </a:ext>
            </a:extLst>
          </p:cNvPr>
          <p:cNvSpPr txBox="1"/>
          <p:nvPr/>
        </p:nvSpPr>
        <p:spPr>
          <a:xfrm>
            <a:off x="251520" y="404664"/>
            <a:ext cx="88924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Stateful Inspection 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stateful packet inspection firewall reviews the same packet information as a </a:t>
            </a:r>
            <a:r>
              <a:rPr lang="en-US" dirty="0">
                <a:solidFill>
                  <a:srgbClr val="FF0000"/>
                </a:solidFill>
              </a:rPr>
              <a:t>packet filtering firewall</a:t>
            </a:r>
            <a:r>
              <a:rPr lang="en-US" dirty="0"/>
              <a:t>, but </a:t>
            </a:r>
            <a:r>
              <a:rPr lang="en-US" dirty="0">
                <a:solidFill>
                  <a:srgbClr val="FF0000"/>
                </a:solidFill>
              </a:rPr>
              <a:t>also records information about TCP connections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firewall compares incoming packets with a state table that contains information about current  TCP connections.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A table with numbers and a number&#10;&#10;Description automatically generated">
            <a:extLst>
              <a:ext uri="{FF2B5EF4-FFF2-40B4-BE49-F238E27FC236}">
                <a16:creationId xmlns:a16="http://schemas.microsoft.com/office/drawing/2014/main" id="{3922F4A2-2FE9-77C2-8FD7-E81B0219D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0" y="2996952"/>
            <a:ext cx="6949668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580135"/>
      </p:ext>
    </p:extLst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E7DF5D-B264-2F9F-80D8-C044CE6D3559}"/>
              </a:ext>
            </a:extLst>
          </p:cNvPr>
          <p:cNvSpPr txBox="1"/>
          <p:nvPr/>
        </p:nvSpPr>
        <p:spPr>
          <a:xfrm>
            <a:off x="220243" y="260648"/>
            <a:ext cx="88162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Application-Level Gateway (Proxy Firewall)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application-level gateway, </a:t>
            </a:r>
            <a:r>
              <a:rPr lang="en-US" sz="1600" dirty="0">
                <a:solidFill>
                  <a:srgbClr val="FF0000"/>
                </a:solidFill>
              </a:rPr>
              <a:t>also known as an application proxy</a:t>
            </a:r>
            <a:r>
              <a:rPr lang="en-US" sz="1600" dirty="0"/>
              <a:t>, operates as a relay for application-level traffic, here how it works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Client Interaction</a:t>
            </a:r>
            <a:r>
              <a:rPr lang="en-US" sz="1600" dirty="0"/>
              <a:t>: The </a:t>
            </a:r>
            <a:r>
              <a:rPr lang="en-US" sz="1600" dirty="0">
                <a:solidFill>
                  <a:srgbClr val="FF0000"/>
                </a:solidFill>
              </a:rPr>
              <a:t>user initiates a connection </a:t>
            </a:r>
            <a:r>
              <a:rPr lang="en-US" sz="1600" dirty="0"/>
              <a:t>using a TCP/IP protocol using an application (like Telnet or FTP) and </a:t>
            </a:r>
            <a:r>
              <a:rPr lang="en-US" sz="1600" dirty="0">
                <a:solidFill>
                  <a:srgbClr val="FF0000"/>
                </a:solidFill>
              </a:rPr>
              <a:t>contacts the firewall gateway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Authentication: </a:t>
            </a:r>
            <a:r>
              <a:rPr lang="en-US" sz="1600" dirty="0"/>
              <a:t>Upon connection, the gateway asks the user for information such as the remote host's name, user ID, and </a:t>
            </a:r>
            <a:r>
              <a:rPr lang="en-US" sz="1600" dirty="0">
                <a:solidFill>
                  <a:srgbClr val="FF0000"/>
                </a:solidFill>
              </a:rPr>
              <a:t>authentication credentials</a:t>
            </a:r>
            <a:r>
              <a:rPr lang="en-US" sz="1600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Relaying Traffic: </a:t>
            </a:r>
            <a:r>
              <a:rPr lang="en-US" sz="1600" dirty="0"/>
              <a:t>The gateway then contacts the application on the remote host, </a:t>
            </a:r>
            <a:r>
              <a:rPr lang="en-US" sz="1600" dirty="0">
                <a:solidFill>
                  <a:srgbClr val="FF0000"/>
                </a:solidFill>
              </a:rPr>
              <a:t>forwarding the application data between the client and the server</a:t>
            </a:r>
            <a:r>
              <a:rPr lang="en-US" sz="1600" dirty="0"/>
              <a:t>. </a:t>
            </a:r>
          </a:p>
        </p:txBody>
      </p:sp>
      <p:pic>
        <p:nvPicPr>
          <p:cNvPr id="3" name="Picture 2" descr="A diagram of a network connection&#10;&#10;Description automatically generated">
            <a:extLst>
              <a:ext uri="{FF2B5EF4-FFF2-40B4-BE49-F238E27FC236}">
                <a16:creationId xmlns:a16="http://schemas.microsoft.com/office/drawing/2014/main" id="{801DF16F-540A-E0FD-437F-97C2BFE96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148" y="3122970"/>
            <a:ext cx="5626100" cy="340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4B55F7-28B6-6AEC-86F9-1173D7B9E2FB}"/>
              </a:ext>
            </a:extLst>
          </p:cNvPr>
          <p:cNvSpPr txBox="1"/>
          <p:nvPr/>
        </p:nvSpPr>
        <p:spPr>
          <a:xfrm>
            <a:off x="-226516" y="3122970"/>
            <a:ext cx="374441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Application-Specific Proxy:</a:t>
            </a:r>
            <a:r>
              <a:rPr lang="en-US" sz="1600" dirty="0"/>
              <a:t> The gateway </a:t>
            </a:r>
            <a:r>
              <a:rPr lang="en-US" sz="1600" dirty="0">
                <a:solidFill>
                  <a:srgbClr val="FF0000"/>
                </a:solidFill>
              </a:rPr>
              <a:t>only relays traffic </a:t>
            </a:r>
            <a:r>
              <a:rPr lang="en-US" sz="1600" dirty="0"/>
              <a:t>for applications it has been </a:t>
            </a:r>
            <a:r>
              <a:rPr lang="en-US" sz="1600" dirty="0">
                <a:solidFill>
                  <a:srgbClr val="FF0000"/>
                </a:solidFill>
              </a:rPr>
              <a:t>specifically configured to handle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Feature Control:</a:t>
            </a:r>
            <a:r>
              <a:rPr lang="en-US" sz="1600" dirty="0"/>
              <a:t> Administrators can configure the gateway to allow only </a:t>
            </a:r>
            <a:r>
              <a:rPr lang="en-US" sz="1600" dirty="0">
                <a:solidFill>
                  <a:srgbClr val="FF0000"/>
                </a:solidFill>
              </a:rPr>
              <a:t>certain features of an application.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</a:rPr>
              <a:t>Prime disadvantage: </a:t>
            </a:r>
            <a:r>
              <a:rPr lang="en-US" sz="1600" dirty="0"/>
              <a:t>the additional processing overhead on each connection gateway must examine all traffic in both directions.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54108849"/>
      </p:ext>
    </p:extLst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E7DF5D-B264-2F9F-80D8-C044CE6D3559}"/>
              </a:ext>
            </a:extLst>
          </p:cNvPr>
          <p:cNvSpPr txBox="1"/>
          <p:nvPr/>
        </p:nvSpPr>
        <p:spPr>
          <a:xfrm>
            <a:off x="220243" y="260648"/>
            <a:ext cx="8816253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Circuit-level gateway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Circuit-level gateway </a:t>
            </a:r>
            <a:r>
              <a:rPr lang="en-US" sz="1600" dirty="0">
                <a:solidFill>
                  <a:srgbClr val="FF0000"/>
                </a:solidFill>
              </a:rPr>
              <a:t>does not </a:t>
            </a:r>
            <a:r>
              <a:rPr lang="en-US" sz="1600" dirty="0"/>
              <a:t>permit direct TCP connections; 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circuit-level gateway </a:t>
            </a:r>
            <a:r>
              <a:rPr lang="en-US" sz="1600" dirty="0">
                <a:solidFill>
                  <a:srgbClr val="FF0000"/>
                </a:solidFill>
              </a:rPr>
              <a:t>establishes two separate TCP connections</a:t>
            </a:r>
            <a:r>
              <a:rPr lang="en-US" sz="1600" dirty="0"/>
              <a:t>: from client (external) to firewall, and from firewall to server (internal). Then it </a:t>
            </a:r>
            <a:r>
              <a:rPr lang="en-US" sz="1600" dirty="0">
                <a:solidFill>
                  <a:srgbClr val="FF0000"/>
                </a:solidFill>
              </a:rPr>
              <a:t>acts as a relay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 simply forwards TCP segments (i.e., packets) from one connection to the other without inspecting the contents of the traffic.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B55F7-28B6-6AEC-86F9-1173D7B9E2FB}"/>
              </a:ext>
            </a:extLst>
          </p:cNvPr>
          <p:cNvSpPr txBox="1"/>
          <p:nvPr/>
        </p:nvSpPr>
        <p:spPr>
          <a:xfrm>
            <a:off x="-226516" y="2564904"/>
            <a:ext cx="9263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 typical use case for a circuit-level gateway is when a network administrator </a:t>
            </a:r>
            <a:r>
              <a:rPr lang="en-US" sz="1600" dirty="0">
                <a:solidFill>
                  <a:srgbClr val="FF0000"/>
                </a:solidFill>
              </a:rPr>
              <a:t>trusts the external users</a:t>
            </a:r>
            <a:r>
              <a:rPr lang="en-US" sz="1600" dirty="0"/>
              <a:t> but wants to </a:t>
            </a:r>
            <a:r>
              <a:rPr lang="en-US" sz="1600" dirty="0">
                <a:solidFill>
                  <a:srgbClr val="FF0000"/>
                </a:solidFill>
              </a:rPr>
              <a:t>control the connections </a:t>
            </a:r>
            <a:r>
              <a:rPr lang="en-US" sz="1600" dirty="0"/>
              <a:t>that are established from the internal network to the external network (and vice versa). </a:t>
            </a:r>
          </a:p>
        </p:txBody>
      </p:sp>
      <p:pic>
        <p:nvPicPr>
          <p:cNvPr id="5" name="Picture 4" descr="A diagram of a firewall&#10;&#10;Description automatically generated">
            <a:extLst>
              <a:ext uri="{FF2B5EF4-FFF2-40B4-BE49-F238E27FC236}">
                <a16:creationId xmlns:a16="http://schemas.microsoft.com/office/drawing/2014/main" id="{4C556EA5-EECA-0FC2-3C66-80D3BEADE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29" y="4005064"/>
            <a:ext cx="7281587" cy="261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878392"/>
      </p:ext>
    </p:extLst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E7DF5D-B264-2F9F-80D8-C044CE6D3559}"/>
              </a:ext>
            </a:extLst>
          </p:cNvPr>
          <p:cNvSpPr txBox="1"/>
          <p:nvPr/>
        </p:nvSpPr>
        <p:spPr>
          <a:xfrm>
            <a:off x="220243" y="260648"/>
            <a:ext cx="881625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Demilitarized Zone (DMZ)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Positioned between external and internal firewalls</a:t>
            </a:r>
            <a:r>
              <a:rPr lang="en-US" sz="16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4B55F7-28B6-6AEC-86F9-1173D7B9E2FB}"/>
              </a:ext>
            </a:extLst>
          </p:cNvPr>
          <p:cNvSpPr txBox="1"/>
          <p:nvPr/>
        </p:nvSpPr>
        <p:spPr>
          <a:xfrm>
            <a:off x="-298523" y="1153200"/>
            <a:ext cx="458249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dirty="0">
                <a:solidFill>
                  <a:srgbClr val="FF0000"/>
                </a:solidFill>
              </a:rPr>
              <a:t>DMZ hosts publicly accessible </a:t>
            </a:r>
            <a:r>
              <a:rPr lang="en-US" sz="1400" dirty="0"/>
              <a:t>systems like web servers, email servers, and DNS servers. These systems require external connectivity (e.g., to the internet) but also need protection from the internet.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External Firewall:</a:t>
            </a:r>
            <a:r>
              <a:rPr lang="en-US" sz="1400" dirty="0"/>
              <a:t> Provides </a:t>
            </a:r>
            <a:r>
              <a:rPr lang="en-US" sz="1400" dirty="0">
                <a:solidFill>
                  <a:srgbClr val="FF0000"/>
                </a:solidFill>
              </a:rPr>
              <a:t>basic</a:t>
            </a:r>
            <a:r>
              <a:rPr lang="en-US" sz="1400" dirty="0"/>
              <a:t> protection and access control for the DMZ and the enterprise network from the external network.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Internal Firewalls:</a:t>
            </a:r>
            <a:r>
              <a:rPr lang="en-US" sz="1400" dirty="0"/>
              <a:t> Offer </a:t>
            </a:r>
            <a:r>
              <a:rPr lang="en-US" sz="1400" dirty="0">
                <a:solidFill>
                  <a:srgbClr val="FF0000"/>
                </a:solidFill>
              </a:rPr>
              <a:t>more detailed filtering</a:t>
            </a:r>
            <a:r>
              <a:rPr lang="en-US" sz="1400" dirty="0"/>
              <a:t> and protect both the core network and the DMZ, ensuring that internal systems are protected from external attacks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Common practice: place the DMZ on a different network interface on the external firewall from that used to access the internal networks.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Benefits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Layered defense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Controlled exposure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Internal Segmentation</a:t>
            </a:r>
          </a:p>
        </p:txBody>
      </p:sp>
      <p:pic>
        <p:nvPicPr>
          <p:cNvPr id="3" name="Picture 2" descr="A diagram of a network&#10;&#10;Description automatically generated">
            <a:extLst>
              <a:ext uri="{FF2B5EF4-FFF2-40B4-BE49-F238E27FC236}">
                <a16:creationId xmlns:a16="http://schemas.microsoft.com/office/drawing/2014/main" id="{5B28D3D1-DD38-3765-4853-1D3941864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1149706"/>
            <a:ext cx="4482886" cy="570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51011"/>
      </p:ext>
    </p:extLst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E7DF5D-B264-2F9F-80D8-C044CE6D3559}"/>
              </a:ext>
            </a:extLst>
          </p:cNvPr>
          <p:cNvSpPr txBox="1"/>
          <p:nvPr/>
        </p:nvSpPr>
        <p:spPr>
          <a:xfrm>
            <a:off x="220243" y="260648"/>
            <a:ext cx="8816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Intrusion Detection Systems (IDS)</a:t>
            </a:r>
          </a:p>
          <a:p>
            <a:endParaRPr lang="en-US" dirty="0"/>
          </a:p>
        </p:txBody>
      </p:sp>
      <p:pic>
        <p:nvPicPr>
          <p:cNvPr id="5" name="Picture 4" descr="A diagram of a network&#10;&#10;Description automatically generated">
            <a:extLst>
              <a:ext uri="{FF2B5EF4-FFF2-40B4-BE49-F238E27FC236}">
                <a16:creationId xmlns:a16="http://schemas.microsoft.com/office/drawing/2014/main" id="{9C9CA421-DAFD-E385-5F71-9EC6E03C1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5954"/>
            <a:ext cx="4875492" cy="5306091"/>
          </a:xfrm>
          <a:prstGeom prst="rect">
            <a:avLst/>
          </a:prstGeom>
        </p:spPr>
      </p:pic>
      <p:pic>
        <p:nvPicPr>
          <p:cNvPr id="8" name="Picture 7" descr="A diagram of malware defense&#10;&#10;Description automatically generated">
            <a:extLst>
              <a:ext uri="{FF2B5EF4-FFF2-40B4-BE49-F238E27FC236}">
                <a16:creationId xmlns:a16="http://schemas.microsoft.com/office/drawing/2014/main" id="{16F5E241-3D25-0727-8D0D-692AB9DA2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388" y="4498101"/>
            <a:ext cx="3830602" cy="2122180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73364A46-F034-C034-04C2-D66D63DACD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388" y="824771"/>
            <a:ext cx="3870177" cy="489419"/>
          </a:xfrm>
          <a:prstGeom prst="rect">
            <a:avLst/>
          </a:prstGeom>
        </p:spPr>
      </p:pic>
      <p:pic>
        <p:nvPicPr>
          <p:cNvPr id="7" name="Picture 6" descr="A close-up of different types of smart devices&#10;&#10;Description automatically generated">
            <a:extLst>
              <a:ext uri="{FF2B5EF4-FFF2-40B4-BE49-F238E27FC236}">
                <a16:creationId xmlns:a16="http://schemas.microsoft.com/office/drawing/2014/main" id="{A638C633-6185-56B4-B9B9-9603C1FEB6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5707" y="1361185"/>
            <a:ext cx="2765478" cy="1544960"/>
          </a:xfrm>
          <a:prstGeom prst="rect">
            <a:avLst/>
          </a:prstGeom>
        </p:spPr>
      </p:pic>
      <p:pic>
        <p:nvPicPr>
          <p:cNvPr id="10" name="Picture 9" descr="A computer and tablet on a table&#10;&#10;Description automatically generated">
            <a:extLst>
              <a:ext uri="{FF2B5EF4-FFF2-40B4-BE49-F238E27FC236}">
                <a16:creationId xmlns:a16="http://schemas.microsoft.com/office/drawing/2014/main" id="{93DBBF00-AEEE-74CC-7CD4-7F0662F172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824" y="2934132"/>
            <a:ext cx="2292028" cy="1341261"/>
          </a:xfrm>
          <a:prstGeom prst="rect">
            <a:avLst/>
          </a:prstGeom>
        </p:spPr>
      </p:pic>
      <p:pic>
        <p:nvPicPr>
          <p:cNvPr id="12" name="Picture 11" descr="A close-up of a black and gold electronic device&#10;&#10;Description automatically generated">
            <a:extLst>
              <a:ext uri="{FF2B5EF4-FFF2-40B4-BE49-F238E27FC236}">
                <a16:creationId xmlns:a16="http://schemas.microsoft.com/office/drawing/2014/main" id="{A29E337C-66D0-D915-3BAC-DCE087D428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328" y="3128853"/>
            <a:ext cx="1404802" cy="985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5564"/>
      </p:ext>
    </p:extLst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E7DF5D-B264-2F9F-80D8-C044CE6D3559}"/>
              </a:ext>
            </a:extLst>
          </p:cNvPr>
          <p:cNvSpPr txBox="1"/>
          <p:nvPr/>
        </p:nvSpPr>
        <p:spPr>
          <a:xfrm>
            <a:off x="220243" y="260648"/>
            <a:ext cx="8816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Denial of Service Attacks (DDoS)</a:t>
            </a:r>
          </a:p>
          <a:p>
            <a:endParaRPr lang="en-US" dirty="0"/>
          </a:p>
        </p:txBody>
      </p:sp>
      <p:pic>
        <p:nvPicPr>
          <p:cNvPr id="3" name="Picture 2" descr="A diagram of a network&#10;&#10;Description automatically generated">
            <a:extLst>
              <a:ext uri="{FF2B5EF4-FFF2-40B4-BE49-F238E27FC236}">
                <a16:creationId xmlns:a16="http://schemas.microsoft.com/office/drawing/2014/main" id="{5B1D0AC6-C9FA-E05D-DFB0-3E13B98F7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647700"/>
            <a:ext cx="478790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134781"/>
      </p:ext>
    </p:extLst>
  </p:cSld>
  <p:clrMapOvr>
    <a:masterClrMapping/>
  </p:clrMapOvr>
  <p:transition spd="med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diagram of a network&#10;&#10;Description automatically generated">
            <a:extLst>
              <a:ext uri="{FF2B5EF4-FFF2-40B4-BE49-F238E27FC236}">
                <a16:creationId xmlns:a16="http://schemas.microsoft.com/office/drawing/2014/main" id="{479D701C-A428-2508-8885-9B765B75D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6104"/>
            <a:ext cx="7956376" cy="493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08511"/>
      </p:ext>
    </p:extLst>
  </p:cSld>
  <p:clrMapOvr>
    <a:masterClrMapping/>
  </p:clrMapOvr>
  <p:transition spd="med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book&#10;&#10;Description automatically generated">
            <a:extLst>
              <a:ext uri="{FF2B5EF4-FFF2-40B4-BE49-F238E27FC236}">
                <a16:creationId xmlns:a16="http://schemas.microsoft.com/office/drawing/2014/main" id="{B5199C99-8CFD-B4F3-363E-A5A6E2B80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307" y="332656"/>
            <a:ext cx="6150029" cy="609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84691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ch01">
  <a:themeElements>
    <a:clrScheme name="ch01 4">
      <a:dk1>
        <a:srgbClr val="9B69FF"/>
      </a:dk1>
      <a:lt1>
        <a:srgbClr val="FFFFFF"/>
      </a:lt1>
      <a:dk2>
        <a:srgbClr val="666699"/>
      </a:dk2>
      <a:lt2>
        <a:srgbClr val="D9D9FF"/>
      </a:lt2>
      <a:accent1>
        <a:srgbClr val="9966FF"/>
      </a:accent1>
      <a:accent2>
        <a:srgbClr val="00FFFF"/>
      </a:accent2>
      <a:accent3>
        <a:srgbClr val="B8B8CA"/>
      </a:accent3>
      <a:accent4>
        <a:srgbClr val="DADADA"/>
      </a:accent4>
      <a:accent5>
        <a:srgbClr val="CAB8FF"/>
      </a:accent5>
      <a:accent6>
        <a:srgbClr val="00E7E7"/>
      </a:accent6>
      <a:hlink>
        <a:srgbClr val="5FAFFF"/>
      </a:hlink>
      <a:folHlink>
        <a:srgbClr val="003399"/>
      </a:folHlink>
    </a:clrScheme>
    <a:fontScheme name="ch0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h01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2E2E8E"/>
        </a:accent1>
        <a:accent2>
          <a:srgbClr val="0066CC"/>
        </a:accent2>
        <a:accent3>
          <a:srgbClr val="AAACB1"/>
        </a:accent3>
        <a:accent4>
          <a:srgbClr val="DADADA"/>
        </a:accent4>
        <a:accent5>
          <a:srgbClr val="ADADC6"/>
        </a:accent5>
        <a:accent6>
          <a:srgbClr val="005CB9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58718C"/>
        </a:accent1>
        <a:accent2>
          <a:srgbClr val="6D9D97"/>
        </a:accent2>
        <a:accent3>
          <a:srgbClr val="B0B9C3"/>
        </a:accent3>
        <a:accent4>
          <a:srgbClr val="DADADA"/>
        </a:accent4>
        <a:accent5>
          <a:srgbClr val="B4BBC5"/>
        </a:accent5>
        <a:accent6>
          <a:srgbClr val="628E88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88E4"/>
        </a:accent1>
        <a:accent2>
          <a:srgbClr val="009999"/>
        </a:accent2>
        <a:accent3>
          <a:srgbClr val="AAB9D3"/>
        </a:accent3>
        <a:accent4>
          <a:srgbClr val="DADADA"/>
        </a:accent4>
        <a:accent5>
          <a:srgbClr val="AAC3EF"/>
        </a:accent5>
        <a:accent6>
          <a:srgbClr val="008A8A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9966FF"/>
        </a:accent1>
        <a:accent2>
          <a:srgbClr val="00FFFF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E7E7"/>
        </a:accent6>
        <a:hlink>
          <a:srgbClr val="5FAFFF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8080"/>
        </a:accent1>
        <a:accent2>
          <a:srgbClr val="0099FF"/>
        </a:accent2>
        <a:accent3>
          <a:srgbClr val="AAB8B8"/>
        </a:accent3>
        <a:accent4>
          <a:srgbClr val="DADADA"/>
        </a:accent4>
        <a:accent5>
          <a:srgbClr val="AAC0C0"/>
        </a:accent5>
        <a:accent6>
          <a:srgbClr val="008AE7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CBD7CE"/>
        </a:accent1>
        <a:accent2>
          <a:srgbClr val="9CA8A4"/>
        </a:accent2>
        <a:accent3>
          <a:srgbClr val="CEDAD1"/>
        </a:accent3>
        <a:accent4>
          <a:srgbClr val="DADADA"/>
        </a:accent4>
        <a:accent5>
          <a:srgbClr val="E2E8E3"/>
        </a:accent5>
        <a:accent6>
          <a:srgbClr val="8D9894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686B5D"/>
        </a:accent1>
        <a:accent2>
          <a:srgbClr val="5D8770"/>
        </a:accent2>
        <a:accent3>
          <a:srgbClr val="B3B3AF"/>
        </a:accent3>
        <a:accent4>
          <a:srgbClr val="BCBAB1"/>
        </a:accent4>
        <a:accent5>
          <a:srgbClr val="B9BAB6"/>
        </a:accent5>
        <a:accent6>
          <a:srgbClr val="537A65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01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FFFFFF"/>
        </a:accent1>
        <a:accent2>
          <a:srgbClr val="A4BCC4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94AAB1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01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E6E3D4"/>
        </a:accent1>
        <a:accent2>
          <a:srgbClr val="A2A4AC"/>
        </a:accent2>
        <a:accent3>
          <a:srgbClr val="E8E5D9"/>
        </a:accent3>
        <a:accent4>
          <a:srgbClr val="000000"/>
        </a:accent4>
        <a:accent5>
          <a:srgbClr val="F0EFE6"/>
        </a:accent5>
        <a:accent6>
          <a:srgbClr val="9294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Infusion">
  <a:themeElements>
    <a:clrScheme name="Infusion">
      <a:dk1>
        <a:sysClr val="windowText" lastClr="000000"/>
      </a:dk1>
      <a:lt1>
        <a:sysClr val="window" lastClr="FFFFFF"/>
      </a:lt1>
      <a:dk2>
        <a:srgbClr val="2F1F58"/>
      </a:dk2>
      <a:lt2>
        <a:srgbClr val="B7A9E0"/>
      </a:lt2>
      <a:accent1>
        <a:srgbClr val="8C73D0"/>
      </a:accent1>
      <a:accent2>
        <a:srgbClr val="C2E8C4"/>
      </a:accent2>
      <a:accent3>
        <a:srgbClr val="C5A6E8"/>
      </a:accent3>
      <a:accent4>
        <a:srgbClr val="B45EC7"/>
      </a:accent4>
      <a:accent5>
        <a:srgbClr val="9FDAFB"/>
      </a:accent5>
      <a:accent6>
        <a:srgbClr val="95C5B0"/>
      </a:accent6>
      <a:hlink>
        <a:srgbClr val="744AE0"/>
      </a:hlink>
      <a:folHlink>
        <a:srgbClr val="8D8AD1"/>
      </a:folHlink>
    </a:clrScheme>
    <a:fontScheme name="Infusion">
      <a:majorFont>
        <a:latin typeface="Mistral"/>
        <a:ea typeface=""/>
        <a:cs typeface=""/>
        <a:font script="Jpan" typeface="ＭＳ Ｐ明朝"/>
      </a:majorFont>
      <a:minorFont>
        <a:latin typeface="Candara"/>
        <a:ea typeface=""/>
        <a:cs typeface=""/>
        <a:font script="Jpan" typeface="メイリオ"/>
      </a:minorFont>
    </a:fontScheme>
    <a:fmtScheme name="Infusion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300000"/>
                <a:lumMod val="125000"/>
              </a:schemeClr>
            </a:duotone>
          </a:blip>
          <a:tile tx="0" ty="0" sx="50000" sy="5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70000"/>
                <a:satMod val="120000"/>
              </a:schemeClr>
              <a:schemeClr val="phClr">
                <a:tint val="70000"/>
                <a:satMod val="135000"/>
              </a:schemeClr>
            </a:duotone>
          </a:blip>
          <a:tile tx="0" ty="0" sx="40000" sy="40000" flip="none" algn="tl"/>
        </a:blipFill>
      </a:fillStyleLst>
      <a:lnStyleLst>
        <a:ln w="38100" cap="flat" cmpd="sng" algn="ctr">
          <a:solidFill>
            <a:schemeClr val="phClr">
              <a:alpha val="70000"/>
              <a:satMod val="105000"/>
            </a:schemeClr>
          </a:solidFill>
          <a:prstDash val="solid"/>
          <a:miter/>
        </a:ln>
        <a:ln w="50800" cap="flat" cmpd="sng" algn="ctr">
          <a:solidFill>
            <a:schemeClr val="phClr">
              <a:alpha val="50000"/>
            </a:schemeClr>
          </a:solidFill>
          <a:prstDash val="solid"/>
          <a:miter/>
        </a:ln>
        <a:ln w="88900" cap="flat" cmpd="sng" algn="ctr">
          <a:solidFill>
            <a:schemeClr val="phClr">
              <a:alpha val="40000"/>
            </a:schemeClr>
          </a:solidFill>
          <a:prstDash val="solid"/>
          <a:miter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innerShdw blurRad="190500" dir="13500000">
              <a:srgbClr val="000000">
                <a:alpha val="50000"/>
              </a:srgbClr>
            </a:innerShdw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blipFill rotWithShape="1">
          <a:blip xmlns:r="http://schemas.openxmlformats.org/officeDocument/2006/relationships" r:embed="rId3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4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  <a:blipFill rotWithShape="1">
          <a:blip xmlns:r="http://schemas.openxmlformats.org/officeDocument/2006/relationships" r:embed="rId5">
            <a:duotone>
              <a:schemeClr val="phClr">
                <a:shade val="70000"/>
                <a:satMod val="500000"/>
                <a:lumMod val="50000"/>
              </a:schemeClr>
              <a:schemeClr val="phClr">
                <a:satMod val="800000"/>
                <a:lumMod val="2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Mnementh:Users:lpb:admin:consult:Prentice-Hall:Slides:ch01.ppt</Template>
  <TotalTime>18139</TotalTime>
  <Words>864</Words>
  <Application>Microsoft Macintosh PowerPoint</Application>
  <PresentationFormat>On-screen Show (4:3)</PresentationFormat>
  <Paragraphs>115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Candara</vt:lpstr>
      <vt:lpstr>Wingdings</vt:lpstr>
      <vt:lpstr>ch01</vt:lpstr>
      <vt:lpstr>Infusion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School of Eng &amp; IT, UNSW@ADFA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16</dc:subject>
  <dc:creator>Dr Lawrie Brown</dc:creator>
  <cp:keywords/>
  <dc:description/>
  <cp:lastModifiedBy>Igor Remizov</cp:lastModifiedBy>
  <cp:revision>605</cp:revision>
  <cp:lastPrinted>2009-09-23T05:30:08Z</cp:lastPrinted>
  <dcterms:created xsi:type="dcterms:W3CDTF">2016-05-12T01:35:23Z</dcterms:created>
  <dcterms:modified xsi:type="dcterms:W3CDTF">2025-11-18T00:13:39Z</dcterms:modified>
  <cp:category/>
</cp:coreProperties>
</file>